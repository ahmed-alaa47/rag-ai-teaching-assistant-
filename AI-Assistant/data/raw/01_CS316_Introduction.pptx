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9.xml" ContentType="application/vnd.openxmlformats-officedocument.presentationml.slideLayout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  <p:sldMasterId id="2147483769" r:id="rId2"/>
    <p:sldMasterId id="2147483783" r:id="rId3"/>
  </p:sldMasterIdLst>
  <p:notesMasterIdLst>
    <p:notesMasterId r:id="rId47"/>
  </p:notesMasterIdLst>
  <p:handoutMasterIdLst>
    <p:handoutMasterId r:id="rId48"/>
  </p:handoutMasterIdLst>
  <p:sldIdLst>
    <p:sldId id="256" r:id="rId4"/>
    <p:sldId id="293" r:id="rId5"/>
    <p:sldId id="364" r:id="rId6"/>
    <p:sldId id="317" r:id="rId7"/>
    <p:sldId id="318" r:id="rId8"/>
    <p:sldId id="368" r:id="rId9"/>
    <p:sldId id="319" r:id="rId10"/>
    <p:sldId id="388" r:id="rId11"/>
    <p:sldId id="367" r:id="rId12"/>
    <p:sldId id="260" r:id="rId13"/>
    <p:sldId id="387" r:id="rId14"/>
    <p:sldId id="370" r:id="rId15"/>
    <p:sldId id="371" r:id="rId16"/>
    <p:sldId id="372" r:id="rId17"/>
    <p:sldId id="373" r:id="rId18"/>
    <p:sldId id="375" r:id="rId19"/>
    <p:sldId id="389" r:id="rId20"/>
    <p:sldId id="355" r:id="rId21"/>
    <p:sldId id="356" r:id="rId22"/>
    <p:sldId id="357" r:id="rId23"/>
    <p:sldId id="360" r:id="rId24"/>
    <p:sldId id="362" r:id="rId25"/>
    <p:sldId id="363" r:id="rId26"/>
    <p:sldId id="365" r:id="rId27"/>
    <p:sldId id="390" r:id="rId28"/>
    <p:sldId id="320" r:id="rId29"/>
    <p:sldId id="391" r:id="rId30"/>
    <p:sldId id="378" r:id="rId31"/>
    <p:sldId id="379" r:id="rId32"/>
    <p:sldId id="380" r:id="rId33"/>
    <p:sldId id="392" r:id="rId34"/>
    <p:sldId id="323" r:id="rId35"/>
    <p:sldId id="324" r:id="rId36"/>
    <p:sldId id="382" r:id="rId37"/>
    <p:sldId id="383" r:id="rId38"/>
    <p:sldId id="325" r:id="rId39"/>
    <p:sldId id="393" r:id="rId40"/>
    <p:sldId id="326" r:id="rId41"/>
    <p:sldId id="327" r:id="rId42"/>
    <p:sldId id="386" r:id="rId43"/>
    <p:sldId id="350" r:id="rId44"/>
    <p:sldId id="351" r:id="rId45"/>
    <p:sldId id="354" r:id="rId4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552579"/>
    <a:srgbClr val="005400"/>
    <a:srgbClr val="006600"/>
    <a:srgbClr val="FF3300"/>
    <a:srgbClr val="009900"/>
    <a:srgbClr val="9973FF"/>
    <a:srgbClr val="33CC33"/>
    <a:srgbClr val="6600CC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60" autoAdjust="0"/>
  </p:normalViewPr>
  <p:slideViewPr>
    <p:cSldViewPr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55" Type="http://schemas.openxmlformats.org/officeDocument/2006/relationships/customXml" Target="../customXml/item3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customXml" Target="../customXml/item1.xml"/><Relationship Id="rId5" Type="http://schemas.openxmlformats.org/officeDocument/2006/relationships/slide" Target="slides/slide2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5.xml"/><Relationship Id="rId51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54320E-A90F-4CB1-93B3-2909656D59BF}" type="datetimeFigureOut">
              <a:rPr lang="en-US" smtClean="0"/>
              <a:pPr/>
              <a:t>14-Feb-24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68D132-BD2C-44A2-956A-470C037555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0889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F9AD81-100D-475E-ABC5-B0B5A176C1F0}" type="datetimeFigureOut">
              <a:rPr lang="en-US" smtClean="0"/>
              <a:pPr/>
              <a:t>14-Feb-24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BEF4C1-5430-47DE-9234-370F671AD9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359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ar-E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BEF4C1-5430-47DE-9234-370F671AD99F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6EC683-3A46-4FFD-99C1-A43BCBEC214B}" type="slidenum">
              <a:rPr lang="en-US"/>
              <a:pPr/>
              <a:t>13</a:t>
            </a:fld>
            <a:endParaRPr lang="en-US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ar-EG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FD0C957-82BE-4E5C-8AFD-90A8A939AA9B}" type="slidenum">
              <a:rPr lang="en-US"/>
              <a:pPr/>
              <a:t>14</a:t>
            </a:fld>
            <a:endParaRPr lang="en-US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ar-EG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522B0CE-E329-4A20-924D-21EDD32B8E99}" type="slidenum">
              <a:rPr lang="en-US"/>
              <a:pPr/>
              <a:t>15</a:t>
            </a:fld>
            <a:endParaRPr lang="en-US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r>
              <a:rPr lang="en-US"/>
              <a:t>Euclid’s algorithm is good for introducing the notion of an algorithm because it </a:t>
            </a:r>
          </a:p>
          <a:p>
            <a:r>
              <a:rPr lang="en-US"/>
              <a:t>makes a clear separation from a program that implements the algorithm.</a:t>
            </a:r>
          </a:p>
          <a:p>
            <a:r>
              <a:rPr lang="en-US"/>
              <a:t>It is also one that is familiar to most students.</a:t>
            </a:r>
          </a:p>
          <a:p>
            <a:endParaRPr lang="en-US"/>
          </a:p>
          <a:p>
            <a:r>
              <a:rPr lang="en-US"/>
              <a:t>Al Khowarizmi (many spellings possible...) – “algorism” (originally) and then</a:t>
            </a:r>
          </a:p>
          <a:p>
            <a:r>
              <a:rPr lang="en-US"/>
              <a:t> later “algorithm” come from his name.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100469A-A7CB-46DC-93EE-E89B99B90307}" type="slidenum">
              <a:rPr lang="en-US"/>
              <a:pPr/>
              <a:t>16</a:t>
            </a:fld>
            <a:endParaRPr lang="en-US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ar-EG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EAF9639E-585B-445F-A063-93273A7E32F5}" type="slidenum">
              <a:rPr lang="en-US" sz="1200" b="0" smtClean="0">
                <a:latin typeface="Times New Roman" pitchFamily="18" charset="0"/>
              </a:rPr>
              <a:pPr/>
              <a:t>26</a:t>
            </a:fld>
            <a:endParaRPr lang="en-US" sz="1200" b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B18C4C4A-4DED-4A24-AE2C-D2BAEFE9ECF2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ar-EG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CA"/>
          </a:p>
        </p:txBody>
      </p:sp>
      <p:sp>
        <p:nvSpPr>
          <p:cNvPr id="788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DAE15781-CBE2-4E1B-9706-7D26CE66BF1F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D45FD37A-73FB-48D4-B5B3-06F5D79B2E30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ar-EG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69C02CDD-55A7-4BFC-B333-80CCC6BB5A61}" type="slidenum">
              <a:rPr lang="en-US" sz="1200" b="0" smtClean="0">
                <a:latin typeface="Times New Roman" pitchFamily="18" charset="0"/>
              </a:rPr>
              <a:pPr/>
              <a:t>32</a:t>
            </a:fld>
            <a:endParaRPr lang="en-US" sz="1200" b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A029DDA7-CC02-4548-B191-C2B1FDA99782}" type="slidenum">
              <a:rPr lang="en-US" sz="1200" b="0" smtClean="0">
                <a:latin typeface="Times New Roman" pitchFamily="18" charset="0"/>
              </a:rPr>
              <a:pPr/>
              <a:t>33</a:t>
            </a:fld>
            <a:endParaRPr lang="en-US" sz="1200" b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A029DDA7-CC02-4548-B191-C2B1FDA99782}" type="slidenum">
              <a:rPr lang="en-US" sz="1200" b="0" smtClean="0">
                <a:latin typeface="Times New Roman" pitchFamily="18" charset="0"/>
              </a:rPr>
              <a:pPr/>
              <a:t>35</a:t>
            </a:fld>
            <a:endParaRPr lang="en-US" sz="1200" b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8D11D170-4C5E-4288-893E-8B0B68DA22ED}" type="slidenum">
              <a:rPr lang="en-US" sz="1200" b="0" smtClean="0">
                <a:latin typeface="Times New Roman" pitchFamily="18" charset="0"/>
              </a:rPr>
              <a:pPr/>
              <a:t>36</a:t>
            </a:fld>
            <a:endParaRPr lang="en-US" sz="1200" b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12700">
            <a:miter lim="800000"/>
            <a:headEnd type="none" w="sm" len="sm"/>
            <a:tailEnd type="none" w="sm" len="sm"/>
          </a:ln>
        </p:spPr>
        <p:txBody>
          <a:bodyPr/>
          <a:lstStyle/>
          <a:p>
            <a:fld id="{8BC7835D-6C88-45CA-B856-B5347E32A312}" type="slidenum">
              <a:rPr lang="en-US" altLang="en-US" smtClean="0"/>
              <a:pPr/>
              <a:t>37</a:t>
            </a:fld>
            <a:endParaRPr lang="en-US" altLang="en-US"/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54258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91B78701-D735-489E-9575-4179535B565C}" type="slidenum">
              <a:rPr lang="en-US" sz="1200" b="0" smtClean="0">
                <a:latin typeface="Times New Roman" pitchFamily="18" charset="0"/>
              </a:rPr>
              <a:pPr/>
              <a:t>38</a:t>
            </a:fld>
            <a:endParaRPr lang="en-US" sz="1200" b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BA1C3699-2074-4BCF-8FCD-C38B14DA7FE6}" type="slidenum">
              <a:rPr lang="en-US" sz="1200" b="0" smtClean="0">
                <a:latin typeface="Times New Roman" pitchFamily="18" charset="0"/>
              </a:rPr>
              <a:pPr/>
              <a:t>39</a:t>
            </a:fld>
            <a:endParaRPr lang="en-US" sz="1200" b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12700">
            <a:miter lim="800000"/>
            <a:headEnd type="none" w="sm" len="sm"/>
            <a:tailEnd type="none" w="sm" len="sm"/>
          </a:ln>
        </p:spPr>
        <p:txBody>
          <a:bodyPr/>
          <a:lstStyle/>
          <a:p>
            <a:fld id="{8BC7835D-6C88-45CA-B856-B5347E32A312}" type="slidenum">
              <a:rPr lang="en-US" altLang="en-US" smtClean="0"/>
              <a:pPr/>
              <a:t>40</a:t>
            </a:fld>
            <a:endParaRPr lang="en-US" altLang="en-US"/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ar-E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BEF4C1-5430-47DE-9234-370F671AD99F}" type="slidenum">
              <a:rPr lang="en-US" smtClean="0"/>
              <a:pPr/>
              <a:t>43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5.xml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5.xml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5.xml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0250" y="1905000"/>
            <a:ext cx="7681913" cy="1523495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5400">
                <a:gradFill flip="none" rotWithShape="1">
                  <a:gsLst>
                    <a:gs pos="0">
                      <a:schemeClr val="accent1"/>
                    </a:gs>
                    <a:gs pos="86000">
                      <a:srgbClr val="FFFF99"/>
                    </a:gs>
                    <a:gs pos="86000">
                      <a:srgbClr val="F6AE1E"/>
                    </a:gs>
                  </a:gsLst>
                  <a:lin ang="5400000" scaled="0"/>
                  <a:tileRect/>
                </a:gra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0249" y="4344988"/>
            <a:ext cx="7681913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0"/>
            <a:ext cx="7043208" cy="152349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8955" y="4344988"/>
            <a:ext cx="7043208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722049" y="2355850"/>
            <a:ext cx="7690114" cy="1384994"/>
          </a:xfrm>
        </p:spPr>
        <p:txBody>
          <a:bodyPr anchor="t" anchorCtr="0"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10000" b="1" i="1" u="none" strike="noStrike" kern="1200" cap="none" spc="-642" normalizeH="0" baseline="0" noProof="0" dirty="0" smtClean="0">
                <a:ln w="11430"/>
                <a:gradFill>
                  <a:gsLst>
                    <a:gs pos="0">
                      <a:srgbClr val="FF9929">
                        <a:lumMod val="20000"/>
                        <a:lumOff val="80000"/>
                      </a:srgbClr>
                    </a:gs>
                    <a:gs pos="28000">
                      <a:srgbClr val="F8F57B"/>
                    </a:gs>
                    <a:gs pos="62000">
                      <a:srgbClr val="D5B953"/>
                    </a:gs>
                    <a:gs pos="88000">
                      <a:srgbClr val="D1943B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to…</a:t>
            </a:r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81000" y="1411552"/>
            <a:ext cx="8382000" cy="2210862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2210862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411553"/>
            <a:ext cx="4114800" cy="2129814"/>
          </a:xfrm>
        </p:spPr>
        <p:txBody>
          <a:bodyPr/>
          <a:lstStyle>
            <a:lvl1pPr marL="339976" indent="-339976">
              <a:lnSpc>
                <a:spcPct val="90000"/>
              </a:lnSpc>
              <a:defRPr sz="2800"/>
            </a:lvl1pPr>
            <a:lvl2pPr marL="673338" indent="-325424">
              <a:lnSpc>
                <a:spcPct val="90000"/>
              </a:lnSpc>
              <a:defRPr sz="2400"/>
            </a:lvl2pPr>
            <a:lvl3pPr marL="953785" indent="-288384">
              <a:lnSpc>
                <a:spcPct val="90000"/>
              </a:lnSpc>
              <a:defRPr sz="2000"/>
            </a:lvl3pPr>
            <a:lvl4pPr marL="1227618" indent="-273833">
              <a:lnSpc>
                <a:spcPct val="90000"/>
              </a:lnSpc>
              <a:defRPr sz="1800"/>
            </a:lvl4pPr>
            <a:lvl5pPr marL="1516002" indent="-280447">
              <a:lnSpc>
                <a:spcPct val="90000"/>
              </a:lnSpc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11553"/>
            <a:ext cx="4114800" cy="2129814"/>
          </a:xfrm>
        </p:spPr>
        <p:txBody>
          <a:bodyPr/>
          <a:lstStyle>
            <a:lvl1pPr marL="347914" indent="-347914">
              <a:lnSpc>
                <a:spcPct val="90000"/>
              </a:lnSpc>
              <a:defRPr sz="2800"/>
            </a:lvl1pPr>
            <a:lvl2pPr marL="673338" indent="-339976">
              <a:lnSpc>
                <a:spcPct val="90000"/>
              </a:lnSpc>
              <a:defRPr sz="2400"/>
            </a:lvl2pPr>
            <a:lvl3pPr marL="961722" indent="-302936">
              <a:lnSpc>
                <a:spcPct val="90000"/>
              </a:lnSpc>
              <a:defRPr sz="2000"/>
            </a:lvl3pPr>
            <a:lvl4pPr marL="1227618" indent="-265896">
              <a:lnSpc>
                <a:spcPct val="90000"/>
              </a:lnSpc>
              <a:defRPr sz="1800"/>
            </a:lvl4pPr>
            <a:lvl5pPr marL="1516002" indent="-273833">
              <a:lnSpc>
                <a:spcPct val="90000"/>
              </a:lnSpc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411553"/>
            <a:ext cx="4114800" cy="692498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5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0999" y="2174875"/>
            <a:ext cx="4114800" cy="1537344"/>
          </a:xfrm>
        </p:spPr>
        <p:txBody>
          <a:bodyPr/>
          <a:lstStyle>
            <a:lvl1pPr marL="281770" indent="-281770">
              <a:defRPr sz="2300"/>
            </a:lvl1pPr>
            <a:lvl2pPr marL="562218" indent="-265896">
              <a:defRPr sz="2000"/>
            </a:lvl2pPr>
            <a:lvl3pPr marL="813562" indent="-243407">
              <a:defRPr sz="1800"/>
            </a:lvl3pPr>
            <a:lvl4pPr marL="1050354" indent="-228856">
              <a:defRPr sz="1700"/>
            </a:lvl4pPr>
            <a:lvl5pPr marL="1279210" indent="-206367"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981" y="1411553"/>
            <a:ext cx="4117019" cy="692498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5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117974" cy="1537344"/>
          </a:xfrm>
        </p:spPr>
        <p:txBody>
          <a:bodyPr/>
          <a:lstStyle>
            <a:lvl1pPr marL="296321" indent="-296321">
              <a:defRPr sz="2300"/>
            </a:lvl1pPr>
            <a:lvl2pPr marL="570155" indent="-273833">
              <a:defRPr sz="2000"/>
            </a:lvl2pPr>
            <a:lvl3pPr marL="821499" indent="-244730">
              <a:defRPr sz="1800"/>
            </a:lvl3pPr>
            <a:lvl4pPr marL="1050354" indent="-236793">
              <a:defRPr sz="1700"/>
            </a:lvl4pPr>
            <a:lvl5pPr marL="1279210" indent="-220919"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WALKIN - Prints in GRAYS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 bwMode="white">
          <a:xfrm>
            <a:off x="381000" y="1411553"/>
            <a:ext cx="8382000" cy="2200602"/>
          </a:xfrm>
        </p:spPr>
        <p:txBody>
          <a:bodyPr/>
          <a:lstStyle>
            <a:lvl1pPr>
              <a:buClr>
                <a:schemeClr val="tx1"/>
              </a:buClr>
              <a:buSzPct val="70000"/>
              <a:buFont typeface="Wingdings" pitchFamily="2" charset="2"/>
              <a:buChar char="l"/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buSzPct val="70000"/>
              <a:buFont typeface="Wingdings" pitchFamily="2" charset="2"/>
              <a:buChar char="l"/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buSzPct val="70000"/>
              <a:buFont typeface="Wingdings" pitchFamily="2" charset="2"/>
              <a:buChar char="l"/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buSzPct val="70000"/>
              <a:buFont typeface="Wingdings" pitchFamily="2" charset="2"/>
              <a:buChar char="l"/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buSzPct val="70000"/>
              <a:buFont typeface="Wingdings" pitchFamily="2" charset="2"/>
              <a:buChar char="l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 bwMode="white">
          <a:xfrm>
            <a:off x="381000" y="1411553"/>
            <a:ext cx="8382000" cy="2200602"/>
          </a:xfrm>
        </p:spPr>
        <p:txBody>
          <a:bodyPr/>
          <a:lstStyle>
            <a:lvl1pPr>
              <a:buClr>
                <a:schemeClr val="tx1"/>
              </a:buClr>
              <a:buSzPct val="70000"/>
              <a:buFont typeface="Wingdings" pitchFamily="2" charset="2"/>
              <a:buChar char="l"/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buSzPct val="70000"/>
              <a:buFont typeface="Wingdings" pitchFamily="2" charset="2"/>
              <a:buChar char="l"/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buSzPct val="70000"/>
              <a:buFont typeface="Wingdings" pitchFamily="2" charset="2"/>
              <a:buChar char="l"/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buSzPct val="70000"/>
              <a:buFont typeface="Wingdings" pitchFamily="2" charset="2"/>
              <a:buChar char="l"/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buSzPct val="70000"/>
              <a:buFont typeface="Wingdings" pitchFamily="2" charset="2"/>
              <a:buChar char="l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0" y="6238875"/>
            <a:ext cx="9144001" cy="619125"/>
          </a:xfrm>
          <a:solidFill>
            <a:srgbClr val="FFFF99"/>
          </a:solidFill>
        </p:spPr>
        <p:txBody>
          <a:bodyPr wrap="square" lIns="152394" tIns="76197" rIns="152394" bIns="76197" anchor="b" anchorCtr="0">
            <a:noAutofit/>
          </a:bodyPr>
          <a:lstStyle>
            <a:lvl1pPr algn="r">
              <a:buFont typeface="Arial" pitchFamily="34" charset="0"/>
              <a:buNone/>
              <a:defRPr>
                <a:solidFill>
                  <a:srgbClr val="000000"/>
                </a:solidFill>
                <a:effectLst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0"/>
            <a:ext cx="7043208" cy="152349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8955" y="4344988"/>
            <a:ext cx="7043208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722049" y="2355850"/>
            <a:ext cx="7690114" cy="1384994"/>
          </a:xfrm>
        </p:spPr>
        <p:txBody>
          <a:bodyPr anchor="t" anchorCtr="0"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10000" b="1" i="1" u="none" strike="noStrike" kern="1200" cap="none" spc="-642" normalizeH="0" baseline="0" noProof="0" dirty="0" smtClean="0">
                <a:ln w="11430"/>
                <a:gradFill>
                  <a:gsLst>
                    <a:gs pos="0">
                      <a:srgbClr val="FF9929">
                        <a:lumMod val="20000"/>
                        <a:lumOff val="80000"/>
                      </a:srgbClr>
                    </a:gs>
                    <a:gs pos="28000">
                      <a:srgbClr val="F8F57B"/>
                    </a:gs>
                    <a:gs pos="62000">
                      <a:srgbClr val="D5B953"/>
                    </a:gs>
                    <a:gs pos="88000">
                      <a:srgbClr val="D1943B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to…</a:t>
            </a:r>
          </a:p>
        </p:txBody>
      </p:sp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Use for slides with Software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722313" y="1905000"/>
            <a:ext cx="8040688" cy="1938992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9143999" cy="33838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828800"/>
            <a:ext cx="7772400" cy="1143000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3600" spc="-80" baseline="0">
                <a:solidFill>
                  <a:schemeClr val="tx1">
                    <a:lumMod val="65000"/>
                    <a:lumOff val="35000"/>
                  </a:schemeClr>
                </a:solidFill>
                <a:latin typeface="Segoe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2971800"/>
            <a:ext cx="77724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rgbClr val="FE5815"/>
                </a:solidFill>
                <a:latin typeface="Segoe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8558760" y="6324600"/>
            <a:ext cx="356640" cy="356640"/>
            <a:chOff x="8136431" y="5022563"/>
            <a:chExt cx="356640" cy="356640"/>
          </a:xfrm>
        </p:grpSpPr>
        <p:sp>
          <p:nvSpPr>
            <p:cNvPr id="8" name="Oval 7">
              <a:hlinkClick r:id="" action="ppaction://hlinkshowjump?jump=nextslide"/>
            </p:cNvPr>
            <p:cNvSpPr>
              <a:spLocks noChangeAspect="1"/>
            </p:cNvSpPr>
            <p:nvPr/>
          </p:nvSpPr>
          <p:spPr>
            <a:xfrm>
              <a:off x="8136431" y="5022563"/>
              <a:ext cx="356640" cy="356640"/>
            </a:xfrm>
            <a:prstGeom prst="ellipse">
              <a:avLst/>
            </a:prstGeom>
            <a:gradFill flip="none" rotWithShape="1">
              <a:gsLst>
                <a:gs pos="0">
                  <a:srgbClr val="FE5815"/>
                </a:gs>
                <a:gs pos="100000">
                  <a:srgbClr val="FFC000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solidFill>
                <a:srgbClr val="FF99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Segoe" pitchFamily="34" charset="0"/>
              </a:endParaRPr>
            </a:p>
          </p:txBody>
        </p:sp>
        <p:sp>
          <p:nvSpPr>
            <p:cNvPr id="9" name="Isosceles Triangle 8">
              <a:hlinkClick r:id="" action="ppaction://hlinkshowjump?jump=nextslide"/>
            </p:cNvPr>
            <p:cNvSpPr>
              <a:spLocks noChangeAspect="1"/>
            </p:cNvSpPr>
            <p:nvPr/>
          </p:nvSpPr>
          <p:spPr>
            <a:xfrm rot="5400000" flipH="1">
              <a:off x="8252374" y="5117516"/>
              <a:ext cx="195162" cy="16824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algn="l" rotWithShape="0">
                <a:srgbClr val="D35641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3383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457200" y="1828800"/>
            <a:ext cx="7772400" cy="1143000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3600" spc="-80" baseline="0">
                <a:solidFill>
                  <a:schemeClr val="tx1">
                    <a:lumMod val="65000"/>
                    <a:lumOff val="35000"/>
                  </a:schemeClr>
                </a:solidFill>
                <a:latin typeface="Segoe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457200" y="2971800"/>
            <a:ext cx="77724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rgbClr val="FE5815"/>
                </a:solidFill>
                <a:latin typeface="Segoe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54236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 flipH="1">
            <a:off x="4699000" y="1"/>
            <a:ext cx="4445000" cy="2120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620000" cy="838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7620000" cy="4373563"/>
          </a:xfrm>
        </p:spPr>
        <p:txBody>
          <a:bodyPr/>
          <a:lstStyle>
            <a:lvl1pPr>
              <a:defRPr sz="2200">
                <a:latin typeface="Segoe"/>
              </a:defRPr>
            </a:lvl1pPr>
            <a:lvl2pPr>
              <a:defRPr>
                <a:latin typeface="Segoe"/>
              </a:defRPr>
            </a:lvl2pPr>
            <a:lvl3pPr>
              <a:defRPr>
                <a:latin typeface="Segoe"/>
              </a:defRPr>
            </a:lvl3pPr>
            <a:lvl4pPr>
              <a:defRPr>
                <a:latin typeface="Segoe"/>
              </a:defRPr>
            </a:lvl4pPr>
            <a:lvl5pPr>
              <a:defRPr>
                <a:latin typeface="Sego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274499" y="6324600"/>
            <a:ext cx="356640" cy="356640"/>
            <a:chOff x="6852170" y="5022563"/>
            <a:chExt cx="356640" cy="356640"/>
          </a:xfrm>
        </p:grpSpPr>
        <p:sp>
          <p:nvSpPr>
            <p:cNvPr id="10" name="Oval 9">
              <a:hlinkClick r:id="" action="ppaction://hlinkshowjump?jump=firstslide"/>
            </p:cNvPr>
            <p:cNvSpPr>
              <a:spLocks noChangeAspect="1"/>
            </p:cNvSpPr>
            <p:nvPr/>
          </p:nvSpPr>
          <p:spPr>
            <a:xfrm>
              <a:off x="6852170" y="5022563"/>
              <a:ext cx="356640" cy="356640"/>
            </a:xfrm>
            <a:prstGeom prst="ellipse">
              <a:avLst/>
            </a:prstGeom>
            <a:gradFill flip="none" rotWithShape="1">
              <a:gsLst>
                <a:gs pos="0">
                  <a:srgbClr val="FE5815"/>
                </a:gs>
                <a:gs pos="100000">
                  <a:srgbClr val="FFC000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solidFill>
                <a:srgbClr val="FF99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Segoe" pitchFamily="34" charset="0"/>
              </a:endParaRPr>
            </a:p>
          </p:txBody>
        </p:sp>
        <p:grpSp>
          <p:nvGrpSpPr>
            <p:cNvPr id="11" name="Group 10"/>
            <p:cNvGrpSpPr/>
            <p:nvPr/>
          </p:nvGrpSpPr>
          <p:grpSpPr>
            <a:xfrm>
              <a:off x="6920649" y="5087260"/>
              <a:ext cx="240202" cy="214123"/>
              <a:chOff x="7066773" y="5942997"/>
              <a:chExt cx="240202" cy="214123"/>
            </a:xfrm>
          </p:grpSpPr>
          <p:sp>
            <p:nvSpPr>
              <p:cNvPr id="12" name="Rectangle 11"/>
              <p:cNvSpPr/>
              <p:nvPr/>
            </p:nvSpPr>
            <p:spPr>
              <a:xfrm>
                <a:off x="7203307" y="6055119"/>
                <a:ext cx="56276" cy="10200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>
                <a:hlinkClick r:id="" action="ppaction://hlinkshowjump?jump=firstslide"/>
              </p:cNvPr>
              <p:cNvSpPr/>
              <p:nvPr/>
            </p:nvSpPr>
            <p:spPr>
              <a:xfrm>
                <a:off x="7100694" y="6055119"/>
                <a:ext cx="56276" cy="10200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Isosceles Triangle 13">
                <a:hlinkClick r:id="" action="ppaction://hlinkshowjump?jump=firstslide"/>
              </p:cNvPr>
              <p:cNvSpPr/>
              <p:nvPr/>
            </p:nvSpPr>
            <p:spPr>
              <a:xfrm>
                <a:off x="7066773" y="5942997"/>
                <a:ext cx="240202" cy="11212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5" name="Group 14"/>
          <p:cNvGrpSpPr/>
          <p:nvPr/>
        </p:nvGrpSpPr>
        <p:grpSpPr>
          <a:xfrm>
            <a:off x="8558760" y="6325524"/>
            <a:ext cx="356640" cy="356640"/>
            <a:chOff x="8136431" y="5022563"/>
            <a:chExt cx="356640" cy="356640"/>
          </a:xfrm>
        </p:grpSpPr>
        <p:sp>
          <p:nvSpPr>
            <p:cNvPr id="16" name="Oval 15">
              <a:hlinkClick r:id="" action="ppaction://hlinkshowjump?jump=nextslide"/>
            </p:cNvPr>
            <p:cNvSpPr>
              <a:spLocks noChangeAspect="1"/>
            </p:cNvSpPr>
            <p:nvPr/>
          </p:nvSpPr>
          <p:spPr>
            <a:xfrm>
              <a:off x="8136431" y="5022563"/>
              <a:ext cx="356640" cy="356640"/>
            </a:xfrm>
            <a:prstGeom prst="ellipse">
              <a:avLst/>
            </a:prstGeom>
            <a:gradFill flip="none" rotWithShape="1">
              <a:gsLst>
                <a:gs pos="0">
                  <a:srgbClr val="FE5815"/>
                </a:gs>
                <a:gs pos="100000">
                  <a:srgbClr val="FFC000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solidFill>
                <a:srgbClr val="FF99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Segoe" pitchFamily="34" charset="0"/>
              </a:endParaRPr>
            </a:p>
          </p:txBody>
        </p:sp>
        <p:sp>
          <p:nvSpPr>
            <p:cNvPr id="17" name="Isosceles Triangle 16">
              <a:hlinkClick r:id="" action="ppaction://hlinkshowjump?jump=nextslide"/>
            </p:cNvPr>
            <p:cNvSpPr>
              <a:spLocks noChangeAspect="1"/>
            </p:cNvSpPr>
            <p:nvPr/>
          </p:nvSpPr>
          <p:spPr>
            <a:xfrm rot="5400000" flipH="1">
              <a:off x="8252374" y="5117516"/>
              <a:ext cx="195162" cy="16824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algn="l" rotWithShape="0">
                <a:srgbClr val="D35641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7274499" y="6324600"/>
            <a:ext cx="356640" cy="356640"/>
            <a:chOff x="6852170" y="5022563"/>
            <a:chExt cx="356640" cy="356640"/>
          </a:xfrm>
        </p:grpSpPr>
        <p:sp>
          <p:nvSpPr>
            <p:cNvPr id="19" name="Oval 18">
              <a:hlinkClick r:id="" action="ppaction://hlinkshowjump?jump=firstslide"/>
            </p:cNvPr>
            <p:cNvSpPr>
              <a:spLocks noChangeAspect="1"/>
            </p:cNvSpPr>
            <p:nvPr/>
          </p:nvSpPr>
          <p:spPr>
            <a:xfrm>
              <a:off x="6852170" y="5022563"/>
              <a:ext cx="356640" cy="356640"/>
            </a:xfrm>
            <a:prstGeom prst="ellipse">
              <a:avLst/>
            </a:prstGeom>
            <a:gradFill flip="none" rotWithShape="1">
              <a:gsLst>
                <a:gs pos="0">
                  <a:srgbClr val="FE5815"/>
                </a:gs>
                <a:gs pos="100000">
                  <a:srgbClr val="FFC000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solidFill>
                <a:srgbClr val="FF99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Segoe" pitchFamily="34" charset="0"/>
              </a:endParaRPr>
            </a:p>
          </p:txBody>
        </p:sp>
        <p:grpSp>
          <p:nvGrpSpPr>
            <p:cNvPr id="20" name="Group 19"/>
            <p:cNvGrpSpPr/>
            <p:nvPr/>
          </p:nvGrpSpPr>
          <p:grpSpPr>
            <a:xfrm>
              <a:off x="6920649" y="5087260"/>
              <a:ext cx="240202" cy="214123"/>
              <a:chOff x="7066773" y="5942997"/>
              <a:chExt cx="240202" cy="214123"/>
            </a:xfrm>
          </p:grpSpPr>
          <p:sp>
            <p:nvSpPr>
              <p:cNvPr id="21" name="Rectangle 20"/>
              <p:cNvSpPr/>
              <p:nvPr/>
            </p:nvSpPr>
            <p:spPr>
              <a:xfrm>
                <a:off x="7203307" y="6055119"/>
                <a:ext cx="56276" cy="10200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 21">
                <a:hlinkClick r:id="" action="ppaction://hlinkshowjump?jump=firstslide"/>
              </p:cNvPr>
              <p:cNvSpPr/>
              <p:nvPr/>
            </p:nvSpPr>
            <p:spPr>
              <a:xfrm>
                <a:off x="7100694" y="6055119"/>
                <a:ext cx="56276" cy="10200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Isosceles Triangle 22">
                <a:hlinkClick r:id="rId3" action="ppaction://hlinksldjump"/>
              </p:cNvPr>
              <p:cNvSpPr/>
              <p:nvPr/>
            </p:nvSpPr>
            <p:spPr>
              <a:xfrm>
                <a:off x="7066773" y="5942997"/>
                <a:ext cx="240202" cy="11212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cxnSp>
        <p:nvCxnSpPr>
          <p:cNvPr id="24" name="Straight Connector 23"/>
          <p:cNvCxnSpPr/>
          <p:nvPr/>
        </p:nvCxnSpPr>
        <p:spPr>
          <a:xfrm>
            <a:off x="7813729" y="6325524"/>
            <a:ext cx="0" cy="35664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6280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 flipH="1">
            <a:off x="4699000" y="0"/>
            <a:ext cx="4445000" cy="2120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0" y="0"/>
            <a:ext cx="76200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85800" y="1524000"/>
            <a:ext cx="7620000" cy="4373563"/>
          </a:xfrm>
        </p:spPr>
        <p:txBody>
          <a:bodyPr/>
          <a:lstStyle>
            <a:lvl1pPr>
              <a:defRPr sz="2200">
                <a:latin typeface="Segoe"/>
              </a:defRPr>
            </a:lvl1pPr>
            <a:lvl2pPr>
              <a:defRPr>
                <a:latin typeface="Segoe"/>
              </a:defRPr>
            </a:lvl2pPr>
            <a:lvl3pPr>
              <a:defRPr>
                <a:latin typeface="Segoe"/>
              </a:defRPr>
            </a:lvl3pPr>
            <a:lvl4pPr>
              <a:defRPr>
                <a:latin typeface="Segoe"/>
              </a:defRPr>
            </a:lvl4pPr>
            <a:lvl5pPr>
              <a:defRPr>
                <a:latin typeface="Sego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9669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620000" cy="838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9" name="Picture 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0968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7620000" cy="4373563"/>
          </a:xfrm>
        </p:spPr>
        <p:txBody>
          <a:bodyPr/>
          <a:lstStyle>
            <a:lvl1pPr>
              <a:defRPr sz="2200">
                <a:latin typeface="Segoe UI Light" pitchFamily="34" charset="0"/>
              </a:defRPr>
            </a:lvl1pPr>
            <a:lvl2pPr>
              <a:defRPr>
                <a:latin typeface="Segoe UI Light" pitchFamily="34" charset="0"/>
              </a:defRPr>
            </a:lvl2pPr>
            <a:lvl3pPr>
              <a:defRPr>
                <a:latin typeface="Segoe UI Light" pitchFamily="34" charset="0"/>
              </a:defRPr>
            </a:lvl3pPr>
            <a:lvl4pPr>
              <a:defRPr>
                <a:latin typeface="Segoe UI Light" pitchFamily="34" charset="0"/>
              </a:defRPr>
            </a:lvl4pPr>
            <a:lvl5pPr>
              <a:defRPr>
                <a:latin typeface="Segoe UI Light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8558760" y="6325524"/>
            <a:ext cx="356640" cy="356640"/>
            <a:chOff x="8136431" y="5022563"/>
            <a:chExt cx="356640" cy="356640"/>
          </a:xfrm>
        </p:grpSpPr>
        <p:sp>
          <p:nvSpPr>
            <p:cNvPr id="6" name="Oval 5">
              <a:hlinkClick r:id="" action="ppaction://hlinkshowjump?jump=nextslide"/>
            </p:cNvPr>
            <p:cNvSpPr>
              <a:spLocks noChangeAspect="1"/>
            </p:cNvSpPr>
            <p:nvPr/>
          </p:nvSpPr>
          <p:spPr>
            <a:xfrm>
              <a:off x="8136431" y="5022563"/>
              <a:ext cx="356640" cy="356640"/>
            </a:xfrm>
            <a:prstGeom prst="ellipse">
              <a:avLst/>
            </a:prstGeom>
            <a:gradFill flip="none" rotWithShape="1">
              <a:gsLst>
                <a:gs pos="0">
                  <a:srgbClr val="FE5815"/>
                </a:gs>
                <a:gs pos="100000">
                  <a:srgbClr val="FFC000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solidFill>
                <a:srgbClr val="FF99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Segoe" pitchFamily="34" charset="0"/>
              </a:endParaRPr>
            </a:p>
          </p:txBody>
        </p:sp>
        <p:sp>
          <p:nvSpPr>
            <p:cNvPr id="8" name="Isosceles Triangle 7">
              <a:hlinkClick r:id="" action="ppaction://hlinkshowjump?jump=nextslide"/>
            </p:cNvPr>
            <p:cNvSpPr>
              <a:spLocks noChangeAspect="1"/>
            </p:cNvSpPr>
            <p:nvPr/>
          </p:nvSpPr>
          <p:spPr>
            <a:xfrm rot="5400000" flipH="1">
              <a:off x="8252374" y="5117516"/>
              <a:ext cx="195162" cy="16824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algn="l" rotWithShape="0">
                <a:srgbClr val="D35641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7274499" y="6324600"/>
            <a:ext cx="356640" cy="356640"/>
            <a:chOff x="6852170" y="5022563"/>
            <a:chExt cx="356640" cy="356640"/>
          </a:xfrm>
        </p:grpSpPr>
        <p:sp>
          <p:nvSpPr>
            <p:cNvPr id="14" name="Oval 13">
              <a:hlinkClick r:id="" action="ppaction://hlinkshowjump?jump=firstslide"/>
            </p:cNvPr>
            <p:cNvSpPr>
              <a:spLocks noChangeAspect="1"/>
            </p:cNvSpPr>
            <p:nvPr/>
          </p:nvSpPr>
          <p:spPr>
            <a:xfrm>
              <a:off x="6852170" y="5022563"/>
              <a:ext cx="356640" cy="356640"/>
            </a:xfrm>
            <a:prstGeom prst="ellipse">
              <a:avLst/>
            </a:prstGeom>
            <a:gradFill flip="none" rotWithShape="1">
              <a:gsLst>
                <a:gs pos="0">
                  <a:srgbClr val="FE5815"/>
                </a:gs>
                <a:gs pos="100000">
                  <a:srgbClr val="FFC000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solidFill>
                <a:srgbClr val="FF99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Segoe" pitchFamily="34" charset="0"/>
              </a:endParaRPr>
            </a:p>
          </p:txBody>
        </p:sp>
        <p:grpSp>
          <p:nvGrpSpPr>
            <p:cNvPr id="15" name="Group 14"/>
            <p:cNvGrpSpPr/>
            <p:nvPr/>
          </p:nvGrpSpPr>
          <p:grpSpPr>
            <a:xfrm>
              <a:off x="6920649" y="5087260"/>
              <a:ext cx="240202" cy="214123"/>
              <a:chOff x="7066773" y="5942997"/>
              <a:chExt cx="240202" cy="214123"/>
            </a:xfrm>
          </p:grpSpPr>
          <p:sp>
            <p:nvSpPr>
              <p:cNvPr id="16" name="Rectangle 15"/>
              <p:cNvSpPr/>
              <p:nvPr/>
            </p:nvSpPr>
            <p:spPr>
              <a:xfrm>
                <a:off x="7203307" y="6055119"/>
                <a:ext cx="56276" cy="10200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hlinkClick r:id="" action="ppaction://hlinkshowjump?jump=firstslide"/>
              </p:cNvPr>
              <p:cNvSpPr/>
              <p:nvPr/>
            </p:nvSpPr>
            <p:spPr>
              <a:xfrm>
                <a:off x="7100694" y="6055119"/>
                <a:ext cx="56276" cy="10200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Isosceles Triangle 17">
                <a:hlinkClick r:id="rId3" action="ppaction://hlinksldjump"/>
              </p:cNvPr>
              <p:cNvSpPr/>
              <p:nvPr/>
            </p:nvSpPr>
            <p:spPr>
              <a:xfrm>
                <a:off x="7066773" y="5942997"/>
                <a:ext cx="240202" cy="11212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cxnSp>
        <p:nvCxnSpPr>
          <p:cNvPr id="19" name="Straight Connector 18"/>
          <p:cNvCxnSpPr/>
          <p:nvPr/>
        </p:nvCxnSpPr>
        <p:spPr>
          <a:xfrm>
            <a:off x="7813729" y="6325524"/>
            <a:ext cx="0" cy="35664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/>
          <p:cNvGrpSpPr/>
          <p:nvPr/>
        </p:nvGrpSpPr>
        <p:grpSpPr>
          <a:xfrm>
            <a:off x="8005715" y="6324600"/>
            <a:ext cx="356640" cy="356640"/>
            <a:chOff x="7583386" y="5022563"/>
            <a:chExt cx="356640" cy="356640"/>
          </a:xfrm>
        </p:grpSpPr>
        <p:sp>
          <p:nvSpPr>
            <p:cNvPr id="21" name="Oval 20">
              <a:hlinkClick r:id="" action="ppaction://hlinkshowjump?jump=previousslide"/>
            </p:cNvPr>
            <p:cNvSpPr>
              <a:spLocks noChangeAspect="1"/>
            </p:cNvSpPr>
            <p:nvPr/>
          </p:nvSpPr>
          <p:spPr>
            <a:xfrm>
              <a:off x="7583386" y="5022563"/>
              <a:ext cx="356640" cy="356640"/>
            </a:xfrm>
            <a:prstGeom prst="ellipse">
              <a:avLst/>
            </a:prstGeom>
            <a:gradFill flip="none" rotWithShape="1">
              <a:gsLst>
                <a:gs pos="0">
                  <a:srgbClr val="FE5815"/>
                </a:gs>
                <a:gs pos="100000">
                  <a:srgbClr val="FFC000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solidFill>
                <a:srgbClr val="FF99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Segoe" pitchFamily="34" charset="0"/>
              </a:endParaRPr>
            </a:p>
          </p:txBody>
        </p:sp>
        <p:sp>
          <p:nvSpPr>
            <p:cNvPr id="22" name="Isosceles Triangle 21">
              <a:hlinkClick r:id="" action="ppaction://hlinkshowjump?jump=previousslide"/>
            </p:cNvPr>
            <p:cNvSpPr>
              <a:spLocks noChangeAspect="1"/>
            </p:cNvSpPr>
            <p:nvPr/>
          </p:nvSpPr>
          <p:spPr>
            <a:xfrm rot="16200000">
              <a:off x="7649634" y="5117516"/>
              <a:ext cx="195162" cy="16824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algn="l" rotWithShape="0">
                <a:srgbClr val="D35641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620000" cy="838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977" y="1600200"/>
            <a:ext cx="7620000" cy="4373563"/>
          </a:xfrm>
        </p:spPr>
        <p:txBody>
          <a:bodyPr/>
          <a:lstStyle>
            <a:lvl1pPr>
              <a:defRPr sz="2200">
                <a:latin typeface="Segoe UI Light" pitchFamily="34" charset="0"/>
              </a:defRPr>
            </a:lvl1pPr>
            <a:lvl2pPr>
              <a:defRPr>
                <a:latin typeface="Segoe UI Light" pitchFamily="34" charset="0"/>
              </a:defRPr>
            </a:lvl2pPr>
            <a:lvl3pPr>
              <a:defRPr>
                <a:latin typeface="Segoe UI Light" pitchFamily="34" charset="0"/>
              </a:defRPr>
            </a:lvl3pPr>
            <a:lvl4pPr>
              <a:defRPr>
                <a:latin typeface="Segoe UI Light" pitchFamily="34" charset="0"/>
              </a:defRPr>
            </a:lvl4pPr>
            <a:lvl5pPr>
              <a:defRPr>
                <a:latin typeface="Segoe UI Light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0968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1" name="Group 20"/>
          <p:cNvGrpSpPr/>
          <p:nvPr/>
        </p:nvGrpSpPr>
        <p:grpSpPr>
          <a:xfrm>
            <a:off x="8558760" y="6324600"/>
            <a:ext cx="356640" cy="356640"/>
            <a:chOff x="8136431" y="5022563"/>
            <a:chExt cx="356640" cy="356640"/>
          </a:xfrm>
        </p:grpSpPr>
        <p:sp>
          <p:nvSpPr>
            <p:cNvPr id="22" name="Oval 21">
              <a:hlinkClick r:id="" action="ppaction://hlinkshowjump?jump=nextslide"/>
            </p:cNvPr>
            <p:cNvSpPr>
              <a:spLocks noChangeAspect="1"/>
            </p:cNvSpPr>
            <p:nvPr/>
          </p:nvSpPr>
          <p:spPr>
            <a:xfrm>
              <a:off x="8136431" y="5022563"/>
              <a:ext cx="356640" cy="356640"/>
            </a:xfrm>
            <a:prstGeom prst="ellipse">
              <a:avLst/>
            </a:prstGeom>
            <a:gradFill flip="none" rotWithShape="1">
              <a:gsLst>
                <a:gs pos="0">
                  <a:srgbClr val="FE5815"/>
                </a:gs>
                <a:gs pos="100000">
                  <a:srgbClr val="FFC000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solidFill>
                <a:srgbClr val="FF99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Segoe" pitchFamily="34" charset="0"/>
              </a:endParaRPr>
            </a:p>
          </p:txBody>
        </p:sp>
        <p:sp>
          <p:nvSpPr>
            <p:cNvPr id="23" name="Isosceles Triangle 22">
              <a:hlinkClick r:id="" action="ppaction://hlinkshowjump?jump=nextslide"/>
            </p:cNvPr>
            <p:cNvSpPr>
              <a:spLocks noChangeAspect="1"/>
            </p:cNvSpPr>
            <p:nvPr/>
          </p:nvSpPr>
          <p:spPr>
            <a:xfrm rot="5400000" flipH="1">
              <a:off x="8252374" y="5117516"/>
              <a:ext cx="195162" cy="16824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algn="l" rotWithShape="0">
                <a:srgbClr val="D35641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8005715" y="6324600"/>
            <a:ext cx="356640" cy="356640"/>
            <a:chOff x="7583386" y="5022563"/>
            <a:chExt cx="356640" cy="356640"/>
          </a:xfrm>
        </p:grpSpPr>
        <p:sp>
          <p:nvSpPr>
            <p:cNvPr id="25" name="Oval 24">
              <a:hlinkClick r:id="" action="ppaction://hlinkshowjump?jump=previousslide"/>
            </p:cNvPr>
            <p:cNvSpPr>
              <a:spLocks noChangeAspect="1"/>
            </p:cNvSpPr>
            <p:nvPr/>
          </p:nvSpPr>
          <p:spPr>
            <a:xfrm>
              <a:off x="7583386" y="5022563"/>
              <a:ext cx="356640" cy="356640"/>
            </a:xfrm>
            <a:prstGeom prst="ellipse">
              <a:avLst/>
            </a:prstGeom>
            <a:gradFill flip="none" rotWithShape="1">
              <a:gsLst>
                <a:gs pos="0">
                  <a:srgbClr val="FE5815"/>
                </a:gs>
                <a:gs pos="100000">
                  <a:srgbClr val="FFC000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solidFill>
                <a:srgbClr val="FF99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Segoe" pitchFamily="34" charset="0"/>
              </a:endParaRPr>
            </a:p>
          </p:txBody>
        </p:sp>
        <p:sp>
          <p:nvSpPr>
            <p:cNvPr id="26" name="Isosceles Triangle 25">
              <a:hlinkClick r:id="" action="ppaction://hlinkshowjump?jump=previousslide"/>
            </p:cNvPr>
            <p:cNvSpPr>
              <a:spLocks noChangeAspect="1"/>
            </p:cNvSpPr>
            <p:nvPr/>
          </p:nvSpPr>
          <p:spPr>
            <a:xfrm rot="16200000">
              <a:off x="7649634" y="5117516"/>
              <a:ext cx="195162" cy="16824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algn="l" rotWithShape="0">
                <a:srgbClr val="D35641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7274499" y="6324600"/>
            <a:ext cx="356640" cy="356640"/>
            <a:chOff x="6852170" y="5022563"/>
            <a:chExt cx="356640" cy="356640"/>
          </a:xfrm>
        </p:grpSpPr>
        <p:sp>
          <p:nvSpPr>
            <p:cNvPr id="28" name="Oval 27">
              <a:hlinkClick r:id="" action="ppaction://hlinkshowjump?jump=firstslide"/>
            </p:cNvPr>
            <p:cNvSpPr>
              <a:spLocks noChangeAspect="1"/>
            </p:cNvSpPr>
            <p:nvPr/>
          </p:nvSpPr>
          <p:spPr>
            <a:xfrm>
              <a:off x="6852170" y="5022563"/>
              <a:ext cx="356640" cy="356640"/>
            </a:xfrm>
            <a:prstGeom prst="ellipse">
              <a:avLst/>
            </a:prstGeom>
            <a:gradFill flip="none" rotWithShape="1">
              <a:gsLst>
                <a:gs pos="0">
                  <a:srgbClr val="FE5815"/>
                </a:gs>
                <a:gs pos="100000">
                  <a:srgbClr val="FFC000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solidFill>
                <a:srgbClr val="FF99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Segoe" pitchFamily="34" charset="0"/>
              </a:endParaRPr>
            </a:p>
          </p:txBody>
        </p:sp>
        <p:grpSp>
          <p:nvGrpSpPr>
            <p:cNvPr id="29" name="Group 28"/>
            <p:cNvGrpSpPr/>
            <p:nvPr/>
          </p:nvGrpSpPr>
          <p:grpSpPr>
            <a:xfrm>
              <a:off x="6920649" y="5087260"/>
              <a:ext cx="240202" cy="214123"/>
              <a:chOff x="7066773" y="5942997"/>
              <a:chExt cx="240202" cy="214123"/>
            </a:xfrm>
          </p:grpSpPr>
          <p:sp>
            <p:nvSpPr>
              <p:cNvPr id="30" name="Rectangle 29"/>
              <p:cNvSpPr/>
              <p:nvPr/>
            </p:nvSpPr>
            <p:spPr>
              <a:xfrm>
                <a:off x="7203307" y="6055119"/>
                <a:ext cx="56276" cy="10200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Rectangle 30">
                <a:hlinkClick r:id="" action="ppaction://hlinkshowjump?jump=firstslide"/>
              </p:cNvPr>
              <p:cNvSpPr/>
              <p:nvPr/>
            </p:nvSpPr>
            <p:spPr>
              <a:xfrm>
                <a:off x="7100694" y="6055119"/>
                <a:ext cx="56276" cy="10200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Isosceles Triangle 31">
                <a:hlinkClick r:id="rId3" action="ppaction://hlinksldjump"/>
              </p:cNvPr>
              <p:cNvSpPr/>
              <p:nvPr/>
            </p:nvSpPr>
            <p:spPr>
              <a:xfrm>
                <a:off x="7066773" y="5942997"/>
                <a:ext cx="240202" cy="11212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cxnSp>
        <p:nvCxnSpPr>
          <p:cNvPr id="33" name="Straight Connector 32"/>
          <p:cNvCxnSpPr/>
          <p:nvPr/>
        </p:nvCxnSpPr>
        <p:spPr>
          <a:xfrm>
            <a:off x="7813729" y="6325524"/>
            <a:ext cx="0" cy="35664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077201" y="6356352"/>
            <a:ext cx="4572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30B3D0-7C0C-4896-9104-43073730BC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4855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3435A0FC-5DD8-4F7F-80CB-05E8AF83F78A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57879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9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 cstate="print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30188"/>
            <a:ext cx="8382000" cy="6647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412875"/>
            <a:ext cx="8382000" cy="2135969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</p:sldLayoutIdLst>
  <p:transition>
    <p:fade/>
  </p:transition>
  <p:hf hdr="0" ftr="0"/>
  <p:txStyles>
    <p:titleStyle>
      <a:lvl1pPr algn="l" defTabSz="914363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50" dirty="0" smtClean="0">
          <a:ln w="3175">
            <a:noFill/>
          </a:ln>
          <a:gradFill flip="none" rotWithShape="1">
            <a:gsLst>
              <a:gs pos="0">
                <a:schemeClr val="accent1"/>
              </a:gs>
              <a:gs pos="86000">
                <a:srgbClr val="FFFF99"/>
              </a:gs>
              <a:gs pos="86000">
                <a:srgbClr val="F6AE1E"/>
              </a:gs>
            </a:gsLst>
            <a:lin ang="5400000" scaled="0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j-lt"/>
          <a:ea typeface="+mn-ea"/>
          <a:cs typeface="Arial" charset="0"/>
        </a:defRPr>
      </a:lvl1pPr>
    </p:titleStyle>
    <p:bodyStyle>
      <a:lvl1pPr marL="396875" indent="-3968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5"/>
        </a:buBlip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914400" indent="-3968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6"/>
        </a:buBlip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258888" indent="-344488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6"/>
        </a:buBlip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4963" indent="-3460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6"/>
        </a:buBlip>
        <a:defRPr sz="2400" kern="1200">
          <a:solidFill>
            <a:schemeClr val="bg1"/>
          </a:solidFill>
          <a:latin typeface="+mn-lt"/>
          <a:ea typeface="+mn-ea"/>
          <a:cs typeface="+mn-cs"/>
        </a:defRPr>
      </a:lvl4pPr>
      <a:lvl5pPr marL="1941513" indent="-336550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6"/>
        </a:buBlip>
        <a:defRPr sz="24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499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5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3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 cstate="print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white rectangle.png"/>
          <p:cNvPicPr>
            <a:picLocks noChangeAspect="1"/>
          </p:cNvPicPr>
          <p:nvPr/>
        </p:nvPicPr>
        <p:blipFill>
          <a:blip r:embed="rId4" cstate="print"/>
          <a:srcRect b="10453"/>
          <a:stretch>
            <a:fillRect/>
          </a:stretch>
        </p:blipFill>
        <p:spPr>
          <a:xfrm>
            <a:off x="0" y="1299706"/>
            <a:ext cx="9144000" cy="555829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30188"/>
            <a:ext cx="8382000" cy="6647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2" y="1905000"/>
            <a:ext cx="8040688" cy="21082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</p:sldLayoutIdLst>
  <p:transition>
    <p:fade/>
  </p:transition>
  <p:hf hdr="0" ftr="0"/>
  <p:txStyles>
    <p:titleStyle>
      <a:lvl1pPr algn="l" defTabSz="914363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25" dirty="0" smtClean="0">
          <a:ln w="3175">
            <a:noFill/>
          </a:ln>
          <a:gradFill flip="none" rotWithShape="1">
            <a:gsLst>
              <a:gs pos="0">
                <a:srgbClr val="FFFFB9"/>
              </a:gs>
              <a:gs pos="36000">
                <a:srgbClr val="FFFF99"/>
              </a:gs>
              <a:gs pos="86000">
                <a:srgbClr val="F6AE1E"/>
              </a:gs>
            </a:gsLst>
            <a:lin ang="5400000" scaled="0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j-lt"/>
          <a:ea typeface="+mn-ea"/>
          <a:cs typeface="Arial" charset="0"/>
        </a:defRPr>
      </a:lvl1pPr>
    </p:titleStyle>
    <p:bodyStyle>
      <a:lvl1pPr marL="0" indent="0" algn="l" defTabSz="914363" rtl="0" eaLnBrk="1" latinLnBrk="0" hangingPunct="1">
        <a:lnSpc>
          <a:spcPct val="90000"/>
        </a:lnSpc>
        <a:spcBef>
          <a:spcPct val="20000"/>
        </a:spcBef>
        <a:buFont typeface="Arial" pitchFamily="34" charset="0"/>
        <a:buNone/>
        <a:defRPr sz="3000" b="1" kern="1200">
          <a:solidFill>
            <a:schemeClr val="tx1"/>
          </a:solidFill>
          <a:latin typeface="Courier New" pitchFamily="49" charset="0"/>
          <a:ea typeface="+mn-ea"/>
          <a:cs typeface="Courier New" pitchFamily="49" charset="0"/>
        </a:defRPr>
      </a:lvl1pPr>
      <a:lvl2pPr marL="384954" indent="-7937" algn="l" defTabSz="914363" rtl="0" eaLnBrk="1" latinLnBrk="0" hangingPunct="1">
        <a:lnSpc>
          <a:spcPct val="90000"/>
        </a:lnSpc>
        <a:spcBef>
          <a:spcPct val="20000"/>
        </a:spcBef>
        <a:buFont typeface="Arial" pitchFamily="34" charset="0"/>
        <a:buNone/>
        <a:defRPr sz="2800" b="1" kern="1200">
          <a:solidFill>
            <a:schemeClr val="tx1"/>
          </a:solidFill>
          <a:latin typeface="Courier New" pitchFamily="49" charset="0"/>
          <a:ea typeface="+mn-ea"/>
          <a:cs typeface="Courier New" pitchFamily="49" charset="0"/>
        </a:defRPr>
      </a:lvl2pPr>
      <a:lvl3pPr marL="761970" indent="-7937" algn="l" defTabSz="914363" rtl="0" eaLnBrk="1" latinLnBrk="0" hangingPunct="1">
        <a:lnSpc>
          <a:spcPct val="90000"/>
        </a:lnSpc>
        <a:spcBef>
          <a:spcPct val="20000"/>
        </a:spcBef>
        <a:buFont typeface="Arial" pitchFamily="34" charset="0"/>
        <a:buNone/>
        <a:defRPr sz="2400" b="1" kern="1200">
          <a:solidFill>
            <a:schemeClr val="tx1"/>
          </a:solidFill>
          <a:latin typeface="Courier New" pitchFamily="49" charset="0"/>
          <a:ea typeface="+mn-ea"/>
          <a:cs typeface="Courier New" pitchFamily="49" charset="0"/>
        </a:defRPr>
      </a:lvl3pPr>
      <a:lvl4pPr marL="1094009" indent="7937" algn="l" defTabSz="914363" rtl="0" eaLnBrk="1" latinLnBrk="0" hangingPunct="1">
        <a:lnSpc>
          <a:spcPct val="90000"/>
        </a:lnSpc>
        <a:spcBef>
          <a:spcPct val="20000"/>
        </a:spcBef>
        <a:buFont typeface="Arial" pitchFamily="34" charset="0"/>
        <a:buNone/>
        <a:defRPr sz="2400" b="1" kern="1200">
          <a:solidFill>
            <a:schemeClr val="tx1"/>
          </a:solidFill>
          <a:latin typeface="Courier New" pitchFamily="49" charset="0"/>
          <a:ea typeface="+mn-ea"/>
          <a:cs typeface="Courier New" pitchFamily="49" charset="0"/>
        </a:defRPr>
      </a:lvl4pPr>
      <a:lvl5pPr marL="1426047" indent="0" algn="l" defTabSz="914363" rtl="0" eaLnBrk="1" latinLnBrk="0" hangingPunct="1">
        <a:lnSpc>
          <a:spcPct val="90000"/>
        </a:lnSpc>
        <a:spcBef>
          <a:spcPct val="20000"/>
        </a:spcBef>
        <a:buFont typeface="Arial" pitchFamily="34" charset="0"/>
        <a:buNone/>
        <a:defRPr sz="2400" b="1" kern="1200">
          <a:solidFill>
            <a:schemeClr val="tx1"/>
          </a:solidFill>
          <a:latin typeface="Courier New" pitchFamily="49" charset="0"/>
          <a:ea typeface="+mn-ea"/>
          <a:cs typeface="Courier New" pitchFamily="49" charset="0"/>
        </a:defRPr>
      </a:lvl5pPr>
      <a:lvl6pPr marL="2514499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5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3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620000" cy="137128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0273" y="6477001"/>
            <a:ext cx="3429000" cy="2838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</p:sldLayoutIdLst>
  <p:transition>
    <p:fade/>
  </p:transition>
  <p:hf hdr="0" ftr="0"/>
  <p:txStyles>
    <p:titleStyle>
      <a:lvl1pPr algn="l" defTabSz="914400" rtl="0" eaLnBrk="1" latinLnBrk="0" hangingPunct="1">
        <a:spcBef>
          <a:spcPct val="0"/>
        </a:spcBef>
        <a:buNone/>
        <a:defRPr sz="3200" kern="1200" cap="all" spc="-60" baseline="0">
          <a:solidFill>
            <a:schemeClr val="tx1">
              <a:lumMod val="65000"/>
              <a:lumOff val="35000"/>
            </a:schemeClr>
          </a:solidFill>
          <a:latin typeface="Segoe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spcAft>
          <a:spcPts val="600"/>
        </a:spcAft>
        <a:buFont typeface="Arial" pitchFamily="34" charset="0"/>
        <a:buNone/>
        <a:defRPr sz="2000" b="0" kern="1200">
          <a:solidFill>
            <a:schemeClr val="bg1">
              <a:lumMod val="50000"/>
            </a:schemeClr>
          </a:solidFill>
          <a:latin typeface="Segoe UI Light" pitchFamily="34" charset="0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000" kern="1200">
          <a:solidFill>
            <a:schemeClr val="bg1">
              <a:lumMod val="50000"/>
            </a:schemeClr>
          </a:solidFill>
          <a:latin typeface="Segoe UI Light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bg1">
              <a:lumMod val="50000"/>
            </a:schemeClr>
          </a:solidFill>
          <a:latin typeface="Segoe UI Light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bg1">
              <a:lumMod val="50000"/>
            </a:schemeClr>
          </a:solidFill>
          <a:latin typeface="Segoe UI Light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 baseline="0">
          <a:solidFill>
            <a:schemeClr val="bg1">
              <a:lumMod val="50000"/>
            </a:schemeClr>
          </a:solidFill>
          <a:latin typeface="Segoe UI Light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mitpress.mit.edu/books/introduction-algorithms" TargetMode="Externa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" Target="slide27.xml"/><Relationship Id="rId1" Type="http://schemas.openxmlformats.org/officeDocument/2006/relationships/slideLayout" Target="../slideLayouts/slideLayout2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9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9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765300"/>
            <a:ext cx="6400800" cy="22733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rgbClr val="0070C0"/>
                </a:solidFill>
              </a:rPr>
              <a:t>Cs316: Algorithms</a:t>
            </a:r>
            <a:br>
              <a:rPr lang="en-US" sz="3600" dirty="0">
                <a:solidFill>
                  <a:srgbClr val="0070C0"/>
                </a:solidFill>
              </a:rPr>
            </a:br>
            <a:r>
              <a:rPr lang="en-US" sz="3200" dirty="0">
                <a:solidFill>
                  <a:srgbClr val="FF3300"/>
                </a:solidFill>
              </a:rPr>
              <a:t>Lecture 1: </a:t>
            </a:r>
            <a:r>
              <a:rPr lang="en-US" sz="3600" dirty="0"/>
              <a:t>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038600"/>
            <a:ext cx="7772400" cy="1752600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lang="en-US" cap="none" dirty="0">
                <a:solidFill>
                  <a:srgbClr val="FF0000"/>
                </a:solidFill>
              </a:rPr>
              <a:t>Prepared by: Assoc. Prof. </a:t>
            </a:r>
            <a:r>
              <a:rPr lang="en-US" cap="none" dirty="0" err="1">
                <a:solidFill>
                  <a:srgbClr val="FF0000"/>
                </a:solidFill>
              </a:rPr>
              <a:t>Ensaf</a:t>
            </a:r>
            <a:r>
              <a:rPr lang="en-US" cap="none" dirty="0">
                <a:solidFill>
                  <a:srgbClr val="FF0000"/>
                </a:solidFill>
              </a:rPr>
              <a:t> Hussein</a:t>
            </a:r>
          </a:p>
          <a:p>
            <a:pPr algn="ctr"/>
            <a:r>
              <a:rPr lang="en-US" cap="none" dirty="0">
                <a:solidFill>
                  <a:srgbClr val="0000CC"/>
                </a:solidFill>
              </a:rPr>
              <a:t>Presented by:</a:t>
            </a:r>
            <a:r>
              <a:rPr lang="en-US" cap="none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sz="2400" b="1" cap="none" dirty="0">
                <a:solidFill>
                  <a:schemeClr val="tx1"/>
                </a:solidFill>
              </a:rPr>
              <a:t>Assoc. Prof. Wessam El-</a:t>
            </a:r>
            <a:r>
              <a:rPr lang="en-US" sz="2400" b="1" cap="none" dirty="0" err="1">
                <a:solidFill>
                  <a:schemeClr val="tx1"/>
                </a:solidFill>
              </a:rPr>
              <a:t>Behaidy</a:t>
            </a:r>
            <a:endParaRPr lang="en-US" sz="2400" b="1" cap="none" dirty="0">
              <a:solidFill>
                <a:schemeClr val="tx1"/>
              </a:solidFill>
            </a:endParaRPr>
          </a:p>
          <a:p>
            <a:pPr algn="ctr"/>
            <a:r>
              <a:rPr lang="en-US" sz="2400" b="1" cap="none" dirty="0">
                <a:solidFill>
                  <a:schemeClr val="tx1"/>
                </a:solidFill>
              </a:rPr>
              <a:t>Dr. Mohammed El-Said</a:t>
            </a:r>
            <a:endParaRPr lang="ar-EG" sz="2400" b="1" cap="none" dirty="0">
              <a:solidFill>
                <a:schemeClr val="tx1"/>
              </a:solidFill>
            </a:endParaRPr>
          </a:p>
          <a:p>
            <a:pPr algn="ctr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3F9792C-7A2D-4B88-B88B-9BB0D0D780B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934098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6870700" cy="7620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Grading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7696200" cy="3657600"/>
          </a:xfrm>
        </p:spPr>
        <p:txBody>
          <a:bodyPr>
            <a:normAutofit/>
          </a:bodyPr>
          <a:lstStyle/>
          <a:p>
            <a:pPr lvl="1"/>
            <a:r>
              <a:rPr lang="en-US" sz="2400" dirty="0">
                <a:solidFill>
                  <a:schemeClr val="tx1"/>
                </a:solidFill>
                <a:cs typeface="Arial" pitchFamily="34" charset="0"/>
              </a:rPr>
              <a:t>Mid-term Exam	 			20%</a:t>
            </a:r>
          </a:p>
          <a:p>
            <a:pPr lvl="1"/>
            <a:r>
              <a:rPr lang="en-US" sz="2400" dirty="0">
                <a:solidFill>
                  <a:schemeClr val="tx1"/>
                </a:solidFill>
                <a:cs typeface="Arial" pitchFamily="34" charset="0"/>
              </a:rPr>
              <a:t>Quizzes &amp; tasks				20%</a:t>
            </a:r>
          </a:p>
          <a:p>
            <a:pPr lvl="1"/>
            <a:r>
              <a:rPr lang="en-US" sz="2400" dirty="0">
                <a:solidFill>
                  <a:schemeClr val="tx1"/>
                </a:solidFill>
                <a:cs typeface="Arial" pitchFamily="34" charset="0"/>
              </a:rPr>
              <a:t>Sheets					10%</a:t>
            </a:r>
          </a:p>
          <a:p>
            <a:pPr lvl="1"/>
            <a:r>
              <a:rPr lang="en-US" sz="2400" dirty="0">
                <a:solidFill>
                  <a:schemeClr val="tx1"/>
                </a:solidFill>
                <a:cs typeface="Arial" pitchFamily="34" charset="0"/>
              </a:rPr>
              <a:t>Final-Exam 		    		50%          </a:t>
            </a:r>
          </a:p>
          <a:p>
            <a:endParaRPr lang="ar-EG" sz="2400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0EE9B97-BCCF-4F27-8F09-3A0011275077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212402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6870700" cy="7620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7696200" cy="3657600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Textbook:</a:t>
            </a:r>
          </a:p>
          <a:p>
            <a:r>
              <a:rPr lang="en-US" sz="2400" dirty="0">
                <a:solidFill>
                  <a:schemeClr val="tx1"/>
                </a:solidFill>
              </a:rPr>
              <a:t>Thomas </a:t>
            </a:r>
            <a:r>
              <a:rPr lang="en-US" sz="2400" dirty="0" err="1">
                <a:solidFill>
                  <a:schemeClr val="tx1"/>
                </a:solidFill>
              </a:rPr>
              <a:t>Cormen</a:t>
            </a:r>
            <a:r>
              <a:rPr lang="en-US" sz="2400" dirty="0">
                <a:solidFill>
                  <a:schemeClr val="tx1"/>
                </a:solidFill>
              </a:rPr>
              <a:t>, Charles </a:t>
            </a:r>
            <a:r>
              <a:rPr lang="en-US" sz="2400" dirty="0" err="1">
                <a:solidFill>
                  <a:schemeClr val="tx1"/>
                </a:solidFill>
              </a:rPr>
              <a:t>Leiserson</a:t>
            </a:r>
            <a:r>
              <a:rPr lang="en-US" sz="2400" dirty="0">
                <a:solidFill>
                  <a:schemeClr val="tx1"/>
                </a:solidFill>
              </a:rPr>
              <a:t>, Ronald </a:t>
            </a:r>
            <a:r>
              <a:rPr lang="en-US" sz="2400" dirty="0" err="1">
                <a:solidFill>
                  <a:schemeClr val="tx1"/>
                </a:solidFill>
              </a:rPr>
              <a:t>Rivest</a:t>
            </a:r>
            <a:r>
              <a:rPr lang="en-US" sz="2400" dirty="0">
                <a:solidFill>
                  <a:schemeClr val="tx1"/>
                </a:solidFill>
              </a:rPr>
              <a:t>, and Clifford Stein. </a:t>
            </a:r>
            <a:r>
              <a:rPr lang="en-US" sz="2400" i="1" dirty="0">
                <a:solidFill>
                  <a:schemeClr val="tx1"/>
                </a:solidFill>
                <a:hlinkClick r:id="rId2"/>
              </a:rPr>
              <a:t>Introduction to Algorithms</a:t>
            </a:r>
            <a:r>
              <a:rPr lang="en-US" sz="2400" dirty="0">
                <a:solidFill>
                  <a:schemeClr val="tx1"/>
                </a:solidFill>
              </a:rPr>
              <a:t>. 3rd ed. MIT Press, 2009. </a:t>
            </a:r>
          </a:p>
          <a:p>
            <a:pPr lvl="0"/>
            <a:r>
              <a:rPr lang="en-US" sz="2400" dirty="0" err="1">
                <a:solidFill>
                  <a:schemeClr val="tx1"/>
                </a:solidFill>
              </a:rPr>
              <a:t>Anany</a:t>
            </a:r>
            <a:r>
              <a:rPr lang="en-US" sz="2400" dirty="0">
                <a:solidFill>
                  <a:schemeClr val="tx1"/>
                </a:solidFill>
              </a:rPr>
              <a:t> Levitin, Introduction to the design and analysis of algorithms </a:t>
            </a:r>
            <a:r>
              <a:rPr lang="ar-EG" sz="2400" dirty="0">
                <a:solidFill>
                  <a:schemeClr val="tx1"/>
                </a:solidFill>
              </a:rPr>
              <a:t>3</a:t>
            </a:r>
            <a:r>
              <a:rPr lang="en-US" sz="2400" baseline="30000" dirty="0" err="1">
                <a:solidFill>
                  <a:schemeClr val="tx1"/>
                </a:solidFill>
              </a:rPr>
              <a:t>rd</a:t>
            </a:r>
            <a:r>
              <a:rPr lang="en-US" sz="2400" dirty="0">
                <a:solidFill>
                  <a:schemeClr val="tx1"/>
                </a:solidFill>
              </a:rPr>
              <a:t> Edition, 2012.</a:t>
            </a:r>
          </a:p>
          <a:p>
            <a:endParaRPr lang="en-US" sz="2400" dirty="0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Handouts******</a:t>
            </a:r>
            <a:endParaRPr lang="ar-EG" sz="2400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0EE9B97-BCCF-4F27-8F09-3A0011275077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399531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457200" y="131763"/>
            <a:ext cx="7339012" cy="1239837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cs typeface="Times New Roman" pitchFamily="18" charset="0"/>
              </a:rPr>
              <a:t>Course Syllabus</a:t>
            </a:r>
            <a:endParaRPr lang="ar-EG" b="1" dirty="0">
              <a:solidFill>
                <a:schemeClr val="tx1"/>
              </a:solidFill>
            </a:endParaRP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>
          <a:xfrm>
            <a:off x="457200" y="1463675"/>
            <a:ext cx="8229600" cy="4937125"/>
          </a:xfrm>
          <a:prstGeom prst="rect">
            <a:avLst/>
          </a:prstGeom>
        </p:spPr>
        <p:txBody>
          <a:bodyPr>
            <a:normAutofit fontScale="77500" lnSpcReduction="20000"/>
          </a:bodyPr>
          <a:lstStyle/>
          <a:p>
            <a:pPr lvl="1"/>
            <a:r>
              <a:rPr lang="en-US" sz="2400" dirty="0">
                <a:solidFill>
                  <a:schemeClr val="tx1"/>
                </a:solidFill>
                <a:cs typeface="Arial" pitchFamily="34" charset="0"/>
              </a:rPr>
              <a:t>Algorithms Design and Analysis</a:t>
            </a:r>
          </a:p>
          <a:p>
            <a:pPr lvl="1"/>
            <a:r>
              <a:rPr lang="en-US" sz="2400" dirty="0">
                <a:solidFill>
                  <a:schemeClr val="tx1"/>
                </a:solidFill>
                <a:cs typeface="Arial" pitchFamily="34" charset="0"/>
              </a:rPr>
              <a:t>Asymptotic Notations</a:t>
            </a:r>
          </a:p>
          <a:p>
            <a:pPr lvl="1"/>
            <a:r>
              <a:rPr lang="en-US" sz="2400" dirty="0">
                <a:solidFill>
                  <a:schemeClr val="tx1"/>
                </a:solidFill>
                <a:cs typeface="Arial" pitchFamily="34" charset="0"/>
              </a:rPr>
              <a:t>Compute Complexity for :</a:t>
            </a:r>
          </a:p>
          <a:p>
            <a:pPr lvl="2"/>
            <a:r>
              <a:rPr lang="en-US" sz="2200" dirty="0">
                <a:solidFill>
                  <a:schemeClr val="tx1"/>
                </a:solidFill>
                <a:cs typeface="Arial" pitchFamily="34" charset="0"/>
              </a:rPr>
              <a:t>Non-recursive algorithms</a:t>
            </a:r>
          </a:p>
          <a:p>
            <a:pPr lvl="2"/>
            <a:r>
              <a:rPr lang="en-US" sz="2200" dirty="0">
                <a:solidFill>
                  <a:schemeClr val="tx1"/>
                </a:solidFill>
                <a:cs typeface="Arial" pitchFamily="34" charset="0"/>
              </a:rPr>
              <a:t>Recursive Algorithms</a:t>
            </a:r>
          </a:p>
          <a:p>
            <a:pPr lvl="3"/>
            <a:r>
              <a:rPr lang="en-US" sz="2200" strike="sngStrike" dirty="0">
                <a:solidFill>
                  <a:schemeClr val="tx1"/>
                </a:solidFill>
                <a:cs typeface="Arial" pitchFamily="34" charset="0"/>
              </a:rPr>
              <a:t>Substitution Method</a:t>
            </a:r>
          </a:p>
          <a:p>
            <a:pPr lvl="3"/>
            <a:r>
              <a:rPr lang="en-US" sz="2200" dirty="0">
                <a:solidFill>
                  <a:schemeClr val="tx1"/>
                </a:solidFill>
                <a:cs typeface="Arial" pitchFamily="34" charset="0"/>
              </a:rPr>
              <a:t>Iteration Tree</a:t>
            </a:r>
          </a:p>
          <a:p>
            <a:pPr lvl="3"/>
            <a:r>
              <a:rPr lang="en-US" sz="2200" dirty="0">
                <a:solidFill>
                  <a:schemeClr val="tx1"/>
                </a:solidFill>
                <a:cs typeface="Arial" pitchFamily="34" charset="0"/>
              </a:rPr>
              <a:t>Master Method</a:t>
            </a:r>
          </a:p>
          <a:p>
            <a:pPr lvl="1"/>
            <a:r>
              <a:rPr lang="en-US" sz="2400" dirty="0">
                <a:solidFill>
                  <a:schemeClr val="tx1"/>
                </a:solidFill>
                <a:cs typeface="Arial" pitchFamily="34" charset="0"/>
              </a:rPr>
              <a:t>Divide and Conquer Algorithms ( Merge Sort- Quick Sort)</a:t>
            </a:r>
          </a:p>
          <a:p>
            <a:pPr lvl="1"/>
            <a:r>
              <a:rPr lang="en-US" sz="2400" dirty="0">
                <a:solidFill>
                  <a:schemeClr val="tx1"/>
                </a:solidFill>
                <a:cs typeface="Arial" pitchFamily="34" charset="0"/>
              </a:rPr>
              <a:t>Linear time Sorting (count – bucket – radix)</a:t>
            </a:r>
          </a:p>
          <a:p>
            <a:pPr lvl="1"/>
            <a:r>
              <a:rPr lang="en-US" sz="2400" dirty="0">
                <a:solidFill>
                  <a:schemeClr val="tx1"/>
                </a:solidFill>
                <a:cs typeface="Arial" pitchFamily="34" charset="0"/>
              </a:rPr>
              <a:t>Graph</a:t>
            </a:r>
          </a:p>
          <a:p>
            <a:pPr lvl="2"/>
            <a:r>
              <a:rPr lang="en-US" sz="2200" dirty="0">
                <a:solidFill>
                  <a:schemeClr val="tx1"/>
                </a:solidFill>
                <a:cs typeface="Arial" pitchFamily="34" charset="0"/>
              </a:rPr>
              <a:t>BFS - DFS</a:t>
            </a:r>
          </a:p>
          <a:p>
            <a:pPr lvl="2"/>
            <a:r>
              <a:rPr lang="en-US" sz="2200" dirty="0">
                <a:solidFill>
                  <a:schemeClr val="tx1"/>
                </a:solidFill>
                <a:cs typeface="Arial" pitchFamily="34" charset="0"/>
              </a:rPr>
              <a:t>MST – Prim - </a:t>
            </a:r>
            <a:r>
              <a:rPr lang="en-US" sz="2200" dirty="0" err="1">
                <a:solidFill>
                  <a:schemeClr val="tx1"/>
                </a:solidFill>
                <a:cs typeface="Arial" pitchFamily="34" charset="0"/>
              </a:rPr>
              <a:t>Kruskal</a:t>
            </a:r>
            <a:endParaRPr lang="en-US" sz="2200" dirty="0">
              <a:solidFill>
                <a:schemeClr val="tx1"/>
              </a:solidFill>
              <a:cs typeface="Arial" pitchFamily="34" charset="0"/>
            </a:endParaRPr>
          </a:p>
          <a:p>
            <a:pPr lvl="2"/>
            <a:r>
              <a:rPr lang="en-US" sz="2200" dirty="0">
                <a:solidFill>
                  <a:schemeClr val="tx1"/>
                </a:solidFill>
                <a:cs typeface="Arial" pitchFamily="34" charset="0"/>
              </a:rPr>
              <a:t>Shortest path – </a:t>
            </a:r>
            <a:r>
              <a:rPr lang="en-US" sz="2200" dirty="0" err="1">
                <a:solidFill>
                  <a:schemeClr val="tx1"/>
                </a:solidFill>
                <a:cs typeface="Arial" pitchFamily="34" charset="0"/>
              </a:rPr>
              <a:t>Dijkstra</a:t>
            </a:r>
            <a:r>
              <a:rPr lang="en-US" sz="2200" dirty="0">
                <a:solidFill>
                  <a:schemeClr val="tx1"/>
                </a:solidFill>
                <a:cs typeface="Arial" pitchFamily="34" charset="0"/>
              </a:rPr>
              <a:t> – Bellman Ford</a:t>
            </a:r>
          </a:p>
          <a:p>
            <a:pPr lvl="1"/>
            <a:r>
              <a:rPr lang="en-US" sz="2400" dirty="0">
                <a:solidFill>
                  <a:schemeClr val="tx1"/>
                </a:solidFill>
                <a:cs typeface="Arial" pitchFamily="34" charset="0"/>
              </a:rPr>
              <a:t>Dynamic Programming – Matrix Chain Multiplication - </a:t>
            </a:r>
            <a:r>
              <a:rPr lang="en-US" altLang="en-US" sz="2500" dirty="0">
                <a:solidFill>
                  <a:schemeClr val="tx1"/>
                </a:solidFill>
                <a:cs typeface="Arial" pitchFamily="34" charset="0"/>
              </a:rPr>
              <a:t>Longest Common Subsequence</a:t>
            </a:r>
          </a:p>
          <a:p>
            <a:pPr lvl="1"/>
            <a:r>
              <a:rPr lang="en-US" sz="2400" dirty="0">
                <a:solidFill>
                  <a:schemeClr val="tx1"/>
                </a:solidFill>
                <a:cs typeface="Arial" pitchFamily="34" charset="0"/>
              </a:rPr>
              <a:t>Greedy Approach – Knapsack [0-1 / Fractional]</a:t>
            </a:r>
          </a:p>
          <a:p>
            <a:pPr marL="914400" lvl="2" indent="0">
              <a:buNone/>
            </a:pPr>
            <a:endParaRPr lang="en-US" sz="2200" dirty="0">
              <a:solidFill>
                <a:schemeClr val="tx1"/>
              </a:solidFill>
              <a:cs typeface="Arial" pitchFamily="34" charset="0"/>
            </a:endParaRPr>
          </a:p>
          <a:p>
            <a:pPr lvl="1"/>
            <a:endParaRPr lang="ar-EG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4198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609600" y="177801"/>
            <a:ext cx="7339012" cy="1239837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cs typeface="Times New Roman" pitchFamily="18" charset="0"/>
              </a:rPr>
              <a:t>Course Objectives</a:t>
            </a:r>
            <a:endParaRPr lang="ar-EG" b="1" dirty="0">
              <a:solidFill>
                <a:schemeClr val="tx1"/>
              </a:solidFill>
            </a:endParaRP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93712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lvl="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Design algorithms using Pseudocode.</a:t>
            </a:r>
          </a:p>
          <a:p>
            <a:pPr marL="342900" lvl="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Demonstrate and study asymptotic notations in best, worst and average case.</a:t>
            </a:r>
          </a:p>
          <a:p>
            <a:pPr marL="342900" lvl="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Define and analyze the complexity of recursive and non-recursive algorithms.</a:t>
            </a:r>
          </a:p>
          <a:p>
            <a:pPr marL="342900" lvl="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Understand, analyze and apply standard algorithms involving searching, sorting, tree, graph, greedy, backtracking and dynamic programming algorithms.</a:t>
            </a:r>
          </a:p>
        </p:txBody>
      </p:sp>
    </p:spTree>
    <p:extLst>
      <p:ext uri="{BB962C8B-B14F-4D97-AF65-F5344CB8AC3E}">
        <p14:creationId xmlns:p14="http://schemas.microsoft.com/office/powerpoint/2010/main" val="3542360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7620000" cy="8382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Why Studying Algorithms?</a:t>
            </a:r>
            <a:endParaRPr lang="ar-EG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976" y="1219200"/>
            <a:ext cx="7941623" cy="4754563"/>
          </a:xfrm>
        </p:spPr>
        <p:txBody>
          <a:bodyPr>
            <a:noAutofit/>
          </a:bodyPr>
          <a:lstStyle/>
          <a:p>
            <a:pPr marL="276225" indent="-276225">
              <a:buFont typeface="Arial" pitchFamily="34" charset="0"/>
              <a:buChar char="•"/>
              <a:defRPr/>
            </a:pPr>
            <a:r>
              <a:rPr lang="en-US" sz="2800" dirty="0">
                <a:solidFill>
                  <a:schemeClr val="dk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The study of algorithms is the </a:t>
            </a:r>
            <a:r>
              <a:rPr lang="en-US" sz="2800" dirty="0">
                <a:solidFill>
                  <a:srgbClr val="FF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cornerstone of computer science.</a:t>
            </a:r>
          </a:p>
          <a:p>
            <a:pPr marL="276225" indent="-276225">
              <a:buFont typeface="Arial" pitchFamily="34" charset="0"/>
              <a:buChar char="•"/>
              <a:defRPr/>
            </a:pPr>
            <a:r>
              <a:rPr lang="en-US" sz="2800" dirty="0">
                <a:solidFill>
                  <a:schemeClr val="dk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You have to know a </a:t>
            </a:r>
            <a:r>
              <a:rPr lang="en-US" sz="2800" dirty="0">
                <a:solidFill>
                  <a:srgbClr val="FF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standard set of important algorithms</a:t>
            </a:r>
            <a:r>
              <a:rPr lang="en-US" sz="2800" dirty="0">
                <a:solidFill>
                  <a:schemeClr val="dk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from different areas of computing; in addition, you should be able to </a:t>
            </a:r>
            <a:r>
              <a:rPr lang="en-US" sz="2800" dirty="0">
                <a:solidFill>
                  <a:srgbClr val="FF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design new algorithms and analyze </a:t>
            </a:r>
            <a:r>
              <a:rPr lang="en-US" sz="2800" dirty="0">
                <a:solidFill>
                  <a:schemeClr val="dk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their efficiency. </a:t>
            </a:r>
          </a:p>
          <a:p>
            <a:pPr marL="276225" indent="-276225">
              <a:buFont typeface="Arial" pitchFamily="34" charset="0"/>
              <a:buChar char="•"/>
              <a:defRPr/>
            </a:pPr>
            <a:r>
              <a:rPr lang="en-US" sz="2800" dirty="0">
                <a:solidFill>
                  <a:schemeClr val="dk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Algorithms can be seen as special kinds of solutions to problems— </a:t>
            </a:r>
            <a:r>
              <a:rPr lang="en-US" sz="2800" dirty="0">
                <a:solidFill>
                  <a:srgbClr val="FF33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not just answers</a:t>
            </a:r>
            <a:r>
              <a:rPr lang="en-US" sz="2800" dirty="0">
                <a:solidFill>
                  <a:schemeClr val="dk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but precisely </a:t>
            </a:r>
            <a:r>
              <a:rPr lang="en-US" sz="2800" dirty="0">
                <a:solidFill>
                  <a:srgbClr val="FF33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defined procedures for getting answers</a:t>
            </a:r>
            <a:endParaRPr lang="ar-EG" sz="2800" dirty="0">
              <a:solidFill>
                <a:srgbClr val="FF3300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marL="276225" indent="-276225">
              <a:buFont typeface="Arial" pitchFamily="34" charset="0"/>
              <a:buChar char="•"/>
            </a:pPr>
            <a:endParaRPr lang="ar-EG" sz="2800" dirty="0">
              <a:solidFill>
                <a:schemeClr val="dk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-228600"/>
            <a:ext cx="7620000" cy="8382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Algorithms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533400"/>
            <a:ext cx="8839200" cy="548640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solidFill>
                  <a:srgbClr val="C00000"/>
                </a:solidFill>
              </a:rPr>
              <a:t>ABU JA‘FAR MOHAMMED IBN MUSA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800" b="1" dirty="0">
              <a:solidFill>
                <a:schemeClr val="tx2">
                  <a:lumMod val="50000"/>
                </a:schemeClr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solidFill>
                  <a:schemeClr val="tx2">
                    <a:lumMod val="50000"/>
                  </a:schemeClr>
                </a:solidFill>
              </a:rPr>
              <a:t>AL-KHOWARIZMI</a:t>
            </a:r>
            <a:r>
              <a:rPr lang="en-US" sz="2800" b="1" dirty="0">
                <a:solidFill>
                  <a:schemeClr val="tx1"/>
                </a:solidFill>
              </a:rPr>
              <a:t> (C. 780 – C. 850)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200" b="1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chemeClr val="tx1"/>
                </a:solidFill>
              </a:rPr>
              <a:t>Al-</a:t>
            </a:r>
            <a:r>
              <a:rPr lang="en-US" sz="2400" b="1" dirty="0" err="1">
                <a:solidFill>
                  <a:schemeClr val="tx1"/>
                </a:solidFill>
              </a:rPr>
              <a:t>Khowarizmi</a:t>
            </a:r>
            <a:r>
              <a:rPr lang="en-US" sz="2400" b="1" dirty="0">
                <a:solidFill>
                  <a:schemeClr val="tx1"/>
                </a:solidFill>
              </a:rPr>
              <a:t>, an astronomer and mathematician, was a member of the House of Wisdom, an academy of scientists in Baghdad. The name al-</a:t>
            </a:r>
            <a:r>
              <a:rPr lang="en-US" sz="2400" b="1" dirty="0" err="1">
                <a:solidFill>
                  <a:schemeClr val="tx1"/>
                </a:solidFill>
              </a:rPr>
              <a:t>Khowarizmi</a:t>
            </a:r>
            <a:r>
              <a:rPr lang="en-US" sz="2400" b="1" dirty="0">
                <a:solidFill>
                  <a:schemeClr val="tx1"/>
                </a:solidFill>
              </a:rPr>
              <a:t> means “from </a:t>
            </a:r>
            <a:r>
              <a:rPr lang="en-US" sz="2400" b="1" dirty="0" err="1">
                <a:solidFill>
                  <a:schemeClr val="tx1"/>
                </a:solidFill>
              </a:rPr>
              <a:t>Kowarzizm</a:t>
            </a:r>
            <a:r>
              <a:rPr lang="en-US" sz="2400" b="1" dirty="0">
                <a:solidFill>
                  <a:schemeClr val="tx1"/>
                </a:solidFill>
              </a:rPr>
              <a:t>,” which was then part of Persia, but is now called </a:t>
            </a:r>
            <a:r>
              <a:rPr lang="en-US" sz="2400" b="1" i="1" dirty="0" err="1">
                <a:solidFill>
                  <a:schemeClr val="tx1"/>
                </a:solidFill>
              </a:rPr>
              <a:t>Khiwa</a:t>
            </a:r>
            <a:r>
              <a:rPr lang="en-US" sz="2400" b="1" i="1" dirty="0">
                <a:solidFill>
                  <a:schemeClr val="tx1"/>
                </a:solidFill>
              </a:rPr>
              <a:t> </a:t>
            </a:r>
            <a:r>
              <a:rPr lang="en-US" sz="2400" b="1" dirty="0">
                <a:solidFill>
                  <a:schemeClr val="tx1"/>
                </a:solidFill>
              </a:rPr>
              <a:t>and is part of Uzbekistan.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chemeClr val="tx1"/>
                </a:solidFill>
              </a:rPr>
              <a:t>Al-</a:t>
            </a:r>
            <a:r>
              <a:rPr lang="en-US" sz="2400" b="1" dirty="0" err="1">
                <a:solidFill>
                  <a:schemeClr val="tx1"/>
                </a:solidFill>
              </a:rPr>
              <a:t>Khowarizmi</a:t>
            </a:r>
            <a:r>
              <a:rPr lang="en-US" sz="2400" b="1" dirty="0">
                <a:solidFill>
                  <a:schemeClr val="tx1"/>
                </a:solidFill>
              </a:rPr>
              <a:t> wrote books on mathematics, astronomy, and geography.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chemeClr val="tx1"/>
                </a:solidFill>
              </a:rPr>
              <a:t>Western Europeans first learned about algebra from his works. The word </a:t>
            </a:r>
            <a:r>
              <a:rPr lang="en-US" sz="2400" b="1" i="1" dirty="0">
                <a:solidFill>
                  <a:schemeClr val="tx1"/>
                </a:solidFill>
              </a:rPr>
              <a:t>algebra </a:t>
            </a:r>
            <a:r>
              <a:rPr lang="en-US" sz="2400" b="1" dirty="0">
                <a:solidFill>
                  <a:schemeClr val="tx1"/>
                </a:solidFill>
              </a:rPr>
              <a:t>comes from al-</a:t>
            </a:r>
            <a:r>
              <a:rPr lang="en-US" sz="2400" b="1" dirty="0" err="1">
                <a:solidFill>
                  <a:schemeClr val="tx1"/>
                </a:solidFill>
              </a:rPr>
              <a:t>jabr</a:t>
            </a:r>
            <a:r>
              <a:rPr lang="en-US" sz="2400" b="1" dirty="0">
                <a:solidFill>
                  <a:schemeClr val="tx1"/>
                </a:solidFill>
              </a:rPr>
              <a:t>, part of the title of his book </a:t>
            </a:r>
            <a:r>
              <a:rPr lang="en-US" sz="2400" b="1" i="1" dirty="0" err="1">
                <a:solidFill>
                  <a:schemeClr val="tx1"/>
                </a:solidFill>
              </a:rPr>
              <a:t>Kitab</a:t>
            </a:r>
            <a:r>
              <a:rPr lang="en-US" sz="2400" b="1" i="1" dirty="0">
                <a:solidFill>
                  <a:schemeClr val="tx1"/>
                </a:solidFill>
              </a:rPr>
              <a:t> al-</a:t>
            </a:r>
            <a:r>
              <a:rPr lang="en-US" sz="2400" b="1" i="1" dirty="0" err="1">
                <a:solidFill>
                  <a:schemeClr val="tx1"/>
                </a:solidFill>
              </a:rPr>
              <a:t>jabr</a:t>
            </a:r>
            <a:r>
              <a:rPr lang="en-US" sz="2400" b="1" i="1" dirty="0">
                <a:solidFill>
                  <a:schemeClr val="tx1"/>
                </a:solidFill>
              </a:rPr>
              <a:t> </a:t>
            </a:r>
            <a:r>
              <a:rPr lang="en-US" sz="2400" b="1" i="1" dirty="0" err="1">
                <a:solidFill>
                  <a:schemeClr val="tx1"/>
                </a:solidFill>
              </a:rPr>
              <a:t>w’al</a:t>
            </a:r>
            <a:r>
              <a:rPr lang="en-US" sz="2400" b="1" i="1" dirty="0">
                <a:solidFill>
                  <a:schemeClr val="tx1"/>
                </a:solidFill>
              </a:rPr>
              <a:t> </a:t>
            </a:r>
            <a:r>
              <a:rPr lang="en-US" sz="2400" b="1" i="1" dirty="0" err="1">
                <a:solidFill>
                  <a:schemeClr val="tx1"/>
                </a:solidFill>
              </a:rPr>
              <a:t>muquabala</a:t>
            </a:r>
            <a:r>
              <a:rPr lang="en-US" sz="2400" b="1" dirty="0">
                <a:solidFill>
                  <a:schemeClr val="tx1"/>
                </a:solidFill>
              </a:rPr>
              <a:t>. This book was translated into Latin and was a widely used textbook. His book on the use of Hindu numerals describes procedures for arithmetic operations using these numerals. European authors used a Latin corruption of his name, which later evolved to the word </a:t>
            </a:r>
            <a:r>
              <a:rPr lang="en-US" sz="2400" b="1" i="1" dirty="0">
                <a:solidFill>
                  <a:schemeClr val="tx1"/>
                </a:solidFill>
              </a:rPr>
              <a:t>algorithm, </a:t>
            </a:r>
            <a:r>
              <a:rPr lang="en-US" sz="2400" b="1" dirty="0">
                <a:solidFill>
                  <a:schemeClr val="tx1"/>
                </a:solidFill>
              </a:rPr>
              <a:t>to describe the subject of arithmetic with Hindu numerals.</a:t>
            </a:r>
          </a:p>
        </p:txBody>
      </p:sp>
      <p:pic>
        <p:nvPicPr>
          <p:cNvPr id="6" name="Content Placeholder 5" descr="Data Models1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0"/>
            <a:ext cx="2895600" cy="180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88813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What is Algorithms ?!</a:t>
            </a:r>
          </a:p>
        </p:txBody>
      </p:sp>
    </p:spTree>
    <p:extLst>
      <p:ext uri="{BB962C8B-B14F-4D97-AF65-F5344CB8AC3E}">
        <p14:creationId xmlns:p14="http://schemas.microsoft.com/office/powerpoint/2010/main" val="35240832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6870700" cy="762000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14400"/>
            <a:ext cx="8229600" cy="4572000"/>
          </a:xfr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/>
            <a:r>
              <a:rPr lang="en-US" altLang="zh-CN" sz="3200" b="1" dirty="0">
                <a:solidFill>
                  <a:srgbClr val="0000CC"/>
                </a:solidFill>
                <a:ea typeface="SimSun" pitchFamily="2" charset="-122"/>
                <a:cs typeface="Arial" pitchFamily="34" charset="0"/>
              </a:rPr>
              <a:t>Program = algorithms + data structures</a:t>
            </a:r>
          </a:p>
          <a:p>
            <a:endParaRPr lang="en-US" altLang="zh-CN" sz="2800" b="1" u="sng" dirty="0"/>
          </a:p>
          <a:p>
            <a:endParaRPr lang="en-US" altLang="zh-CN" sz="2800" b="1" u="sng" dirty="0"/>
          </a:p>
          <a:p>
            <a:endParaRPr lang="en-US" altLang="zh-CN" sz="2800" b="1" u="sng" dirty="0"/>
          </a:p>
          <a:p>
            <a:endParaRPr lang="en-US" altLang="zh-CN" sz="2800" b="1" u="sng" dirty="0"/>
          </a:p>
          <a:p>
            <a:endParaRPr lang="en-US" altLang="zh-CN" sz="2800" b="1" u="sng" dirty="0"/>
          </a:p>
          <a:p>
            <a:r>
              <a:rPr lang="en-US" altLang="zh-CN" sz="2800" b="1" u="sng" dirty="0"/>
              <a:t>Data structures: </a:t>
            </a:r>
            <a:r>
              <a:rPr lang="en-US" altLang="zh-CN" sz="2800" dirty="0">
                <a:ea typeface="SimSun" pitchFamily="2" charset="-122"/>
                <a:cs typeface="Arial" pitchFamily="34" charset="0"/>
              </a:rPr>
              <a:t>Methods of organizing data</a:t>
            </a:r>
          </a:p>
          <a:p>
            <a:endParaRPr lang="en-US" altLang="zh-CN" sz="2800" i="1" dirty="0">
              <a:solidFill>
                <a:srgbClr val="0000CC"/>
              </a:solidFill>
              <a:ea typeface="SimSun" pitchFamily="2" charset="-122"/>
              <a:cs typeface="Arial" pitchFamily="34" charset="0"/>
            </a:endParaRPr>
          </a:p>
          <a:p>
            <a:pPr algn="ctr"/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SimSun" pitchFamily="2" charset="-122"/>
                <a:cs typeface="Arial" pitchFamily="34" charset="0"/>
              </a:rPr>
              <a:t>You have to design your algorithm before coding</a:t>
            </a:r>
          </a:p>
        </p:txBody>
      </p:sp>
      <p:sp>
        <p:nvSpPr>
          <p:cNvPr id="21" name="Slide Number Placeholder 20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0EE9B97-BCCF-4F27-8F09-3A0011275077}" type="slidenum">
              <a:rPr lang="en-US" smtClean="0"/>
              <a:pPr/>
              <a:t>9</a:t>
            </a:fld>
            <a:endParaRPr lang="en-US"/>
          </a:p>
        </p:txBody>
      </p:sp>
      <p:grpSp>
        <p:nvGrpSpPr>
          <p:cNvPr id="9" name="Group 8"/>
          <p:cNvGrpSpPr/>
          <p:nvPr/>
        </p:nvGrpSpPr>
        <p:grpSpPr>
          <a:xfrm>
            <a:off x="1066800" y="1828800"/>
            <a:ext cx="6934200" cy="2362200"/>
            <a:chOff x="2133600" y="2524760"/>
            <a:chExt cx="5029200" cy="2047240"/>
          </a:xfrm>
        </p:grpSpPr>
        <p:sp>
          <p:nvSpPr>
            <p:cNvPr id="4" name="Rectangle 3"/>
            <p:cNvSpPr/>
            <p:nvPr/>
          </p:nvSpPr>
          <p:spPr bwMode="auto">
            <a:xfrm>
              <a:off x="3902110" y="2524760"/>
              <a:ext cx="1326383" cy="44704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2800" dirty="0"/>
                <a:t>P</a:t>
              </a:r>
              <a:r>
                <a:rPr kumimoji="0" lang="en-US" sz="2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itchFamily="66" charset="0"/>
                </a:rPr>
                <a:t>roblem</a:t>
              </a:r>
            </a:p>
          </p:txBody>
        </p:sp>
        <p:sp>
          <p:nvSpPr>
            <p:cNvPr id="5" name="Rectangle 4"/>
            <p:cNvSpPr/>
            <p:nvPr/>
          </p:nvSpPr>
          <p:spPr bwMode="auto">
            <a:xfrm>
              <a:off x="3846844" y="3352800"/>
              <a:ext cx="1436914" cy="49276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rgbClr val="F8F8F8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2800" dirty="0"/>
                <a:t>A</a:t>
              </a:r>
              <a:r>
                <a:rPr kumimoji="0" lang="en-US" sz="2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itchFamily="66" charset="0"/>
                </a:rPr>
                <a:t>lgorithm</a:t>
              </a:r>
            </a:p>
          </p:txBody>
        </p:sp>
        <p:sp>
          <p:nvSpPr>
            <p:cNvPr id="6" name="Rectangle 5"/>
            <p:cNvSpPr/>
            <p:nvPr/>
          </p:nvSpPr>
          <p:spPr bwMode="auto">
            <a:xfrm>
              <a:off x="3962400" y="4114800"/>
              <a:ext cx="1371600" cy="4572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itchFamily="66" charset="0"/>
                </a:rPr>
                <a:t>Computer</a:t>
              </a:r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2133600" y="4114800"/>
              <a:ext cx="1295400" cy="4572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2800" dirty="0"/>
                <a:t>Input</a:t>
              </a:r>
              <a:endParaRPr kumimoji="0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  <p:sp>
          <p:nvSpPr>
            <p:cNvPr id="8" name="Rectangle 7"/>
            <p:cNvSpPr/>
            <p:nvPr/>
          </p:nvSpPr>
          <p:spPr bwMode="auto">
            <a:xfrm>
              <a:off x="5867400" y="4114800"/>
              <a:ext cx="1295400" cy="4572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2800" dirty="0"/>
                <a:t>Output</a:t>
              </a:r>
              <a:endParaRPr kumimoji="0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  <p:cxnSp>
          <p:nvCxnSpPr>
            <p:cNvPr id="12" name="Straight Arrow Connector 11"/>
            <p:cNvCxnSpPr>
              <a:stCxn id="4" idx="2"/>
            </p:cNvCxnSpPr>
            <p:nvPr/>
          </p:nvCxnSpPr>
          <p:spPr bwMode="auto">
            <a:xfrm>
              <a:off x="4565302" y="2971800"/>
              <a:ext cx="6699" cy="381000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" name="Straight Arrow Connector 12"/>
            <p:cNvCxnSpPr>
              <a:stCxn id="5" idx="2"/>
            </p:cNvCxnSpPr>
            <p:nvPr/>
          </p:nvCxnSpPr>
          <p:spPr bwMode="auto">
            <a:xfrm>
              <a:off x="4565301" y="3845560"/>
              <a:ext cx="0" cy="330200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" name="Straight Arrow Connector 13"/>
            <p:cNvCxnSpPr/>
            <p:nvPr/>
          </p:nvCxnSpPr>
          <p:spPr bwMode="auto">
            <a:xfrm>
              <a:off x="5257800" y="4343400"/>
              <a:ext cx="609600" cy="0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" name="Straight Arrow Connector 17"/>
            <p:cNvCxnSpPr>
              <a:stCxn id="7" idx="3"/>
            </p:cNvCxnSpPr>
            <p:nvPr/>
          </p:nvCxnSpPr>
          <p:spPr bwMode="auto">
            <a:xfrm>
              <a:off x="3429000" y="4343400"/>
              <a:ext cx="533400" cy="0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396549999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6870700" cy="762000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90600"/>
            <a:ext cx="8229600" cy="5257800"/>
          </a:xfr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800" b="1" u="sng" dirty="0">
                <a:latin typeface="Segoe UI" pitchFamily="34" charset="0"/>
                <a:ea typeface="Segoe UI" pitchFamily="34" charset="0"/>
                <a:cs typeface="Segoe UI" pitchFamily="34" charset="0"/>
              </a:rPr>
              <a:t>An algorithm:</a:t>
            </a:r>
            <a:r>
              <a:rPr lang="en-US" sz="2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 sequence of </a:t>
            </a:r>
            <a:r>
              <a:rPr lang="en-US" sz="2800" b="1" dirty="0">
                <a:solidFill>
                  <a:srgbClr val="FF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unambiguous  </a:t>
            </a:r>
            <a:r>
              <a:rPr lang="en-US" sz="2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instructions for solving a problem.</a:t>
            </a:r>
          </a:p>
          <a:p>
            <a:pPr marL="620713" indent="-344488">
              <a:buFont typeface="Wingdings" pitchFamily="2" charset="2"/>
              <a:buChar char="Ø"/>
            </a:pPr>
            <a:r>
              <a:rPr lang="en-US" sz="2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Obtaining a </a:t>
            </a:r>
            <a:r>
              <a:rPr lang="en-US" sz="2800" dirty="0">
                <a:solidFill>
                  <a:srgbClr val="FF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required</a:t>
            </a:r>
            <a:r>
              <a:rPr lang="en-US" sz="2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output</a:t>
            </a:r>
            <a:r>
              <a:rPr lang="en-US" sz="2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 for any </a:t>
            </a:r>
            <a:r>
              <a:rPr lang="en-US" sz="2800" dirty="0">
                <a:solidFill>
                  <a:srgbClr val="FF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allowable input</a:t>
            </a:r>
            <a:r>
              <a:rPr lang="en-US" sz="2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 in a </a:t>
            </a:r>
            <a:r>
              <a:rPr lang="en-US" sz="2800" dirty="0">
                <a:solidFill>
                  <a:srgbClr val="FF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finite amount of time</a:t>
            </a:r>
            <a:r>
              <a:rPr lang="en-US" sz="2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.</a:t>
            </a:r>
            <a:endParaRPr lang="en-US" altLang="zh-CN" sz="2800" b="1" dirty="0">
              <a:solidFill>
                <a:srgbClr val="0000CC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1" name="Slide Number Placeholder 20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0EE9B97-BCCF-4F27-8F09-3A0011275077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25" name="Picture 2" descr="http://4.bp.blogspot.com/-oqyvlG5Tzfc/VmWaB9YAOLI/AAAAAAAACRg/-DYqlLHiVxk/s1600/How%2Bto%2Bwrite%2Balgorithm.jpg"/>
          <p:cNvPicPr>
            <a:picLocks noChangeAspect="1" noChangeArrowheads="1"/>
          </p:cNvPicPr>
          <p:nvPr/>
        </p:nvPicPr>
        <p:blipFill>
          <a:blip r:embed="rId2" cstate="print"/>
          <a:srcRect t="31111" r="6667" b="30000"/>
          <a:stretch>
            <a:fillRect/>
          </a:stretch>
        </p:blipFill>
        <p:spPr bwMode="auto">
          <a:xfrm>
            <a:off x="457200" y="3124200"/>
            <a:ext cx="8534400" cy="2667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6549999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Number Placeholder 31"/>
          <p:cNvSpPr>
            <a:spLocks noGrp="1"/>
          </p:cNvSpPr>
          <p:nvPr>
            <p:ph type="sldNum" sz="quarter" idx="4294967295"/>
          </p:nvPr>
        </p:nvSpPr>
        <p:spPr>
          <a:xfrm>
            <a:off x="68580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0EE9B97-BCCF-4F27-8F09-3A0011275077}" type="slidenum">
              <a:rPr lang="en-US" smtClean="0">
                <a:latin typeface="Segoe UI" pitchFamily="34" charset="0"/>
                <a:ea typeface="Segoe UI" pitchFamily="34" charset="0"/>
                <a:cs typeface="Segoe UI" pitchFamily="34" charset="0"/>
              </a:rPr>
              <a:pPr/>
              <a:t>11</a:t>
            </a:fld>
            <a:endParaRPr lang="en-US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30" name="Group 29"/>
          <p:cNvGrpSpPr/>
          <p:nvPr/>
        </p:nvGrpSpPr>
        <p:grpSpPr>
          <a:xfrm>
            <a:off x="2265507" y="267855"/>
            <a:ext cx="4440092" cy="5867400"/>
            <a:chOff x="2069046" y="381000"/>
            <a:chExt cx="4440092" cy="5867400"/>
          </a:xfrm>
        </p:grpSpPr>
        <p:sp>
          <p:nvSpPr>
            <p:cNvPr id="4" name="Rectangle 3"/>
            <p:cNvSpPr/>
            <p:nvPr/>
          </p:nvSpPr>
          <p:spPr bwMode="auto">
            <a:xfrm>
              <a:off x="2971800" y="381000"/>
              <a:ext cx="1828800" cy="6096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rPr>
                <a:t>    Understand </a:t>
              </a:r>
            </a:p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latin typeface="+mn-lt"/>
                </a:rPr>
                <a:t>    </a:t>
              </a:r>
              <a:r>
                <a:rPr kumimoji="0" 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rPr>
                <a:t>the</a:t>
              </a:r>
              <a:r>
                <a:rPr lang="en-US" dirty="0">
                  <a:latin typeface="+mn-lt"/>
                </a:rPr>
                <a:t> </a:t>
              </a:r>
              <a:r>
                <a:rPr kumimoji="0" lang="en-US" sz="1800" b="0" i="0" u="none" strike="noStrike" cap="none" normalizeH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rPr>
                <a:t>problem</a:t>
              </a: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5" name="Rectangle 4"/>
            <p:cNvSpPr/>
            <p:nvPr/>
          </p:nvSpPr>
          <p:spPr bwMode="auto">
            <a:xfrm>
              <a:off x="2743199" y="1371600"/>
              <a:ext cx="3765939" cy="9144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r>
                <a:rPr lang="en-US" dirty="0">
                  <a:latin typeface="+mn-lt"/>
                </a:rPr>
                <a:t>Decide on: computational means, exact vs. approximate solving, algorithm design technique</a:t>
              </a:r>
            </a:p>
          </p:txBody>
        </p:sp>
        <p:sp>
          <p:nvSpPr>
            <p:cNvPr id="6" name="Rectangle 5"/>
            <p:cNvSpPr/>
            <p:nvPr/>
          </p:nvSpPr>
          <p:spPr bwMode="auto">
            <a:xfrm>
              <a:off x="3276600" y="2590800"/>
              <a:ext cx="1295400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rPr>
                <a:t>   Design algorithm</a:t>
              </a:r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3200400" y="3581400"/>
              <a:ext cx="1524000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rPr>
                <a:t>    Prove correctness</a:t>
              </a:r>
            </a:p>
          </p:txBody>
        </p:sp>
        <p:sp>
          <p:nvSpPr>
            <p:cNvPr id="8" name="Rectangle 7"/>
            <p:cNvSpPr/>
            <p:nvPr/>
          </p:nvSpPr>
          <p:spPr bwMode="auto">
            <a:xfrm>
              <a:off x="3200400" y="4572000"/>
              <a:ext cx="1524000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rPr>
                <a:t>Analyze the algorithm</a:t>
              </a:r>
            </a:p>
          </p:txBody>
        </p:sp>
        <p:sp>
          <p:nvSpPr>
            <p:cNvPr id="10" name="Rectangle 9"/>
            <p:cNvSpPr/>
            <p:nvPr/>
          </p:nvSpPr>
          <p:spPr bwMode="auto">
            <a:xfrm>
              <a:off x="3200400" y="5562600"/>
              <a:ext cx="1524000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rPr>
                <a:t>Code the algorithm</a:t>
              </a:r>
            </a:p>
          </p:txBody>
        </p:sp>
        <p:cxnSp>
          <p:nvCxnSpPr>
            <p:cNvPr id="12" name="Straight Arrow Connector 11"/>
            <p:cNvCxnSpPr>
              <a:stCxn id="4" idx="2"/>
            </p:cNvCxnSpPr>
            <p:nvPr/>
          </p:nvCxnSpPr>
          <p:spPr bwMode="auto">
            <a:xfrm>
              <a:off x="3886200" y="990600"/>
              <a:ext cx="0" cy="381000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" name="Straight Arrow Connector 12"/>
            <p:cNvCxnSpPr/>
            <p:nvPr/>
          </p:nvCxnSpPr>
          <p:spPr bwMode="auto">
            <a:xfrm>
              <a:off x="3886200" y="2209800"/>
              <a:ext cx="0" cy="381000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" name="Straight Arrow Connector 13"/>
            <p:cNvCxnSpPr/>
            <p:nvPr/>
          </p:nvCxnSpPr>
          <p:spPr bwMode="auto">
            <a:xfrm>
              <a:off x="4038600" y="3200400"/>
              <a:ext cx="0" cy="381000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" name="Straight Arrow Connector 14"/>
            <p:cNvCxnSpPr/>
            <p:nvPr/>
          </p:nvCxnSpPr>
          <p:spPr bwMode="auto">
            <a:xfrm>
              <a:off x="3733800" y="4191000"/>
              <a:ext cx="0" cy="381000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" name="Straight Arrow Connector 15"/>
            <p:cNvCxnSpPr/>
            <p:nvPr/>
          </p:nvCxnSpPr>
          <p:spPr bwMode="auto">
            <a:xfrm>
              <a:off x="4038600" y="5257800"/>
              <a:ext cx="0" cy="381000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3" name="Freeform 22"/>
            <p:cNvSpPr/>
            <p:nvPr/>
          </p:nvSpPr>
          <p:spPr bwMode="auto">
            <a:xfrm>
              <a:off x="2701895" y="2906973"/>
              <a:ext cx="573568" cy="1119117"/>
            </a:xfrm>
            <a:custGeom>
              <a:avLst/>
              <a:gdLst>
                <a:gd name="connsiteX0" fmla="*/ 505329 w 573568"/>
                <a:gd name="connsiteY0" fmla="*/ 1119117 h 1119117"/>
                <a:gd name="connsiteX1" fmla="*/ 362 w 573568"/>
                <a:gd name="connsiteY1" fmla="*/ 696036 h 1119117"/>
                <a:gd name="connsiteX2" fmla="*/ 573568 w 573568"/>
                <a:gd name="connsiteY2" fmla="*/ 0 h 11191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3568" h="1119117">
                  <a:moveTo>
                    <a:pt x="505329" y="1119117"/>
                  </a:moveTo>
                  <a:cubicBezTo>
                    <a:pt x="247159" y="1000836"/>
                    <a:pt x="-11011" y="882555"/>
                    <a:pt x="362" y="696036"/>
                  </a:cubicBezTo>
                  <a:cubicBezTo>
                    <a:pt x="11735" y="509516"/>
                    <a:pt x="292651" y="254758"/>
                    <a:pt x="573568" y="0"/>
                  </a:cubicBezTo>
                </a:path>
              </a:pathLst>
            </a:cu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26" name="Freeform 25"/>
            <p:cNvSpPr/>
            <p:nvPr/>
          </p:nvSpPr>
          <p:spPr bwMode="auto">
            <a:xfrm>
              <a:off x="2069046" y="1897039"/>
              <a:ext cx="1110882" cy="2156346"/>
            </a:xfrm>
            <a:custGeom>
              <a:avLst/>
              <a:gdLst>
                <a:gd name="connsiteX0" fmla="*/ 1110882 w 1110882"/>
                <a:gd name="connsiteY0" fmla="*/ 2156346 h 2156346"/>
                <a:gd name="connsiteX1" fmla="*/ 5414 w 1110882"/>
                <a:gd name="connsiteY1" fmla="*/ 1719618 h 2156346"/>
                <a:gd name="connsiteX2" fmla="*/ 660506 w 1110882"/>
                <a:gd name="connsiteY2" fmla="*/ 0 h 2156346"/>
                <a:gd name="connsiteX3" fmla="*/ 660506 w 1110882"/>
                <a:gd name="connsiteY3" fmla="*/ 0 h 2156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0882" h="2156346">
                  <a:moveTo>
                    <a:pt x="1110882" y="2156346"/>
                  </a:moveTo>
                  <a:cubicBezTo>
                    <a:pt x="595679" y="2117677"/>
                    <a:pt x="80477" y="2079009"/>
                    <a:pt x="5414" y="1719618"/>
                  </a:cubicBezTo>
                  <a:cubicBezTo>
                    <a:pt x="-69649" y="1360227"/>
                    <a:pt x="660506" y="0"/>
                    <a:pt x="660506" y="0"/>
                  </a:cubicBezTo>
                  <a:lnTo>
                    <a:pt x="660506" y="0"/>
                  </a:lnTo>
                </a:path>
              </a:pathLst>
            </a:cu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27" name="Freeform 26"/>
            <p:cNvSpPr/>
            <p:nvPr/>
          </p:nvSpPr>
          <p:spPr bwMode="auto">
            <a:xfrm>
              <a:off x="4585648" y="3016155"/>
              <a:ext cx="765653" cy="1842448"/>
            </a:xfrm>
            <a:custGeom>
              <a:avLst/>
              <a:gdLst>
                <a:gd name="connsiteX0" fmla="*/ 150125 w 765653"/>
                <a:gd name="connsiteY0" fmla="*/ 1842448 h 1842448"/>
                <a:gd name="connsiteX1" fmla="*/ 764274 w 765653"/>
                <a:gd name="connsiteY1" fmla="*/ 723332 h 1842448"/>
                <a:gd name="connsiteX2" fmla="*/ 0 w 765653"/>
                <a:gd name="connsiteY2" fmla="*/ 0 h 1842448"/>
                <a:gd name="connsiteX3" fmla="*/ 0 w 765653"/>
                <a:gd name="connsiteY3" fmla="*/ 0 h 1842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5653" h="1842448">
                  <a:moveTo>
                    <a:pt x="150125" y="1842448"/>
                  </a:moveTo>
                  <a:cubicBezTo>
                    <a:pt x="469710" y="1436427"/>
                    <a:pt x="789295" y="1030407"/>
                    <a:pt x="764274" y="723332"/>
                  </a:cubicBezTo>
                  <a:cubicBezTo>
                    <a:pt x="739253" y="416257"/>
                    <a:pt x="0" y="0"/>
                    <a:pt x="0" y="0"/>
                  </a:cubicBezTo>
                  <a:lnTo>
                    <a:pt x="0" y="0"/>
                  </a:lnTo>
                </a:path>
              </a:pathLst>
            </a:cu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28" name="Freeform 27"/>
            <p:cNvSpPr/>
            <p:nvPr/>
          </p:nvSpPr>
          <p:spPr bwMode="auto">
            <a:xfrm>
              <a:off x="4744873" y="2286000"/>
              <a:ext cx="1535666" cy="2895599"/>
            </a:xfrm>
            <a:custGeom>
              <a:avLst/>
              <a:gdLst>
                <a:gd name="connsiteX0" fmla="*/ 0 w 1558414"/>
                <a:gd name="connsiteY0" fmla="*/ 3016156 h 3016156"/>
                <a:gd name="connsiteX1" fmla="*/ 1555845 w 1558414"/>
                <a:gd name="connsiteY1" fmla="*/ 1624084 h 3016156"/>
                <a:gd name="connsiteX2" fmla="*/ 395785 w 1558414"/>
                <a:gd name="connsiteY2" fmla="*/ 0 h 3016156"/>
                <a:gd name="connsiteX3" fmla="*/ 395785 w 1558414"/>
                <a:gd name="connsiteY3" fmla="*/ 0 h 3016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8414" h="3016156">
                  <a:moveTo>
                    <a:pt x="0" y="3016156"/>
                  </a:moveTo>
                  <a:cubicBezTo>
                    <a:pt x="744940" y="2571466"/>
                    <a:pt x="1489881" y="2126777"/>
                    <a:pt x="1555845" y="1624084"/>
                  </a:cubicBezTo>
                  <a:cubicBezTo>
                    <a:pt x="1621809" y="1121391"/>
                    <a:pt x="395785" y="0"/>
                    <a:pt x="395785" y="0"/>
                  </a:cubicBezTo>
                  <a:lnTo>
                    <a:pt x="395785" y="0"/>
                  </a:lnTo>
                </a:path>
              </a:pathLst>
            </a:cu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4880628" y="5335155"/>
            <a:ext cx="1004897" cy="1059478"/>
            <a:chOff x="2975628" y="5372100"/>
            <a:chExt cx="1004897" cy="1059478"/>
          </a:xfrm>
        </p:grpSpPr>
        <p:sp>
          <p:nvSpPr>
            <p:cNvPr id="3" name="TextBox 2"/>
            <p:cNvSpPr txBox="1"/>
            <p:nvPr/>
          </p:nvSpPr>
          <p:spPr>
            <a:xfrm>
              <a:off x="3124200" y="6031468"/>
              <a:ext cx="85632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finite</a:t>
              </a:r>
            </a:p>
          </p:txBody>
        </p:sp>
        <p:cxnSp>
          <p:nvCxnSpPr>
            <p:cNvPr id="17" name="Straight Arrow Connector 16"/>
            <p:cNvCxnSpPr>
              <a:stCxn id="3" idx="0"/>
            </p:cNvCxnSpPr>
            <p:nvPr/>
          </p:nvCxnSpPr>
          <p:spPr bwMode="auto">
            <a:xfrm flipH="1" flipV="1">
              <a:off x="2975628" y="5372100"/>
              <a:ext cx="576735" cy="659368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2" name="Group 21"/>
          <p:cNvGrpSpPr/>
          <p:nvPr/>
        </p:nvGrpSpPr>
        <p:grpSpPr>
          <a:xfrm>
            <a:off x="5274314" y="4305432"/>
            <a:ext cx="1061509" cy="1009710"/>
            <a:chOff x="3352800" y="4495800"/>
            <a:chExt cx="1061509" cy="1009710"/>
          </a:xfrm>
        </p:grpSpPr>
        <p:sp>
          <p:nvSpPr>
            <p:cNvPr id="2" name="TextBox 1"/>
            <p:cNvSpPr txBox="1"/>
            <p:nvPr/>
          </p:nvSpPr>
          <p:spPr>
            <a:xfrm>
              <a:off x="3352800" y="5105400"/>
              <a:ext cx="106150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infinite</a:t>
              </a:r>
            </a:p>
          </p:txBody>
        </p:sp>
        <p:cxnSp>
          <p:nvCxnSpPr>
            <p:cNvPr id="19" name="Straight Arrow Connector 18"/>
            <p:cNvCxnSpPr>
              <a:stCxn id="2" idx="0"/>
            </p:cNvCxnSpPr>
            <p:nvPr/>
          </p:nvCxnSpPr>
          <p:spPr bwMode="auto">
            <a:xfrm flipV="1">
              <a:off x="3883555" y="4495800"/>
              <a:ext cx="439382" cy="609600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" name="TextBox 8"/>
          <p:cNvSpPr txBox="1"/>
          <p:nvPr/>
        </p:nvSpPr>
        <p:spPr>
          <a:xfrm>
            <a:off x="310324" y="508123"/>
            <a:ext cx="2510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Problem Solving Cycle</a:t>
            </a:r>
          </a:p>
        </p:txBody>
      </p:sp>
    </p:spTree>
    <p:extLst>
      <p:ext uri="{BB962C8B-B14F-4D97-AF65-F5344CB8AC3E}">
        <p14:creationId xmlns:p14="http://schemas.microsoft.com/office/powerpoint/2010/main" val="158656328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/>
          <p:cNvSpPr/>
          <p:nvPr/>
        </p:nvSpPr>
        <p:spPr>
          <a:xfrm>
            <a:off x="7162800" y="4191000"/>
            <a:ext cx="1371600" cy="457200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36637"/>
            <a:ext cx="8017823" cy="4373563"/>
          </a:xfrm>
        </p:spPr>
        <p:txBody>
          <a:bodyPr>
            <a:noAutofit/>
          </a:bodyPr>
          <a:lstStyle/>
          <a:p>
            <a:pPr marL="0" indent="0">
              <a:buFont typeface="Monotype Sorts" pitchFamily="2" charset="2"/>
              <a:buNone/>
              <a:defRPr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The greatest common divisor of two nonnegative, not-both-zero integers m and n, denoted </a:t>
            </a:r>
            <a:r>
              <a:rPr lang="en-US" sz="2800" dirty="0" err="1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gcd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(m, n), is defined as the largest integer that divides both m and n.</a:t>
            </a:r>
          </a:p>
          <a:p>
            <a:pPr marL="0" indent="0">
              <a:buFont typeface="Monotype Sorts" pitchFamily="2" charset="2"/>
              <a:buNone/>
              <a:defRPr/>
            </a:pPr>
            <a:endParaRPr lang="en-US" sz="2800" dirty="0">
              <a:solidFill>
                <a:schemeClr val="tx1"/>
              </a:solidFill>
            </a:endParaRPr>
          </a:p>
          <a:p>
            <a:pPr marL="0" indent="0">
              <a:buFont typeface="Monotype Sorts" pitchFamily="2" charset="2"/>
              <a:buNone/>
              <a:defRPr/>
            </a:pPr>
            <a:r>
              <a:rPr lang="en-US" sz="2800" b="1" u="sng" dirty="0">
                <a:solidFill>
                  <a:srgbClr val="C00000"/>
                </a:solidFill>
              </a:rPr>
              <a:t>Ex:</a:t>
            </a:r>
            <a:r>
              <a:rPr lang="en-US" sz="2800" dirty="0">
                <a:solidFill>
                  <a:schemeClr val="tx1"/>
                </a:solidFill>
              </a:rPr>
              <a:t>   </a:t>
            </a:r>
            <a:r>
              <a:rPr lang="en-US" sz="28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2" charset="0"/>
                <a:ea typeface="Roboto" pitchFamily="2" charset="0"/>
              </a:rPr>
              <a:t>gcd</a:t>
            </a:r>
            <a:r>
              <a:rPr 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2" charset="0"/>
                <a:ea typeface="Roboto" pitchFamily="2" charset="0"/>
              </a:rPr>
              <a:t> ( 60,24 ) ??</a:t>
            </a:r>
            <a:endParaRPr lang="en-US" sz="28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boto" pitchFamily="2" charset="0"/>
              <a:ea typeface="Roboto" pitchFamily="2" charset="0"/>
            </a:endParaRPr>
          </a:p>
          <a:p>
            <a:pPr marL="0" indent="0">
              <a:buFont typeface="Monotype Sorts" pitchFamily="2" charset="2"/>
              <a:buNone/>
              <a:defRPr/>
            </a:pPr>
            <a:r>
              <a:rPr 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2" charset="0"/>
                <a:ea typeface="Roboto" pitchFamily="2" charset="0"/>
              </a:rPr>
              <a:t>		</a:t>
            </a:r>
            <a:r>
              <a:rPr lang="en-US" sz="28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2" charset="0"/>
                <a:ea typeface="Roboto" pitchFamily="2" charset="0"/>
              </a:rPr>
              <a:t>60 =</a:t>
            </a:r>
            <a:r>
              <a:rPr 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2" charset="0"/>
                <a:ea typeface="Roboto" pitchFamily="2" charset="0"/>
              </a:rPr>
              <a:t> 2  X  2  X           3  X  5</a:t>
            </a:r>
          </a:p>
          <a:p>
            <a:pPr marL="0" indent="0">
              <a:buFont typeface="Monotype Sorts" pitchFamily="2" charset="2"/>
              <a:buNone/>
              <a:defRPr/>
            </a:pPr>
            <a:r>
              <a:rPr 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2" charset="0"/>
                <a:ea typeface="Roboto" pitchFamily="2" charset="0"/>
              </a:rPr>
              <a:t>		</a:t>
            </a:r>
            <a:r>
              <a:rPr lang="en-US" sz="28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2" charset="0"/>
                <a:ea typeface="Roboto" pitchFamily="2" charset="0"/>
              </a:rPr>
              <a:t>24 = </a:t>
            </a:r>
            <a:r>
              <a:rPr 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2" charset="0"/>
                <a:ea typeface="Roboto" pitchFamily="2" charset="0"/>
              </a:rPr>
              <a:t>2  X  2  X  2  X  3</a:t>
            </a:r>
          </a:p>
          <a:p>
            <a:pPr marL="0" indent="0">
              <a:buFont typeface="Monotype Sorts" pitchFamily="2" charset="2"/>
              <a:buNone/>
              <a:defRPr/>
            </a:pPr>
            <a:endParaRPr lang="en-US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boto" pitchFamily="2" charset="0"/>
              <a:ea typeface="Roboto" pitchFamily="2" charset="0"/>
            </a:endParaRPr>
          </a:p>
          <a:p>
            <a:pPr>
              <a:defRPr/>
            </a:pPr>
            <a:r>
              <a:rPr 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2" charset="0"/>
                <a:ea typeface="Roboto" pitchFamily="2" charset="0"/>
              </a:rPr>
              <a:t>   </a:t>
            </a:r>
            <a:r>
              <a:rPr lang="en-US" sz="2800" b="1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2" charset="0"/>
                <a:ea typeface="Roboto" pitchFamily="2" charset="0"/>
              </a:rPr>
              <a:t>gcd</a:t>
            </a:r>
            <a:r>
              <a:rPr lang="en-US" sz="28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2" charset="0"/>
                <a:ea typeface="Roboto" pitchFamily="2" charset="0"/>
              </a:rPr>
              <a:t> ( 60,24 ) =</a:t>
            </a:r>
            <a:r>
              <a:rPr lang="en-US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2" charset="0"/>
                <a:ea typeface="Roboto" pitchFamily="2" charset="0"/>
              </a:rPr>
              <a:t> 2  X   2          X  3 = </a:t>
            </a:r>
            <a:r>
              <a:rPr lang="en-US" sz="2800" b="1" dirty="0">
                <a:solidFill>
                  <a:srgbClr val="0054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2" charset="0"/>
                <a:ea typeface="Roboto" pitchFamily="2" charset="0"/>
              </a:rPr>
              <a:t>12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6705600" y="2971800"/>
            <a:ext cx="2362200" cy="1828800"/>
            <a:chOff x="6705600" y="2971800"/>
            <a:chExt cx="2362200" cy="1828800"/>
          </a:xfrm>
        </p:grpSpPr>
        <p:sp>
          <p:nvSpPr>
            <p:cNvPr id="7" name="Oval 6"/>
            <p:cNvSpPr/>
            <p:nvPr/>
          </p:nvSpPr>
          <p:spPr>
            <a:xfrm>
              <a:off x="6705600" y="3429000"/>
              <a:ext cx="2362200" cy="1371600"/>
            </a:xfrm>
            <a:prstGeom prst="ellipse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sz="28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5 </a:t>
              </a:r>
              <a:r>
                <a:rPr lang="en-US" sz="2200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X</a:t>
              </a:r>
            </a:p>
            <a:p>
              <a:pPr algn="ctr"/>
              <a:endParaRPr lang="en-US" sz="1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algn="ctr"/>
              <a:r>
                <a:rPr lang="en-US" sz="28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 </a:t>
              </a:r>
              <a:r>
                <a:rPr lang="en-US" sz="2200" dirty="0">
                  <a:solidFill>
                    <a:srgbClr val="C00000"/>
                  </a:solidFill>
                </a:rPr>
                <a:t>X</a:t>
              </a:r>
              <a:r>
                <a:rPr lang="en-US" sz="28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 2 </a:t>
              </a:r>
              <a:r>
                <a:rPr lang="en-US" sz="2200" dirty="0">
                  <a:solidFill>
                    <a:srgbClr val="C00000"/>
                  </a:solidFill>
                </a:rPr>
                <a:t>X</a:t>
              </a:r>
              <a:r>
                <a:rPr lang="en-US" sz="28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 3</a:t>
              </a:r>
              <a:endParaRPr lang="ar-EG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7391400" y="2971800"/>
              <a:ext cx="838200" cy="4572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sz="3600" dirty="0">
                  <a:solidFill>
                    <a:srgbClr val="005400"/>
                  </a:solidFill>
                </a:rPr>
                <a:t>60</a:t>
              </a:r>
              <a:endParaRPr lang="ar-EG" sz="3600" dirty="0">
                <a:solidFill>
                  <a:srgbClr val="005400"/>
                </a:solidFill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6705600" y="4038600"/>
            <a:ext cx="2362200" cy="1828800"/>
            <a:chOff x="6705600" y="4038600"/>
            <a:chExt cx="2362200" cy="1828800"/>
          </a:xfrm>
        </p:grpSpPr>
        <p:sp>
          <p:nvSpPr>
            <p:cNvPr id="8" name="Oval 7"/>
            <p:cNvSpPr/>
            <p:nvPr/>
          </p:nvSpPr>
          <p:spPr>
            <a:xfrm>
              <a:off x="6705600" y="4038600"/>
              <a:ext cx="2362200" cy="1371600"/>
            </a:xfrm>
            <a:prstGeom prst="ellipse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algn="ctr"/>
              <a:endParaRPr 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algn="ctr"/>
              <a:r>
                <a:rPr lang="en-US" sz="2200" dirty="0">
                  <a:solidFill>
                    <a:srgbClr val="C00000"/>
                  </a:solidFill>
                </a:rPr>
                <a:t>X</a:t>
              </a:r>
              <a:r>
                <a:rPr lang="en-US" sz="2800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 </a:t>
              </a:r>
              <a:r>
                <a:rPr lang="en-US" sz="28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  <a:endParaRPr lang="ar-EG" sz="2800" dirty="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7391400" y="5410200"/>
              <a:ext cx="838200" cy="4572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sz="3600" dirty="0">
                  <a:solidFill>
                    <a:srgbClr val="005400"/>
                  </a:solidFill>
                </a:rPr>
                <a:t>24</a:t>
              </a:r>
              <a:endParaRPr lang="ar-EG" sz="3600" dirty="0">
                <a:solidFill>
                  <a:srgbClr val="005400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4024" y="0"/>
            <a:ext cx="7620000" cy="838200"/>
          </a:xfrm>
        </p:spPr>
        <p:txBody>
          <a:bodyPr/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Example</a:t>
            </a:r>
            <a:r>
              <a:rPr lang="en-US" dirty="0"/>
              <a:t>:</a:t>
            </a:r>
            <a:endParaRPr lang="ar-EG" dirty="0"/>
          </a:p>
        </p:txBody>
      </p:sp>
      <p:sp>
        <p:nvSpPr>
          <p:cNvPr id="4" name="Oval 3"/>
          <p:cNvSpPr/>
          <p:nvPr/>
        </p:nvSpPr>
        <p:spPr>
          <a:xfrm>
            <a:off x="3048000" y="4038600"/>
            <a:ext cx="381000" cy="12954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5" name="Oval 4"/>
          <p:cNvSpPr/>
          <p:nvPr/>
        </p:nvSpPr>
        <p:spPr>
          <a:xfrm>
            <a:off x="3810000" y="4038600"/>
            <a:ext cx="381000" cy="12954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6" name="Oval 5"/>
          <p:cNvSpPr/>
          <p:nvPr/>
        </p:nvSpPr>
        <p:spPr>
          <a:xfrm>
            <a:off x="5334000" y="4038600"/>
            <a:ext cx="457200" cy="12954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 </a:t>
            </a:r>
            <a:endParaRPr lang="ar-EG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4" grpId="0" animBg="1"/>
      <p:bldP spid="5" grpId="0" animBg="1"/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52400"/>
            <a:ext cx="8382000" cy="6858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A solution for </a:t>
            </a:r>
            <a:r>
              <a:rPr lang="en-US" b="1" dirty="0" err="1">
                <a:solidFill>
                  <a:schemeClr val="tx1"/>
                </a:solidFill>
              </a:rPr>
              <a:t>gcd</a:t>
            </a:r>
            <a:r>
              <a:rPr lang="en-US" b="1" dirty="0">
                <a:solidFill>
                  <a:schemeClr val="tx1"/>
                </a:solidFill>
              </a:rPr>
              <a:t>(</a:t>
            </a:r>
            <a:r>
              <a:rPr lang="en-US" b="1" dirty="0" err="1">
                <a:solidFill>
                  <a:schemeClr val="tx1"/>
                </a:solidFill>
              </a:rPr>
              <a:t>m,n</a:t>
            </a:r>
            <a:r>
              <a:rPr lang="en-US" b="1" dirty="0">
                <a:solidFill>
                  <a:schemeClr val="tx1"/>
                </a:solidFill>
              </a:rPr>
              <a:t>):</a:t>
            </a:r>
          </a:p>
        </p:txBody>
      </p:sp>
      <p:sp>
        <p:nvSpPr>
          <p:cNvPr id="208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914400"/>
            <a:ext cx="8382000" cy="5638800"/>
          </a:xfrm>
        </p:spPr>
        <p:txBody>
          <a:bodyPr>
            <a:noAutofit/>
          </a:bodyPr>
          <a:lstStyle/>
          <a:p>
            <a:pPr>
              <a:buFont typeface="Monotype Sorts" pitchFamily="2" charset="2"/>
              <a:buNone/>
              <a:defRPr/>
            </a:pPr>
            <a:r>
              <a:rPr lang="en-US" sz="2800" b="1" dirty="0">
                <a:solidFill>
                  <a:srgbClr val="0000CC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Middle-school procedure</a:t>
            </a:r>
          </a:p>
          <a:p>
            <a:pPr marL="449263">
              <a:buFont typeface="Monotype Sorts" pitchFamily="2" charset="2"/>
              <a:buNone/>
              <a:defRPr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Step 1  Find the prime factorization of </a:t>
            </a:r>
            <a:r>
              <a:rPr lang="en-US" sz="2800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m</a:t>
            </a:r>
            <a:endParaRPr lang="pt-BR" sz="2800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marL="449263">
              <a:buFont typeface="Monotype Sorts" pitchFamily="2" charset="2"/>
              <a:buNone/>
              <a:defRPr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Step 2  Find the prime factorization of </a:t>
            </a:r>
            <a:r>
              <a:rPr lang="en-US" sz="2800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n</a:t>
            </a:r>
            <a:endParaRPr lang="pt-BR" sz="2800" i="1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marL="449263">
              <a:buFont typeface="Monotype Sorts" pitchFamily="2" charset="2"/>
              <a:buNone/>
              <a:defRPr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Step 3  Find all the common prime factors</a:t>
            </a:r>
            <a:endParaRPr lang="pt-BR" sz="2800" i="1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marL="1622425" indent="-1173163">
              <a:buFont typeface="Monotype Sorts" pitchFamily="2" charset="2"/>
              <a:buNone/>
              <a:defRPr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Step 4  Compute the product of all the  common prime factors and return it as </a:t>
            </a:r>
            <a:r>
              <a:rPr lang="en-US" sz="2800" dirty="0" err="1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gcd</a:t>
            </a:r>
            <a:r>
              <a:rPr lang="en-US" sz="2800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(</a:t>
            </a:r>
            <a:r>
              <a:rPr lang="en-US" sz="2800" i="1" dirty="0" err="1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m,n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)</a:t>
            </a:r>
            <a:endParaRPr lang="en-US" sz="2800" i="1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>
              <a:buFont typeface="Monotype Sorts" pitchFamily="2" charset="2"/>
              <a:buNone/>
              <a:defRPr/>
            </a:pPr>
            <a:endParaRPr lang="en-US" sz="2800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marL="0" indent="0">
              <a:spcBef>
                <a:spcPct val="0"/>
              </a:spcBef>
              <a:buFont typeface="Monotype Sorts" pitchFamily="2" charset="2"/>
              <a:buNone/>
              <a:defRPr/>
            </a:pPr>
            <a:r>
              <a:rPr lang="en-US" sz="2800" b="1" kern="12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Is this an algorithm??? </a:t>
            </a:r>
          </a:p>
          <a:p>
            <a:pPr marL="0" indent="0">
              <a:spcBef>
                <a:spcPct val="0"/>
              </a:spcBef>
              <a:buFont typeface="Monotype Sorts" pitchFamily="2" charset="2"/>
              <a:buNone/>
              <a:defRPr/>
            </a:pPr>
            <a:endParaRPr lang="en-US" sz="2800" kern="1200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>
              <a:spcBef>
                <a:spcPct val="0"/>
              </a:spcBef>
              <a:buFont typeface="Monotype Sorts" pitchFamily="2" charset="2"/>
              <a:buNone/>
              <a:defRPr/>
            </a:pPr>
            <a:r>
              <a:rPr lang="en-US" sz="2800" b="1" kern="12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The algorithm should has no ambiguous instructions</a:t>
            </a:r>
          </a:p>
          <a:p>
            <a:pPr>
              <a:buFont typeface="Monotype Sorts" pitchFamily="2" charset="2"/>
              <a:buNone/>
              <a:defRPr/>
            </a:pPr>
            <a:endParaRPr lang="en-US" sz="2800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>
              <a:defRPr/>
            </a:pPr>
            <a:endParaRPr lang="en-US" sz="2800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lvl="1">
              <a:defRPr/>
            </a:pPr>
            <a:endParaRPr lang="en-US" sz="2800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Oval Callout 3"/>
          <p:cNvSpPr/>
          <p:nvPr/>
        </p:nvSpPr>
        <p:spPr>
          <a:xfrm>
            <a:off x="3733800" y="1981200"/>
            <a:ext cx="5410200" cy="2895600"/>
          </a:xfrm>
          <a:prstGeom prst="wedgeEllipseCallout">
            <a:avLst>
              <a:gd name="adj1" fmla="val -61255"/>
              <a:gd name="adj2" fmla="val 49742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1" anchor="ctr"/>
          <a:lstStyle/>
          <a:p>
            <a:pPr marL="361950" indent="-361950">
              <a:buFont typeface="Wingdings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</a:rPr>
              <a:t>What is the prime factors? </a:t>
            </a:r>
          </a:p>
          <a:p>
            <a:pPr marL="361950" indent="-361950"/>
            <a:endParaRPr lang="en-US" sz="1600" dirty="0">
              <a:solidFill>
                <a:schemeClr val="tx1"/>
              </a:solidFill>
            </a:endParaRPr>
          </a:p>
          <a:p>
            <a:pPr marL="361950" indent="-361950">
              <a:buFont typeface="Wingdings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</a:rPr>
              <a:t>How to find common values?</a:t>
            </a:r>
            <a:endParaRPr lang="ar-EG" sz="28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0"/>
            <a:ext cx="8915400" cy="6858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Another solution for </a:t>
            </a:r>
            <a:r>
              <a:rPr lang="en-US" b="1" dirty="0" err="1">
                <a:solidFill>
                  <a:schemeClr val="tx1"/>
                </a:solidFill>
              </a:rPr>
              <a:t>gcd</a:t>
            </a:r>
            <a:r>
              <a:rPr lang="en-US" b="1" dirty="0">
                <a:solidFill>
                  <a:schemeClr val="tx1"/>
                </a:solidFill>
              </a:rPr>
              <a:t>(</a:t>
            </a:r>
            <a:r>
              <a:rPr lang="en-US" b="1" dirty="0" err="1">
                <a:solidFill>
                  <a:schemeClr val="tx1"/>
                </a:solidFill>
              </a:rPr>
              <a:t>m,n</a:t>
            </a:r>
            <a:r>
              <a:rPr lang="en-US" b="1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63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838200"/>
            <a:ext cx="8382000" cy="5334000"/>
          </a:xfrm>
        </p:spPr>
        <p:txBody>
          <a:bodyPr>
            <a:normAutofit fontScale="92500" lnSpcReduction="20000"/>
          </a:bodyPr>
          <a:lstStyle/>
          <a:p>
            <a:pPr>
              <a:buFont typeface="Monotype Sorts" pitchFamily="2" charset="2"/>
              <a:buNone/>
              <a:defRPr/>
            </a:pPr>
            <a:r>
              <a:rPr lang="en-US" sz="2800" b="1" dirty="0">
                <a:solidFill>
                  <a:srgbClr val="0000CC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Consecutive integer checking algorithm</a:t>
            </a:r>
          </a:p>
          <a:p>
            <a:pPr marL="449263">
              <a:buFont typeface="Monotype Sorts" pitchFamily="2" charset="2"/>
              <a:buNone/>
              <a:defRPr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Step 1  Assign the value of min {</a:t>
            </a:r>
            <a:r>
              <a:rPr lang="en-US" sz="2800" i="1" dirty="0" err="1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m,n</a:t>
            </a:r>
            <a:r>
              <a:rPr lang="en-US" sz="2800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} to </a:t>
            </a:r>
            <a:r>
              <a:rPr lang="en-US" sz="2800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t</a:t>
            </a:r>
            <a:endParaRPr lang="pt-BR" sz="2800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marL="1622425" indent="-1173163">
              <a:buFont typeface="Monotype Sorts" pitchFamily="2" charset="2"/>
              <a:buNone/>
              <a:defRPr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Step 2  </a:t>
            </a:r>
            <a:r>
              <a:rPr lang="pt-BR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Divide </a:t>
            </a:r>
            <a:r>
              <a:rPr lang="pt-BR" sz="2800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m</a:t>
            </a:r>
            <a:r>
              <a:rPr lang="pt-BR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by </a:t>
            </a:r>
            <a:r>
              <a:rPr lang="pt-BR" sz="2800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t.  </a:t>
            </a:r>
            <a:r>
              <a:rPr lang="pt-BR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If the remainder is 0, go to Step 3  otherwise, go to Step 4</a:t>
            </a:r>
            <a:endParaRPr lang="pt-BR" sz="2800" i="1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marL="1622425" indent="-1173163">
              <a:buFont typeface="Monotype Sorts" pitchFamily="2" charset="2"/>
              <a:buNone/>
              <a:defRPr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Step 3  </a:t>
            </a:r>
            <a:r>
              <a:rPr lang="pt-BR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Divide </a:t>
            </a:r>
            <a:r>
              <a:rPr lang="pt-BR" sz="2800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n</a:t>
            </a:r>
            <a:r>
              <a:rPr lang="pt-BR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by </a:t>
            </a:r>
            <a:r>
              <a:rPr lang="pt-BR" sz="2800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t.  </a:t>
            </a:r>
            <a:r>
              <a:rPr lang="pt-BR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If the remainder is 0, return </a:t>
            </a:r>
            <a:r>
              <a:rPr lang="pt-BR" sz="2800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t</a:t>
            </a:r>
            <a:r>
              <a:rPr lang="pt-BR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and stop; otherwise, go to Step 4</a:t>
            </a:r>
            <a:endParaRPr lang="pt-BR" sz="2800" i="1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marL="449263">
              <a:buFont typeface="Monotype Sorts" pitchFamily="2" charset="2"/>
              <a:buNone/>
              <a:defRPr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Step 4  Decrease </a:t>
            </a:r>
            <a:r>
              <a:rPr lang="en-US" sz="2800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t 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by 1 and go to Step 2</a:t>
            </a:r>
          </a:p>
          <a:p>
            <a:pPr>
              <a:spcBef>
                <a:spcPct val="0"/>
              </a:spcBef>
              <a:defRPr/>
            </a:pPr>
            <a:endParaRPr lang="en-US" sz="28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>
              <a:spcBef>
                <a:spcPct val="0"/>
              </a:spcBef>
              <a:defRPr/>
            </a:pPr>
            <a:r>
              <a:rPr 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Is this an algorithm??? </a:t>
            </a:r>
          </a:p>
          <a:p>
            <a:pPr>
              <a:spcBef>
                <a:spcPct val="0"/>
              </a:spcBef>
              <a:defRPr/>
            </a:pPr>
            <a:endParaRPr lang="en-US" sz="2800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>
              <a:spcBef>
                <a:spcPct val="0"/>
              </a:spcBef>
              <a:defRPr/>
            </a:pPr>
            <a:r>
              <a:rPr lang="en-US" sz="28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It is so important to specify the set of an algorithm’s inputs explicitly and carefully.</a:t>
            </a:r>
          </a:p>
          <a:p>
            <a:pPr>
              <a:buFont typeface="Monotype Sorts" pitchFamily="2" charset="2"/>
              <a:buNone/>
              <a:defRPr/>
            </a:pPr>
            <a:endParaRPr lang="en-US" sz="2800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>
              <a:buFont typeface="Monotype Sorts" pitchFamily="2" charset="2"/>
              <a:buNone/>
              <a:defRPr/>
            </a:pPr>
            <a:endParaRPr lang="en-US" sz="2800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>
              <a:defRPr/>
            </a:pPr>
            <a:endParaRPr lang="en-US" sz="2800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lvl="1">
              <a:defRPr/>
            </a:pPr>
            <a:endParaRPr lang="en-US" sz="2800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Oval Callout 4"/>
          <p:cNvSpPr/>
          <p:nvPr/>
        </p:nvSpPr>
        <p:spPr>
          <a:xfrm>
            <a:off x="3657600" y="1828800"/>
            <a:ext cx="5410200" cy="2209800"/>
          </a:xfrm>
          <a:prstGeom prst="wedgeEllipseCallout">
            <a:avLst>
              <a:gd name="adj1" fmla="val -50413"/>
              <a:gd name="adj2" fmla="val 54509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1" anchor="ctr"/>
          <a:lstStyle/>
          <a:p>
            <a:pPr marL="361950" indent="-361950">
              <a:buFont typeface="Wingdings" pitchFamily="2" charset="2"/>
              <a:buChar char="Ø"/>
            </a:pPr>
            <a:r>
              <a:rPr lang="en-US" sz="2800" dirty="0"/>
              <a:t>How it will work when one of its input numbers is zero?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382000" cy="685800"/>
          </a:xfrm>
        </p:spPr>
        <p:txBody>
          <a:bodyPr vert="horz" lIns="91440" tIns="45720" rIns="91440" bIns="45720" rtlCol="0" anchor="b">
            <a:noAutofit/>
          </a:bodyPr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Euclid’s solution for </a:t>
            </a:r>
            <a:r>
              <a:rPr lang="en-US" b="1" dirty="0" err="1">
                <a:solidFill>
                  <a:schemeClr val="tx1"/>
                </a:solidFill>
              </a:rPr>
              <a:t>gcd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57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914400"/>
            <a:ext cx="8534400" cy="5286375"/>
          </a:xfrm>
        </p:spPr>
        <p:txBody>
          <a:bodyPr>
            <a:noAutofit/>
          </a:bodyPr>
          <a:lstStyle/>
          <a:p>
            <a:pPr marL="0" indent="0">
              <a:buFont typeface="Monotype Sorts" pitchFamily="2" charset="2"/>
              <a:buNone/>
              <a:defRPr/>
            </a:pPr>
            <a:r>
              <a:rPr lang="en-US" sz="2800" dirty="0">
                <a:solidFill>
                  <a:schemeClr val="tx1"/>
                </a:solidFill>
              </a:rPr>
              <a:t>Euclid’s algorithm is based on: </a:t>
            </a:r>
          </a:p>
          <a:p>
            <a:pPr marL="0" indent="0">
              <a:buFont typeface="Monotype Sorts" pitchFamily="2" charset="2"/>
              <a:buNone/>
              <a:defRPr/>
            </a:pPr>
            <a:r>
              <a:rPr lang="en-US" sz="2800" b="1" dirty="0">
                <a:solidFill>
                  <a:srgbClr val="0000CC"/>
                </a:solidFill>
              </a:rPr>
              <a:t>	R</a:t>
            </a:r>
            <a:r>
              <a:rPr lang="en-US" sz="28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epeated application of equality</a:t>
            </a:r>
          </a:p>
          <a:p>
            <a:pPr algn="ctr">
              <a:buFont typeface="Monotype Sorts" pitchFamily="2" charset="2"/>
              <a:buNone/>
              <a:defRPr/>
            </a:pPr>
            <a:r>
              <a:rPr lang="en-US" sz="2800" b="1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gcd</a:t>
            </a:r>
            <a:r>
              <a:rPr lang="en-US" sz="28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 </a:t>
            </a:r>
            <a:r>
              <a:rPr lang="en-US" sz="2800" b="1" dirty="0">
                <a:solidFill>
                  <a:srgbClr val="0054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</a:t>
            </a:r>
            <a:r>
              <a:rPr lang="en-US" sz="28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sz="2800" b="1" dirty="0">
                <a:solidFill>
                  <a:srgbClr val="55257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</a:t>
            </a:r>
            <a:r>
              <a:rPr lang="en-US" sz="28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) = </a:t>
            </a:r>
            <a:r>
              <a:rPr lang="en-US" sz="2800" b="1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gcd</a:t>
            </a:r>
            <a:r>
              <a:rPr lang="en-US" sz="28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 </a:t>
            </a:r>
            <a:r>
              <a:rPr lang="en-US" sz="2800" b="1" dirty="0">
                <a:solidFill>
                  <a:srgbClr val="55257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</a:t>
            </a:r>
            <a:r>
              <a:rPr lang="en-US" sz="28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, </a:t>
            </a:r>
            <a:r>
              <a:rPr lang="en-US" sz="2800" b="1" dirty="0">
                <a:solidFill>
                  <a:srgbClr val="0054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</a:t>
            </a:r>
            <a:r>
              <a:rPr lang="en-US" sz="28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</a:t>
            </a:r>
            <a:r>
              <a:rPr lang="en-US" sz="28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dirty="0">
                <a:solidFill>
                  <a:srgbClr val="55257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</a:t>
            </a:r>
            <a:r>
              <a:rPr lang="en-US" sz="28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), 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sz="28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until the second number becomes 0 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sz="2800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Ex:</a:t>
            </a:r>
            <a:r>
              <a:rPr lang="en-US" sz="2800" b="1" dirty="0">
                <a:solidFill>
                  <a:srgbClr val="C00000"/>
                </a:solidFill>
              </a:rPr>
              <a:t>  	</a:t>
            </a:r>
            <a:r>
              <a:rPr lang="en-US" sz="2800" b="1" dirty="0">
                <a:solidFill>
                  <a:srgbClr val="C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  </a:t>
            </a:r>
            <a:r>
              <a:rPr lang="en-US" sz="2800" b="1" dirty="0" err="1">
                <a:solidFill>
                  <a:srgbClr val="C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gcd</a:t>
            </a:r>
            <a:r>
              <a:rPr lang="en-US" sz="2800" b="1" dirty="0">
                <a:solidFill>
                  <a:srgbClr val="C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( </a:t>
            </a:r>
            <a:r>
              <a:rPr lang="en-US" sz="2800" b="1" dirty="0">
                <a:solidFill>
                  <a:srgbClr val="0054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60</a:t>
            </a:r>
            <a:r>
              <a:rPr lang="en-US" sz="2800" b="1" dirty="0">
                <a:solidFill>
                  <a:srgbClr val="C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, </a:t>
            </a:r>
            <a:r>
              <a:rPr lang="en-US" sz="2800" b="1" dirty="0">
                <a:solidFill>
                  <a:srgbClr val="55257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24</a:t>
            </a:r>
            <a:r>
              <a:rPr lang="en-US" sz="2800" b="1" dirty="0">
                <a:solidFill>
                  <a:srgbClr val="C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) 	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sz="2800" b="1" dirty="0">
                <a:solidFill>
                  <a:srgbClr val="C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	</a:t>
            </a:r>
            <a:r>
              <a:rPr lang="en-US" sz="2800" b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=</a:t>
            </a:r>
            <a:r>
              <a:rPr lang="en-US" sz="2800" b="1" dirty="0">
                <a:solidFill>
                  <a:srgbClr val="C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gcd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( </a:t>
            </a:r>
            <a:r>
              <a:rPr lang="en-US" sz="2800" b="1" dirty="0">
                <a:solidFill>
                  <a:srgbClr val="55257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24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, </a:t>
            </a:r>
            <a:r>
              <a:rPr lang="en-US" sz="2800" b="1" dirty="0">
                <a:solidFill>
                  <a:srgbClr val="0054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60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mod </a:t>
            </a:r>
            <a:r>
              <a:rPr lang="en-US" sz="2800" b="1" dirty="0">
                <a:solidFill>
                  <a:srgbClr val="55257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24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) 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	= </a:t>
            </a:r>
            <a:r>
              <a:rPr lang="en-US" sz="2800" dirty="0" err="1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gcd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( </a:t>
            </a:r>
            <a:r>
              <a:rPr lang="en-US" sz="2800" b="1" dirty="0">
                <a:solidFill>
                  <a:srgbClr val="0054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24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, </a:t>
            </a:r>
            <a:r>
              <a:rPr lang="en-US" sz="2800" b="1" dirty="0">
                <a:solidFill>
                  <a:srgbClr val="55257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12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)</a:t>
            </a:r>
          </a:p>
          <a:p>
            <a:pPr>
              <a:defRPr/>
            </a:pPr>
            <a:r>
              <a:rPr lang="en-US" sz="2800" b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	=</a:t>
            </a:r>
            <a:r>
              <a:rPr lang="en-US" sz="2800" b="1" dirty="0">
                <a:solidFill>
                  <a:srgbClr val="C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gcd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( </a:t>
            </a:r>
            <a:r>
              <a:rPr lang="en-US" sz="2800" b="1" dirty="0">
                <a:solidFill>
                  <a:srgbClr val="55257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12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, </a:t>
            </a:r>
            <a:r>
              <a:rPr lang="en-US" sz="2800" b="1" dirty="0">
                <a:solidFill>
                  <a:srgbClr val="0054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24 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mod </a:t>
            </a:r>
            <a:r>
              <a:rPr lang="en-US" sz="2800" b="1" dirty="0">
                <a:solidFill>
                  <a:srgbClr val="55257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12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)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	= </a:t>
            </a:r>
            <a:r>
              <a:rPr lang="en-US" sz="2800" dirty="0" err="1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gcd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( </a:t>
            </a:r>
            <a:r>
              <a:rPr lang="en-US" sz="2800" b="1" dirty="0">
                <a:solidFill>
                  <a:srgbClr val="0054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12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, </a:t>
            </a:r>
            <a:r>
              <a:rPr lang="en-US" sz="2800" b="1" dirty="0">
                <a:solidFill>
                  <a:srgbClr val="55257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0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)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	= 12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152400"/>
            <a:ext cx="8305800" cy="8382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Euclid’s method</a:t>
            </a:r>
          </a:p>
        </p:txBody>
      </p:sp>
      <p:sp>
        <p:nvSpPr>
          <p:cNvPr id="206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990601"/>
            <a:ext cx="4495800" cy="5410200"/>
          </a:xfrm>
        </p:spPr>
        <p:txBody>
          <a:bodyPr>
            <a:noAutofit/>
          </a:bodyPr>
          <a:lstStyle/>
          <a:p>
            <a:pPr marL="1087438" indent="-1087438">
              <a:buFont typeface="Monotype Sorts" pitchFamily="2" charset="2"/>
              <a:buNone/>
              <a:defRPr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Step 1  If </a:t>
            </a:r>
            <a:r>
              <a:rPr lang="pt-BR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n = 0, return m and stop; otherwise go to Step 2</a:t>
            </a:r>
          </a:p>
          <a:p>
            <a:pPr marL="1087438" indent="-1087438">
              <a:buFont typeface="Monotype Sorts" pitchFamily="2" charset="2"/>
              <a:buNone/>
              <a:defRPr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Step 2 </a:t>
            </a:r>
            <a:r>
              <a:rPr lang="pt-BR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Divide m by n and assign the value of the remainder to r</a:t>
            </a:r>
          </a:p>
          <a:p>
            <a:pPr marL="1087438" indent="-1087438">
              <a:buFont typeface="Monotype Sorts" pitchFamily="2" charset="2"/>
              <a:buNone/>
              <a:defRPr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Step 3  Assign the value of n to m and the value of r to n</a:t>
            </a:r>
            <a:r>
              <a:rPr lang="en-US" sz="2800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.  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Go to Step 1.</a:t>
            </a:r>
          </a:p>
          <a:p>
            <a:pPr marL="1087438" indent="-1087438">
              <a:buFont typeface="Monotype Sorts" pitchFamily="2" charset="2"/>
              <a:buNone/>
              <a:defRPr/>
            </a:pPr>
            <a:endParaRPr lang="en-US" sz="1400" b="0" i="1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marL="1087438" indent="-1087438" algn="ctr">
              <a:buFont typeface="Monotype Sorts" pitchFamily="2" charset="2"/>
              <a:buNone/>
              <a:defRPr/>
            </a:pPr>
            <a:r>
              <a:rPr 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English like Algorithm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4724400" y="990600"/>
            <a:ext cx="4114800" cy="541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Monotype Sorts" pitchFamily="2" charset="2"/>
              <a:buNone/>
              <a:tabLst/>
              <a:defRPr/>
            </a:pPr>
            <a:r>
              <a:rPr kumimoji="0" lang="pt-BR" sz="2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Could be writen as:</a:t>
            </a:r>
          </a:p>
          <a:p>
            <a:pPr marL="620713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Monotype Sorts" pitchFamily="2" charset="2"/>
              <a:buNone/>
              <a:tabLst/>
              <a:defRPr/>
            </a:pPr>
            <a:r>
              <a:rPr kumimoji="0" lang="pt-BR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while</a:t>
            </a:r>
            <a:r>
              <a:rPr kumimoji="0" lang="pt-BR" sz="28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 n</a:t>
            </a:r>
            <a:r>
              <a:rPr kumimoji="0" lang="pt-BR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 ≠ 0 do </a:t>
            </a:r>
            <a:r>
              <a:rPr kumimoji="0" lang="pt-BR" sz="28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            </a:t>
            </a:r>
          </a:p>
          <a:p>
            <a:pPr marL="620713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Monotype Sorts" pitchFamily="2" charset="2"/>
              <a:buNone/>
              <a:tabLst/>
              <a:defRPr/>
            </a:pPr>
            <a:r>
              <a:rPr kumimoji="0" lang="pt-BR" sz="28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	 	r ← m </a:t>
            </a:r>
            <a:r>
              <a:rPr kumimoji="0" lang="pt-BR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mod </a:t>
            </a:r>
            <a:r>
              <a:rPr kumimoji="0" lang="pt-BR" sz="28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n</a:t>
            </a:r>
          </a:p>
          <a:p>
            <a:pPr marL="620713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Monotype Sorts" pitchFamily="2" charset="2"/>
              <a:buNone/>
              <a:tabLst/>
              <a:defRPr/>
            </a:pPr>
            <a:r>
              <a:rPr kumimoji="0" lang="pt-BR" sz="28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    	m← n   </a:t>
            </a:r>
          </a:p>
          <a:p>
            <a:pPr marL="620713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Monotype Sorts" pitchFamily="2" charset="2"/>
              <a:buNone/>
              <a:tabLst/>
              <a:defRPr/>
            </a:pPr>
            <a:r>
              <a:rPr kumimoji="0" lang="pt-BR" sz="28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    	n ← r    </a:t>
            </a:r>
          </a:p>
          <a:p>
            <a:pPr marL="620713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Monotype Sorts" pitchFamily="2" charset="2"/>
              <a:buNone/>
              <a:tabLst/>
              <a:defRPr/>
            </a:pPr>
            <a:r>
              <a:rPr kumimoji="0" lang="pt-BR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return</a:t>
            </a:r>
            <a:r>
              <a:rPr kumimoji="0" lang="pt-BR" sz="28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 m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Monotype Sorts" pitchFamily="2" charset="2"/>
              <a:buNone/>
              <a:tabLst/>
              <a:defRPr/>
            </a:pPr>
            <a:endParaRPr lang="en-US" sz="2800" i="1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Monotype Sorts" pitchFamily="2" charset="2"/>
              <a:buNone/>
              <a:tabLst/>
              <a:defRPr/>
            </a:pPr>
            <a:endParaRPr lang="en-US" sz="2800" i="1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Monotype Sorts" pitchFamily="2" charset="2"/>
              <a:buNone/>
              <a:tabLst/>
              <a:defRPr/>
            </a:pPr>
            <a:endParaRPr lang="en-US" sz="2800" i="1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Monotype Sorts" pitchFamily="2" charset="2"/>
              <a:buNone/>
              <a:tabLst/>
              <a:defRPr/>
            </a:pPr>
            <a:endParaRPr lang="en-US" sz="2800" i="1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Pseudo-code like Algorithm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Monotype Sorts" pitchFamily="2" charset="2"/>
              <a:buNone/>
              <a:tabLst/>
              <a:defRPr/>
            </a:pPr>
            <a:endParaRPr lang="pt-BR" sz="2800" i="1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851" grpId="0" uiExpand="1" build="p"/>
      <p:bldP spid="4" grpId="0" uiExpand="1" build="allAtOnce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Algorithm Design</a:t>
            </a:r>
          </a:p>
        </p:txBody>
      </p:sp>
    </p:spTree>
    <p:extLst>
      <p:ext uri="{BB962C8B-B14F-4D97-AF65-F5344CB8AC3E}">
        <p14:creationId xmlns:p14="http://schemas.microsoft.com/office/powerpoint/2010/main" val="10148980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76200"/>
            <a:ext cx="7620000" cy="838200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br>
              <a:rPr 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Algorithm design: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81000" y="914400"/>
            <a:ext cx="8763000" cy="4906963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chemeClr val="dk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Algorithm can be described in three ways:</a:t>
            </a:r>
          </a:p>
          <a:p>
            <a:r>
              <a:rPr lang="en-US" sz="2800" dirty="0">
                <a:solidFill>
                  <a:srgbClr val="C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1- Natural language like English:</a:t>
            </a:r>
          </a:p>
          <a:p>
            <a:pPr marL="0" lvl="1" indent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When this way is chosen care should be taken, we should ensure that each &amp; every statement is definite.</a:t>
            </a:r>
          </a:p>
          <a:p>
            <a:r>
              <a:rPr lang="en-US" sz="2800" dirty="0">
                <a:solidFill>
                  <a:srgbClr val="C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2- Graphic representation called flowchart:</a:t>
            </a:r>
          </a:p>
          <a:p>
            <a:pPr marL="0" lvl="1" indent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This method will work well when the algorithm is small&amp; simple.</a:t>
            </a:r>
          </a:p>
          <a:p>
            <a:r>
              <a:rPr lang="en-US" sz="2800" dirty="0">
                <a:solidFill>
                  <a:srgbClr val="C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3- Pseudo-code Method:</a:t>
            </a:r>
          </a:p>
          <a:p>
            <a:pPr marL="0" lvl="1" indent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In this method, we should typically describe algorithms as program, which resembles language like Pascal &amp; </a:t>
            </a:r>
            <a:r>
              <a:rPr lang="en-US" sz="2800" dirty="0" err="1">
                <a:solidFill>
                  <a:schemeClr val="dk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algol</a:t>
            </a:r>
            <a:r>
              <a:rPr lang="en-US" sz="2800" dirty="0">
                <a:solidFill>
                  <a:schemeClr val="dk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.</a:t>
            </a:r>
          </a:p>
          <a:p>
            <a:endParaRPr lang="en-US" sz="2800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marL="0" indent="0" algn="l">
              <a:buNone/>
            </a:pPr>
            <a:endParaRPr lang="en-US" sz="2800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1438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7467600" cy="1143000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Pseudo-Code Conventions:</a:t>
            </a:r>
            <a:br>
              <a:rPr 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81000" y="990600"/>
            <a:ext cx="8382000" cy="5330952"/>
          </a:xfrm>
        </p:spPr>
        <p:txBody>
          <a:bodyPr>
            <a:noAutofit/>
          </a:bodyPr>
          <a:lstStyle/>
          <a:p>
            <a:pPr marL="0" lvl="0" indent="0">
              <a:lnSpc>
                <a:spcPct val="12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1- Comments begin with // and continue until the end of line.</a:t>
            </a:r>
          </a:p>
          <a:p>
            <a:pPr marL="0" lvl="0" indent="0">
              <a:lnSpc>
                <a:spcPct val="12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2- Blocks are indicated with matching braces {and}.</a:t>
            </a:r>
          </a:p>
          <a:p>
            <a:pPr marL="0" lvl="0" indent="0">
              <a:lnSpc>
                <a:spcPct val="12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3- An identifier begins with a letter. The data types of variables are not explicitly declared.</a:t>
            </a:r>
          </a:p>
          <a:p>
            <a:pPr lvl="0"/>
            <a:r>
              <a:rPr lang="en-US" sz="24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4- Assignment of values to variables is done using the assignment statement.</a:t>
            </a:r>
          </a:p>
          <a:p>
            <a:pPr lvl="0"/>
            <a:r>
              <a:rPr lang="en-US" sz="24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&lt;Variable&gt;:= &lt;expression&gt;; Or &lt;Variable&gt; ← &lt;expression&gt;;</a:t>
            </a:r>
          </a:p>
          <a:p>
            <a:r>
              <a:rPr lang="en-US" sz="24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5- There are two Boolean values TRUE and FALSE.</a:t>
            </a:r>
          </a:p>
          <a:p>
            <a:pPr marL="800100" lvl="1" indent="-342900">
              <a:buFont typeface="Wingdings" pitchFamily="2" charset="2"/>
              <a:buChar char="§"/>
            </a:pPr>
            <a:r>
              <a:rPr lang="en-US" sz="24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Logical Operators       AND, OR, NOT</a:t>
            </a:r>
          </a:p>
          <a:p>
            <a:pPr marL="742950" lvl="1" indent="-285750">
              <a:buFont typeface="Wingdings" pitchFamily="2" charset="2"/>
              <a:buChar char="§"/>
            </a:pPr>
            <a:r>
              <a:rPr lang="en-US" sz="24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Relational Operators   &lt;, &lt;=,&gt;,&gt;=, =, !=</a:t>
            </a:r>
          </a:p>
        </p:txBody>
      </p:sp>
    </p:spTree>
    <p:extLst>
      <p:ext uri="{BB962C8B-B14F-4D97-AF65-F5344CB8AC3E}">
        <p14:creationId xmlns:p14="http://schemas.microsoft.com/office/powerpoint/2010/main" val="22077663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304800"/>
            <a:ext cx="7467600" cy="6169152"/>
          </a:xfrm>
        </p:spPr>
        <p:txBody>
          <a:bodyPr>
            <a:normAutofit/>
          </a:bodyPr>
          <a:lstStyle/>
          <a:p>
            <a:pPr lvl="0"/>
            <a:r>
              <a:rPr lang="en-US" sz="24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6- The following looping statements are employed.</a:t>
            </a:r>
          </a:p>
          <a:p>
            <a:r>
              <a:rPr lang="en-US" sz="24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 For, while and repeat-until</a:t>
            </a:r>
          </a:p>
          <a:p>
            <a:r>
              <a:rPr lang="en-US" sz="24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While Loop:</a:t>
            </a:r>
          </a:p>
          <a:p>
            <a:r>
              <a:rPr lang="en-US" sz="24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		While &lt; condition &gt; do</a:t>
            </a:r>
          </a:p>
          <a:p>
            <a:r>
              <a:rPr lang="en-US" sz="24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		{</a:t>
            </a:r>
          </a:p>
          <a:p>
            <a:r>
              <a:rPr lang="en-US" sz="24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			&lt;statement-1&gt;</a:t>
            </a:r>
          </a:p>
          <a:p>
            <a:r>
              <a:rPr lang="en-US" sz="24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			&lt;statement-n&gt;</a:t>
            </a:r>
          </a:p>
          <a:p>
            <a:r>
              <a:rPr lang="en-US" sz="24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		}</a:t>
            </a:r>
            <a:endParaRPr lang="en-US" sz="2000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33918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304800"/>
            <a:ext cx="7467600" cy="616915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For Loop:</a:t>
            </a:r>
            <a:endParaRPr lang="en-US" sz="2400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	For variable: = value-1 to value-2 step vlaue-3 do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 {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	&lt;statement-1&gt;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	&lt;statement-n&gt;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}</a:t>
            </a:r>
          </a:p>
          <a:p>
            <a:r>
              <a:rPr lang="en-US" sz="2400" b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repeat-until:</a:t>
            </a:r>
            <a:endParaRPr lang="en-US" sz="2400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 	repeat</a:t>
            </a:r>
          </a:p>
          <a:p>
            <a:r>
              <a:rPr lang="en-US" sz="24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		&lt;statement-1&gt;</a:t>
            </a:r>
          </a:p>
          <a:p>
            <a:r>
              <a:rPr lang="en-US" sz="24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			</a:t>
            </a:r>
          </a:p>
          <a:p>
            <a:r>
              <a:rPr lang="en-US" sz="24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		&lt;statement-n&gt;</a:t>
            </a:r>
          </a:p>
          <a:p>
            <a:r>
              <a:rPr lang="en-US" sz="24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	until&lt;condition&gt;</a:t>
            </a:r>
          </a:p>
          <a:p>
            <a:endParaRPr lang="en-US" sz="2400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marL="0" indent="0">
              <a:buNone/>
            </a:pPr>
            <a:endParaRPr lang="en-US" sz="2400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20896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304800"/>
            <a:ext cx="8153400" cy="6169152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24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7- A conditional statement has the following forms.</a:t>
            </a:r>
          </a:p>
          <a:p>
            <a:pPr marL="800100" lvl="1" indent="-342900">
              <a:buFont typeface="Wingdings" pitchFamily="2" charset="2"/>
              <a:buChar char="§"/>
            </a:pPr>
            <a:r>
              <a:rPr lang="en-US" sz="24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If &lt;condition&gt; then &lt;statement&gt;</a:t>
            </a:r>
          </a:p>
          <a:p>
            <a:pPr marL="800100" lvl="1" indent="-342900">
              <a:buFont typeface="Wingdings" pitchFamily="2" charset="2"/>
              <a:buChar char="§"/>
            </a:pPr>
            <a:r>
              <a:rPr lang="en-US" sz="24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If &lt;condition&gt; then &lt;statement-1&gt; </a:t>
            </a:r>
          </a:p>
          <a:p>
            <a:pPr lvl="1" indent="0">
              <a:buNone/>
            </a:pPr>
            <a:r>
              <a:rPr lang="en-US" sz="24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	     Else &lt;statement-1&gt;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 </a:t>
            </a:r>
            <a:r>
              <a:rPr lang="en-US" sz="2400" b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Case statement:</a:t>
            </a:r>
            <a:endParaRPr lang="en-US" sz="2400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 select case(expression)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{</a:t>
            </a:r>
          </a:p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	case 1 </a:t>
            </a:r>
            <a:r>
              <a:rPr lang="en-US" sz="2400" b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:</a:t>
            </a:r>
            <a:r>
              <a:rPr lang="en-US" sz="24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&lt;statement-1&gt;</a:t>
            </a:r>
          </a:p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	</a:t>
            </a:r>
          </a:p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	case n </a:t>
            </a:r>
            <a:r>
              <a:rPr lang="en-US" sz="2400" b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:</a:t>
            </a:r>
            <a:r>
              <a:rPr lang="en-US" sz="24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&lt;statement-n&gt;</a:t>
            </a:r>
          </a:p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	default </a:t>
            </a:r>
            <a:r>
              <a:rPr lang="en-US" sz="2400" b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:</a:t>
            </a:r>
            <a:r>
              <a:rPr lang="en-US" sz="24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&lt;statement-n+1&gt;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}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 </a:t>
            </a:r>
          </a:p>
          <a:p>
            <a:pPr marL="0" indent="0">
              <a:buNone/>
            </a:pPr>
            <a:endParaRPr lang="en-US" sz="2400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88776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304800"/>
            <a:ext cx="8229600" cy="6169152"/>
          </a:xfrm>
        </p:spPr>
        <p:txBody>
          <a:bodyPr>
            <a:normAutofit/>
          </a:bodyPr>
          <a:lstStyle/>
          <a:p>
            <a:pPr marL="361950" lvl="0" indent="-361950">
              <a:buNone/>
            </a:pPr>
            <a:r>
              <a:rPr lang="en-US" sz="24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8- Input and output are done using the instructions read &amp; write.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 9- There is only one type of procedure: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     Algorithm, the heading takes the form,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 </a:t>
            </a:r>
            <a:r>
              <a:rPr lang="en-US" sz="2400" dirty="0">
                <a:solidFill>
                  <a:srgbClr val="C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		Algorithm Name (Parameter lists)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 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2400" b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As an example, the following algorithm finds &amp; returns the maximum of ‘n’ given numbers: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 </a:t>
            </a:r>
          </a:p>
          <a:p>
            <a:pPr marL="0" indent="0">
              <a:buNone/>
            </a:pPr>
            <a:endParaRPr lang="en-US" sz="2400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1442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7620000" cy="838200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Example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143000"/>
            <a:ext cx="4360223" cy="54864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457200" lvl="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algorithm Max( A, n)</a:t>
            </a:r>
          </a:p>
          <a:p>
            <a:pPr marL="457200" lvl="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2800" dirty="0">
                <a:solidFill>
                  <a:srgbClr val="0000CC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// A is an array of size n</a:t>
            </a:r>
          </a:p>
          <a:p>
            <a:pPr marL="457200" lvl="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{</a:t>
            </a:r>
          </a:p>
          <a:p>
            <a:pPr marL="457200" lvl="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Result := A[1]</a:t>
            </a:r>
          </a:p>
          <a:p>
            <a:pPr marL="457200" lvl="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for I ← 2 to n do</a:t>
            </a:r>
          </a:p>
          <a:p>
            <a:pPr marL="457200" lvl="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  if A[I] &gt; Result then</a:t>
            </a:r>
          </a:p>
          <a:p>
            <a:pPr marL="457200" lvl="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        Result ← A[I]</a:t>
            </a:r>
          </a:p>
          <a:p>
            <a:pPr marL="457200" lvl="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 return Result</a:t>
            </a:r>
          </a:p>
          <a:p>
            <a:pPr marL="457200" lvl="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}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105401" y="1143000"/>
            <a:ext cx="3810000" cy="5257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his algorithm:</a:t>
            </a:r>
          </a:p>
          <a:p>
            <a:pPr marL="449263" marR="0" lvl="0" indent="-363538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named 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Max </a:t>
            </a:r>
          </a:p>
          <a:p>
            <a:pPr marL="449263" marR="0" lvl="0" indent="-363538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Tx/>
              <a:buFont typeface="Arial" pitchFamily="34" charset="0"/>
              <a:buChar char="•"/>
              <a:tabLst/>
              <a:defRPr/>
            </a:pPr>
            <a:r>
              <a:rPr lang="en-US" sz="2800" dirty="0">
                <a:solidFill>
                  <a:srgbClr val="C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 &amp; </a:t>
            </a:r>
            <a:r>
              <a:rPr lang="en-US" sz="2800" dirty="0">
                <a:solidFill>
                  <a:srgbClr val="C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 are procedure parameters. </a:t>
            </a:r>
          </a:p>
          <a:p>
            <a:pPr marL="449263" marR="0" lvl="0" indent="-363538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Tx/>
              <a:buFont typeface="Arial" pitchFamily="34" charset="0"/>
              <a:buChar char="•"/>
              <a:tabLst/>
              <a:defRPr/>
            </a:pPr>
            <a:r>
              <a:rPr lang="en-US" sz="2800" dirty="0">
                <a:solidFill>
                  <a:srgbClr val="C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Result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 &amp; </a:t>
            </a:r>
            <a:r>
              <a:rPr lang="en-US" sz="2800" dirty="0">
                <a:solidFill>
                  <a:srgbClr val="C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I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are Local variables.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8091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Analysis of Algorithms</a:t>
            </a:r>
          </a:p>
        </p:txBody>
      </p:sp>
    </p:spTree>
    <p:extLst>
      <p:ext uri="{BB962C8B-B14F-4D97-AF65-F5344CB8AC3E}">
        <p14:creationId xmlns:p14="http://schemas.microsoft.com/office/powerpoint/2010/main" val="1460728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858000" y="6324600"/>
            <a:ext cx="457200" cy="3651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76D9272-BC98-4DED-BC04-8230AB284BBE}" type="slidenum">
              <a:rPr lang="en-GB" sz="1400" b="0" smtClean="0"/>
              <a:pPr eaLnBrk="1" hangingPunct="1"/>
              <a:t>26</a:t>
            </a:fld>
            <a:endParaRPr lang="en-GB" sz="1400" b="0" dirty="0"/>
          </a:p>
        </p:txBody>
      </p:sp>
      <p:sp>
        <p:nvSpPr>
          <p:cNvPr id="16388" name="Rectangle 2"/>
          <p:cNvSpPr>
            <a:spLocks noChangeArrowheads="1"/>
          </p:cNvSpPr>
          <p:nvPr/>
        </p:nvSpPr>
        <p:spPr bwMode="auto">
          <a:xfrm>
            <a:off x="762000" y="1219200"/>
            <a:ext cx="8077200" cy="504753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457200" indent="-457200">
              <a:buFont typeface="Wingdings" pitchFamily="2" charset="2"/>
              <a:buChar char="§"/>
            </a:pPr>
            <a:r>
              <a:rPr lang="en-US" sz="2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Term “analysis of algorithms” means an investigation of an </a:t>
            </a:r>
            <a:r>
              <a:rPr lang="en-US" sz="2800" dirty="0">
                <a:solidFill>
                  <a:srgbClr val="0000CC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algorithm’s efficiency</a:t>
            </a:r>
          </a:p>
          <a:p>
            <a:pPr marL="457200" indent="-457200">
              <a:buFont typeface="Wingdings" pitchFamily="2" charset="2"/>
              <a:buChar char="§"/>
            </a:pPr>
            <a:endParaRPr lang="en-US" sz="1400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marL="457200" indent="-457200">
              <a:buFont typeface="Wingdings" pitchFamily="2" charset="2"/>
              <a:buChar char="§"/>
            </a:pPr>
            <a:r>
              <a:rPr lang="en-US" sz="2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The main goal is to determine the cost of running an algorithm and how to reduce that cost. </a:t>
            </a:r>
          </a:p>
          <a:p>
            <a:pPr marL="457200" indent="-4572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itchFamily="2" charset="2"/>
              <a:buChar char="§"/>
            </a:pPr>
            <a:endParaRPr lang="en-US" sz="1400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marL="457200" indent="-4572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itchFamily="2" charset="2"/>
              <a:buChar char="§"/>
            </a:pPr>
            <a:r>
              <a:rPr lang="en-US" sz="2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Cost is expressed as </a:t>
            </a:r>
            <a:r>
              <a:rPr lang="en-US" sz="2800" u="sng" dirty="0">
                <a:solidFill>
                  <a:srgbClr val="FF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Complexity</a:t>
            </a:r>
          </a:p>
          <a:p>
            <a:pPr marL="457200" indent="-457200" eaLnBrk="0" hangingPunct="0">
              <a:lnSpc>
                <a:spcPct val="100000"/>
              </a:lnSpc>
              <a:spcBef>
                <a:spcPct val="0"/>
              </a:spcBef>
              <a:buClrTx/>
              <a:buSzTx/>
            </a:pPr>
            <a:endParaRPr lang="en-US" sz="1400" u="sng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marL="896938" indent="-449263">
              <a:buFont typeface="Wingdings" pitchFamily="2" charset="2"/>
              <a:buChar char="§"/>
            </a:pPr>
            <a:r>
              <a:rPr lang="en-US" sz="2800" u="sng" dirty="0">
                <a:solidFill>
                  <a:srgbClr val="0000CC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Time Complexity	</a:t>
            </a:r>
            <a:r>
              <a:rPr lang="en-US" sz="2800" spc="-10" dirty="0">
                <a:solidFill>
                  <a:srgbClr val="FFC000"/>
                </a:solidFill>
                <a:uFill>
                  <a:solidFill>
                    <a:srgbClr val="0000CC"/>
                  </a:solidFill>
                </a:uFill>
                <a:latin typeface="Segoe UI"/>
                <a:cs typeface="Segoe UI"/>
              </a:rPr>
              <a:t> 		our target</a:t>
            </a:r>
            <a:endParaRPr lang="en-US" sz="2800" u="sng" dirty="0">
              <a:solidFill>
                <a:srgbClr val="0000CC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marL="896938" indent="-449263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itchFamily="2" charset="2"/>
              <a:buChar char="§"/>
            </a:pPr>
            <a:endParaRPr lang="en-US" sz="2800" u="sng" dirty="0">
              <a:solidFill>
                <a:srgbClr val="0000CC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marL="896938" indent="-449263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itchFamily="2" charset="2"/>
              <a:buChar char="§"/>
            </a:pPr>
            <a:r>
              <a:rPr lang="en-US" sz="2800" u="sng" dirty="0">
                <a:solidFill>
                  <a:srgbClr val="0000CC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Space Complexity</a:t>
            </a:r>
          </a:p>
          <a:p>
            <a:pPr marL="457200" indent="-4572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itchFamily="2" charset="2"/>
              <a:buChar char="§"/>
            </a:pPr>
            <a:endParaRPr lang="en-AU" sz="2800" u="sng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title"/>
          </p:nvPr>
        </p:nvSpPr>
        <p:spPr>
          <a:xfrm>
            <a:off x="609600" y="-228600"/>
            <a:ext cx="7339012" cy="1239837"/>
          </a:xfrm>
        </p:spPr>
        <p:txBody>
          <a:bodyPr/>
          <a:lstStyle/>
          <a:p>
            <a:pPr eaLnBrk="1" hangingPunct="1">
              <a:defRPr/>
            </a:pPr>
            <a:r>
              <a:rPr lang="en-US" b="1" dirty="0">
                <a:solidFill>
                  <a:schemeClr val="tx1"/>
                </a:solidFill>
              </a:rPr>
              <a:t>Analysis of Algorithms</a:t>
            </a:r>
          </a:p>
        </p:txBody>
      </p:sp>
      <p:sp>
        <p:nvSpPr>
          <p:cNvPr id="5" name="Right Arrow 4"/>
          <p:cNvSpPr/>
          <p:nvPr/>
        </p:nvSpPr>
        <p:spPr>
          <a:xfrm flipH="1">
            <a:off x="4824984" y="4495800"/>
            <a:ext cx="9144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524000" y="5976604"/>
            <a:ext cx="7010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Always there is a tradeoff between time and space complexity</a:t>
            </a:r>
          </a:p>
        </p:txBody>
      </p:sp>
    </p:spTree>
    <p:extLst>
      <p:ext uri="{BB962C8B-B14F-4D97-AF65-F5344CB8AC3E}">
        <p14:creationId xmlns:p14="http://schemas.microsoft.com/office/powerpoint/2010/main" val="1172082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85229" y="6384137"/>
            <a:ext cx="22352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400" spc="-25" dirty="0">
                <a:latin typeface="Arial MT"/>
                <a:cs typeface="Arial MT"/>
              </a:rPr>
              <a:t>2</a:t>
            </a:r>
            <a:r>
              <a:rPr sz="1400" spc="-25" dirty="0">
                <a:latin typeface="Arial MT"/>
                <a:cs typeface="Arial MT"/>
              </a:rPr>
              <a:t>7</a:t>
            </a:r>
            <a:endParaRPr sz="140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7201" y="1523682"/>
            <a:ext cx="8686799" cy="51706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834">
              <a:spcBef>
                <a:spcPts val="100"/>
              </a:spcBef>
              <a:buFont typeface="Wingdings"/>
              <a:buChar char=""/>
              <a:tabLst>
                <a:tab pos="469900" algn="l"/>
                <a:tab pos="470534" algn="l"/>
              </a:tabLst>
            </a:pPr>
            <a:r>
              <a:rPr lang="en-US" sz="24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It may be useful to time how long an algorithm takes to run. </a:t>
            </a:r>
            <a:r>
              <a:rPr lang="en-US" sz="2400" u="sng" dirty="0">
                <a:solidFill>
                  <a:schemeClr val="tx1"/>
                </a:solidFill>
                <a:uFill>
                  <a:solidFill>
                    <a:srgbClr val="0000CC"/>
                  </a:solidFill>
                </a:uFill>
                <a:latin typeface="Segoe UI"/>
                <a:cs typeface="Segoe UI"/>
              </a:rPr>
              <a:t>But, </a:t>
            </a:r>
            <a:r>
              <a:rPr lang="en-US" sz="2400" u="sng" dirty="0">
                <a:solidFill>
                  <a:srgbClr val="0000CC"/>
                </a:solidFill>
                <a:uFill>
                  <a:solidFill>
                    <a:srgbClr val="0000CC"/>
                  </a:solidFill>
                </a:uFill>
                <a:latin typeface="Segoe UI"/>
                <a:cs typeface="Segoe UI"/>
              </a:rPr>
              <a:t>Running time </a:t>
            </a:r>
            <a:r>
              <a:rPr lang="en-US" sz="2400" dirty="0">
                <a:latin typeface="Segoe UI"/>
                <a:cs typeface="Segoe UI"/>
              </a:rPr>
              <a:t>depends on CPU </a:t>
            </a:r>
            <a:r>
              <a:rPr lang="en-US" sz="2400" spc="-10" dirty="0">
                <a:latin typeface="Segoe UI"/>
                <a:cs typeface="Segoe UI"/>
              </a:rPr>
              <a:t>speed, operating system (e.g. memory management, etc..)</a:t>
            </a:r>
            <a:endParaRPr lang="en-US" sz="2400" dirty="0">
              <a:latin typeface="Segoe UI"/>
              <a:cs typeface="Segoe UI"/>
            </a:endParaRPr>
          </a:p>
          <a:p>
            <a:pPr marL="469900" indent="-457834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469900" algn="l"/>
                <a:tab pos="470534" algn="l"/>
              </a:tabLst>
            </a:pPr>
            <a:endParaRPr lang="en-US" sz="2400" u="sng" dirty="0">
              <a:solidFill>
                <a:srgbClr val="0000CC"/>
              </a:solidFill>
              <a:uFill>
                <a:solidFill>
                  <a:srgbClr val="0000CC"/>
                </a:solidFill>
              </a:uFill>
              <a:latin typeface="Segoe UI"/>
              <a:cs typeface="Segoe UI"/>
            </a:endParaRPr>
          </a:p>
          <a:p>
            <a:pPr marL="469900" indent="-457834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469900" algn="l"/>
                <a:tab pos="470534" algn="l"/>
              </a:tabLst>
            </a:pPr>
            <a:r>
              <a:rPr sz="2400" u="sng" dirty="0">
                <a:solidFill>
                  <a:srgbClr val="0000CC"/>
                </a:solidFill>
                <a:uFill>
                  <a:solidFill>
                    <a:srgbClr val="0000CC"/>
                  </a:solidFill>
                </a:uFill>
                <a:latin typeface="Segoe UI"/>
                <a:cs typeface="Segoe UI"/>
              </a:rPr>
              <a:t>Time</a:t>
            </a:r>
            <a:r>
              <a:rPr sz="2400" u="sng" spc="-10" dirty="0">
                <a:solidFill>
                  <a:srgbClr val="0000CC"/>
                </a:solidFill>
                <a:uFill>
                  <a:solidFill>
                    <a:srgbClr val="0000CC"/>
                  </a:solidFill>
                </a:uFill>
                <a:latin typeface="Segoe UI"/>
                <a:cs typeface="Segoe UI"/>
              </a:rPr>
              <a:t> Complexity</a:t>
            </a:r>
            <a:endParaRPr sz="2400" dirty="0">
              <a:latin typeface="Segoe UI"/>
              <a:cs typeface="Segoe UI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FF3300"/>
                </a:solidFill>
                <a:latin typeface="Segoe UI"/>
                <a:cs typeface="Segoe UI"/>
              </a:rPr>
              <a:t>Depends</a:t>
            </a:r>
            <a:r>
              <a:rPr sz="2400" spc="-30" dirty="0">
                <a:solidFill>
                  <a:srgbClr val="FF3300"/>
                </a:solidFill>
                <a:latin typeface="Segoe UI"/>
                <a:cs typeface="Segoe UI"/>
              </a:rPr>
              <a:t> </a:t>
            </a:r>
            <a:r>
              <a:rPr sz="2400" spc="-25" dirty="0">
                <a:solidFill>
                  <a:srgbClr val="FF3300"/>
                </a:solidFill>
                <a:latin typeface="Segoe UI"/>
                <a:cs typeface="Segoe UI"/>
              </a:rPr>
              <a:t>on:</a:t>
            </a:r>
            <a:endParaRPr sz="2400" dirty="0">
              <a:latin typeface="Segoe UI"/>
              <a:cs typeface="Segoe UI"/>
            </a:endParaRPr>
          </a:p>
          <a:p>
            <a:pPr marL="675640" lvl="1" indent="-206375">
              <a:lnSpc>
                <a:spcPct val="100000"/>
              </a:lnSpc>
              <a:buChar char="-"/>
              <a:tabLst>
                <a:tab pos="676275" algn="l"/>
              </a:tabLst>
            </a:pPr>
            <a:r>
              <a:rPr sz="2400" dirty="0">
                <a:latin typeface="Segoe UI"/>
                <a:cs typeface="Segoe UI"/>
              </a:rPr>
              <a:t>Size</a:t>
            </a:r>
            <a:r>
              <a:rPr sz="2400" spc="-2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of</a:t>
            </a:r>
            <a:r>
              <a:rPr sz="2400" spc="-25" dirty="0">
                <a:latin typeface="Segoe UI"/>
                <a:cs typeface="Segoe UI"/>
              </a:rPr>
              <a:t> </a:t>
            </a:r>
            <a:r>
              <a:rPr sz="2400" spc="-20" dirty="0">
                <a:latin typeface="Segoe UI"/>
                <a:cs typeface="Segoe UI"/>
              </a:rPr>
              <a:t>Data</a:t>
            </a:r>
            <a:r>
              <a:rPr lang="en-US" sz="2400" spc="-20" dirty="0">
                <a:latin typeface="Segoe UI"/>
                <a:cs typeface="Segoe UI"/>
              </a:rPr>
              <a:t> (e.g. size of array 10 or 1000)</a:t>
            </a:r>
            <a:endParaRPr sz="2400" dirty="0">
              <a:latin typeface="Segoe UI"/>
              <a:cs typeface="Segoe UI"/>
            </a:endParaRPr>
          </a:p>
          <a:p>
            <a:pPr marL="675640" lvl="1" indent="-206375">
              <a:lnSpc>
                <a:spcPct val="100000"/>
              </a:lnSpc>
              <a:buChar char="-"/>
              <a:tabLst>
                <a:tab pos="676275" algn="l"/>
              </a:tabLst>
            </a:pPr>
            <a:r>
              <a:rPr sz="2400" dirty="0">
                <a:latin typeface="Segoe UI"/>
                <a:cs typeface="Segoe UI"/>
              </a:rPr>
              <a:t>Number</a:t>
            </a:r>
            <a:r>
              <a:rPr sz="2400" spc="-1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of</a:t>
            </a:r>
            <a:r>
              <a:rPr sz="2400" spc="-5" dirty="0">
                <a:latin typeface="Segoe UI"/>
                <a:cs typeface="Segoe UI"/>
              </a:rPr>
              <a:t> </a:t>
            </a:r>
            <a:r>
              <a:rPr lang="en-US" sz="2400" dirty="0">
                <a:latin typeface="Segoe UI"/>
                <a:cs typeface="Segoe UI"/>
              </a:rPr>
              <a:t>Operations n</a:t>
            </a:r>
            <a:r>
              <a:rPr sz="2400" dirty="0">
                <a:latin typeface="Segoe UI"/>
                <a:cs typeface="Segoe UI"/>
              </a:rPr>
              <a:t>eeded</a:t>
            </a:r>
            <a:r>
              <a:rPr lang="en-US" sz="2400" dirty="0">
                <a:latin typeface="Segoe UI"/>
                <a:cs typeface="Segoe UI"/>
              </a:rPr>
              <a:t> (within loop or once)</a:t>
            </a:r>
            <a:endParaRPr lang="en-US" sz="2400" spc="-40" dirty="0">
              <a:latin typeface="Segoe UI"/>
              <a:cs typeface="Segoe UI"/>
            </a:endParaRPr>
          </a:p>
          <a:p>
            <a:pPr marL="675640" lvl="1" indent="-206375">
              <a:lnSpc>
                <a:spcPct val="100000"/>
              </a:lnSpc>
              <a:buChar char="-"/>
              <a:tabLst>
                <a:tab pos="676275" algn="l"/>
              </a:tabLst>
            </a:pPr>
            <a:r>
              <a:rPr lang="en-US" sz="2400" spc="-40" dirty="0">
                <a:latin typeface="Segoe UI"/>
                <a:cs typeface="Segoe UI"/>
              </a:rPr>
              <a:t>Organization of data (e.g. find item in first location, or last location in a big array)</a:t>
            </a:r>
            <a:endParaRPr sz="2400" dirty="0">
              <a:latin typeface="Segoe UI"/>
              <a:cs typeface="Segoe UI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Font typeface="Segoe UI"/>
              <a:buChar char="-"/>
            </a:pPr>
            <a:endParaRPr sz="2150" dirty="0">
              <a:latin typeface="Segoe UI"/>
              <a:cs typeface="Segoe UI"/>
            </a:endParaRPr>
          </a:p>
          <a:p>
            <a:pPr marL="469900" marR="2394585" indent="-457834">
              <a:lnSpc>
                <a:spcPct val="100000"/>
              </a:lnSpc>
              <a:buFont typeface="Wingdings"/>
              <a:buChar char=""/>
              <a:tabLst>
                <a:tab pos="469900" algn="l"/>
                <a:tab pos="470534" algn="l"/>
              </a:tabLst>
            </a:pPr>
            <a:r>
              <a:rPr sz="2400" u="sng" dirty="0">
                <a:solidFill>
                  <a:srgbClr val="0000CC"/>
                </a:solidFill>
                <a:uFill>
                  <a:solidFill>
                    <a:srgbClr val="0000CC"/>
                  </a:solidFill>
                </a:uFill>
                <a:latin typeface="Segoe UI"/>
                <a:cs typeface="Segoe UI"/>
              </a:rPr>
              <a:t>Space</a:t>
            </a:r>
            <a:r>
              <a:rPr sz="2400" u="sng" spc="-40" dirty="0">
                <a:solidFill>
                  <a:srgbClr val="0000CC"/>
                </a:solidFill>
                <a:uFill>
                  <a:solidFill>
                    <a:srgbClr val="0000CC"/>
                  </a:solidFill>
                </a:uFill>
                <a:latin typeface="Segoe UI"/>
                <a:cs typeface="Segoe UI"/>
              </a:rPr>
              <a:t> </a:t>
            </a:r>
            <a:r>
              <a:rPr sz="2400" u="sng" spc="-10" dirty="0">
                <a:solidFill>
                  <a:srgbClr val="0000CC"/>
                </a:solidFill>
                <a:uFill>
                  <a:solidFill>
                    <a:srgbClr val="0000CC"/>
                  </a:solidFill>
                </a:uFill>
                <a:latin typeface="Segoe UI"/>
                <a:cs typeface="Segoe UI"/>
              </a:rPr>
              <a:t>Complexity</a:t>
            </a:r>
            <a:r>
              <a:rPr sz="2400" spc="-10" dirty="0">
                <a:solidFill>
                  <a:srgbClr val="0000CC"/>
                </a:solidFill>
                <a:latin typeface="Segoe UI"/>
                <a:cs typeface="Segoe UI"/>
              </a:rPr>
              <a:t> </a:t>
            </a:r>
            <a:r>
              <a:rPr sz="2400" dirty="0">
                <a:solidFill>
                  <a:srgbClr val="FF3300"/>
                </a:solidFill>
                <a:latin typeface="Segoe UI"/>
                <a:cs typeface="Segoe UI"/>
              </a:rPr>
              <a:t>Depends</a:t>
            </a:r>
            <a:r>
              <a:rPr sz="2400" spc="-30" dirty="0">
                <a:solidFill>
                  <a:srgbClr val="FF3300"/>
                </a:solidFill>
                <a:latin typeface="Segoe UI"/>
                <a:cs typeface="Segoe UI"/>
              </a:rPr>
              <a:t> </a:t>
            </a:r>
            <a:r>
              <a:rPr sz="2400" spc="-25" dirty="0">
                <a:solidFill>
                  <a:srgbClr val="FF3300"/>
                </a:solidFill>
                <a:latin typeface="Segoe UI"/>
                <a:cs typeface="Segoe UI"/>
              </a:rPr>
              <a:t>on:</a:t>
            </a:r>
            <a:endParaRPr sz="2400" dirty="0">
              <a:latin typeface="Segoe UI"/>
              <a:cs typeface="Segoe UI"/>
            </a:endParaRPr>
          </a:p>
          <a:p>
            <a:pPr marL="675640" lvl="1" indent="-206375">
              <a:lnSpc>
                <a:spcPct val="100000"/>
              </a:lnSpc>
              <a:buChar char="-"/>
              <a:tabLst>
                <a:tab pos="676275" algn="l"/>
              </a:tabLst>
            </a:pPr>
            <a:r>
              <a:rPr sz="2400" dirty="0">
                <a:latin typeface="Segoe UI"/>
                <a:cs typeface="Segoe UI"/>
              </a:rPr>
              <a:t>Size</a:t>
            </a:r>
            <a:r>
              <a:rPr sz="2400" spc="-2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of</a:t>
            </a:r>
            <a:r>
              <a:rPr sz="2400" spc="-30" dirty="0">
                <a:latin typeface="Segoe UI"/>
                <a:cs typeface="Segoe UI"/>
              </a:rPr>
              <a:t> </a:t>
            </a:r>
            <a:r>
              <a:rPr sz="2400" spc="-20" dirty="0">
                <a:latin typeface="Segoe UI"/>
                <a:cs typeface="Segoe UI"/>
              </a:rPr>
              <a:t>Data</a:t>
            </a:r>
            <a:endParaRPr sz="2400" dirty="0">
              <a:latin typeface="Segoe UI"/>
              <a:cs typeface="Segoe UI"/>
            </a:endParaRPr>
          </a:p>
          <a:p>
            <a:pPr marL="675640" lvl="1" indent="-206375">
              <a:lnSpc>
                <a:spcPct val="100000"/>
              </a:lnSpc>
              <a:buChar char="-"/>
              <a:tabLst>
                <a:tab pos="676275" algn="l"/>
              </a:tabLst>
            </a:pPr>
            <a:r>
              <a:rPr sz="2400" dirty="0">
                <a:latin typeface="Segoe UI"/>
                <a:cs typeface="Segoe UI"/>
              </a:rPr>
              <a:t>Size</a:t>
            </a:r>
            <a:r>
              <a:rPr sz="2400" spc="-2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of</a:t>
            </a:r>
            <a:r>
              <a:rPr sz="2400" spc="-35" dirty="0">
                <a:latin typeface="Segoe UI"/>
                <a:cs typeface="Segoe UI"/>
              </a:rPr>
              <a:t> </a:t>
            </a:r>
            <a:r>
              <a:rPr sz="2400" spc="-10" dirty="0">
                <a:latin typeface="Segoe UI"/>
                <a:cs typeface="Segoe UI"/>
              </a:rPr>
              <a:t>Program</a:t>
            </a:r>
            <a:endParaRPr sz="2400" dirty="0">
              <a:latin typeface="Segoe UI"/>
              <a:cs typeface="Segoe U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57200" y="-76200"/>
            <a:ext cx="7620000" cy="1371282"/>
          </a:xfrm>
          <a:prstGeom prst="rect">
            <a:avLst/>
          </a:prstGeom>
        </p:spPr>
        <p:txBody>
          <a:bodyPr vert="horz" wrap="square" lIns="0" tIns="501015" rIns="0" bIns="0" rtlCol="0">
            <a:spAutoFit/>
          </a:bodyPr>
          <a:lstStyle/>
          <a:p>
            <a:pPr marL="248920">
              <a:lnSpc>
                <a:spcPct val="100000"/>
              </a:lnSpc>
              <a:spcBef>
                <a:spcPts val="105"/>
              </a:spcBef>
            </a:pPr>
            <a:r>
              <a:rPr b="1" spc="-100" dirty="0">
                <a:solidFill>
                  <a:srgbClr val="000000"/>
                </a:solidFill>
                <a:latin typeface="Arial"/>
                <a:cs typeface="Arial"/>
              </a:rPr>
              <a:t>SPACE</a:t>
            </a:r>
            <a:r>
              <a:rPr b="1" spc="-12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000000"/>
                </a:solidFill>
                <a:latin typeface="Arial"/>
                <a:cs typeface="Arial"/>
              </a:rPr>
              <a:t>&amp;</a:t>
            </a:r>
            <a:r>
              <a:rPr b="1" spc="-1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1" spc="-45" dirty="0">
                <a:solidFill>
                  <a:srgbClr val="000000"/>
                </a:solidFill>
                <a:latin typeface="Arial"/>
                <a:cs typeface="Arial"/>
              </a:rPr>
              <a:t>TIME</a:t>
            </a:r>
            <a:r>
              <a:rPr b="1" spc="-1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1" spc="-50" dirty="0">
                <a:solidFill>
                  <a:srgbClr val="000000"/>
                </a:solidFill>
                <a:latin typeface="Arial"/>
                <a:cs typeface="Arial"/>
              </a:rPr>
              <a:t>COMPLEXITIES</a:t>
            </a:r>
          </a:p>
        </p:txBody>
      </p:sp>
    </p:spTree>
    <p:extLst>
      <p:ext uri="{BB962C8B-B14F-4D97-AF65-F5344CB8AC3E}">
        <p14:creationId xmlns:p14="http://schemas.microsoft.com/office/powerpoint/2010/main" val="5412722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Time Complexity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371600"/>
            <a:ext cx="8229600" cy="456565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defRPr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It may be useful to time how long an algorithm takes to run</a:t>
            </a:r>
          </a:p>
          <a:p>
            <a:pPr lvl="1" eaLnBrk="1" hangingPunct="1">
              <a:defRPr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In some cases it may be </a:t>
            </a:r>
            <a:r>
              <a:rPr lang="en-US" sz="2800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essential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to know how long an algorithm takes on some system</a:t>
            </a:r>
          </a:p>
          <a:p>
            <a:pPr lvl="2" eaLnBrk="1" hangingPunct="1">
              <a:defRPr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e.g. air traffic control systems</a:t>
            </a:r>
          </a:p>
          <a:p>
            <a:pPr lvl="2" eaLnBrk="1" hangingPunct="1">
              <a:defRPr/>
            </a:pPr>
            <a:endParaRPr lang="en-US" sz="2800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eaLnBrk="1" hangingPunct="1">
              <a:defRPr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But, </a:t>
            </a:r>
            <a:r>
              <a:rPr lang="en-US" sz="2800" b="1" dirty="0">
                <a:solidFill>
                  <a:srgbClr val="0000CC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is this a good </a:t>
            </a:r>
            <a:r>
              <a:rPr lang="en-US" sz="2800" b="1" dirty="0">
                <a:solidFill>
                  <a:srgbClr val="C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general</a:t>
            </a:r>
            <a:r>
              <a:rPr lang="en-US" sz="2800" b="1" dirty="0">
                <a:solidFill>
                  <a:srgbClr val="0000CC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2800" b="1" dirty="0">
                <a:solidFill>
                  <a:srgbClr val="C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comparison</a:t>
            </a:r>
            <a:r>
              <a:rPr lang="en-US" sz="2800" b="1" dirty="0">
                <a:solidFill>
                  <a:srgbClr val="0000CC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method?</a:t>
            </a:r>
          </a:p>
          <a:p>
            <a:pPr eaLnBrk="1" hangingPunct="1">
              <a:defRPr/>
            </a:pPr>
            <a:endParaRPr lang="en-US" sz="2800" b="1" dirty="0">
              <a:solidFill>
                <a:srgbClr val="0000CC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eaLnBrk="1" hangingPunct="1">
              <a:defRPr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Running time is affected by a number of factors other than algorithm efficiency</a:t>
            </a:r>
          </a:p>
        </p:txBody>
      </p:sp>
      <p:sp>
        <p:nvSpPr>
          <p:cNvPr id="10245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781800" y="6324600"/>
            <a:ext cx="1905000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fld id="{65A87C53-C78D-4E5C-BFB0-BCC69B5C6ECF}" type="slidenum">
              <a:rPr lang="en-US" smtClean="0"/>
              <a:pPr/>
              <a:t>28</a:t>
            </a:fld>
            <a:endParaRPr lang="en-US" dirty="0"/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-76200"/>
            <a:ext cx="7620000" cy="838200"/>
          </a:xfrm>
        </p:spPr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CA" b="1" dirty="0">
                <a:solidFill>
                  <a:schemeClr val="tx1"/>
                </a:solidFill>
              </a:rPr>
              <a:t>Running Time is Affected By</a:t>
            </a: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>
          <a:xfrm>
            <a:off x="668977" y="914400"/>
            <a:ext cx="7620000" cy="4373563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CPU speed</a:t>
            </a:r>
          </a:p>
          <a:p>
            <a:pPr eaLnBrk="1" hangingPunct="1">
              <a:defRPr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Amount of main memory</a:t>
            </a:r>
          </a:p>
          <a:p>
            <a:pPr eaLnBrk="1" hangingPunct="1">
              <a:defRPr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Specialized hardware (e.g. graphics card)</a:t>
            </a:r>
          </a:p>
          <a:p>
            <a:pPr eaLnBrk="1" hangingPunct="1">
              <a:defRPr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Operating system</a:t>
            </a:r>
          </a:p>
          <a:p>
            <a:pPr eaLnBrk="1" hangingPunct="1">
              <a:defRPr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System configuration (e.g. virtual memory)</a:t>
            </a:r>
          </a:p>
          <a:p>
            <a:pPr eaLnBrk="1" hangingPunct="1">
              <a:defRPr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Programming language</a:t>
            </a:r>
          </a:p>
          <a:p>
            <a:pPr eaLnBrk="1" hangingPunct="1">
              <a:defRPr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Algorithm implementation </a:t>
            </a:r>
          </a:p>
          <a:p>
            <a:pPr eaLnBrk="1" hangingPunct="1">
              <a:defRPr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Other programs</a:t>
            </a:r>
          </a:p>
          <a:p>
            <a:pPr eaLnBrk="1" hangingPunct="1">
              <a:defRPr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System tasks (e.g. memory management)</a:t>
            </a:r>
          </a:p>
          <a:p>
            <a:pPr eaLnBrk="1" hangingPunct="1">
              <a:defRPr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…</a:t>
            </a:r>
          </a:p>
          <a:p>
            <a:pPr eaLnBrk="1" hangingPunct="1">
              <a:defRPr/>
            </a:pPr>
            <a:endParaRPr lang="en-CA" sz="2800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1269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6858000" y="6324600"/>
            <a:ext cx="1905000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fld id="{6410FE17-B1B2-4B1A-90B3-602DE57255FA}" type="slidenum">
              <a:rPr lang="en-US" smtClean="0"/>
              <a:pPr/>
              <a:t>29</a:t>
            </a:fld>
            <a:endParaRPr lang="en-US" dirty="0"/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-76200"/>
            <a:ext cx="7620000" cy="838200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Time Complexity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685800"/>
            <a:ext cx="8229600" cy="5410200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Instead of </a:t>
            </a:r>
            <a:r>
              <a:rPr lang="en-US" sz="2800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timing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an algorithm, </a:t>
            </a:r>
            <a:r>
              <a:rPr lang="en-US" sz="2800" i="1" dirty="0">
                <a:solidFill>
                  <a:srgbClr val="C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count</a:t>
            </a:r>
            <a:r>
              <a:rPr lang="en-US" sz="2800" dirty="0">
                <a:solidFill>
                  <a:srgbClr val="C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the number of instructions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that it performs</a:t>
            </a:r>
          </a:p>
          <a:p>
            <a:pPr eaLnBrk="1" hangingPunct="1">
              <a:defRPr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The number of instructions performed may vary based on</a:t>
            </a:r>
          </a:p>
          <a:p>
            <a:pPr lvl="1">
              <a:defRPr/>
            </a:pPr>
            <a:r>
              <a:rPr lang="en-US" sz="2800" b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The size of the input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– </a:t>
            </a:r>
            <a:r>
              <a:rPr lang="en-US" sz="2800" i="1" dirty="0">
                <a:solidFill>
                  <a:srgbClr val="C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ex,</a:t>
            </a:r>
            <a:r>
              <a:rPr lang="en-US" sz="2800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2800" i="1" dirty="0">
                <a:solidFill>
                  <a:srgbClr val="0000CC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multiply two matrixes, </a:t>
            </a:r>
            <a:r>
              <a:rPr lang="en-US" sz="2800" i="1" u="sng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though not always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– </a:t>
            </a:r>
            <a:r>
              <a:rPr lang="en-US" sz="2800" i="1" dirty="0">
                <a:solidFill>
                  <a:srgbClr val="C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ex,</a:t>
            </a:r>
            <a:r>
              <a:rPr lang="en-US" sz="2800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2800" i="1" dirty="0">
                <a:solidFill>
                  <a:srgbClr val="0000CC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find binary representation of a decimal number. 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Almost all algorithms run longer on larger inputs. </a:t>
            </a:r>
            <a:endParaRPr lang="en-US" sz="2800" i="1" dirty="0">
              <a:solidFill>
                <a:srgbClr val="0000CC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lvl="1">
              <a:defRPr/>
            </a:pPr>
            <a:r>
              <a:rPr lang="en-US" sz="2800" b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The organization of the input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– </a:t>
            </a:r>
            <a:r>
              <a:rPr lang="en-US" sz="2800" i="1" dirty="0">
                <a:solidFill>
                  <a:srgbClr val="C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ex,</a:t>
            </a:r>
            <a:r>
              <a:rPr lang="en-US" sz="2800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2800" i="1" dirty="0">
                <a:solidFill>
                  <a:srgbClr val="0000CC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consider searching a large array, If the target is the first item in the array the search will be very quick</a:t>
            </a:r>
          </a:p>
          <a:p>
            <a:pPr marL="0" lvl="1" indent="0">
              <a:spcAft>
                <a:spcPts val="600"/>
              </a:spcAft>
              <a:buClrTx/>
              <a:buNone/>
              <a:defRPr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The number of instructions can be written as a cost function on the input, e</a:t>
            </a:r>
            <a:r>
              <a:rPr lang="en-AU" sz="2800" dirty="0" err="1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xpressed</a:t>
            </a:r>
            <a:r>
              <a:rPr lang="en-AU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as T(n).</a:t>
            </a:r>
          </a:p>
          <a:p>
            <a:pPr eaLnBrk="1" hangingPunct="1">
              <a:defRPr/>
            </a:pPr>
            <a:endParaRPr lang="en-US" sz="2800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2293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858000" y="6400800"/>
            <a:ext cx="1905000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fld id="{956D8C79-F110-47C6-894A-1A0B1D026FC0}" type="slidenum">
              <a:rPr lang="en-US" smtClean="0"/>
              <a:pPr/>
              <a:t>30</a:t>
            </a:fld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57209" y="6384137"/>
            <a:ext cx="22352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400" spc="-25" dirty="0">
                <a:solidFill>
                  <a:srgbClr val="959595"/>
                </a:solidFill>
                <a:latin typeface="Arial MT"/>
                <a:cs typeface="Arial MT"/>
                <a:hlinkClick r:id="rId2" action="ppaction://hlinksldjump"/>
              </a:rPr>
              <a:t>2</a:t>
            </a:r>
            <a:r>
              <a:rPr sz="1400" spc="-25" dirty="0">
                <a:solidFill>
                  <a:srgbClr val="959595"/>
                </a:solidFill>
                <a:latin typeface="Arial MT"/>
                <a:cs typeface="Arial MT"/>
                <a:hlinkClick r:id="rId2" action="ppaction://hlinksldjump"/>
              </a:rPr>
              <a:t>8</a:t>
            </a:r>
            <a:endParaRPr sz="140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3444" y="1777949"/>
            <a:ext cx="7473950" cy="2954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72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469265" algn="l"/>
                <a:tab pos="469900" algn="l"/>
              </a:tabLst>
            </a:pPr>
            <a:r>
              <a:rPr lang="en-US" sz="2400" dirty="0">
                <a:latin typeface="Segoe UI"/>
                <a:cs typeface="Segoe UI"/>
              </a:rPr>
              <a:t>The number of operations can be written as a cost function, e</a:t>
            </a:r>
            <a:r>
              <a:rPr sz="2400" dirty="0">
                <a:latin typeface="Segoe UI"/>
                <a:cs typeface="Segoe UI"/>
              </a:rPr>
              <a:t>xpressed</a:t>
            </a:r>
            <a:r>
              <a:rPr sz="2400" spc="-3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as</a:t>
            </a:r>
            <a:r>
              <a:rPr sz="2400" spc="-45" dirty="0">
                <a:latin typeface="Segoe UI"/>
                <a:cs typeface="Segoe UI"/>
              </a:rPr>
              <a:t> </a:t>
            </a:r>
            <a:r>
              <a:rPr sz="2400" dirty="0">
                <a:solidFill>
                  <a:srgbClr val="FF3300"/>
                </a:solidFill>
                <a:latin typeface="Segoe UI"/>
                <a:cs typeface="Segoe UI"/>
              </a:rPr>
              <a:t>T(n)</a:t>
            </a:r>
            <a:r>
              <a:rPr sz="2400" spc="5" dirty="0">
                <a:solidFill>
                  <a:srgbClr val="FF3300"/>
                </a:solidFill>
                <a:latin typeface="Segoe UI"/>
                <a:cs typeface="Segoe UI"/>
              </a:rPr>
              <a:t> </a:t>
            </a:r>
            <a:endParaRPr lang="en-US" sz="2400" spc="5" dirty="0">
              <a:solidFill>
                <a:srgbClr val="FF3300"/>
              </a:solidFill>
              <a:latin typeface="Segoe UI"/>
              <a:cs typeface="Segoe UI"/>
            </a:endParaRPr>
          </a:p>
          <a:p>
            <a:pPr marL="469265" indent="-4572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469265" algn="l"/>
                <a:tab pos="469900" algn="l"/>
              </a:tabLst>
            </a:pPr>
            <a:endParaRPr lang="en-US" sz="2400" spc="5" dirty="0">
              <a:solidFill>
                <a:srgbClr val="FF3300"/>
              </a:solidFill>
              <a:latin typeface="Segoe UI"/>
              <a:cs typeface="Segoe UI"/>
            </a:endParaRPr>
          </a:p>
          <a:p>
            <a:pPr marL="469265" indent="-4572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469265" algn="l"/>
                <a:tab pos="469900" algn="l"/>
              </a:tabLst>
            </a:pPr>
            <a:r>
              <a:rPr lang="en-US" sz="2400" spc="5" dirty="0">
                <a:solidFill>
                  <a:srgbClr val="FF3300"/>
                </a:solidFill>
                <a:latin typeface="Segoe UI"/>
                <a:cs typeface="Segoe UI"/>
              </a:rPr>
              <a:t>T(n) </a:t>
            </a:r>
            <a:r>
              <a:rPr sz="2400" dirty="0">
                <a:latin typeface="Segoe UI"/>
                <a:cs typeface="Segoe UI"/>
              </a:rPr>
              <a:t>=</a:t>
            </a:r>
            <a:r>
              <a:rPr lang="en-US" sz="2400" dirty="0">
                <a:latin typeface="Segoe UI"/>
                <a:cs typeface="Segoe UI"/>
              </a:rPr>
              <a:t>&gt;</a:t>
            </a:r>
            <a:r>
              <a:rPr sz="2400" spc="-1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number</a:t>
            </a:r>
            <a:r>
              <a:rPr sz="2400" spc="-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of</a:t>
            </a:r>
            <a:r>
              <a:rPr sz="2400" spc="-1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operations</a:t>
            </a:r>
            <a:r>
              <a:rPr sz="2400" spc="-5" dirty="0">
                <a:latin typeface="Segoe UI"/>
                <a:cs typeface="Segoe UI"/>
              </a:rPr>
              <a:t> </a:t>
            </a:r>
            <a:r>
              <a:rPr sz="2400" spc="-10" dirty="0">
                <a:latin typeface="Segoe UI"/>
                <a:cs typeface="Segoe UI"/>
              </a:rPr>
              <a:t>required.</a:t>
            </a:r>
            <a:endParaRPr sz="24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Wingdings"/>
              <a:buChar char=""/>
            </a:pPr>
            <a:endParaRPr sz="2150" dirty="0">
              <a:latin typeface="Segoe UI"/>
              <a:cs typeface="Segoe UI"/>
            </a:endParaRPr>
          </a:p>
          <a:p>
            <a:pPr marL="469265" indent="-457200">
              <a:lnSpc>
                <a:spcPct val="100000"/>
              </a:lnSpc>
              <a:buFont typeface="Wingdings"/>
              <a:buChar char=""/>
              <a:tabLst>
                <a:tab pos="469265" algn="l"/>
                <a:tab pos="469900" algn="l"/>
              </a:tabLst>
            </a:pPr>
            <a:r>
              <a:rPr sz="2400" dirty="0">
                <a:solidFill>
                  <a:srgbClr val="FF0000"/>
                </a:solidFill>
                <a:latin typeface="Segoe UI"/>
                <a:cs typeface="Segoe UI"/>
              </a:rPr>
              <a:t>n</a:t>
            </a:r>
            <a:r>
              <a:rPr sz="2400" spc="-5" dirty="0">
                <a:latin typeface="Segoe UI"/>
                <a:cs typeface="Segoe UI"/>
              </a:rPr>
              <a:t> </a:t>
            </a:r>
            <a:r>
              <a:rPr lang="en-US" sz="2400" dirty="0">
                <a:latin typeface="Segoe UI"/>
                <a:cs typeface="Segoe UI"/>
              </a:rPr>
              <a:t>=&gt;</a:t>
            </a:r>
            <a:r>
              <a:rPr sz="2400" spc="-10" dirty="0">
                <a:latin typeface="Segoe UI"/>
                <a:cs typeface="Segoe U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the</a:t>
            </a:r>
            <a:r>
              <a:rPr sz="2400" u="sng" spc="-5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Problem </a:t>
            </a: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Size</a:t>
            </a:r>
            <a:endParaRPr sz="2400" dirty="0">
              <a:latin typeface="Segoe UI"/>
              <a:cs typeface="Segoe UI"/>
            </a:endParaRPr>
          </a:p>
          <a:p>
            <a:pPr marL="469265" marR="5080">
              <a:lnSpc>
                <a:spcPct val="100000"/>
              </a:lnSpc>
            </a:pPr>
            <a:r>
              <a:rPr lang="en-US" sz="2400" dirty="0">
                <a:latin typeface="Segoe UI"/>
                <a:cs typeface="Segoe UI"/>
              </a:rPr>
              <a:t>it</a:t>
            </a:r>
            <a:r>
              <a:rPr sz="2400" dirty="0">
                <a:latin typeface="Segoe UI"/>
                <a:cs typeface="Segoe UI"/>
              </a:rPr>
              <a:t> could</a:t>
            </a:r>
            <a:r>
              <a:rPr sz="2400" spc="2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be</a:t>
            </a:r>
            <a:r>
              <a:rPr sz="2400" spc="-1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the</a:t>
            </a:r>
            <a:r>
              <a:rPr sz="2400" spc="-1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number of</a:t>
            </a:r>
            <a:r>
              <a:rPr sz="2400" spc="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specific</a:t>
            </a:r>
            <a:r>
              <a:rPr sz="2400" spc="-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operations,</a:t>
            </a:r>
            <a:r>
              <a:rPr sz="2400" spc="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or</a:t>
            </a:r>
            <a:r>
              <a:rPr sz="2400" spc="5" dirty="0">
                <a:latin typeface="Segoe UI"/>
                <a:cs typeface="Segoe UI"/>
              </a:rPr>
              <a:t> </a:t>
            </a:r>
            <a:r>
              <a:rPr sz="2400" spc="-25" dirty="0">
                <a:latin typeface="Segoe UI"/>
                <a:cs typeface="Segoe UI"/>
              </a:rPr>
              <a:t>the </a:t>
            </a:r>
            <a:r>
              <a:rPr sz="2400" dirty="0">
                <a:latin typeface="Segoe UI"/>
                <a:cs typeface="Segoe UI"/>
              </a:rPr>
              <a:t>size</a:t>
            </a:r>
            <a:r>
              <a:rPr sz="2400" spc="-1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of data</a:t>
            </a:r>
            <a:r>
              <a:rPr sz="2400" spc="-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(e.g.</a:t>
            </a:r>
            <a:r>
              <a:rPr sz="2400" spc="-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an array)</a:t>
            </a:r>
            <a:r>
              <a:rPr sz="2400" spc="-1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or </a:t>
            </a:r>
            <a:r>
              <a:rPr sz="2400" spc="-10" dirty="0">
                <a:latin typeface="Segoe UI"/>
                <a:cs typeface="Segoe UI"/>
              </a:rPr>
              <a:t>both.</a:t>
            </a:r>
            <a:endParaRPr sz="2400" dirty="0">
              <a:latin typeface="Segoe UI"/>
              <a:cs typeface="Segoe U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01015" rIns="0" bIns="0" rtlCol="0">
            <a:spAutoFit/>
          </a:bodyPr>
          <a:lstStyle/>
          <a:p>
            <a:pPr marL="248920">
              <a:lnSpc>
                <a:spcPct val="100000"/>
              </a:lnSpc>
              <a:spcBef>
                <a:spcPts val="105"/>
              </a:spcBef>
            </a:pPr>
            <a:r>
              <a:rPr spc="-45" dirty="0">
                <a:solidFill>
                  <a:srgbClr val="000000"/>
                </a:solidFill>
              </a:rPr>
              <a:t>TIME</a:t>
            </a:r>
            <a:r>
              <a:rPr spc="-150" dirty="0">
                <a:solidFill>
                  <a:srgbClr val="000000"/>
                </a:solidFill>
              </a:rPr>
              <a:t> </a:t>
            </a:r>
            <a:r>
              <a:rPr spc="-55" dirty="0">
                <a:solidFill>
                  <a:srgbClr val="000000"/>
                </a:solidFill>
              </a:rPr>
              <a:t>COMPLEXITY</a:t>
            </a:r>
          </a:p>
        </p:txBody>
      </p:sp>
    </p:spTree>
    <p:extLst>
      <p:ext uri="{BB962C8B-B14F-4D97-AF65-F5344CB8AC3E}">
        <p14:creationId xmlns:p14="http://schemas.microsoft.com/office/powerpoint/2010/main" val="24657611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077201" y="6356352"/>
            <a:ext cx="457200" cy="3651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B5AF006-4068-4956-BBE0-CE3567E11DD6}" type="slidenum">
              <a:rPr lang="en-GB" sz="1400" b="0" smtClean="0">
                <a:solidFill>
                  <a:schemeClr val="bg2"/>
                </a:solidFill>
              </a:rPr>
              <a:pPr eaLnBrk="1" hangingPunct="1"/>
              <a:t>32</a:t>
            </a:fld>
            <a:endParaRPr lang="en-GB" sz="1400" b="0">
              <a:solidFill>
                <a:schemeClr val="bg2"/>
              </a:solidFill>
            </a:endParaRPr>
          </a:p>
        </p:txBody>
      </p:sp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-381000"/>
            <a:ext cx="7339012" cy="1239837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>
                <a:solidFill>
                  <a:schemeClr val="tx1"/>
                </a:solidFill>
              </a:rPr>
              <a:t>Number of Operations</a:t>
            </a:r>
          </a:p>
        </p:txBody>
      </p:sp>
      <p:sp>
        <p:nvSpPr>
          <p:cNvPr id="1946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382000" cy="5105400"/>
          </a:xfrm>
          <a:noFill/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0000CC"/>
                </a:solidFill>
                <a:latin typeface="Segoe UI" pitchFamily="34" charset="0"/>
                <a:ea typeface="Segoe UI" pitchFamily="34" charset="0"/>
                <a:cs typeface="Segoe UI" pitchFamily="34" charset="0"/>
                <a:sym typeface="Symbol" pitchFamily="18" charset="2"/>
              </a:rPr>
              <a:t>We measure </a:t>
            </a:r>
            <a:r>
              <a:rPr lang="en-US" sz="2800" b="1" dirty="0">
                <a:solidFill>
                  <a:srgbClr val="0000CC"/>
                </a:solidFill>
                <a:latin typeface="Segoe UI" pitchFamily="34" charset="0"/>
                <a:ea typeface="Segoe UI" pitchFamily="34" charset="0"/>
                <a:cs typeface="Segoe UI" pitchFamily="34" charset="0"/>
                <a:sym typeface="Symbol" pitchFamily="18" charset="2"/>
              </a:rPr>
              <a:t>T(n)</a:t>
            </a:r>
            <a:r>
              <a:rPr lang="en-US" sz="2800" dirty="0">
                <a:solidFill>
                  <a:srgbClr val="0000CC"/>
                </a:solidFill>
                <a:latin typeface="Segoe UI" pitchFamily="34" charset="0"/>
                <a:ea typeface="Segoe UI" pitchFamily="34" charset="0"/>
                <a:cs typeface="Segoe UI" pitchFamily="34" charset="0"/>
                <a:sym typeface="Symbol" pitchFamily="18" charset="2"/>
              </a:rPr>
              <a:t>  of an algorithm by counting the number of operations.</a:t>
            </a:r>
          </a:p>
          <a:p>
            <a:pPr marL="361950" indent="-361950" eaLnBrk="1" hangingPunct="1">
              <a:buFont typeface="Arial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  <a:sym typeface="Symbol" pitchFamily="18" charset="2"/>
              </a:rPr>
              <a:t>Each "simple" operation (+, -, =, &lt;, &gt;=) is one operation. </a:t>
            </a:r>
          </a:p>
          <a:p>
            <a:pPr marL="361950" indent="-361950" eaLnBrk="1" hangingPunct="1">
              <a:buFont typeface="Arial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  <a:sym typeface="Symbol" pitchFamily="18" charset="2"/>
              </a:rPr>
              <a:t>Loops and function calls are </a:t>
            </a:r>
            <a:r>
              <a:rPr lang="en-US" sz="2800" b="1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  <a:sym typeface="Symbol" pitchFamily="18" charset="2"/>
              </a:rPr>
              <a:t>not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  <a:sym typeface="Symbol" pitchFamily="18" charset="2"/>
              </a:rPr>
              <a:t> simple operations, but depend upon the size of the data and the contents of a function. We do not want </a:t>
            </a:r>
            <a:r>
              <a:rPr lang="en-US" sz="2800" b="1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  <a:sym typeface="Symbol" pitchFamily="18" charset="2"/>
              </a:rPr>
              <a:t>”sort''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  <a:sym typeface="Symbol" pitchFamily="18" charset="2"/>
              </a:rPr>
              <a:t> to be a single step operation. </a:t>
            </a:r>
          </a:p>
          <a:p>
            <a:pPr marL="361950" indent="-361950" eaLnBrk="1" hangingPunct="1">
              <a:buFont typeface="Arial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  <a:sym typeface="Symbol" pitchFamily="18" charset="2"/>
              </a:rPr>
              <a:t>Each memory access is one operation. </a:t>
            </a:r>
          </a:p>
        </p:txBody>
      </p:sp>
    </p:spTree>
    <p:extLst>
      <p:ext uri="{BB962C8B-B14F-4D97-AF65-F5344CB8AC3E}">
        <p14:creationId xmlns:p14="http://schemas.microsoft.com/office/powerpoint/2010/main" val="3338988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2"/>
          <p:cNvSpPr>
            <a:spLocks noChangeArrowheads="1"/>
          </p:cNvSpPr>
          <p:nvPr/>
        </p:nvSpPr>
        <p:spPr bwMode="auto">
          <a:xfrm>
            <a:off x="381000" y="762000"/>
            <a:ext cx="6324600" cy="3581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0485" name="Rectangle 3"/>
          <p:cNvSpPr>
            <a:spLocks noChangeArrowheads="1"/>
          </p:cNvSpPr>
          <p:nvPr/>
        </p:nvSpPr>
        <p:spPr bwMode="auto">
          <a:xfrm>
            <a:off x="457200" y="762000"/>
            <a:ext cx="8229600" cy="4462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28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Algorithm factorial (n)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28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{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28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	f = 1;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28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	if ( n &gt; 0 )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28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		for (i = 1 to n) 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28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			 f  = f * i ;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28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	return f ;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28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}</a:t>
            </a:r>
          </a:p>
          <a:p>
            <a:pPr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sz="2800" b="0" dirty="0">
              <a:solidFill>
                <a:srgbClr val="A5002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3200" b="1" spc="3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Then,</a:t>
            </a:r>
            <a:r>
              <a:rPr lang="en-US" sz="3200" b="1" spc="300" dirty="0">
                <a:solidFill>
                  <a:srgbClr val="A5002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				T(n) =</a:t>
            </a:r>
          </a:p>
        </p:txBody>
      </p:sp>
      <p:sp>
        <p:nvSpPr>
          <p:cNvPr id="20483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858000" y="6356352"/>
            <a:ext cx="457200" cy="3651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0C02B76-5DC2-4C49-8E16-577E6C7DD882}" type="slidenum">
              <a:rPr lang="en-GB" sz="1400" b="0" smtClean="0"/>
              <a:pPr eaLnBrk="1" hangingPunct="1"/>
              <a:t>33</a:t>
            </a:fld>
            <a:endParaRPr lang="en-GB" sz="1400" b="0" dirty="0"/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533400" y="-152400"/>
            <a:ext cx="7239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sz="3200" dirty="0">
                <a:latin typeface="+mn-lt"/>
              </a:rPr>
              <a:t>Example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7010400" y="762000"/>
            <a:ext cx="1143000" cy="4648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t" anchorCtr="0"/>
          <a:lstStyle/>
          <a:p>
            <a:endParaRPr lang="en-US" sz="28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endParaRPr lang="en-US" sz="28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algn="ctr"/>
            <a:r>
              <a:rPr 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1</a:t>
            </a:r>
          </a:p>
          <a:p>
            <a:pPr algn="ctr"/>
            <a:r>
              <a:rPr 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1</a:t>
            </a:r>
          </a:p>
          <a:p>
            <a:pPr algn="ctr"/>
            <a:r>
              <a:rPr 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n+1</a:t>
            </a:r>
          </a:p>
          <a:p>
            <a:pPr algn="ctr"/>
            <a:r>
              <a:rPr 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n</a:t>
            </a:r>
          </a:p>
          <a:p>
            <a:pPr algn="ctr"/>
            <a:r>
              <a:rPr 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1</a:t>
            </a:r>
          </a:p>
          <a:p>
            <a:pPr algn="ctr"/>
            <a:endParaRPr lang="en-US" sz="1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algn="ctr"/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-------</a:t>
            </a:r>
          </a:p>
          <a:p>
            <a:pPr algn="ctr"/>
            <a:endParaRPr lang="en-US" sz="1400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algn="ctr"/>
            <a:r>
              <a:rPr lang="en-US" sz="32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2n+4</a:t>
            </a:r>
            <a:endParaRPr lang="ar-EG" sz="3200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2438400" y="1905000"/>
            <a:ext cx="4876800" cy="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3276600" y="2362200"/>
            <a:ext cx="4038600" cy="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4800600" y="2743200"/>
            <a:ext cx="2362200" cy="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4953000" y="3200400"/>
            <a:ext cx="2362200" cy="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3048000" y="3581400"/>
            <a:ext cx="4267200" cy="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1127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0" dur="500"/>
                                        <p:tgtEl>
                                          <p:spTgt spid="2048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allAtOnce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Time Complexity</a:t>
            </a:r>
            <a:endParaRPr lang="ar-E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977" y="1143000"/>
            <a:ext cx="7620000" cy="4373563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It can be difficult to determine the exact number of operations performed by an algorithm, </a:t>
            </a:r>
            <a:r>
              <a:rPr lang="en-US" sz="2800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Though it is often still useful to do so</a:t>
            </a:r>
          </a:p>
          <a:p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An alternative to counting all instructions is to focus on an algorithm's </a:t>
            </a:r>
            <a:r>
              <a:rPr lang="en-US" altLang="en-US" sz="2800" i="1" u="sng" dirty="0">
                <a:solidFill>
                  <a:srgbClr val="C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basic operation</a:t>
            </a:r>
            <a:r>
              <a:rPr lang="en-US" altLang="en-US" sz="2800" i="1" u="sng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</a:t>
            </a:r>
          </a:p>
          <a:p>
            <a:pPr lvl="1"/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The </a:t>
            </a:r>
            <a:r>
              <a:rPr lang="en-US" altLang="en-US" sz="2800" i="1" u="sng" dirty="0">
                <a:solidFill>
                  <a:srgbClr val="C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basic operation 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is the instruction that is executed the most number of times in an algorithm</a:t>
            </a:r>
          </a:p>
          <a:p>
            <a:pPr lvl="1"/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The number of times that the </a:t>
            </a:r>
            <a:r>
              <a:rPr lang="en-US" altLang="en-US" sz="2800" i="1" u="sng" dirty="0">
                <a:solidFill>
                  <a:srgbClr val="C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basic operation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is executed is usually proportional to its running time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2"/>
          <p:cNvSpPr>
            <a:spLocks noChangeArrowheads="1"/>
          </p:cNvSpPr>
          <p:nvPr/>
        </p:nvSpPr>
        <p:spPr bwMode="auto">
          <a:xfrm>
            <a:off x="381000" y="762000"/>
            <a:ext cx="6324600" cy="3581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0485" name="Rectangle 3"/>
          <p:cNvSpPr>
            <a:spLocks noChangeArrowheads="1"/>
          </p:cNvSpPr>
          <p:nvPr/>
        </p:nvSpPr>
        <p:spPr bwMode="auto">
          <a:xfrm>
            <a:off x="457200" y="762000"/>
            <a:ext cx="8229600" cy="4462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28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Algorithm factorial (n)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28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{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28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	f = 1;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28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	if ( n &gt; 0 )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28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		for (i = 1 to n) 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28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			 f  = f * i ;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28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	return f ;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28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}</a:t>
            </a:r>
          </a:p>
          <a:p>
            <a:pPr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sz="2800" b="0" dirty="0">
              <a:solidFill>
                <a:srgbClr val="A5002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3200" b="1" spc="3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Then, approximately</a:t>
            </a:r>
            <a:r>
              <a:rPr lang="en-US" sz="3200" b="1" spc="300" dirty="0">
                <a:solidFill>
                  <a:srgbClr val="A5002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	T(n) =</a:t>
            </a:r>
          </a:p>
        </p:txBody>
      </p:sp>
      <p:sp>
        <p:nvSpPr>
          <p:cNvPr id="20483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858000" y="6356352"/>
            <a:ext cx="457200" cy="3651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0C02B76-5DC2-4C49-8E16-577E6C7DD882}" type="slidenum">
              <a:rPr lang="en-GB" sz="1400" b="0" smtClean="0"/>
              <a:pPr eaLnBrk="1" hangingPunct="1"/>
              <a:t>35</a:t>
            </a:fld>
            <a:endParaRPr lang="en-GB" sz="1400" b="0" dirty="0"/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533400" y="-152400"/>
            <a:ext cx="7239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sz="3200" dirty="0">
                <a:latin typeface="+mn-lt"/>
              </a:rPr>
              <a:t>Example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7010400" y="762000"/>
            <a:ext cx="1143000" cy="4648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t" anchorCtr="0"/>
          <a:lstStyle/>
          <a:p>
            <a:endParaRPr lang="en-US" sz="28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endParaRPr lang="en-US" sz="28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algn="ctr"/>
            <a:endParaRPr lang="en-US" sz="28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algn="ctr"/>
            <a:endParaRPr lang="en-US" sz="28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algn="ctr"/>
            <a:endParaRPr lang="en-US" sz="28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algn="ctr"/>
            <a:r>
              <a:rPr 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n</a:t>
            </a:r>
          </a:p>
          <a:p>
            <a:pPr algn="ctr"/>
            <a:endParaRPr lang="en-US" sz="28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algn="ctr"/>
            <a:endParaRPr lang="en-US" sz="1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algn="ctr"/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-------</a:t>
            </a:r>
          </a:p>
          <a:p>
            <a:pPr algn="ctr"/>
            <a:endParaRPr lang="en-US" sz="1400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algn="ctr"/>
            <a:r>
              <a:rPr lang="en-US" sz="32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n</a:t>
            </a:r>
            <a:endParaRPr lang="ar-EG" sz="3200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4953000" y="3200400"/>
            <a:ext cx="2362200" cy="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Oval Callout 14"/>
          <p:cNvSpPr/>
          <p:nvPr/>
        </p:nvSpPr>
        <p:spPr>
          <a:xfrm>
            <a:off x="228600" y="1600200"/>
            <a:ext cx="3581400" cy="1066800"/>
          </a:xfrm>
          <a:prstGeom prst="wedgeEllipseCallout">
            <a:avLst>
              <a:gd name="adj1" fmla="val 35475"/>
              <a:gd name="adj2" fmla="val 87774"/>
            </a:avLst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marL="17463" indent="-17463" algn="ctr"/>
            <a:r>
              <a:rPr lang="en-US" sz="2800" b="1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basic operation</a:t>
            </a:r>
            <a:endParaRPr lang="ar-EG" sz="2800" b="1" dirty="0">
              <a:solidFill>
                <a:schemeClr val="accent3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81127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5" grpId="1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077201" y="6356352"/>
            <a:ext cx="457200" cy="3651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DDB7F7C-1626-406D-ADF5-0AAB61EC13D2}" type="slidenum">
              <a:rPr lang="en-GB" sz="1400" b="0" smtClean="0">
                <a:solidFill>
                  <a:schemeClr val="bg2"/>
                </a:solidFill>
              </a:rPr>
              <a:pPr eaLnBrk="1" hangingPunct="1"/>
              <a:t>36</a:t>
            </a:fld>
            <a:endParaRPr lang="en-GB" sz="1400" b="0">
              <a:solidFill>
                <a:schemeClr val="bg2"/>
              </a:solidFill>
            </a:endParaRPr>
          </a:p>
        </p:txBody>
      </p:sp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177801"/>
            <a:ext cx="7339012" cy="1239837"/>
          </a:xfrm>
        </p:spPr>
        <p:txBody>
          <a:bodyPr/>
          <a:lstStyle/>
          <a:p>
            <a:pPr eaLnBrk="1" hangingPunct="1">
              <a:defRPr/>
            </a:pPr>
            <a:r>
              <a:rPr lang="en-US" sz="3200" dirty="0">
                <a:solidFill>
                  <a:schemeClr val="tx1"/>
                </a:solidFill>
              </a:rPr>
              <a:t>Complexity of the Factorial Algorithm</a:t>
            </a:r>
          </a:p>
        </p:txBody>
      </p:sp>
      <p:sp>
        <p:nvSpPr>
          <p:cNvPr id="2150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66788" y="1600200"/>
            <a:ext cx="7339012" cy="4572000"/>
          </a:xfrm>
          <a:solidFill>
            <a:schemeClr val="bg1"/>
          </a:solidFill>
        </p:spPr>
        <p:txBody>
          <a:bodyPr>
            <a:norm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T(n) = n</a:t>
            </a:r>
            <a:endParaRPr lang="en-US" sz="2800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  <a:sym typeface="Symbol" pitchFamily="18" charset="2"/>
            </a:endParaRPr>
          </a:p>
        </p:txBody>
      </p:sp>
      <p:sp>
        <p:nvSpPr>
          <p:cNvPr id="21510" name="Line 4"/>
          <p:cNvSpPr>
            <a:spLocks noChangeShapeType="1"/>
          </p:cNvSpPr>
          <p:nvPr/>
        </p:nvSpPr>
        <p:spPr bwMode="auto">
          <a:xfrm flipV="1">
            <a:off x="2438400" y="2819400"/>
            <a:ext cx="0" cy="25146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11" name="Line 5"/>
          <p:cNvSpPr>
            <a:spLocks noChangeShapeType="1"/>
          </p:cNvSpPr>
          <p:nvPr/>
        </p:nvSpPr>
        <p:spPr bwMode="auto">
          <a:xfrm>
            <a:off x="2438400" y="5334000"/>
            <a:ext cx="4419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12" name="Text Box 6"/>
          <p:cNvSpPr txBox="1">
            <a:spLocks noChangeArrowheads="1"/>
          </p:cNvSpPr>
          <p:nvPr/>
        </p:nvSpPr>
        <p:spPr bwMode="auto">
          <a:xfrm>
            <a:off x="2498725" y="2525713"/>
            <a:ext cx="86433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dirty="0">
                <a:solidFill>
                  <a:srgbClr val="C00000"/>
                </a:solidFill>
              </a:rPr>
              <a:t>T(n</a:t>
            </a:r>
            <a:r>
              <a:rPr lang="en-US" b="0" dirty="0">
                <a:solidFill>
                  <a:srgbClr val="C00000"/>
                </a:solidFill>
              </a:rPr>
              <a:t>)</a:t>
            </a:r>
          </a:p>
        </p:txBody>
      </p:sp>
      <p:sp>
        <p:nvSpPr>
          <p:cNvPr id="21513" name="Text Box 7"/>
          <p:cNvSpPr txBox="1">
            <a:spLocks noChangeArrowheads="1"/>
          </p:cNvSpPr>
          <p:nvPr/>
        </p:nvSpPr>
        <p:spPr bwMode="auto">
          <a:xfrm>
            <a:off x="6689725" y="5268913"/>
            <a:ext cx="40427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>
                <a:solidFill>
                  <a:srgbClr val="C00000"/>
                </a:solidFill>
              </a:rPr>
              <a:t>n</a:t>
            </a:r>
          </a:p>
        </p:txBody>
      </p:sp>
      <p:sp>
        <p:nvSpPr>
          <p:cNvPr id="21514" name="Line 8"/>
          <p:cNvSpPr>
            <a:spLocks noChangeShapeType="1"/>
          </p:cNvSpPr>
          <p:nvPr/>
        </p:nvSpPr>
        <p:spPr bwMode="auto">
          <a:xfrm flipV="1">
            <a:off x="2438400" y="3124200"/>
            <a:ext cx="2895600" cy="2209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15" name="Text Box 9"/>
          <p:cNvSpPr txBox="1">
            <a:spLocks noChangeArrowheads="1"/>
          </p:cNvSpPr>
          <p:nvPr/>
        </p:nvSpPr>
        <p:spPr bwMode="auto">
          <a:xfrm>
            <a:off x="3733800" y="3505200"/>
            <a:ext cx="40427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n</a:t>
            </a:r>
            <a:endParaRPr lang="en-US" b="0" dirty="0">
              <a:solidFill>
                <a:srgbClr val="C00000"/>
              </a:solidFill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482373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858000" y="6324600"/>
            <a:ext cx="1905000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fld id="{28009035-39D0-44D1-94BD-A8919AC32E5D}" type="slidenum">
              <a:rPr lang="en-US" altLang="en-US" smtClean="0"/>
              <a:pPr/>
              <a:t>37</a:t>
            </a:fld>
            <a:endParaRPr lang="en-US" altLang="en-US" dirty="0"/>
          </a:p>
        </p:txBody>
      </p:sp>
      <p:sp>
        <p:nvSpPr>
          <p:cNvPr id="26726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685800"/>
            <a:ext cx="7588250" cy="6096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altLang="en-US" b="1" dirty="0">
                <a:solidFill>
                  <a:schemeClr val="tx1"/>
                </a:solidFill>
              </a:rPr>
              <a:t>Best-case, average-case, worst-case</a:t>
            </a:r>
          </a:p>
        </p:txBody>
      </p:sp>
      <p:sp>
        <p:nvSpPr>
          <p:cNvPr id="267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47825"/>
            <a:ext cx="8686800" cy="4905375"/>
          </a:xfrm>
        </p:spPr>
        <p:txBody>
          <a:bodyPr>
            <a:noAutofit/>
          </a:bodyPr>
          <a:lstStyle/>
          <a:p>
            <a:pPr marL="276225" indent="-276225">
              <a:buFont typeface="Arial" pitchFamily="34" charset="0"/>
              <a:buChar char="•"/>
              <a:defRPr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The efficiencies of some algorithms may differ significantly for inputs of the same size.</a:t>
            </a:r>
          </a:p>
          <a:p>
            <a:pPr marL="276225" indent="-276225">
              <a:buFont typeface="Arial" pitchFamily="34" charset="0"/>
              <a:buChar char="•"/>
              <a:defRPr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For such algorithms, we need to distinguish between the </a:t>
            </a:r>
            <a:r>
              <a:rPr lang="en-US" sz="2800" dirty="0">
                <a:solidFill>
                  <a:srgbClr val="C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worst-case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, </a:t>
            </a:r>
            <a:r>
              <a:rPr lang="en-US" sz="2800" dirty="0">
                <a:solidFill>
                  <a:srgbClr val="C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average-case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, and </a:t>
            </a:r>
            <a:r>
              <a:rPr lang="en-US" sz="2800" dirty="0">
                <a:solidFill>
                  <a:srgbClr val="C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best-case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efficiencies.</a:t>
            </a:r>
            <a:endParaRPr lang="en-US" altLang="en-US" sz="2800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marL="276225" indent="-276225">
              <a:buFont typeface="Arial" pitchFamily="34" charset="0"/>
              <a:buChar char="•"/>
              <a:defRPr/>
            </a:pPr>
            <a:r>
              <a:rPr lang="en-US" alt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Some algorithms are same for all three cases – </a:t>
            </a:r>
            <a:r>
              <a:rPr lang="en-US" altLang="en-US" sz="2800" i="1" dirty="0">
                <a:solidFill>
                  <a:srgbClr val="C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ex,</a:t>
            </a:r>
            <a:r>
              <a:rPr lang="en-US" alt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altLang="en-US" sz="2800" i="1" dirty="0">
                <a:solidFill>
                  <a:srgbClr val="0000CC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find the maximum value in an unsorted array.</a:t>
            </a:r>
          </a:p>
        </p:txBody>
      </p:sp>
    </p:spTree>
    <p:extLst>
      <p:ext uri="{BB962C8B-B14F-4D97-AF65-F5344CB8AC3E}">
        <p14:creationId xmlns:p14="http://schemas.microsoft.com/office/powerpoint/2010/main" val="22550978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077201" y="6356352"/>
            <a:ext cx="457200" cy="3651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B9E9807-9E4A-4C07-BA67-153613BCCD45}" type="slidenum">
              <a:rPr lang="en-GB" sz="1400" b="0" smtClean="0">
                <a:solidFill>
                  <a:schemeClr val="bg2"/>
                </a:solidFill>
              </a:rPr>
              <a:pPr eaLnBrk="1" hangingPunct="1"/>
              <a:t>38</a:t>
            </a:fld>
            <a:endParaRPr lang="en-GB" sz="1400" b="0" dirty="0">
              <a:solidFill>
                <a:schemeClr val="bg2"/>
              </a:solidFill>
            </a:endParaRPr>
          </a:p>
        </p:txBody>
      </p:sp>
      <p:sp>
        <p:nvSpPr>
          <p:cNvPr id="22532" name="Rectangle 2"/>
          <p:cNvSpPr>
            <a:spLocks noChangeArrowheads="1"/>
          </p:cNvSpPr>
          <p:nvPr/>
        </p:nvSpPr>
        <p:spPr bwMode="auto">
          <a:xfrm>
            <a:off x="914400" y="1295400"/>
            <a:ext cx="7467600" cy="3505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title"/>
          </p:nvPr>
        </p:nvSpPr>
        <p:spPr>
          <a:xfrm>
            <a:off x="914400" y="0"/>
            <a:ext cx="7339012" cy="1239837"/>
          </a:xfrm>
        </p:spPr>
        <p:txBody>
          <a:bodyPr lIns="90488" tIns="44450" rIns="90488" bIns="44450"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Example (2):</a:t>
            </a:r>
          </a:p>
        </p:txBody>
      </p:sp>
      <p:sp>
        <p:nvSpPr>
          <p:cNvPr id="2253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990600" y="1371600"/>
            <a:ext cx="7543800" cy="4343400"/>
          </a:xfrm>
          <a:noFill/>
        </p:spPr>
        <p:txBody>
          <a:bodyPr lIns="90488" tIns="44450" rIns="90488" bIns="44450">
            <a:no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Algorithm </a:t>
            </a:r>
            <a:r>
              <a:rPr lang="en-US" sz="2800" dirty="0" err="1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linearSearch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(a, key, n)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  for (i = 0 to n-1)</a:t>
            </a:r>
          </a:p>
          <a:p>
            <a:pPr lvl="2" eaLnBrk="1" hangingPunct="1">
              <a:buFont typeface="Wingdings" pitchFamily="2" charset="2"/>
              <a:buNone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if (a[i ]== key) return  i;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  return -1;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T(n) = number of array element comparisons.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800" b="1" u="sng" dirty="0">
                <a:solidFill>
                  <a:srgbClr val="C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Best case: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		T(n) = 1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800" b="1" u="sng" dirty="0">
                <a:solidFill>
                  <a:srgbClr val="C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Worst case:</a:t>
            </a:r>
            <a:r>
              <a:rPr lang="en-US" sz="2800" b="1" dirty="0">
                <a:solidFill>
                  <a:srgbClr val="C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	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T(n) = n</a:t>
            </a:r>
          </a:p>
          <a:p>
            <a:pPr eaLnBrk="1" hangingPunct="1">
              <a:buFont typeface="Wingdings" pitchFamily="2" charset="2"/>
              <a:buNone/>
            </a:pPr>
            <a:endParaRPr lang="en-US" sz="2800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sz="2800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9879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781800" y="6356352"/>
            <a:ext cx="457200" cy="3651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CCBD1E6-8DC1-4281-87A5-A08DFA1446F5}" type="slidenum">
              <a:rPr lang="en-GB" sz="1400" b="0" smtClean="0"/>
              <a:pPr eaLnBrk="1" hangingPunct="1"/>
              <a:t>39</a:t>
            </a:fld>
            <a:endParaRPr lang="en-GB" sz="1400" b="0" dirty="0"/>
          </a:p>
        </p:txBody>
      </p:sp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177801"/>
            <a:ext cx="7924800" cy="1239837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>
                <a:solidFill>
                  <a:schemeClr val="tx1"/>
                </a:solidFill>
              </a:rPr>
              <a:t>Complexity of the Linear Search Algorithm</a:t>
            </a:r>
          </a:p>
        </p:txBody>
      </p:sp>
      <p:sp>
        <p:nvSpPr>
          <p:cNvPr id="2355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981200"/>
            <a:ext cx="7772400" cy="4267200"/>
          </a:xfrm>
          <a:noFill/>
        </p:spPr>
        <p:txBody>
          <a:bodyPr>
            <a:norm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T(n) = 1 in the </a:t>
            </a:r>
            <a:r>
              <a:rPr lang="en-US" sz="2800" u="sng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best case.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T(n) = n in </a:t>
            </a:r>
            <a:r>
              <a:rPr lang="en-US" sz="2800" u="sng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the worst case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  <a:sym typeface="Symbol" pitchFamily="18" charset="2"/>
              </a:rPr>
              <a:t> </a:t>
            </a:r>
          </a:p>
        </p:txBody>
      </p:sp>
      <p:sp>
        <p:nvSpPr>
          <p:cNvPr id="23558" name="Line 4"/>
          <p:cNvSpPr>
            <a:spLocks noChangeShapeType="1"/>
          </p:cNvSpPr>
          <p:nvPr/>
        </p:nvSpPr>
        <p:spPr bwMode="auto">
          <a:xfrm flipV="1">
            <a:off x="2438400" y="3505200"/>
            <a:ext cx="0" cy="25146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559" name="Line 5"/>
          <p:cNvSpPr>
            <a:spLocks noChangeShapeType="1"/>
          </p:cNvSpPr>
          <p:nvPr/>
        </p:nvSpPr>
        <p:spPr bwMode="auto">
          <a:xfrm>
            <a:off x="2438400" y="6019800"/>
            <a:ext cx="4419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560" name="Text Box 6"/>
          <p:cNvSpPr txBox="1">
            <a:spLocks noChangeArrowheads="1"/>
          </p:cNvSpPr>
          <p:nvPr/>
        </p:nvSpPr>
        <p:spPr bwMode="auto">
          <a:xfrm>
            <a:off x="1600200" y="3429000"/>
            <a:ext cx="86433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dirty="0">
                <a:solidFill>
                  <a:srgbClr val="C00000"/>
                </a:solidFill>
              </a:rPr>
              <a:t>T(n</a:t>
            </a:r>
            <a:r>
              <a:rPr lang="en-US" b="0" dirty="0">
                <a:solidFill>
                  <a:srgbClr val="C00000"/>
                </a:solidFill>
              </a:rPr>
              <a:t>)</a:t>
            </a:r>
          </a:p>
        </p:txBody>
      </p:sp>
      <p:sp>
        <p:nvSpPr>
          <p:cNvPr id="23561" name="Text Box 7"/>
          <p:cNvSpPr txBox="1">
            <a:spLocks noChangeArrowheads="1"/>
          </p:cNvSpPr>
          <p:nvPr/>
        </p:nvSpPr>
        <p:spPr bwMode="auto">
          <a:xfrm>
            <a:off x="6858000" y="5791200"/>
            <a:ext cx="40427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>
                <a:solidFill>
                  <a:srgbClr val="C00000"/>
                </a:solidFill>
              </a:rPr>
              <a:t>n</a:t>
            </a:r>
          </a:p>
        </p:txBody>
      </p:sp>
      <p:sp>
        <p:nvSpPr>
          <p:cNvPr id="23562" name="Line 8"/>
          <p:cNvSpPr>
            <a:spLocks noChangeShapeType="1"/>
          </p:cNvSpPr>
          <p:nvPr/>
        </p:nvSpPr>
        <p:spPr bwMode="auto">
          <a:xfrm flipV="1">
            <a:off x="2667000" y="3810000"/>
            <a:ext cx="2667000" cy="19812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563" name="Text Box 9"/>
          <p:cNvSpPr txBox="1">
            <a:spLocks noChangeArrowheads="1"/>
          </p:cNvSpPr>
          <p:nvPr/>
        </p:nvSpPr>
        <p:spPr bwMode="auto">
          <a:xfrm>
            <a:off x="4191000" y="3736975"/>
            <a:ext cx="64472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(n)</a:t>
            </a:r>
          </a:p>
        </p:txBody>
      </p:sp>
      <p:sp>
        <p:nvSpPr>
          <p:cNvPr id="23564" name="Line 10"/>
          <p:cNvSpPr>
            <a:spLocks noChangeShapeType="1"/>
          </p:cNvSpPr>
          <p:nvPr/>
        </p:nvSpPr>
        <p:spPr bwMode="auto">
          <a:xfrm flipV="1">
            <a:off x="2590800" y="5562600"/>
            <a:ext cx="2895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565" name="Text Box 11"/>
          <p:cNvSpPr txBox="1">
            <a:spLocks noChangeArrowheads="1"/>
          </p:cNvSpPr>
          <p:nvPr/>
        </p:nvSpPr>
        <p:spPr bwMode="auto">
          <a:xfrm>
            <a:off x="5546725" y="5341938"/>
            <a:ext cx="62549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(1)</a:t>
            </a:r>
          </a:p>
        </p:txBody>
      </p:sp>
    </p:spTree>
    <p:extLst>
      <p:ext uri="{BB962C8B-B14F-4D97-AF65-F5344CB8AC3E}">
        <p14:creationId xmlns:p14="http://schemas.microsoft.com/office/powerpoint/2010/main" val="3714533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858000" y="6324600"/>
            <a:ext cx="1905000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fld id="{28009035-39D0-44D1-94BD-A8919AC32E5D}" type="slidenum">
              <a:rPr lang="en-US" altLang="en-US" smtClean="0"/>
              <a:pPr/>
              <a:t>40</a:t>
            </a:fld>
            <a:endParaRPr lang="en-US" altLang="en-US" dirty="0"/>
          </a:p>
        </p:txBody>
      </p:sp>
      <p:sp>
        <p:nvSpPr>
          <p:cNvPr id="26726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457200"/>
            <a:ext cx="7588250" cy="6096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altLang="en-US" b="1" dirty="0">
                <a:solidFill>
                  <a:schemeClr val="tx1"/>
                </a:solidFill>
              </a:rPr>
              <a:t>Best-case, average-case, worst-case</a:t>
            </a:r>
          </a:p>
        </p:txBody>
      </p:sp>
      <p:sp>
        <p:nvSpPr>
          <p:cNvPr id="267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686800" cy="4905375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altLang="en-US" sz="28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Average case </a:t>
            </a:r>
            <a:r>
              <a:rPr lang="en-US" alt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not easy to be computed</a:t>
            </a:r>
          </a:p>
          <a:p>
            <a:pPr lvl="1">
              <a:defRPr/>
            </a:pPr>
            <a:r>
              <a:rPr lang="en-US" alt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NOT the average of worst and best case</a:t>
            </a:r>
          </a:p>
          <a:p>
            <a:pPr lvl="1">
              <a:defRPr/>
            </a:pPr>
            <a:r>
              <a:rPr lang="en-US" alt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Expected number of basic operations considered as a random variable under some assumption about the probability distribution of all possible inputs of size n</a:t>
            </a:r>
          </a:p>
          <a:p>
            <a:pPr lvl="1">
              <a:defRPr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There are many important algorithms for which the average case efficiency is much better than the worst-case efficiency</a:t>
            </a:r>
            <a:endParaRPr lang="en-US" altLang="en-US" sz="2800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629400" y="6248400"/>
            <a:ext cx="533400" cy="4762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E2F7307-04A2-4941-8D2C-B76DC97EE9D5}" type="slidenum">
              <a:rPr lang="en-US" smtClean="0"/>
              <a:pPr eaLnBrk="1" hangingPunct="1"/>
              <a:t>41</a:t>
            </a:fld>
            <a:endParaRPr lang="en-US" dirty="0"/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74638"/>
            <a:ext cx="7924800" cy="715962"/>
          </a:xfrm>
        </p:spPr>
        <p:txBody>
          <a:bodyPr>
            <a:normAutofit/>
          </a:bodyPr>
          <a:lstStyle/>
          <a:p>
            <a:pPr eaLnBrk="1" hangingPunct="1"/>
            <a:r>
              <a:rPr lang="en-US" b="1" dirty="0">
                <a:solidFill>
                  <a:schemeClr val="tx1"/>
                </a:solidFill>
              </a:rPr>
              <a:t>Eight Growth Functions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143000"/>
            <a:ext cx="7696200" cy="4572000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Eight functions O(n) that occur frequently in the analysis of algorithms (in order of increasing rate of growth relative to n):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Constant 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  <a:sym typeface="Symbol" pitchFamily="18" charset="2"/>
              </a:rPr>
              <a:t> </a:t>
            </a:r>
            <a:r>
              <a:rPr lang="en-US" sz="2800" b="1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  <a:sym typeface="Symbol" pitchFamily="18" charset="2"/>
              </a:rPr>
              <a:t>1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Logarithmic 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  <a:sym typeface="Symbol" pitchFamily="18" charset="2"/>
              </a:rPr>
              <a:t> log </a:t>
            </a:r>
            <a:r>
              <a:rPr lang="en-US" sz="2800" b="1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  <a:sym typeface="Symbol" pitchFamily="18" charset="2"/>
              </a:rPr>
              <a:t>n</a:t>
            </a:r>
            <a:endParaRPr lang="en-US" sz="2800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Linear 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  <a:sym typeface="Symbol" pitchFamily="18" charset="2"/>
              </a:rPr>
              <a:t> </a:t>
            </a:r>
            <a:r>
              <a:rPr lang="en-US" sz="2800" b="1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  <a:sym typeface="Symbol" pitchFamily="18" charset="2"/>
              </a:rPr>
              <a:t>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Log Linear 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  <a:sym typeface="Symbol" pitchFamily="18" charset="2"/>
              </a:rPr>
              <a:t> </a:t>
            </a:r>
            <a:r>
              <a:rPr lang="en-US" sz="2800" b="1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  <a:sym typeface="Symbol" pitchFamily="18" charset="2"/>
              </a:rPr>
              <a:t>n 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  <a:sym typeface="Symbol" pitchFamily="18" charset="2"/>
              </a:rPr>
              <a:t>log </a:t>
            </a:r>
            <a:r>
              <a:rPr lang="en-US" sz="2800" b="1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  <a:sym typeface="Symbol" pitchFamily="18" charset="2"/>
              </a:rPr>
              <a:t>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Quadratic 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  <a:sym typeface="Symbol" pitchFamily="18" charset="2"/>
              </a:rPr>
              <a:t> </a:t>
            </a:r>
            <a:r>
              <a:rPr lang="en-US" sz="2800" b="1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  <a:sym typeface="Symbol" pitchFamily="18" charset="2"/>
              </a:rPr>
              <a:t>n</a:t>
            </a:r>
            <a:r>
              <a:rPr lang="en-US" sz="2800" baseline="300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  <a:sym typeface="Symbol" pitchFamily="18" charset="2"/>
              </a:rPr>
              <a:t>2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Cubic 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  <a:sym typeface="Symbol" pitchFamily="18" charset="2"/>
              </a:rPr>
              <a:t> </a:t>
            </a:r>
            <a:r>
              <a:rPr lang="en-US" sz="2800" b="1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  <a:sym typeface="Symbol" pitchFamily="18" charset="2"/>
              </a:rPr>
              <a:t>n</a:t>
            </a:r>
            <a:r>
              <a:rPr lang="en-US" sz="2800" baseline="300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  <a:sym typeface="Symbol" pitchFamily="18" charset="2"/>
              </a:rPr>
              <a:t>3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Exponential 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  <a:sym typeface="Symbol" pitchFamily="18" charset="2"/>
              </a:rPr>
              <a:t> </a:t>
            </a:r>
            <a:r>
              <a:rPr lang="en-US" sz="2800" b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  <a:sym typeface="Symbol" pitchFamily="18" charset="2"/>
              </a:rPr>
              <a:t>2</a:t>
            </a:r>
            <a:r>
              <a:rPr lang="en-US" sz="2800" i="1" baseline="300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  <a:sym typeface="Symbol" pitchFamily="18" charset="2"/>
              </a:rPr>
              <a:t>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  <a:sym typeface="Symbol" pitchFamily="18" charset="2"/>
              </a:rPr>
              <a:t>Factorial </a:t>
            </a:r>
            <a:r>
              <a:rPr lang="en-US" sz="2800" b="1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  <a:sym typeface="Symbol" pitchFamily="18" charset="2"/>
              </a:rPr>
              <a:t>n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  <a:sym typeface="Symbol" pitchFamily="18" charset="2"/>
              </a:rPr>
              <a:t>!</a:t>
            </a:r>
            <a:endParaRPr lang="en-US" sz="2800" i="1" baseline="30000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  <a:sym typeface="Symbol" pitchFamily="18" charset="2"/>
            </a:endParaRPr>
          </a:p>
        </p:txBody>
      </p:sp>
      <p:pic>
        <p:nvPicPr>
          <p:cNvPr id="5" name="Picture 3" descr="03-2-00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22"/>
          <a:stretch>
            <a:fillRect/>
          </a:stretch>
        </p:blipFill>
        <p:spPr bwMode="auto">
          <a:xfrm>
            <a:off x="4038600" y="2338239"/>
            <a:ext cx="5257800" cy="45369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29061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4B37E9F-23A2-4693-98A5-C6E77BD1481C}" type="slidenum">
              <a:rPr lang="en-US" smtClean="0"/>
              <a:pPr eaLnBrk="1" hangingPunct="1"/>
              <a:t>42</a:t>
            </a:fld>
            <a:endParaRPr lang="en-US"/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304800"/>
            <a:ext cx="7924800" cy="1143000"/>
          </a:xfrm>
        </p:spPr>
        <p:txBody>
          <a:bodyPr/>
          <a:lstStyle/>
          <a:p>
            <a:pPr eaLnBrk="1" hangingPunct="1"/>
            <a:r>
              <a:rPr lang="en-US" dirty="0">
                <a:solidFill>
                  <a:schemeClr val="tx1"/>
                </a:solidFill>
              </a:rPr>
              <a:t>Growth Rates Compared</a:t>
            </a:r>
          </a:p>
        </p:txBody>
      </p:sp>
      <p:graphicFrame>
        <p:nvGraphicFramePr>
          <p:cNvPr id="12393" name="Group 10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5678431"/>
              </p:ext>
            </p:extLst>
          </p:nvPr>
        </p:nvGraphicFramePr>
        <p:xfrm>
          <a:off x="914399" y="1565275"/>
          <a:ext cx="7924801" cy="4759325"/>
        </p:xfrm>
        <a:graphic>
          <a:graphicData uri="http://schemas.openxmlformats.org/drawingml/2006/table">
            <a:tbl>
              <a:tblPr/>
              <a:tblGrid>
                <a:gridCol w="10272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57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70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32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708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008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876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n=1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n=2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n=4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n=8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n=16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n=32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60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26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log n</a:t>
                      </a: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60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</a:t>
                      </a: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32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85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nlogn</a:t>
                      </a: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24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64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160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44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</a:t>
                      </a:r>
                      <a:r>
                        <a:rPr kumimoji="0" lang="en-US" sz="24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64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256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1024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60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</a:t>
                      </a:r>
                      <a:r>
                        <a:rPr kumimoji="0" lang="en-US" sz="2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64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512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4096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32768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745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2400" b="0" i="1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</a:t>
                      </a: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256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65536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4294967296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76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!</a:t>
                      </a: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24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40320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20.9T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Don’t ask!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964163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976" y="1600200"/>
            <a:ext cx="8170223" cy="4373563"/>
          </a:xfrm>
        </p:spPr>
        <p:txBody>
          <a:bodyPr>
            <a:normAutofit/>
          </a:bodyPr>
          <a:lstStyle/>
          <a:p>
            <a:r>
              <a:rPr lang="en-US" sz="2400" dirty="0" err="1">
                <a:solidFill>
                  <a:schemeClr val="tx1"/>
                </a:solidFill>
              </a:rPr>
              <a:t>Anany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Levitin</a:t>
            </a:r>
            <a:r>
              <a:rPr lang="en-US" sz="2400" dirty="0">
                <a:solidFill>
                  <a:schemeClr val="tx1"/>
                </a:solidFill>
              </a:rPr>
              <a:t>, Introduction to the design and analysis of algorithms, 2</a:t>
            </a:r>
            <a:r>
              <a:rPr lang="en-US" sz="2400" baseline="30000" dirty="0">
                <a:solidFill>
                  <a:schemeClr val="tx1"/>
                </a:solidFill>
              </a:rPr>
              <a:t>nd</a:t>
            </a:r>
            <a:r>
              <a:rPr lang="en-US" sz="2400" dirty="0">
                <a:solidFill>
                  <a:schemeClr val="tx1"/>
                </a:solidFill>
              </a:rPr>
              <a:t> Edition.</a:t>
            </a:r>
          </a:p>
          <a:p>
            <a:r>
              <a:rPr lang="en-US" sz="2400" dirty="0">
                <a:solidFill>
                  <a:schemeClr val="tx1"/>
                </a:solidFill>
              </a:rPr>
              <a:t>Chapter 1, sections 1.1, 1.2</a:t>
            </a:r>
          </a:p>
          <a:p>
            <a:r>
              <a:rPr lang="en-US" sz="2400" dirty="0">
                <a:solidFill>
                  <a:schemeClr val="tx1"/>
                </a:solidFill>
              </a:rPr>
              <a:t>Chapter 2, Sections 2.1,2.2</a:t>
            </a:r>
          </a:p>
          <a:p>
            <a:endParaRPr lang="en-US" sz="2400" dirty="0">
              <a:solidFill>
                <a:schemeClr val="tx1"/>
              </a:solidFill>
            </a:endParaRPr>
          </a:p>
          <a:p>
            <a:endParaRPr lang="en-US" sz="2400" dirty="0">
              <a:solidFill>
                <a:schemeClr val="tx1"/>
              </a:solidFill>
            </a:endParaRPr>
          </a:p>
          <a:p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1909941"/>
      </p:ext>
    </p:extLst>
  </p:cSld>
  <p:clrMapOvr>
    <a:masterClrMapping/>
  </p:clrMapOvr>
</p:sld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theme/theme1.xml><?xml version="1.0" encoding="utf-8"?>
<a:theme xmlns:a="http://schemas.openxmlformats.org/drawingml/2006/main" name="1_White with Blue Grid Segoe Template_TP10286790">
  <a:themeElements>
    <a:clrScheme name="Blue Template-Template">
      <a:dk1>
        <a:srgbClr val="000000"/>
      </a:dk1>
      <a:lt1>
        <a:srgbClr val="FFFFFF"/>
      </a:lt1>
      <a:dk2>
        <a:srgbClr val="050595"/>
      </a:dk2>
      <a:lt2>
        <a:srgbClr val="FFFF99"/>
      </a:lt2>
      <a:accent1>
        <a:srgbClr val="FFC000"/>
      </a:accent1>
      <a:accent2>
        <a:srgbClr val="3497AE"/>
      </a:accent2>
      <a:accent3>
        <a:srgbClr val="DF8045"/>
      </a:accent3>
      <a:accent4>
        <a:srgbClr val="7DCC2E"/>
      </a:accent4>
      <a:accent5>
        <a:srgbClr val="FF9929"/>
      </a:accent5>
      <a:accent6>
        <a:srgbClr val="7D3DA1"/>
      </a:accent6>
      <a:hlink>
        <a:srgbClr val="F3EB4F"/>
      </a:hlink>
      <a:folHlink>
        <a:srgbClr val="7DDD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91436" tIns="45718" rIns="91436" bIns="45718" numCol="1" rtlCol="0" anchor="ctr" anchorCtr="0" compatLnSpc="1">
        <a:prstTxWarp prst="textNoShape">
          <a:avLst/>
        </a:prstTxWarp>
      </a:bodyPr>
      <a:lstStyle>
        <a:defPPr algn="ctr" defTabSz="914099" fontAlgn="base">
          <a:spcBef>
            <a:spcPct val="0"/>
          </a:spcBef>
          <a:spcAft>
            <a:spcPct val="0"/>
          </a:spcAft>
          <a:defRPr sz="2300" dirty="0" smtClean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Segoe" pitchFamily="34" charset="0"/>
          </a:defRPr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White with Courier font for code slides">
  <a:themeElements>
    <a:clrScheme name="Blue Template-Template">
      <a:dk1>
        <a:srgbClr val="000000"/>
      </a:dk1>
      <a:lt1>
        <a:srgbClr val="FFFFFF"/>
      </a:lt1>
      <a:dk2>
        <a:srgbClr val="050595"/>
      </a:dk2>
      <a:lt2>
        <a:srgbClr val="FFFFFF"/>
      </a:lt2>
      <a:accent1>
        <a:srgbClr val="FFC000"/>
      </a:accent1>
      <a:accent2>
        <a:srgbClr val="3497AE"/>
      </a:accent2>
      <a:accent3>
        <a:srgbClr val="DF8045"/>
      </a:accent3>
      <a:accent4>
        <a:srgbClr val="7DCC2E"/>
      </a:accent4>
      <a:accent5>
        <a:srgbClr val="FF9929"/>
      </a:accent5>
      <a:accent6>
        <a:srgbClr val="7D3DA1"/>
      </a:accent6>
      <a:hlink>
        <a:srgbClr val="F3EB4F"/>
      </a:hlink>
      <a:folHlink>
        <a:srgbClr val="7DDD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109728" tIns="54864" rIns="109728" bIns="54864" numCol="1" rtlCol="0" anchor="ctr" anchorCtr="0" compatLnSpc="1">
        <a:prstTxWarp prst="textNoShape">
          <a:avLst/>
        </a:prstTxWarp>
      </a:bodyPr>
      <a:lstStyle>
        <a:defPPr marL="0" marR="0" indent="0" algn="ctr" defTabSz="10969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800" b="0" i="0" u="none" strike="noStrike" cap="none" normalizeH="0" baseline="0" dirty="0" smtClean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Segoe" pitchFamily="34" charset="0"/>
          </a:defRPr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Essential">
  <a:themeElements>
    <a:clrScheme name="Custom 1">
      <a:dk1>
        <a:srgbClr val="000000"/>
      </a:dk1>
      <a:lt1>
        <a:srgbClr val="FFFFFF"/>
      </a:lt1>
      <a:dk2>
        <a:srgbClr val="0033CC"/>
      </a:dk2>
      <a:lt2>
        <a:srgbClr val="969696"/>
      </a:lt2>
      <a:accent1>
        <a:srgbClr val="6699FF"/>
      </a:accent1>
      <a:accent2>
        <a:srgbClr val="99FFCC"/>
      </a:accent2>
      <a:accent3>
        <a:srgbClr val="FFFFE2"/>
      </a:accent3>
      <a:accent4>
        <a:srgbClr val="000000"/>
      </a:accent4>
      <a:accent5>
        <a:srgbClr val="B8CAFF"/>
      </a:accent5>
      <a:accent6>
        <a:srgbClr val="8AE7B9"/>
      </a:accent6>
      <a:hlink>
        <a:srgbClr val="0033CC"/>
      </a:hlink>
      <a:folHlink>
        <a:srgbClr val="B2B2B2"/>
      </a:folHlink>
    </a:clrScheme>
    <a:fontScheme name="Essential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sential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50B7603DA286A41973ED08A6E95DDF1" ma:contentTypeVersion="14" ma:contentTypeDescription="Create a new document." ma:contentTypeScope="" ma:versionID="9dbda6c21f670f81b314fde63e299b67">
  <xsd:schema xmlns:xsd="http://www.w3.org/2001/XMLSchema" xmlns:xs="http://www.w3.org/2001/XMLSchema" xmlns:p="http://schemas.microsoft.com/office/2006/metadata/properties" xmlns:ns2="b59073bf-3226-4cc2-a862-685e8fd0a4b2" xmlns:ns3="77f424dc-c8a0-4eac-a0a6-0f28ce03e3e3" targetNamespace="http://schemas.microsoft.com/office/2006/metadata/properties" ma:root="true" ma:fieldsID="3c2f63c7967b26ca995ad52a8d891f55" ns2:_="" ns3:_="">
    <xsd:import namespace="b59073bf-3226-4cc2-a862-685e8fd0a4b2"/>
    <xsd:import namespace="77f424dc-c8a0-4eac-a0a6-0f28ce03e3e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9073bf-3226-4cc2-a862-685e8fd0a4b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4f14da48-c7bd-4fbb-b3d0-c28c7c6f1fa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f424dc-c8a0-4eac-a0a6-0f28ce03e3e3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56a6a460-902d-4d5c-a475-b7e5fe6fe2a9}" ma:internalName="TaxCatchAll" ma:showField="CatchAllData" ma:web="77f424dc-c8a0-4eac-a0a6-0f28ce03e3e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59073bf-3226-4cc2-a862-685e8fd0a4b2">
      <Terms xmlns="http://schemas.microsoft.com/office/infopath/2007/PartnerControls"/>
    </lcf76f155ced4ddcb4097134ff3c332f>
    <TaxCatchAll xmlns="77f424dc-c8a0-4eac-a0a6-0f28ce03e3e3" xsi:nil="true"/>
  </documentManagement>
</p:properties>
</file>

<file path=customXml/itemProps1.xml><?xml version="1.0" encoding="utf-8"?>
<ds:datastoreItem xmlns:ds="http://schemas.openxmlformats.org/officeDocument/2006/customXml" ds:itemID="{06570530-2803-4352-80BC-C20BB9B60DA9}"/>
</file>

<file path=customXml/itemProps2.xml><?xml version="1.0" encoding="utf-8"?>
<ds:datastoreItem xmlns:ds="http://schemas.openxmlformats.org/officeDocument/2006/customXml" ds:itemID="{1A39C262-2E1F-4922-9F9E-1C626DE4DFC4}"/>
</file>

<file path=customXml/itemProps3.xml><?xml version="1.0" encoding="utf-8"?>
<ds:datastoreItem xmlns:ds="http://schemas.openxmlformats.org/officeDocument/2006/customXml" ds:itemID="{19B2AE36-2335-4ACD-A2AA-295FC216DB71}"/>
</file>

<file path=docProps/app.xml><?xml version="1.0" encoding="utf-8"?>
<Properties xmlns="http://schemas.openxmlformats.org/officeDocument/2006/extended-properties" xmlns:vt="http://schemas.openxmlformats.org/officeDocument/2006/docPropsVTypes">
  <Template>TS010286790</Template>
  <TotalTime>6017</TotalTime>
  <Words>2763</Words>
  <Application>Microsoft Office PowerPoint</Application>
  <PresentationFormat>On-screen Show (4:3)</PresentationFormat>
  <Paragraphs>489</Paragraphs>
  <Slides>43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43</vt:i4>
      </vt:variant>
    </vt:vector>
  </HeadingPairs>
  <TitlesOfParts>
    <vt:vector size="60" baseType="lpstr">
      <vt:lpstr>SimSun</vt:lpstr>
      <vt:lpstr>Arial</vt:lpstr>
      <vt:lpstr>Arial MT</vt:lpstr>
      <vt:lpstr>Calibri</vt:lpstr>
      <vt:lpstr>Comic Sans MS</vt:lpstr>
      <vt:lpstr>Courier New</vt:lpstr>
      <vt:lpstr>Monotype Sorts</vt:lpstr>
      <vt:lpstr>Roboto</vt:lpstr>
      <vt:lpstr>Segoe</vt:lpstr>
      <vt:lpstr>Segoe UI</vt:lpstr>
      <vt:lpstr>Segoe UI Light</vt:lpstr>
      <vt:lpstr>Symbol</vt:lpstr>
      <vt:lpstr>Times New Roman</vt:lpstr>
      <vt:lpstr>Wingdings</vt:lpstr>
      <vt:lpstr>1_White with Blue Grid Segoe Template_TP10286790</vt:lpstr>
      <vt:lpstr>White with Courier font for code slides</vt:lpstr>
      <vt:lpstr>Essential</vt:lpstr>
      <vt:lpstr>Cs316: Algorithms Lecture 1: Introduction</vt:lpstr>
      <vt:lpstr>Grading policy</vt:lpstr>
      <vt:lpstr>resources</vt:lpstr>
      <vt:lpstr>Course Syllabus</vt:lpstr>
      <vt:lpstr>Course Objectives</vt:lpstr>
      <vt:lpstr>Why Studying Algorithms?</vt:lpstr>
      <vt:lpstr>Algorithms</vt:lpstr>
      <vt:lpstr>What is Algorithms ?!</vt:lpstr>
      <vt:lpstr>Algorithms</vt:lpstr>
      <vt:lpstr>Algorithms</vt:lpstr>
      <vt:lpstr>PowerPoint Presentation</vt:lpstr>
      <vt:lpstr>Example:</vt:lpstr>
      <vt:lpstr>A solution for gcd(m,n):</vt:lpstr>
      <vt:lpstr>Another solution for gcd(m,n)</vt:lpstr>
      <vt:lpstr>Euclid’s solution for gcd</vt:lpstr>
      <vt:lpstr>Euclid’s method</vt:lpstr>
      <vt:lpstr>Algorithm Design</vt:lpstr>
      <vt:lpstr>  Algorithm design:</vt:lpstr>
      <vt:lpstr>Pseudo-Code Conventions: </vt:lpstr>
      <vt:lpstr>PowerPoint Presentation</vt:lpstr>
      <vt:lpstr>PowerPoint Presentation</vt:lpstr>
      <vt:lpstr>PowerPoint Presentation</vt:lpstr>
      <vt:lpstr>PowerPoint Presentation</vt:lpstr>
      <vt:lpstr>Example </vt:lpstr>
      <vt:lpstr>Analysis of Algorithms</vt:lpstr>
      <vt:lpstr>Analysis of Algorithms</vt:lpstr>
      <vt:lpstr>SPACE &amp; TIME COMPLEXITIES</vt:lpstr>
      <vt:lpstr>Time Complexity</vt:lpstr>
      <vt:lpstr>Running Time is Affected By</vt:lpstr>
      <vt:lpstr>Time Complexity</vt:lpstr>
      <vt:lpstr>TIME COMPLEXITY</vt:lpstr>
      <vt:lpstr>Number of Operations</vt:lpstr>
      <vt:lpstr>PowerPoint Presentation</vt:lpstr>
      <vt:lpstr>Time Complexity</vt:lpstr>
      <vt:lpstr>PowerPoint Presentation</vt:lpstr>
      <vt:lpstr>Complexity of the Factorial Algorithm</vt:lpstr>
      <vt:lpstr>Best-case, average-case, worst-case</vt:lpstr>
      <vt:lpstr>Example (2):</vt:lpstr>
      <vt:lpstr>Complexity of the Linear Search Algorithm</vt:lpstr>
      <vt:lpstr>Best-case, average-case, worst-case</vt:lpstr>
      <vt:lpstr>Eight Growth Functions</vt:lpstr>
      <vt:lpstr>Growth Rates Compared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Seeker</dc:creator>
  <cp:lastModifiedBy>Mohammed El-Said</cp:lastModifiedBy>
  <cp:revision>457</cp:revision>
  <cp:lastPrinted>2014-11-07T16:55:23Z</cp:lastPrinted>
  <dcterms:created xsi:type="dcterms:W3CDTF">2012-01-15T21:41:59Z</dcterms:created>
  <dcterms:modified xsi:type="dcterms:W3CDTF">2024-02-14T14:41:00Z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TC102037651033</vt:lpwstr>
  </property>
  <property fmtid="{D5CDD505-2E9C-101B-9397-08002B2CF9AE}" pid="3" name="ContentTypeId">
    <vt:lpwstr>0x010100350B7603DA286A41973ED08A6E95DDF1</vt:lpwstr>
  </property>
</Properties>
</file>