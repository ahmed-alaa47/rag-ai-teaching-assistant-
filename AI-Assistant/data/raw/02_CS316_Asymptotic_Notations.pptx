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2"/>
  </p:notesMasterIdLst>
  <p:handoutMasterIdLst>
    <p:handoutMasterId r:id="rId33"/>
  </p:handoutMasterIdLst>
  <p:sldIdLst>
    <p:sldId id="326" r:id="rId2"/>
    <p:sldId id="400" r:id="rId3"/>
    <p:sldId id="401" r:id="rId4"/>
    <p:sldId id="412" r:id="rId5"/>
    <p:sldId id="363" r:id="rId6"/>
    <p:sldId id="362" r:id="rId7"/>
    <p:sldId id="404" r:id="rId8"/>
    <p:sldId id="403" r:id="rId9"/>
    <p:sldId id="365" r:id="rId10"/>
    <p:sldId id="366" r:id="rId11"/>
    <p:sldId id="367" r:id="rId12"/>
    <p:sldId id="368" r:id="rId13"/>
    <p:sldId id="370" r:id="rId14"/>
    <p:sldId id="369" r:id="rId15"/>
    <p:sldId id="372" r:id="rId16"/>
    <p:sldId id="373" r:id="rId17"/>
    <p:sldId id="375" r:id="rId18"/>
    <p:sldId id="374" r:id="rId19"/>
    <p:sldId id="376" r:id="rId20"/>
    <p:sldId id="377" r:id="rId21"/>
    <p:sldId id="415" r:id="rId22"/>
    <p:sldId id="380" r:id="rId23"/>
    <p:sldId id="383" r:id="rId24"/>
    <p:sldId id="416" r:id="rId25"/>
    <p:sldId id="417" r:id="rId26"/>
    <p:sldId id="418" r:id="rId27"/>
    <p:sldId id="419" r:id="rId28"/>
    <p:sldId id="405" r:id="rId29"/>
    <p:sldId id="407" r:id="rId30"/>
    <p:sldId id="378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CC"/>
    <a:srgbClr val="FF3300"/>
    <a:srgbClr val="009900"/>
    <a:srgbClr val="F8F8F8"/>
    <a:srgbClr val="000000"/>
    <a:srgbClr val="6600CC"/>
    <a:srgbClr val="33CC33"/>
    <a:srgbClr val="997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 autoAdjust="0"/>
  </p:normalViewPr>
  <p:slideViewPr>
    <p:cSldViewPr>
      <p:cViewPr varScale="1">
        <p:scale>
          <a:sx n="64" d="100"/>
          <a:sy n="64" d="100"/>
        </p:scale>
        <p:origin x="154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BA8BF-AC54-4D51-941E-465BF606D975}" type="datetimeFigureOut">
              <a:rPr lang="en-US" smtClean="0"/>
              <a:pPr/>
              <a:t>22-Feb-24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77D20-0B93-40C7-9E90-524D8B78D6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6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651B0-F9D3-43A7-BB4B-502AF079AC56}" type="datetimeFigureOut">
              <a:rPr lang="en-US" smtClean="0"/>
              <a:pPr/>
              <a:t>22-Feb-24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C3AE33-FB06-4FB4-8162-910DE14422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8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fld id="{7C2C266D-EC0F-4043-9826-7534F4574778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Upper bound:</a:t>
            </a:r>
            <a:r>
              <a:rPr lang="en-US" baseline="0" dirty="0"/>
              <a:t> basic operations doesn’t exceed this run time</a:t>
            </a:r>
          </a:p>
          <a:p>
            <a:r>
              <a:rPr lang="en-US" baseline="0" dirty="0"/>
              <a:t>lower bound: minimum run-time and not less</a:t>
            </a:r>
            <a:endParaRPr lang="en-US" dirty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BA3D7FE-70E6-4E3B-9291-2A74A2B9476F}" type="slidenum">
              <a:rPr lang="en-US" sz="1200" b="0" smtClean="0">
                <a:latin typeface="Times New Roman" pitchFamily="18" charset="0"/>
              </a:rPr>
              <a:pPr/>
              <a:t>4</a:t>
            </a:fld>
            <a:endParaRPr lang="en-US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469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 f(n)/infinity=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1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 infinity/g(n)=infinity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13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8BA3D7FE-70E6-4E3B-9291-2A74A2B9476F}" type="slidenum">
              <a:rPr lang="en-US" sz="1200" b="0" smtClean="0">
                <a:latin typeface="Times New Roman" pitchFamily="18" charset="0"/>
              </a:rPr>
              <a:pPr/>
              <a:t>21</a:t>
            </a:fld>
            <a:endParaRPr lang="en-US" sz="1200" b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319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39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43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5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0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3AE33-FB06-4FB4-8162-910DE144228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22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12700">
            <a:miter lim="800000"/>
            <a:headEnd type="none" w="sm" len="sm"/>
            <a:tailEnd type="none" w="sm" len="sm"/>
          </a:ln>
        </p:spPr>
        <p:txBody>
          <a:bodyPr/>
          <a:lstStyle/>
          <a:p>
            <a:fld id="{21027AF2-4752-4D47-B393-1D343DCE3F71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N power </a:t>
            </a:r>
            <a:r>
              <a:rPr lang="en-US" altLang="en-US" dirty="0" err="1"/>
              <a:t>alpha</a:t>
            </a:r>
            <a:r>
              <a:rPr lang="en-US" altLang="en-US" dirty="0" err="1">
                <a:sym typeface="Wingdings" panose="05000000000000000000" pitchFamily="2" charset="2"/>
              </a:rPr>
              <a:t></a:t>
            </a:r>
            <a:r>
              <a:rPr lang="en-US" altLang="en-US" dirty="0" err="1"/>
              <a:t>polynomial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27853B7-6482-459D-97BA-193A5525436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ar-E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765300"/>
            <a:ext cx="6400800" cy="2273300"/>
          </a:xfrm>
        </p:spPr>
        <p:txBody>
          <a:bodyPr/>
          <a:lstStyle/>
          <a:p>
            <a:pPr algn="ctr"/>
            <a:r>
              <a:rPr lang="en-US" sz="3600">
                <a:solidFill>
                  <a:srgbClr val="0070C0"/>
                </a:solidFill>
              </a:rPr>
              <a:t>Cs316</a:t>
            </a:r>
            <a:r>
              <a:rPr lang="en-US" sz="3600" dirty="0">
                <a:solidFill>
                  <a:srgbClr val="0070C0"/>
                </a:solidFill>
              </a:rPr>
              <a:t>: Algorithms 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US" cap="none">
                <a:solidFill>
                  <a:srgbClr val="FF3300"/>
                </a:solidFill>
              </a:rPr>
              <a:t>Lecture 2</a:t>
            </a:r>
            <a:br>
              <a:rPr lang="en-US" cap="none" dirty="0">
                <a:solidFill>
                  <a:srgbClr val="FF3300"/>
                </a:solidFill>
              </a:rPr>
            </a:br>
            <a:r>
              <a:rPr lang="en-US" cap="none" dirty="0">
                <a:solidFill>
                  <a:srgbClr val="FF3300"/>
                </a:solidFill>
              </a:rPr>
              <a:t> </a:t>
            </a:r>
            <a:r>
              <a:rPr lang="en-US" dirty="0"/>
              <a:t>Analysis of Algorithms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3F9792C-7A2D-4B88-B88B-9BB0D0D780B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457200" y="4038600"/>
            <a:ext cx="7772400" cy="17526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cap="none" dirty="0">
                <a:solidFill>
                  <a:srgbClr val="FF0000"/>
                </a:solidFill>
              </a:rPr>
              <a:t>Prepared by: Assoc. Prof. </a:t>
            </a:r>
            <a:r>
              <a:rPr lang="en-US" cap="none" dirty="0" err="1">
                <a:solidFill>
                  <a:srgbClr val="FF0000"/>
                </a:solidFill>
              </a:rPr>
              <a:t>Ensaf</a:t>
            </a:r>
            <a:r>
              <a:rPr lang="en-US" cap="none" dirty="0">
                <a:solidFill>
                  <a:srgbClr val="FF0000"/>
                </a:solidFill>
              </a:rPr>
              <a:t> Hussein</a:t>
            </a:r>
          </a:p>
          <a:p>
            <a:pPr algn="ctr"/>
            <a:r>
              <a:rPr lang="en-US" cap="none" dirty="0">
                <a:solidFill>
                  <a:srgbClr val="0000CC"/>
                </a:solidFill>
              </a:rPr>
              <a:t>Presented by:</a:t>
            </a:r>
            <a:r>
              <a:rPr lang="en-US" cap="none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Assoc. Prof. Wessam El-</a:t>
            </a:r>
            <a:r>
              <a:rPr lang="en-US" sz="2400" b="1" cap="none" dirty="0" err="1">
                <a:solidFill>
                  <a:schemeClr val="tx1"/>
                </a:solidFill>
              </a:rPr>
              <a:t>Behaidy</a:t>
            </a:r>
            <a:endParaRPr lang="en-US" sz="2400" b="1" cap="none" dirty="0">
              <a:solidFill>
                <a:schemeClr val="tx1"/>
              </a:solidFill>
            </a:endParaRPr>
          </a:p>
          <a:p>
            <a:pPr algn="ctr"/>
            <a:r>
              <a:rPr lang="en-US" sz="2400" b="1" cap="none" dirty="0">
                <a:solidFill>
                  <a:schemeClr val="tx1"/>
                </a:solidFill>
              </a:rPr>
              <a:t>Dr. Mohammed El-Said</a:t>
            </a:r>
            <a:endParaRPr lang="ar-EG" sz="2400" b="1" cap="none" dirty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422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dirty="0">
                <a:solidFill>
                  <a:schemeClr val="tx1"/>
                </a:solidFill>
                <a:latin typeface="Segoe"/>
              </a:rPr>
            </a:br>
            <a:r>
              <a:rPr lang="en-US" dirty="0">
                <a:solidFill>
                  <a:schemeClr val="tx1"/>
                </a:solidFill>
                <a:latin typeface="Segoe"/>
              </a:rPr>
              <a:t>Asymptotic notations and Basic efficiency classes </a:t>
            </a:r>
            <a:br>
              <a:rPr lang="en-US" dirty="0">
                <a:solidFill>
                  <a:schemeClr val="tx1"/>
                </a:solidFill>
                <a:latin typeface="Segoe"/>
              </a:rPr>
            </a:br>
            <a:endParaRPr lang="en-US" sz="1800" dirty="0">
              <a:solidFill>
                <a:schemeClr val="tx1"/>
              </a:solidFill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2021591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934200" y="63246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2C1280FF-10CF-43E7-9FAE-25333BDC6B24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20000" cy="83820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Bounds (Asymptotic Notations)</a:t>
            </a:r>
            <a:endParaRPr lang="en-US" altLang="en-US" dirty="0"/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38225"/>
            <a:ext cx="8763000" cy="4905375"/>
          </a:xfrm>
        </p:spPr>
        <p:txBody>
          <a:bodyPr>
            <a:noAutofit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alt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Critical factor for problem size </a:t>
            </a:r>
            <a:r>
              <a:rPr lang="en-US" altLang="en-US" sz="28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alt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: </a:t>
            </a:r>
          </a:p>
          <a:p>
            <a:pPr marL="620713" indent="-361950">
              <a:buFont typeface="Wingdings" pitchFamily="2" charset="2"/>
              <a:buChar char="§"/>
              <a:defRPr/>
            </a:pPr>
            <a:r>
              <a:rPr lang="en-US" alt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NOT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the exact number of basic operations executed for given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</a:p>
          <a:p>
            <a:pPr marL="620713" indent="-361950">
              <a:buFont typeface="Wingdings" pitchFamily="2" charset="2"/>
              <a:buChar char="§"/>
              <a:defRPr/>
            </a:pPr>
            <a:r>
              <a:rPr lang="en-US" alt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how number of basic operations </a:t>
            </a:r>
            <a:r>
              <a:rPr lang="en-US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grows as </a:t>
            </a:r>
            <a:r>
              <a:rPr lang="en-US" altLang="en-US" sz="28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increases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Consequently:</a:t>
            </a:r>
          </a:p>
          <a:p>
            <a:pPr marL="620713" indent="-361950">
              <a:buFont typeface="Wingdings" pitchFamily="2" charset="2"/>
              <a:buChar char="§"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Focus on how performance grows as n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 </a:t>
            </a:r>
          </a:p>
          <a:p>
            <a:pPr marL="620713" indent="-361950">
              <a:buFont typeface="Wingdings" pitchFamily="2" charset="2"/>
              <a:buChar char="§"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Ignore constant factors</a:t>
            </a:r>
          </a:p>
          <a:p>
            <a:pPr algn="ctr">
              <a:buFont typeface="Monotype Sorts" pitchFamily="2" charset="2"/>
              <a:buNone/>
              <a:defRPr/>
            </a:pPr>
            <a:r>
              <a:rPr lang="en-US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Call this:</a:t>
            </a:r>
            <a:r>
              <a:rPr lang="en-US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Asymptotic Order of Growth</a:t>
            </a:r>
          </a:p>
          <a:p>
            <a:pPr>
              <a:buFont typeface="Monotype Sorts" pitchFamily="2" charset="2"/>
              <a:buNone/>
              <a:defRPr/>
            </a:pP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buFont typeface="Monotype Sorts" pitchFamily="2" charset="2"/>
              <a:buNone/>
              <a:defRPr/>
            </a:pP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defRPr/>
            </a:pP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defRPr/>
            </a:pP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>
              <a:defRPr/>
            </a:pPr>
            <a:endParaRPr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58200" cy="5257800"/>
          </a:xfrm>
          <a:noFill/>
        </p:spPr>
        <p:txBody>
          <a:bodyPr>
            <a:normAutofit/>
          </a:bodyPr>
          <a:lstStyle/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Bounds describe the </a:t>
            </a:r>
            <a:r>
              <a:rPr lang="en-US" sz="2800" u="sng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limiting behavior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of algorithm complexity at large (n). They are: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Worst Case: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Upper Bound (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Big O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complexity)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Best Case: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Lower Bound (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Big 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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complexity)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	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Exact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(</a:t>
            </a:r>
            <a:r>
              <a:rPr lang="en-US" sz="28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Big 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complexity)</a:t>
            </a:r>
          </a:p>
          <a:p>
            <a:pPr>
              <a:defRPr/>
            </a:pPr>
            <a:r>
              <a:rPr lang="en-US" altLang="en-US" sz="2800" b="1" u="sng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Approach: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classify functions (i.e. of algorithms performance) </a:t>
            </a:r>
            <a:r>
              <a:rPr lang="en-US" alt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based on their growth rates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and divide into sets</a:t>
            </a: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</p:txBody>
      </p:sp>
      <p:sp>
        <p:nvSpPr>
          <p:cNvPr id="307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130B7-4C3B-48B8-9EC3-CD5A649FECAB}" type="slidenum">
              <a:rPr lang="en-GB" sz="1400" b="0" smtClean="0"/>
              <a:pPr eaLnBrk="1" hangingPunct="1"/>
              <a:t>4</a:t>
            </a:fld>
            <a:endParaRPr lang="en-GB" sz="1400" b="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7339012" cy="706437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Bounds (Asymptotic Notations)</a:t>
            </a: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972405"/>
              </p:ext>
            </p:extLst>
          </p:nvPr>
        </p:nvGraphicFramePr>
        <p:xfrm>
          <a:off x="2514600" y="827725"/>
          <a:ext cx="3962400" cy="115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0891" imgH="203112" progId="Equation.3">
                  <p:embed/>
                </p:oleObj>
              </mc:Choice>
              <mc:Fallback>
                <p:oleObj name="Equation" r:id="rId3" imgW="710891" imgH="203112" progId="Equation.3">
                  <p:embed/>
                  <p:pic>
                    <p:nvPicPr>
                      <p:cNvPr id="30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827725"/>
                        <a:ext cx="3962400" cy="115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2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620000" cy="838200"/>
          </a:xfrm>
        </p:spPr>
        <p:txBody>
          <a:bodyPr>
            <a:normAutofit/>
          </a:bodyPr>
          <a:lstStyle/>
          <a:p>
            <a:r>
              <a:rPr lang="en-US" dirty="0"/>
              <a:t>O-Notation: </a:t>
            </a:r>
            <a:r>
              <a:rPr lang="en-US" sz="3100" dirty="0">
                <a:solidFill>
                  <a:srgbClr val="FF0000"/>
                </a:solidFill>
              </a:rPr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 l="36823" t="59375" r="41215" b="28125"/>
          <a:stretch>
            <a:fillRect/>
          </a:stretch>
        </p:blipFill>
        <p:spPr bwMode="auto">
          <a:xfrm>
            <a:off x="2133600" y="5181600"/>
            <a:ext cx="523875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6962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10265"/>
            <a:ext cx="4572000" cy="180049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pPr algn="ctr"/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Worst Case Upper Bound (Big O)</a:t>
            </a:r>
          </a:p>
          <a:p>
            <a:pPr algn="ctr"/>
            <a:endParaRPr lang="en-US" sz="1100" b="1" u="sng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class of functions (algorithms) </a:t>
            </a:r>
            <a:r>
              <a:rPr lang="en-US" altLang="en-US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f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altLang="en-US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 that grow </a:t>
            </a:r>
            <a:r>
              <a:rPr lang="en-US" altLang="en-US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no faster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than </a:t>
            </a:r>
            <a:r>
              <a:rPr lang="en-US" altLang="en-US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g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altLang="en-US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algn="ctr"/>
            <a:endParaRPr lang="en-US" altLang="en-US" sz="10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order of growth of  f(n) ≤ order  of growth of g(n) (within constant multiple).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62600" y="164690"/>
            <a:ext cx="3483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f(n) of the algorithm</a:t>
            </a:r>
          </a:p>
          <a:p>
            <a:r>
              <a:rPr lang="en-US" dirty="0"/>
              <a:t>g(n) is one of growth functions</a:t>
            </a:r>
          </a:p>
        </p:txBody>
      </p:sp>
    </p:spTree>
    <p:extLst>
      <p:ext uri="{BB962C8B-B14F-4D97-AF65-F5344CB8AC3E}">
        <p14:creationId xmlns:p14="http://schemas.microsoft.com/office/powerpoint/2010/main" val="33684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620000" cy="838200"/>
          </a:xfrm>
        </p:spPr>
        <p:txBody>
          <a:bodyPr>
            <a:normAutofit/>
          </a:bodyPr>
          <a:lstStyle/>
          <a:p>
            <a:r>
              <a:rPr lang="tr-TR" dirty="0"/>
              <a:t>O</a:t>
            </a:r>
            <a:r>
              <a:rPr lang="en-US" dirty="0"/>
              <a:t>-Notation</a:t>
            </a:r>
            <a:r>
              <a:rPr lang="ar-EG" dirty="0"/>
              <a:t> :</a:t>
            </a:r>
            <a:r>
              <a:rPr lang="en-US" sz="3100" dirty="0">
                <a:solidFill>
                  <a:srgbClr val="FF0000"/>
                </a:solidFill>
              </a:rPr>
              <a:t>Definition</a:t>
            </a:r>
            <a:r>
              <a:rPr lang="ar-EG" sz="3100" dirty="0">
                <a:solidFill>
                  <a:srgbClr val="FF0000"/>
                </a:solidFill>
              </a:rPr>
              <a:t> </a:t>
            </a:r>
            <a:r>
              <a:rPr lang="tr-TR" sz="3100" dirty="0">
                <a:solidFill>
                  <a:srgbClr val="FF0000"/>
                </a:solidFill>
              </a:rPr>
              <a:t>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xfrm>
            <a:off x="457200" y="1295400"/>
            <a:ext cx="8458200" cy="4678363"/>
          </a:xfrm>
          <a:blipFill rotWithShape="1">
            <a:blip r:embed="rId3" cstate="print"/>
            <a:stretch>
              <a:fillRect l="-1441" t="-1304" r="-1369" b="-391"/>
            </a:stretch>
          </a:blipFill>
        </p:spPr>
        <p:txBody>
          <a:bodyPr/>
          <a:lstStyle/>
          <a:p>
            <a:r>
              <a:rPr lang="en-US" dirty="0">
                <a:noFill/>
              </a:rPr>
              <a:t> 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514600" y="2667000"/>
            <a:ext cx="198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029200" y="2667000"/>
            <a:ext cx="1981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43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O-Notation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1127125" y="3694113"/>
            <a:ext cx="2392001" cy="646331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  <a:sym typeface="Symbol" pitchFamily="18" charset="2"/>
              </a:rPr>
              <a:t>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O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 (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baseline="300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?</a:t>
            </a:r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4262438" y="3857625"/>
            <a:ext cx="3790950" cy="45720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0" dirty="0">
                <a:latin typeface="Tahoma" pitchFamily="34" charset="0"/>
              </a:rPr>
              <a:t>Yes, </a:t>
            </a:r>
            <a:r>
              <a:rPr lang="en-US" sz="2400" i="0" dirty="0">
                <a:latin typeface="Times New Roman" pitchFamily="18" charset="0"/>
              </a:rPr>
              <a:t>c = 1</a:t>
            </a:r>
            <a:r>
              <a:rPr lang="en-US" sz="2400" i="0" dirty="0">
                <a:latin typeface="Tahoma" pitchFamily="34" charset="0"/>
              </a:rPr>
              <a:t>, </a:t>
            </a:r>
            <a:r>
              <a:rPr lang="en-US" sz="2400" dirty="0">
                <a:latin typeface="Times New Roman" pitchFamily="18" charset="0"/>
              </a:rPr>
              <a:t>n</a:t>
            </a:r>
            <a:r>
              <a:rPr lang="en-US" sz="2400" i="0" baseline="-25000" dirty="0">
                <a:latin typeface="Times New Roman" pitchFamily="18" charset="0"/>
              </a:rPr>
              <a:t>0</a:t>
            </a:r>
            <a:r>
              <a:rPr lang="en-US" sz="2400" i="0" dirty="0">
                <a:latin typeface="Times New Roman" pitchFamily="18" charset="0"/>
              </a:rPr>
              <a:t>=1</a:t>
            </a:r>
            <a:r>
              <a:rPr lang="en-US" sz="2400" i="0" dirty="0">
                <a:latin typeface="Tahoma" pitchFamily="34" charset="0"/>
              </a:rPr>
              <a:t> works fine.</a:t>
            </a:r>
          </a:p>
        </p:txBody>
      </p:sp>
      <p:sp>
        <p:nvSpPr>
          <p:cNvPr id="261126" name="Text Box 6"/>
          <p:cNvSpPr txBox="1">
            <a:spLocks noChangeArrowheads="1"/>
          </p:cNvSpPr>
          <p:nvPr/>
        </p:nvSpPr>
        <p:spPr bwMode="auto">
          <a:xfrm>
            <a:off x="1090613" y="4362450"/>
            <a:ext cx="2699778" cy="646331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10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ahoma" pitchFamily="34" charset="0"/>
                <a:sym typeface="Symbol" pitchFamily="18" charset="2"/>
              </a:rPr>
              <a:t>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O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 (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?</a:t>
            </a:r>
          </a:p>
        </p:txBody>
      </p:sp>
      <p:sp>
        <p:nvSpPr>
          <p:cNvPr id="261127" name="Text Box 7"/>
          <p:cNvSpPr txBox="1">
            <a:spLocks noChangeArrowheads="1"/>
          </p:cNvSpPr>
          <p:nvPr/>
        </p:nvSpPr>
        <p:spPr bwMode="auto">
          <a:xfrm>
            <a:off x="4262438" y="4457700"/>
            <a:ext cx="3943350" cy="45720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0" dirty="0">
                <a:latin typeface="Tahoma" pitchFamily="34" charset="0"/>
              </a:rPr>
              <a:t>Yes, </a:t>
            </a:r>
            <a:r>
              <a:rPr lang="en-US" sz="2400" i="0" dirty="0">
                <a:latin typeface="Times New Roman" pitchFamily="18" charset="0"/>
              </a:rPr>
              <a:t>c = 11</a:t>
            </a:r>
            <a:r>
              <a:rPr lang="en-US" sz="2400" i="0" dirty="0">
                <a:latin typeface="Tahoma" pitchFamily="34" charset="0"/>
              </a:rPr>
              <a:t>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i="0" baseline="-25000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i="0" dirty="0">
                <a:latin typeface="Times New Roman" pitchFamily="18" charset="0"/>
                <a:cs typeface="Times New Roman" pitchFamily="18" charset="0"/>
              </a:rPr>
              <a:t>=1</a:t>
            </a:r>
            <a:r>
              <a:rPr lang="en-US" sz="2400" i="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400" i="0" dirty="0">
                <a:latin typeface="Tahoma" pitchFamily="34" charset="0"/>
              </a:rPr>
              <a:t>works fine.</a:t>
            </a:r>
          </a:p>
        </p:txBody>
      </p:sp>
      <p:sp>
        <p:nvSpPr>
          <p:cNvPr id="261128" name="Text Box 8"/>
          <p:cNvSpPr txBox="1">
            <a:spLocks noChangeArrowheads="1"/>
          </p:cNvSpPr>
          <p:nvPr/>
        </p:nvSpPr>
        <p:spPr bwMode="auto">
          <a:xfrm>
            <a:off x="1163638" y="5081588"/>
            <a:ext cx="2392001" cy="646331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baseline="30000" dirty="0">
                <a:solidFill>
                  <a:srgbClr val="C00000"/>
                </a:solidFill>
                <a:latin typeface="Times New Roman" pitchFamily="18" charset="0"/>
              </a:rPr>
              <a:t>2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ahoma" pitchFamily="34" charset="0"/>
                <a:sym typeface="Symbol" pitchFamily="18" charset="2"/>
              </a:rPr>
              <a:t>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O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 (</a:t>
            </a:r>
            <a:r>
              <a:rPr lang="en-US" sz="3600" dirty="0">
                <a:solidFill>
                  <a:srgbClr val="C00000"/>
                </a:solidFill>
                <a:latin typeface="Times New Roman" pitchFamily="18" charset="0"/>
              </a:rPr>
              <a:t>x</a:t>
            </a:r>
            <a:r>
              <a:rPr lang="en-US" sz="3600" i="0" dirty="0">
                <a:solidFill>
                  <a:srgbClr val="C00000"/>
                </a:solidFill>
                <a:latin typeface="Times New Roman" pitchFamily="18" charset="0"/>
              </a:rPr>
              <a:t>)</a:t>
            </a:r>
            <a:r>
              <a:rPr lang="en-US" sz="3600" i="0" dirty="0">
                <a:solidFill>
                  <a:srgbClr val="C00000"/>
                </a:solidFill>
                <a:latin typeface="Tahoma" pitchFamily="34" charset="0"/>
              </a:rPr>
              <a:t>?</a:t>
            </a:r>
          </a:p>
        </p:txBody>
      </p:sp>
      <p:sp>
        <p:nvSpPr>
          <p:cNvPr id="261129" name="Text Box 9"/>
          <p:cNvSpPr txBox="1">
            <a:spLocks noChangeArrowheads="1"/>
          </p:cNvSpPr>
          <p:nvPr/>
        </p:nvSpPr>
        <p:spPr bwMode="auto">
          <a:xfrm>
            <a:off x="4262438" y="5067300"/>
            <a:ext cx="4608512" cy="822325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 i="0">
                <a:latin typeface="Tahoma" pitchFamily="34" charset="0"/>
              </a:rPr>
              <a:t>No, no matter what </a:t>
            </a:r>
            <a:r>
              <a:rPr lang="en-US" sz="2400">
                <a:latin typeface="Times New Roman" pitchFamily="18" charset="0"/>
              </a:rPr>
              <a:t>c</a:t>
            </a:r>
            <a:r>
              <a:rPr lang="en-US" sz="2400" i="0">
                <a:latin typeface="Tahoma" pitchFamily="34" charset="0"/>
              </a:rPr>
              <a:t> and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i="0" baseline="-2500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400" i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400" i="0">
                <a:latin typeface="Tahoma" pitchFamily="34" charset="0"/>
              </a:rPr>
              <a:t>we pick, </a:t>
            </a:r>
            <a:r>
              <a:rPr lang="en-US" sz="2400">
                <a:latin typeface="Times New Roman" pitchFamily="18" charset="0"/>
              </a:rPr>
              <a:t>cx</a:t>
            </a:r>
            <a:r>
              <a:rPr lang="en-US" sz="2400" i="0" baseline="30000">
                <a:latin typeface="Times New Roman" pitchFamily="18" charset="0"/>
              </a:rPr>
              <a:t>2</a:t>
            </a:r>
            <a:r>
              <a:rPr lang="en-US" sz="2400" i="0">
                <a:latin typeface="Times New Roman" pitchFamily="18" charset="0"/>
              </a:rPr>
              <a:t> &gt; </a:t>
            </a:r>
            <a:r>
              <a:rPr lang="en-US" sz="2400">
                <a:latin typeface="Times New Roman" pitchFamily="18" charset="0"/>
              </a:rPr>
              <a:t>x</a:t>
            </a:r>
            <a:r>
              <a:rPr lang="en-US" sz="2400" i="0">
                <a:latin typeface="Tahoma" pitchFamily="34" charset="0"/>
              </a:rPr>
              <a:t> for big enough </a:t>
            </a:r>
            <a:r>
              <a:rPr lang="en-US" sz="2400">
                <a:latin typeface="Times New Roman" pitchFamily="18" charset="0"/>
              </a:rPr>
              <a:t>x</a:t>
            </a:r>
            <a:r>
              <a:rPr lang="en-US" sz="2400" i="0">
                <a:latin typeface="Tahoma" pitchFamily="34" charset="0"/>
              </a:rPr>
              <a:t> </a:t>
            </a:r>
          </a:p>
        </p:txBody>
      </p:sp>
      <p:sp>
        <p:nvSpPr>
          <p:cNvPr id="261130" name="Line 10"/>
          <p:cNvSpPr>
            <a:spLocks noChangeShapeType="1"/>
          </p:cNvSpPr>
          <p:nvPr/>
        </p:nvSpPr>
        <p:spPr bwMode="auto">
          <a:xfrm>
            <a:off x="1143000" y="5105400"/>
            <a:ext cx="2438400" cy="609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261131" name="Line 11"/>
          <p:cNvSpPr>
            <a:spLocks noChangeShapeType="1"/>
          </p:cNvSpPr>
          <p:nvPr/>
        </p:nvSpPr>
        <p:spPr bwMode="auto">
          <a:xfrm flipH="1">
            <a:off x="1143000" y="5105400"/>
            <a:ext cx="2438400" cy="6096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261135" name="Rectangle 15"/>
          <p:cNvSpPr>
            <a:spLocks noChangeArrowheads="1"/>
          </p:cNvSpPr>
          <p:nvPr/>
        </p:nvSpPr>
        <p:spPr bwMode="auto">
          <a:xfrm>
            <a:off x="762000" y="1371600"/>
            <a:ext cx="7620000" cy="2262158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800" b="1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f (n) </a:t>
            </a:r>
            <a:r>
              <a:rPr lang="en-US" sz="2800" b="1" u="sng" dirty="0"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 </a:t>
            </a:r>
            <a:r>
              <a:rPr lang="en-US" sz="2800" b="1" u="sng" dirty="0">
                <a:latin typeface="Segoe UI" pitchFamily="34" charset="0"/>
                <a:ea typeface="Segoe UI" pitchFamily="34" charset="0"/>
                <a:cs typeface="Segoe UI" pitchFamily="34" charset="0"/>
              </a:rPr>
              <a:t>O (g (n)) means:</a:t>
            </a:r>
            <a:r>
              <a:rPr lang="en-US" sz="2800" i="0" dirty="0">
                <a:latin typeface="Segoe UI" pitchFamily="34" charset="0"/>
                <a:ea typeface="Segoe UI" pitchFamily="34" charset="0"/>
                <a:cs typeface="Segoe UI" pitchFamily="34" charset="0"/>
              </a:rPr>
              <a:t> there are positive constants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</a:t>
            </a: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i="0" dirty="0">
                <a:latin typeface="Segoe UI" pitchFamily="34" charset="0"/>
                <a:ea typeface="Segoe UI" pitchFamily="34" charset="0"/>
                <a:cs typeface="Segoe UI" pitchFamily="34" charset="0"/>
              </a:rPr>
              <a:t>and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="1" i="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i="0" dirty="0">
                <a:latin typeface="Segoe UI" pitchFamily="34" charset="0"/>
                <a:ea typeface="Segoe UI" pitchFamily="34" charset="0"/>
                <a:cs typeface="Segoe UI" pitchFamily="34" charset="0"/>
              </a:rPr>
              <a:t> such that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f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 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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g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="1" i="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 </a:t>
            </a:r>
            <a:r>
              <a:rPr lang="en-US" sz="2800" i="0" dirty="0">
                <a:latin typeface="Segoe UI" pitchFamily="34" charset="0"/>
                <a:ea typeface="Segoe UI" pitchFamily="34" charset="0"/>
                <a:cs typeface="Segoe UI" pitchFamily="34" charset="0"/>
              </a:rPr>
              <a:t>for all values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</a:t>
            </a: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="1" i="0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i="0" dirty="0">
                <a:latin typeface="Segoe UI" pitchFamily="34" charset="0"/>
                <a:ea typeface="Segoe UI" pitchFamily="34" charset="0"/>
                <a:cs typeface="Segoe UI" pitchFamily="34" charset="0"/>
              </a:rPr>
              <a:t>. </a:t>
            </a:r>
          </a:p>
          <a:p>
            <a:pPr algn="l">
              <a:spcBef>
                <a:spcPct val="50000"/>
              </a:spcBef>
            </a:pPr>
            <a:endParaRPr lang="en-US" sz="1000" i="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l">
              <a:spcBef>
                <a:spcPct val="50000"/>
              </a:spcBef>
            </a:pPr>
            <a:r>
              <a:rPr lang="en-US" sz="2800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Then: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4" grpId="0"/>
      <p:bldP spid="261125" grpId="0"/>
      <p:bldP spid="261126" grpId="0"/>
      <p:bldP spid="261127" grpId="0"/>
      <p:bldP spid="261128" grpId="0"/>
      <p:bldP spid="261129" grpId="0"/>
      <p:bldP spid="261130" grpId="0" animBg="1"/>
      <p:bldP spid="2611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620000" cy="8382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O-Notation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1364" name="Oval 4"/>
          <p:cNvSpPr>
            <a:spLocks noChangeArrowheads="1"/>
          </p:cNvSpPr>
          <p:nvPr/>
        </p:nvSpPr>
        <p:spPr bwMode="auto">
          <a:xfrm>
            <a:off x="2514600" y="1676400"/>
            <a:ext cx="4572000" cy="4114800"/>
          </a:xfrm>
          <a:prstGeom prst="ellipse">
            <a:avLst/>
          </a:prstGeom>
          <a:noFill/>
          <a:ln w="31750">
            <a:solidFill>
              <a:srgbClr val="DD33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ar-EG"/>
          </a:p>
        </p:txBody>
      </p:sp>
      <p:sp>
        <p:nvSpPr>
          <p:cNvPr id="271365" name="Text Box 5"/>
          <p:cNvSpPr txBox="1">
            <a:spLocks noChangeArrowheads="1"/>
          </p:cNvSpPr>
          <p:nvPr/>
        </p:nvSpPr>
        <p:spPr bwMode="auto">
          <a:xfrm>
            <a:off x="2646363" y="1404938"/>
            <a:ext cx="1024639" cy="52322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O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en-US" sz="2800" b="1" i="0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3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271367" name="Oval 7"/>
          <p:cNvSpPr>
            <a:spLocks noChangeArrowheads="1"/>
          </p:cNvSpPr>
          <p:nvPr/>
        </p:nvSpPr>
        <p:spPr bwMode="auto">
          <a:xfrm>
            <a:off x="3444875" y="2724150"/>
            <a:ext cx="2514600" cy="2438400"/>
          </a:xfrm>
          <a:prstGeom prst="ellipse">
            <a:avLst/>
          </a:prstGeom>
          <a:noFill/>
          <a:ln w="31750">
            <a:solidFill>
              <a:srgbClr val="DD33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ar-EG"/>
          </a:p>
        </p:txBody>
      </p:sp>
      <p:sp>
        <p:nvSpPr>
          <p:cNvPr id="271369" name="Text Box 9"/>
          <p:cNvSpPr txBox="1">
            <a:spLocks noChangeArrowheads="1"/>
          </p:cNvSpPr>
          <p:nvPr/>
        </p:nvSpPr>
        <p:spPr bwMode="auto">
          <a:xfrm>
            <a:off x="5210175" y="2274888"/>
            <a:ext cx="1024639" cy="52322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O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en-US" sz="2800" b="1" i="0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</a:p>
        </p:txBody>
      </p:sp>
      <p:sp>
        <p:nvSpPr>
          <p:cNvPr id="271370" name="Oval 10"/>
          <p:cNvSpPr>
            <a:spLocks noChangeArrowheads="1"/>
          </p:cNvSpPr>
          <p:nvPr/>
        </p:nvSpPr>
        <p:spPr bwMode="auto">
          <a:xfrm>
            <a:off x="3200400" y="2667000"/>
            <a:ext cx="76200" cy="7620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ar-EG"/>
          </a:p>
        </p:txBody>
      </p:sp>
      <p:sp>
        <p:nvSpPr>
          <p:cNvPr id="271371" name="Text Box 11"/>
          <p:cNvSpPr txBox="1">
            <a:spLocks noChangeArrowheads="1"/>
          </p:cNvSpPr>
          <p:nvPr/>
        </p:nvSpPr>
        <p:spPr bwMode="auto">
          <a:xfrm>
            <a:off x="457200" y="3048000"/>
            <a:ext cx="1630575" cy="52322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f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(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n</a:t>
            </a:r>
            <a:r>
              <a:rPr lang="en-US"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)</a:t>
            </a:r>
            <a:r>
              <a:rPr lang="en-US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 = n</a:t>
            </a:r>
            <a:r>
              <a:rPr lang="en-US" sz="2800" b="1" i="0" baseline="30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2.5</a:t>
            </a:r>
            <a:endParaRPr lang="en-US" sz="2800" b="1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271372" name="Line 12"/>
          <p:cNvSpPr>
            <a:spLocks noChangeShapeType="1"/>
          </p:cNvSpPr>
          <p:nvPr/>
        </p:nvSpPr>
        <p:spPr bwMode="auto">
          <a:xfrm flipV="1">
            <a:off x="2209800" y="2743200"/>
            <a:ext cx="914400" cy="6096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271373" name="Line 13"/>
          <p:cNvSpPr>
            <a:spLocks noChangeShapeType="1"/>
          </p:cNvSpPr>
          <p:nvPr/>
        </p:nvSpPr>
        <p:spPr bwMode="auto">
          <a:xfrm flipH="1">
            <a:off x="5486400" y="2819400"/>
            <a:ext cx="228600" cy="152400"/>
          </a:xfrm>
          <a:prstGeom prst="line">
            <a:avLst/>
          </a:prstGeom>
          <a:noFill/>
          <a:ln w="31750">
            <a:solidFill>
              <a:srgbClr val="DD3300"/>
            </a:solidFill>
            <a:round/>
            <a:headEnd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271374" name="Line 14"/>
          <p:cNvSpPr>
            <a:spLocks noChangeShapeType="1"/>
          </p:cNvSpPr>
          <p:nvPr/>
        </p:nvSpPr>
        <p:spPr bwMode="auto">
          <a:xfrm>
            <a:off x="3200400" y="1981200"/>
            <a:ext cx="152400" cy="152400"/>
          </a:xfrm>
          <a:prstGeom prst="line">
            <a:avLst/>
          </a:prstGeom>
          <a:noFill/>
          <a:ln w="31750">
            <a:solidFill>
              <a:srgbClr val="DD3300"/>
            </a:solidFill>
            <a:round/>
            <a:headEnd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271375" name="Rectangle 15"/>
          <p:cNvSpPr>
            <a:spLocks noChangeArrowheads="1"/>
          </p:cNvSpPr>
          <p:nvPr/>
        </p:nvSpPr>
        <p:spPr bwMode="auto">
          <a:xfrm>
            <a:off x="6477000" y="1457980"/>
            <a:ext cx="2395207" cy="52322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= 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12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8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2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+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n</a:t>
            </a:r>
            <a:endParaRPr lang="en-US" sz="2800" b="1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71377" name="Oval 17"/>
          <p:cNvSpPr>
            <a:spLocks noChangeArrowheads="1"/>
          </p:cNvSpPr>
          <p:nvPr/>
        </p:nvSpPr>
        <p:spPr bwMode="auto">
          <a:xfrm>
            <a:off x="5791200" y="3352800"/>
            <a:ext cx="76200" cy="7620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ar-EG"/>
          </a:p>
        </p:txBody>
      </p:sp>
      <p:sp>
        <p:nvSpPr>
          <p:cNvPr id="271378" name="Line 18"/>
          <p:cNvSpPr>
            <a:spLocks noChangeShapeType="1"/>
          </p:cNvSpPr>
          <p:nvPr/>
        </p:nvSpPr>
        <p:spPr bwMode="auto">
          <a:xfrm flipH="1">
            <a:off x="5834393" y="2057400"/>
            <a:ext cx="1981200" cy="12954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spAutoFit/>
          </a:bodyPr>
          <a:lstStyle/>
          <a:p>
            <a:endParaRPr lang="ar-EG"/>
          </a:p>
        </p:txBody>
      </p:sp>
      <p:sp>
        <p:nvSpPr>
          <p:cNvPr id="271379" name="Rectangle 19"/>
          <p:cNvSpPr>
            <a:spLocks noChangeArrowheads="1"/>
          </p:cNvSpPr>
          <p:nvPr/>
        </p:nvSpPr>
        <p:spPr bwMode="auto">
          <a:xfrm>
            <a:off x="533400" y="4876800"/>
            <a:ext cx="2310248" cy="523220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f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)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= n</a:t>
            </a:r>
            <a:r>
              <a:rPr lang="en-US" sz="28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3.1</a:t>
            </a:r>
            <a:r>
              <a:rPr lang="en-US" sz="28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 –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n</a:t>
            </a:r>
            <a:r>
              <a:rPr lang="en-US" sz="2800" b="1" i="0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 pitchFamily="18" charset="2"/>
              </a:rPr>
              <a:t>2</a:t>
            </a:r>
          </a:p>
        </p:txBody>
      </p:sp>
      <p:sp>
        <p:nvSpPr>
          <p:cNvPr id="271380" name="Oval 20"/>
          <p:cNvSpPr>
            <a:spLocks noChangeArrowheads="1"/>
          </p:cNvSpPr>
          <p:nvPr/>
        </p:nvSpPr>
        <p:spPr bwMode="auto">
          <a:xfrm>
            <a:off x="2209800" y="4495800"/>
            <a:ext cx="76200" cy="7620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ar-EG"/>
          </a:p>
        </p:txBody>
      </p:sp>
      <p:sp>
        <p:nvSpPr>
          <p:cNvPr id="271381" name="Line 21"/>
          <p:cNvSpPr>
            <a:spLocks noChangeShapeType="1"/>
          </p:cNvSpPr>
          <p:nvPr/>
        </p:nvSpPr>
        <p:spPr bwMode="auto">
          <a:xfrm flipV="1">
            <a:off x="1905000" y="4572000"/>
            <a:ext cx="304800" cy="304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>
            <a:spAutoFit/>
          </a:bodyPr>
          <a:lstStyle/>
          <a:p>
            <a:endParaRPr lang="ar-EG"/>
          </a:p>
        </p:txBody>
      </p:sp>
      <p:sp>
        <p:nvSpPr>
          <p:cNvPr id="19" name="Rectangle 18"/>
          <p:cNvSpPr/>
          <p:nvPr/>
        </p:nvSpPr>
        <p:spPr>
          <a:xfrm>
            <a:off x="457200" y="5920669"/>
            <a:ext cx="85344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Hence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 only the fastest-growing term in f matters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7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1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7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7" grpId="0" animBg="1"/>
      <p:bldP spid="271369" grpId="0"/>
      <p:bldP spid="271370" grpId="0" animBg="1"/>
      <p:bldP spid="271371" grpId="0"/>
      <p:bldP spid="271372" grpId="0" animBg="1"/>
      <p:bldP spid="271373" grpId="0" animBg="1"/>
      <p:bldP spid="271375" grpId="0"/>
      <p:bldP spid="271377" grpId="0" animBg="1"/>
      <p:bldP spid="271378" grpId="0" animBg="1"/>
      <p:bldP spid="271379" grpId="0"/>
      <p:bldP spid="271380" grpId="0" animBg="1"/>
      <p:bldP spid="2713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28600"/>
            <a:ext cx="7924800" cy="838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O-Notation</a:t>
            </a:r>
            <a:r>
              <a:rPr lang="tr-TR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Examples</a:t>
            </a:r>
            <a:endParaRPr lang="en-US" sz="20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09600"/>
            <a:ext cx="8610600" cy="5334000"/>
          </a:xfrm>
        </p:spPr>
        <p:txBody>
          <a:bodyPr>
            <a:noAutofit/>
          </a:bodyPr>
          <a:lstStyle/>
          <a:p>
            <a:r>
              <a:rPr lang="en-US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Example :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Using basic definition, we show that </a:t>
            </a:r>
          </a:p>
          <a:p>
            <a:pPr algn="ctr"/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en-US" sz="2400" b="1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+ 10n ϵ O(n</a:t>
            </a:r>
            <a:r>
              <a:rPr lang="en-US" sz="2400" b="1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Consider, 10 ≤ n for n ≥ 10		 </a:t>
            </a:r>
            <a:r>
              <a:rPr lang="pt-BR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 obvious !)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10n ≤ n</a:t>
            </a:r>
            <a:r>
              <a:rPr lang="en-US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 for n ≥ 10 	</a:t>
            </a:r>
            <a:r>
              <a:rPr 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 Multiplying both sides with n )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pt-BR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+10n ≤ 3n</a:t>
            </a:r>
            <a:r>
              <a:rPr lang="pt-BR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n</a:t>
            </a:r>
            <a:r>
              <a:rPr lang="pt-BR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for n ≥ 10 </a:t>
            </a:r>
            <a:r>
              <a:rPr lang="pt-BR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 Adding 3n</a:t>
            </a:r>
            <a:r>
              <a:rPr lang="pt-BR" sz="2400" baseline="30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to both sides 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	=4n</a:t>
            </a:r>
            <a:r>
              <a:rPr lang="en-US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				</a:t>
            </a:r>
            <a:r>
              <a:rPr 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(Simplifying )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pt-BR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 n ≤ c.n</a:t>
            </a:r>
            <a:r>
              <a:rPr lang="pt-BR" sz="2400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for n ≥ n</a:t>
            </a:r>
            <a:r>
              <a:rPr lang="pt-BR" sz="24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    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where c =4 and n</a:t>
            </a:r>
            <a:r>
              <a:rPr lang="pt-BR" sz="2400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= 10 </a:t>
            </a:r>
            <a:r>
              <a:rPr lang="pt-BR" sz="24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(Solution)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Therefore, it follows from the basic definition that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			3n</a:t>
            </a:r>
            <a:r>
              <a:rPr lang="en-US" sz="24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+10n = O(n</a:t>
            </a:r>
            <a:r>
              <a:rPr lang="en-US" sz="2400" b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The choice of constant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is not unique. However, for each different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there is a corresponding value of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400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which satisfies the basic relation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This behavior is  illustrated by the next example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58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86868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Example :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In the preceding example it was shown that 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en-US" sz="2400" b="1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+ 10n ≤ c.n</a:t>
            </a:r>
            <a:r>
              <a:rPr lang="en-US" sz="2400" b="1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for </a:t>
            </a:r>
            <a:r>
              <a:rPr lang="en-US" sz="24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c=4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en-US" sz="24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400" i="1" baseline="-25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4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=10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We now show that the relation holds true for a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different value of c 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and corresponding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400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Consider 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 </a:t>
            </a: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≤ 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pt-BR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for n ≥ 1		    ( Obvious)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10n ≤ 10n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for n≥ 1	               (Multiplying both sides with 10 )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 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+10 n ≤ 3n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for n≥ 1      ( Adding 3n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on both sides)</a:t>
            </a:r>
          </a:p>
          <a:p>
            <a:pPr marL="0" indent="0">
              <a:buNone/>
            </a:pP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pt-BR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+10n ≤ 13n</a:t>
            </a:r>
            <a:r>
              <a:rPr lang="pt-BR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  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for n ≥ 1         	( Simplifying )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Or, </a:t>
            </a:r>
          </a:p>
          <a:p>
            <a:pPr marL="0" indent="0">
              <a:buNone/>
            </a:pPr>
            <a:r>
              <a:rPr lang="pt-BR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pt-BR" sz="2400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+10n ≤ c.n</a:t>
            </a:r>
            <a:r>
              <a:rPr lang="pt-BR" sz="2400" i="1" baseline="30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 for n ≥ n</a:t>
            </a:r>
            <a:r>
              <a:rPr lang="pt-BR" sz="2400" i="1" baseline="-25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0 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where </a:t>
            </a:r>
            <a:r>
              <a:rPr lang="pt-BR" sz="24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c=13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, </a:t>
            </a:r>
            <a:r>
              <a:rPr lang="pt-BR" sz="24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n0=1</a:t>
            </a:r>
            <a:r>
              <a:rPr lang="pt-BR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   ( Solution 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Therefore, by basic definition,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3n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+ 10n = O(n</a:t>
            </a:r>
            <a:r>
              <a:rPr lang="en-US" sz="2400" i="1" baseline="30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  <a:endParaRPr lang="en-US" sz="2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926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O-Notation Example</a:t>
            </a:r>
            <a:br>
              <a:rPr lang="en-US" sz="3200" dirty="0"/>
            </a:br>
            <a:r>
              <a:rPr lang="en-US" sz="3200" dirty="0">
                <a:solidFill>
                  <a:srgbClr val="FF0000"/>
                </a:solidFill>
              </a:rPr>
              <a:t>Comparison of Growth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8976" y="1600200"/>
            <a:ext cx="8094024" cy="437356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results of analysis in the preceding examples are plotted in the next diagram.</a:t>
            </a: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It can be seen that the function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cg(n)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4n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 c= 4)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overshoots the function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f(n)= 3n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+ 10n  for n</a:t>
            </a:r>
            <a:r>
              <a:rPr lang="en-US" sz="28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=10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. </a:t>
            </a: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Also, the function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cg(n)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13n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 c =13 )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grows faster than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f(n) = 3n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+ 10n for n</a:t>
            </a:r>
            <a:r>
              <a:rPr lang="en-US" sz="28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=1</a:t>
            </a: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56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385244"/>
            <a:ext cx="8229600" cy="396556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Growth of functions 13n</a:t>
            </a:r>
            <a:r>
              <a:rPr lang="en-US" i="1" baseline="30000" dirty="0"/>
              <a:t>2</a:t>
            </a:r>
            <a:r>
              <a:rPr lang="en-US" i="1" dirty="0"/>
              <a:t> and 4n</a:t>
            </a:r>
            <a:r>
              <a:rPr lang="en-US" i="1" baseline="30000" dirty="0"/>
              <a:t>2 </a:t>
            </a:r>
            <a:r>
              <a:rPr lang="en-US" i="1" dirty="0"/>
              <a:t>versus the function 3n</a:t>
            </a:r>
            <a:r>
              <a:rPr lang="en-US" i="1" baseline="30000" dirty="0"/>
              <a:t>2</a:t>
            </a:r>
            <a:r>
              <a:rPr lang="en-US" i="1" dirty="0"/>
              <a:t> + 10 n</a:t>
            </a:r>
            <a:endParaRPr 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242310"/>
            <a:ext cx="8915399" cy="7112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81600" y="1371600"/>
            <a:ext cx="14430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33FF"/>
                </a:solidFill>
              </a:rPr>
              <a:t>Tight upper</a:t>
            </a:r>
          </a:p>
          <a:p>
            <a:r>
              <a:rPr lang="en-US" dirty="0">
                <a:solidFill>
                  <a:srgbClr val="3333FF"/>
                </a:solidFill>
              </a:rPr>
              <a:t> bound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096000" y="1905000"/>
            <a:ext cx="4572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41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2800" dirty="0"/>
              <a:t>Ω</a:t>
            </a:r>
            <a:r>
              <a:rPr lang="en-US" sz="2800" dirty="0"/>
              <a:t>-Notation: </a:t>
            </a:r>
            <a:r>
              <a:rPr lang="en-US" sz="2800" dirty="0">
                <a:solidFill>
                  <a:srgbClr val="FF0000"/>
                </a:solidFill>
              </a:rPr>
              <a:t>DEFINITION</a:t>
            </a:r>
            <a:endParaRPr lang="en-US" sz="28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56703"/>
            <a:ext cx="6553200" cy="5015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247507"/>
            <a:ext cx="4572000" cy="181588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pPr algn="ctr"/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Best Case: Lower Bound (Big </a:t>
            </a:r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)</a:t>
            </a:r>
            <a:endParaRPr lang="en-US" b="1" u="sng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endParaRPr lang="en-US" sz="1100" b="1" u="sng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class of functions f(n) that grow at </a:t>
            </a:r>
            <a:r>
              <a:rPr lang="en-US" altLang="en-US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least as fast as 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g(n) </a:t>
            </a:r>
          </a:p>
          <a:p>
            <a:pPr algn="ctr"/>
            <a:endParaRPr lang="en-US" altLang="en-US" sz="11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If order of growth of  f(n) ≥ order  of growth of g(n) (within constant multiple).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199" y="6172200"/>
            <a:ext cx="2694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f(n) ≥ c.g(n) for all n ≥ n</a:t>
            </a:r>
            <a:r>
              <a:rPr lang="pt-BR" i="1" baseline="-250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5840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257" y="152400"/>
            <a:ext cx="7620000" cy="838200"/>
          </a:xfrm>
        </p:spPr>
        <p:txBody>
          <a:bodyPr>
            <a:normAutofit/>
          </a:bodyPr>
          <a:lstStyle/>
          <a:p>
            <a:r>
              <a:rPr lang="el-GR" sz="2800" dirty="0"/>
              <a:t>Ω</a:t>
            </a:r>
            <a:r>
              <a:rPr lang="en-US" sz="2800" dirty="0"/>
              <a:t>-Notation: </a:t>
            </a:r>
            <a:r>
              <a:rPr lang="en-US" sz="2800" dirty="0">
                <a:solidFill>
                  <a:srgbClr val="FF0000"/>
                </a:solidFill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416257" y="1219200"/>
                <a:ext cx="8458200" cy="46783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Font typeface="Arial" pitchFamily="34" charset="0"/>
                  <a:buNone/>
                  <a:defRPr sz="2200" b="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20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 baseline="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Let f and g be functions from the set of integers or the set of real numbers to the set of real numbers. We say that f(x) is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  <a:sym typeface="Symbol"/>
                  </a:rPr>
                  <a:t>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(g(x)) or f(x) =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  <a:sym typeface="Symbol"/>
                  </a:rPr>
                  <a:t>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(g(x))</a:t>
                </a:r>
                <a:endParaRPr lang="tr-TR" sz="28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just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(read as: “f(x)</a:t>
                </a:r>
                <a:r>
                  <a:rPr lang="tr-TR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is big-omega of g(x)”) if there are constants C and n</a:t>
                </a:r>
                <a:r>
                  <a:rPr lang="en-US" sz="2800" baseline="-250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0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such that</a:t>
                </a:r>
              </a:p>
              <a:p>
                <a:pPr algn="ctr"/>
                <a:r>
                  <a:rPr lang="pt-BR" sz="3200" i="1" dirty="0">
                    <a:solidFill>
                      <a:srgbClr val="FF000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c.g(n) ≤ f(n) for all n ≥ n</a:t>
                </a:r>
                <a:r>
                  <a:rPr lang="pt-BR" sz="3200" i="1" baseline="-25000" dirty="0">
                    <a:solidFill>
                      <a:srgbClr val="FF000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0</a:t>
                </a:r>
              </a:p>
              <a:p>
                <a:pPr algn="ctr" fontAlgn="auto"/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Segoe UI" pitchFamily="34" charset="0"/>
                            <a:cs typeface="Segoe UI" pitchFamily="34" charset="0"/>
                          </a:rPr>
                        </m:ctrlPr>
                      </m:funcPr>
                      <m:fName>
                        <m:r>
                          <a:rPr lang="en-US" sz="2800">
                            <a:solidFill>
                              <a:srgbClr val="0000CC"/>
                            </a:solidFill>
                            <a:latin typeface="Cambria Math"/>
                            <a:ea typeface="Segoe UI" pitchFamily="34" charset="0"/>
                            <a:cs typeface="Segoe UI" pitchFamily="34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Segoe UI" pitchFamily="34" charset="0"/>
                                <a:cs typeface="Segoe UI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→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Segoe UI" pitchFamily="34" charset="0"/>
                                <a:cs typeface="Segoe UI" pitchFamily="34" charset="0"/>
                              </a:rPr>
                            </m:ctrlPr>
                          </m:fPr>
                          <m:num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𝑓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(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𝑔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(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</a:t>
                </a:r>
                <a:r>
                  <a:rPr lang="pt-BR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=</a:t>
                </a:r>
                <a:r>
                  <a:rPr lang="en-US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c ,</a:t>
                </a:r>
                <a:endParaRPr lang="tr-TR" sz="2800" dirty="0">
                  <a:solidFill>
                    <a:srgbClr val="0000CC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ctr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where c is a positive constant such that 0 &lt; c ≤ ∞</a:t>
                </a:r>
                <a:endParaRPr lang="pt-BR" sz="28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just" fontAlgn="auto"/>
                <a:endParaRPr lang="pt-BR" sz="36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57" y="1219200"/>
                <a:ext cx="8458200" cy="4678363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441" t="-1304" r="-1441" b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07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Ω</a:t>
            </a:r>
            <a:r>
              <a:rPr lang="en-US" dirty="0"/>
              <a:t>-Notation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Basic Method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9154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Example</a:t>
            </a:r>
            <a:r>
              <a:rPr lang="en-US" sz="2800" dirty="0">
                <a:solidFill>
                  <a:srgbClr val="FF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: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Using basic definition, we show that</a:t>
            </a:r>
          </a:p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ϵ Ω(n</a:t>
            </a:r>
            <a:r>
              <a:rPr 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). 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For, n</a:t>
            </a:r>
            <a:r>
              <a:rPr lang="pt-BR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≥ n</a:t>
            </a:r>
            <a:r>
              <a:rPr lang="pt-BR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		for n ≥ 0 	 	</a:t>
            </a:r>
          </a:p>
          <a:p>
            <a:pPr marL="0" indent="0">
              <a:buNone/>
            </a:pPr>
            <a:endParaRPr lang="pt-BR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i.e. we can select c=1 and n</a:t>
            </a:r>
            <a:r>
              <a:rPr lang="en-US" sz="2800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29081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399"/>
            <a:ext cx="8991600" cy="615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8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θ-</a:t>
            </a:r>
            <a:r>
              <a:rPr lang="en-US" dirty="0"/>
              <a:t>Notation: </a:t>
            </a:r>
            <a:r>
              <a:rPr lang="en-US" sz="3100" dirty="0">
                <a:solidFill>
                  <a:srgbClr val="FF0000"/>
                </a:solidFill>
              </a:rPr>
              <a:t>Definition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381250"/>
            <a:ext cx="6008444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247507"/>
            <a:ext cx="4572000" cy="180818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>
            <a:spAutoFit/>
          </a:bodyPr>
          <a:lstStyle/>
          <a:p>
            <a:pPr algn="ctr"/>
            <a:r>
              <a:rPr lang="en-US" sz="1600" dirty="0"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	</a:t>
            </a:r>
            <a:r>
              <a:rPr lang="en-US" b="1" u="sng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Exact (Big  complexity)</a:t>
            </a:r>
          </a:p>
          <a:p>
            <a:pPr algn="ctr"/>
            <a:endParaRPr lang="en-US" sz="1100" b="1" u="sng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Class of functions f(n) that grow </a:t>
            </a:r>
            <a:r>
              <a:rPr lang="en-US" altLang="en-US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at same rate</a:t>
            </a:r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as g(n) </a:t>
            </a:r>
          </a:p>
          <a:p>
            <a:pPr algn="ctr"/>
            <a:endParaRPr lang="en-US" altLang="en-US" sz="10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algn="ctr"/>
            <a:r>
              <a:rPr lang="en-US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Order of growth of  f(n) = order  of growth of g(n) (within constant multiples).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42632" y="1307068"/>
            <a:ext cx="361188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400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c2.g(n) ≤ f(n) ≤ c1.g(n)     </a:t>
            </a:r>
          </a:p>
          <a:p>
            <a:pPr algn="ctr"/>
            <a:r>
              <a:rPr lang="pt-BR" sz="2400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for all n ≥ n0</a:t>
            </a:r>
            <a:endParaRPr lang="pt-BR" sz="2800" i="1" baseline="-25000" dirty="0">
              <a:solidFill>
                <a:srgbClr val="FF0000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935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7620000" cy="838200"/>
          </a:xfrm>
        </p:spPr>
        <p:txBody>
          <a:bodyPr>
            <a:normAutofit/>
          </a:bodyPr>
          <a:lstStyle/>
          <a:p>
            <a:r>
              <a:rPr lang="el-GR" sz="2800" dirty="0"/>
              <a:t>θ-</a:t>
            </a:r>
            <a:r>
              <a:rPr lang="en-US" sz="2800" dirty="0"/>
              <a:t>Notation: </a:t>
            </a:r>
            <a:r>
              <a:rPr lang="en-US" sz="2800" dirty="0">
                <a:solidFill>
                  <a:srgbClr val="FF0000"/>
                </a:solidFill>
              </a:rPr>
              <a:t>Definition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416257" y="1219200"/>
                <a:ext cx="8458200" cy="46783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0" indent="0" algn="l" defTabSz="9144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Font typeface="Arial" pitchFamily="34" charset="0"/>
                  <a:buNone/>
                  <a:defRPr sz="2200" b="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20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800" kern="1200" baseline="0">
                    <a:solidFill>
                      <a:schemeClr val="bg1">
                        <a:lumMod val="50000"/>
                      </a:schemeClr>
                    </a:solidFill>
                    <a:latin typeface="Segoe UI Light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Clr>
                    <a:schemeClr val="tx2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Let f and g be functions from the set of integers or the set of real numbers to the set of real numbers. We say that f(x) =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  <a:sym typeface="Symbol"/>
                  </a:rPr>
                  <a:t>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(g(x)) or f(x) is in order (g(x))</a:t>
                </a:r>
                <a:endParaRPr lang="tr-TR" sz="28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ctr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if f(x) = O(g(x)) and f(x) =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  <a:sym typeface="Symbol"/>
                  </a:rPr>
                  <a:t>(g(x)).</a:t>
                </a:r>
                <a:endParaRPr lang="en-US" sz="28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such that for </a:t>
                </a:r>
                <a:r>
                  <a:rPr lang="en-US" sz="2800" i="1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some positive constants c1 , c2 </a:t>
                </a:r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and </a:t>
                </a:r>
                <a:r>
                  <a:rPr lang="en-US" sz="2800" i="1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positive integer n</a:t>
                </a:r>
                <a:r>
                  <a:rPr lang="en-US" sz="2800" i="1" baseline="-250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0</a:t>
                </a:r>
                <a:r>
                  <a:rPr lang="en-US" sz="2800" i="1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,</a:t>
                </a:r>
              </a:p>
              <a:p>
                <a:pPr algn="ctr"/>
                <a:r>
                  <a:rPr lang="en-US" sz="2800" i="1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</a:t>
                </a:r>
                <a:r>
                  <a:rPr lang="pt-BR" sz="2800" i="1" dirty="0">
                    <a:solidFill>
                      <a:srgbClr val="FF0000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0 &lt; c2.g(n) ≤ f(n) ≤ c1.g(n)      for all n ≥ n0</a:t>
                </a:r>
                <a:endParaRPr lang="pt-BR" sz="3200" i="1" baseline="-25000" dirty="0">
                  <a:solidFill>
                    <a:srgbClr val="FF0000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ctr" fontAlgn="auto"/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Segoe UI" pitchFamily="34" charset="0"/>
                            <a:cs typeface="Segoe UI" pitchFamily="34" charset="0"/>
                          </a:rPr>
                        </m:ctrlPr>
                      </m:funcPr>
                      <m:fName>
                        <m:r>
                          <a:rPr lang="en-US" sz="2800">
                            <a:solidFill>
                              <a:srgbClr val="0000CC"/>
                            </a:solidFill>
                            <a:latin typeface="Cambria Math"/>
                            <a:ea typeface="Segoe UI" pitchFamily="34" charset="0"/>
                            <a:cs typeface="Segoe UI" pitchFamily="34" charset="0"/>
                          </a:rPr>
                          <m:t> </m:t>
                        </m:r>
                        <m:limLow>
                          <m:limLowPr>
                            <m:ctrlPr>
                              <a:rPr 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Segoe UI" pitchFamily="34" charset="0"/>
                                <a:cs typeface="Segoe UI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→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2800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Segoe UI" pitchFamily="34" charset="0"/>
                                <a:cs typeface="Segoe UI" pitchFamily="34" charset="0"/>
                              </a:rPr>
                            </m:ctrlPr>
                          </m:fPr>
                          <m:num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𝑓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(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𝑔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(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𝑛</m:t>
                            </m:r>
                            <m:r>
                              <a:rPr lang="en-US" sz="2800">
                                <a:solidFill>
                                  <a:srgbClr val="0000CC"/>
                                </a:solidFill>
                                <a:latin typeface="Cambria Math"/>
                                <a:ea typeface="Segoe UI" pitchFamily="34" charset="0"/>
                                <a:cs typeface="Segoe UI" pitchFamily="34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</a:t>
                </a:r>
                <a:r>
                  <a:rPr lang="pt-BR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=</a:t>
                </a:r>
                <a:r>
                  <a:rPr lang="en-US" sz="2800" dirty="0">
                    <a:solidFill>
                      <a:srgbClr val="0000CC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c ,</a:t>
                </a:r>
                <a:endParaRPr lang="tr-TR" sz="2800" dirty="0">
                  <a:solidFill>
                    <a:srgbClr val="0000CC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ctr" fontAlgn="auto"/>
                <a:r>
                  <a:rPr lang="en-US" sz="2800" dirty="0">
                    <a:solidFill>
                      <a:schemeClr val="tx1"/>
                    </a:solidFill>
                    <a:latin typeface="Segoe UI" pitchFamily="34" charset="0"/>
                    <a:ea typeface="Segoe UI" pitchFamily="34" charset="0"/>
                    <a:cs typeface="Segoe UI" pitchFamily="34" charset="0"/>
                  </a:rPr>
                  <a:t> where c is a positive constant such that 0 &lt; c &lt; ∞</a:t>
                </a:r>
                <a:endParaRPr lang="pt-BR" sz="28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  <a:p>
                <a:pPr algn="just" fontAlgn="auto"/>
                <a:endParaRPr lang="pt-BR" sz="3600" dirty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57" y="1219200"/>
                <a:ext cx="8458200" cy="4678363"/>
              </a:xfrm>
              <a:prstGeom prst="rect">
                <a:avLst/>
              </a:prstGeom>
              <a:blipFill rotWithShape="1">
                <a:blip r:embed="rId2" cstate="print"/>
                <a:stretch>
                  <a:fillRect l="-1225" t="-1956" r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90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839200" cy="6400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33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Example: 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We show that ½ n (n-1)</a:t>
            </a: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ϵ θ(n</a:t>
            </a:r>
            <a:r>
              <a:rPr lang="en-US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).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We need to prove that </a:t>
            </a:r>
          </a:p>
          <a:p>
            <a:pPr marL="0" indent="0">
              <a:buNone/>
            </a:pP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</a:t>
            </a:r>
            <a:r>
              <a:rPr lang="en-US" sz="2400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</a:t>
            </a:r>
            <a:r>
              <a:rPr lang="en-US" sz="2400" i="1" baseline="-250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 </a:t>
            </a:r>
            <a:r>
              <a:rPr lang="en-US" sz="2400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g(n) ≤ F(n) ≤ c</a:t>
            </a:r>
            <a:r>
              <a:rPr lang="en-US" sz="2400" i="1" baseline="-25000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 </a:t>
            </a:r>
            <a:r>
              <a:rPr lang="en-US" sz="2400" i="1" dirty="0">
                <a:solidFill>
                  <a:srgbClr val="FF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g(n)</a:t>
            </a: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 for all n ≥ n</a:t>
            </a:r>
            <a:r>
              <a:rPr lang="en-US" sz="24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first, consider the </a:t>
            </a: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upper bound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</a:t>
            </a:r>
          </a:p>
          <a:p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</a:t>
            </a:r>
            <a:r>
              <a:rPr lang="en-US" sz="24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F(n) ≤ c</a:t>
            </a:r>
            <a:r>
              <a:rPr lang="en-US" sz="2400" i="1" baseline="-250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 </a:t>
            </a:r>
            <a:r>
              <a:rPr lang="en-US" sz="24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g(n)			</a:t>
            </a:r>
            <a:endParaRPr lang="en-US" sz="2400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½ n</a:t>
            </a:r>
            <a:r>
              <a:rPr lang="pt-BR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– ½ n ≤ ½ n</a:t>
            </a:r>
            <a:r>
              <a:rPr lang="pt-BR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 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		for all n ≥ 0.</a:t>
            </a:r>
          </a:p>
          <a:p>
            <a:pPr marL="0" indent="0">
              <a:buNone/>
            </a:pPr>
            <a:endParaRPr lang="pt-BR" sz="2400" i="1" baseline="30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Second, consider the </a:t>
            </a:r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lower bound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</a:t>
            </a:r>
          </a:p>
          <a:p>
            <a:r>
              <a:rPr lang="en-US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</a:t>
            </a:r>
            <a:r>
              <a:rPr lang="en-US" sz="24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F(n) ≥ c</a:t>
            </a:r>
            <a:r>
              <a:rPr lang="en-US" sz="2400" i="1" baseline="-250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 </a:t>
            </a:r>
            <a:r>
              <a:rPr lang="en-US" sz="24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g(n)</a:t>
            </a:r>
            <a:endParaRPr lang="en-US" sz="2400" dirty="0">
              <a:solidFill>
                <a:srgbClr val="00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½ n</a:t>
            </a:r>
            <a:r>
              <a:rPr lang="pt-BR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– ½ n ≥ ½ n</a:t>
            </a:r>
            <a:r>
              <a:rPr lang="pt-BR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 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– ½ n ½ n 	for all n ≥ 2.</a:t>
            </a:r>
          </a:p>
          <a:p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= ¼ n</a:t>
            </a:r>
            <a:r>
              <a:rPr lang="pt-BR" sz="24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.</a:t>
            </a:r>
          </a:p>
          <a:p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Hence we can select c</a:t>
            </a:r>
            <a:r>
              <a:rPr lang="pt-BR" sz="24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¼ , c</a:t>
            </a:r>
            <a:r>
              <a:rPr lang="pt-BR" sz="24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 ½ , and n</a:t>
            </a:r>
            <a:r>
              <a:rPr lang="pt-BR" sz="24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0</a:t>
            </a:r>
            <a:r>
              <a:rPr lang="pt-BR" sz="24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2.</a:t>
            </a:r>
          </a:p>
          <a:p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marL="0" indent="0">
              <a:buNone/>
            </a:pPr>
            <a:endParaRPr lang="pt-BR" sz="2400" i="1" baseline="30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593081" y="2209800"/>
            <a:ext cx="3398519" cy="609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½ n(n-1) = ½ n</a:t>
            </a:r>
            <a:r>
              <a:rPr lang="pt-BR" sz="20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pt-BR" sz="20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– ½ n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1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686800" cy="6096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Comparison of Growth Rates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2" t="7229" r="7940" b="2410"/>
          <a:stretch>
            <a:fillRect/>
          </a:stretch>
        </p:blipFill>
        <p:spPr>
          <a:xfrm>
            <a:off x="228600" y="880844"/>
            <a:ext cx="8686800" cy="597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6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781800" y="6356352"/>
            <a:ext cx="457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4A130B7-4C3B-48B8-9EC3-CD5A649FECAB}" type="slidenum">
              <a:rPr lang="en-GB" sz="1400" b="0" smtClean="0"/>
              <a:pPr eaLnBrk="1" hangingPunct="1"/>
              <a:t>21</a:t>
            </a:fld>
            <a:endParaRPr lang="en-GB" sz="1400" b="0" dirty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533400"/>
            <a:ext cx="7339012" cy="123983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tx1"/>
                </a:solidFill>
              </a:rPr>
              <a:t>Bounds (Asymptotic Notations)</a:t>
            </a: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/>
        </p:nvGraphicFramePr>
        <p:xfrm>
          <a:off x="2590800" y="599124"/>
          <a:ext cx="3962400" cy="115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0891" imgH="203112" progId="Equation.3">
                  <p:embed/>
                </p:oleObj>
              </mc:Choice>
              <mc:Fallback>
                <p:oleObj name="Equation" r:id="rId3" imgW="710891" imgH="203112" progId="Equation.3">
                  <p:embed/>
                  <p:pic>
                    <p:nvPicPr>
                      <p:cNvPr id="30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99124"/>
                        <a:ext cx="3962400" cy="115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Left Brace 2"/>
          <p:cNvSpPr/>
          <p:nvPr/>
        </p:nvSpPr>
        <p:spPr>
          <a:xfrm rot="5400000">
            <a:off x="4038600" y="-1447800"/>
            <a:ext cx="1143000" cy="7086600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4890" y="2590800"/>
            <a:ext cx="244971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f(n) ≤ c × g(n)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 all n ≥ n</a:t>
            </a:r>
            <a:r>
              <a:rPr lang="en-US" sz="28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0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90210" y="3612112"/>
            <a:ext cx="2853358" cy="2914775"/>
            <a:chOff x="190210" y="3628245"/>
            <a:chExt cx="2853358" cy="2914775"/>
          </a:xfrm>
        </p:grpSpPr>
        <p:cxnSp>
          <p:nvCxnSpPr>
            <p:cNvPr id="25" name="Straight Connector 24"/>
            <p:cNvCxnSpPr/>
            <p:nvPr/>
          </p:nvCxnSpPr>
          <p:spPr bwMode="auto">
            <a:xfrm>
              <a:off x="190210" y="3719225"/>
              <a:ext cx="0" cy="2163236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190210" y="5882460"/>
              <a:ext cx="2337515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579796" y="3815368"/>
              <a:ext cx="0" cy="206709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8" name="Freeform 27"/>
            <p:cNvSpPr/>
            <p:nvPr/>
          </p:nvSpPr>
          <p:spPr bwMode="auto">
            <a:xfrm>
              <a:off x="579796" y="3820391"/>
              <a:ext cx="1230605" cy="1248435"/>
            </a:xfrm>
            <a:custGeom>
              <a:avLst/>
              <a:gdLst>
                <a:gd name="connsiteX0" fmla="*/ 0 w 2647666"/>
                <a:gd name="connsiteY0" fmla="*/ 1978926 h 1978926"/>
                <a:gd name="connsiteX1" fmla="*/ 832513 w 2647666"/>
                <a:gd name="connsiteY1" fmla="*/ 1746914 h 1978926"/>
                <a:gd name="connsiteX2" fmla="*/ 1801504 w 2647666"/>
                <a:gd name="connsiteY2" fmla="*/ 1050878 h 1978926"/>
                <a:gd name="connsiteX3" fmla="*/ 2647666 w 2647666"/>
                <a:gd name="connsiteY3" fmla="*/ 0 h 1978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7666" h="1978926">
                  <a:moveTo>
                    <a:pt x="0" y="1978926"/>
                  </a:moveTo>
                  <a:cubicBezTo>
                    <a:pt x="266131" y="1940257"/>
                    <a:pt x="532262" y="1901589"/>
                    <a:pt x="832513" y="1746914"/>
                  </a:cubicBezTo>
                  <a:cubicBezTo>
                    <a:pt x="1132764" y="1592239"/>
                    <a:pt x="1498979" y="1342030"/>
                    <a:pt x="1801504" y="1050878"/>
                  </a:cubicBezTo>
                  <a:cubicBezTo>
                    <a:pt x="2104029" y="759726"/>
                    <a:pt x="2375847" y="379863"/>
                    <a:pt x="2647666" y="0"/>
                  </a:cubicBezTo>
                </a:path>
              </a:pathLst>
            </a:cu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572349" y="4018419"/>
              <a:ext cx="1250739" cy="1274264"/>
            </a:xfrm>
            <a:custGeom>
              <a:avLst/>
              <a:gdLst>
                <a:gd name="connsiteX0" fmla="*/ 2375 w 2690984"/>
                <a:gd name="connsiteY0" fmla="*/ 2019868 h 2019868"/>
                <a:gd name="connsiteX1" fmla="*/ 207092 w 2690984"/>
                <a:gd name="connsiteY1" fmla="*/ 1760561 h 2019868"/>
                <a:gd name="connsiteX2" fmla="*/ 1312560 w 2690984"/>
                <a:gd name="connsiteY2" fmla="*/ 1473958 h 2019868"/>
                <a:gd name="connsiteX3" fmla="*/ 2213313 w 2690984"/>
                <a:gd name="connsiteY3" fmla="*/ 395785 h 2019868"/>
                <a:gd name="connsiteX4" fmla="*/ 2690984 w 2690984"/>
                <a:gd name="connsiteY4" fmla="*/ 0 h 201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0984" h="2019868">
                  <a:moveTo>
                    <a:pt x="2375" y="2019868"/>
                  </a:moveTo>
                  <a:cubicBezTo>
                    <a:pt x="-4449" y="1935707"/>
                    <a:pt x="-11272" y="1851546"/>
                    <a:pt x="207092" y="1760561"/>
                  </a:cubicBezTo>
                  <a:cubicBezTo>
                    <a:pt x="425456" y="1669576"/>
                    <a:pt x="978190" y="1701421"/>
                    <a:pt x="1312560" y="1473958"/>
                  </a:cubicBezTo>
                  <a:cubicBezTo>
                    <a:pt x="1646930" y="1246495"/>
                    <a:pt x="1983576" y="641445"/>
                    <a:pt x="2213313" y="395785"/>
                  </a:cubicBezTo>
                  <a:cubicBezTo>
                    <a:pt x="2443050" y="150125"/>
                    <a:pt x="2567017" y="75062"/>
                    <a:pt x="2690984" y="0"/>
                  </a:cubicBezTo>
                </a:path>
              </a:pathLst>
            </a:custGeom>
            <a:noFill/>
            <a:ln w="317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3100" y="5786316"/>
              <a:ext cx="33214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0378" y="5882460"/>
              <a:ext cx="44755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  <a:r>
                <a:rPr lang="en-US" sz="2200" b="1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797714" y="3628245"/>
              <a:ext cx="124585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 × g(n)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813044" y="3893043"/>
              <a:ext cx="67999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f(n)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8200" y="6112133"/>
              <a:ext cx="18870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f(n) </a:t>
              </a:r>
              <a:r>
                <a:rPr lang="az-Cyrl-AZ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є</a:t>
              </a:r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 O(g(n))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6833440" y="2667000"/>
            <a:ext cx="244971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f(n) ≥ c × g(n)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for all n ≥ n</a:t>
            </a:r>
            <a:r>
              <a:rPr lang="en-US" sz="28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0</a:t>
            </a:r>
          </a:p>
        </p:txBody>
      </p:sp>
      <p:grpSp>
        <p:nvGrpSpPr>
          <p:cNvPr id="7168" name="Group 7167"/>
          <p:cNvGrpSpPr/>
          <p:nvPr/>
        </p:nvGrpSpPr>
        <p:grpSpPr>
          <a:xfrm>
            <a:off x="6371067" y="3733800"/>
            <a:ext cx="2849133" cy="2298494"/>
            <a:chOff x="7018972" y="3657600"/>
            <a:chExt cx="2031675" cy="2016965"/>
          </a:xfrm>
        </p:grpSpPr>
        <p:cxnSp>
          <p:nvCxnSpPr>
            <p:cNvPr id="38" name="Straight Connector 37"/>
            <p:cNvCxnSpPr/>
            <p:nvPr/>
          </p:nvCxnSpPr>
          <p:spPr bwMode="auto">
            <a:xfrm>
              <a:off x="7018972" y="3821486"/>
              <a:ext cx="0" cy="147497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7018972" y="5296455"/>
              <a:ext cx="1652001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7294305" y="3887040"/>
              <a:ext cx="0" cy="1409416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TextBox 41"/>
            <p:cNvSpPr txBox="1"/>
            <p:nvPr/>
          </p:nvSpPr>
          <p:spPr>
            <a:xfrm>
              <a:off x="7238177" y="5296455"/>
              <a:ext cx="319147" cy="378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  <a:r>
                <a:rPr lang="en-US" sz="2200" b="1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Freeform 42"/>
            <p:cNvSpPr/>
            <p:nvPr/>
          </p:nvSpPr>
          <p:spPr bwMode="auto">
            <a:xfrm>
              <a:off x="7294305" y="3787511"/>
              <a:ext cx="909220" cy="913086"/>
            </a:xfrm>
            <a:custGeom>
              <a:avLst/>
              <a:gdLst>
                <a:gd name="connsiteX0" fmla="*/ 0 w 2767946"/>
                <a:gd name="connsiteY0" fmla="*/ 2122736 h 2122736"/>
                <a:gd name="connsiteX1" fmla="*/ 136478 w 2767946"/>
                <a:gd name="connsiteY1" fmla="*/ 1945315 h 2122736"/>
                <a:gd name="connsiteX2" fmla="*/ 600501 w 2767946"/>
                <a:gd name="connsiteY2" fmla="*/ 1686008 h 2122736"/>
                <a:gd name="connsiteX3" fmla="*/ 1282890 w 2767946"/>
                <a:gd name="connsiteY3" fmla="*/ 949029 h 2122736"/>
                <a:gd name="connsiteX4" fmla="*/ 1719618 w 2767946"/>
                <a:gd name="connsiteY4" fmla="*/ 621483 h 2122736"/>
                <a:gd name="connsiteX5" fmla="*/ 2538484 w 2767946"/>
                <a:gd name="connsiteY5" fmla="*/ 184754 h 2122736"/>
                <a:gd name="connsiteX6" fmla="*/ 2743200 w 2767946"/>
                <a:gd name="connsiteY6" fmla="*/ 20981 h 2122736"/>
                <a:gd name="connsiteX7" fmla="*/ 2756848 w 2767946"/>
                <a:gd name="connsiteY7" fmla="*/ 7333 h 2122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67946" h="2122736">
                  <a:moveTo>
                    <a:pt x="0" y="2122736"/>
                  </a:moveTo>
                  <a:cubicBezTo>
                    <a:pt x="18197" y="2070419"/>
                    <a:pt x="36395" y="2018103"/>
                    <a:pt x="136478" y="1945315"/>
                  </a:cubicBezTo>
                  <a:cubicBezTo>
                    <a:pt x="236561" y="1872527"/>
                    <a:pt x="409432" y="1852056"/>
                    <a:pt x="600501" y="1686008"/>
                  </a:cubicBezTo>
                  <a:cubicBezTo>
                    <a:pt x="791570" y="1519960"/>
                    <a:pt x="1096371" y="1126450"/>
                    <a:pt x="1282890" y="949029"/>
                  </a:cubicBezTo>
                  <a:cubicBezTo>
                    <a:pt x="1469409" y="771608"/>
                    <a:pt x="1510352" y="748862"/>
                    <a:pt x="1719618" y="621483"/>
                  </a:cubicBezTo>
                  <a:cubicBezTo>
                    <a:pt x="1928884" y="494104"/>
                    <a:pt x="2367887" y="284838"/>
                    <a:pt x="2538484" y="184754"/>
                  </a:cubicBezTo>
                  <a:cubicBezTo>
                    <a:pt x="2709081" y="84670"/>
                    <a:pt x="2706806" y="50551"/>
                    <a:pt x="2743200" y="20981"/>
                  </a:cubicBezTo>
                  <a:cubicBezTo>
                    <a:pt x="2779594" y="-8589"/>
                    <a:pt x="2768221" y="-628"/>
                    <a:pt x="2756848" y="7333"/>
                  </a:cubicBezTo>
                </a:path>
              </a:pathLst>
            </a:custGeom>
            <a:noFill/>
            <a:ln w="317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44" name="Freeform 43"/>
            <p:cNvSpPr/>
            <p:nvPr/>
          </p:nvSpPr>
          <p:spPr bwMode="auto">
            <a:xfrm>
              <a:off x="7289822" y="3972652"/>
              <a:ext cx="910058" cy="888798"/>
            </a:xfrm>
            <a:custGeom>
              <a:avLst/>
              <a:gdLst>
                <a:gd name="connsiteX0" fmla="*/ 0 w 2770496"/>
                <a:gd name="connsiteY0" fmla="*/ 1992573 h 2066271"/>
                <a:gd name="connsiteX1" fmla="*/ 559558 w 2770496"/>
                <a:gd name="connsiteY1" fmla="*/ 2006221 h 2066271"/>
                <a:gd name="connsiteX2" fmla="*/ 1514902 w 2770496"/>
                <a:gd name="connsiteY2" fmla="*/ 1337480 h 2066271"/>
                <a:gd name="connsiteX3" fmla="*/ 2129051 w 2770496"/>
                <a:gd name="connsiteY3" fmla="*/ 914400 h 2066271"/>
                <a:gd name="connsiteX4" fmla="*/ 2456597 w 2770496"/>
                <a:gd name="connsiteY4" fmla="*/ 341194 h 2066271"/>
                <a:gd name="connsiteX5" fmla="*/ 2770496 w 2770496"/>
                <a:gd name="connsiteY5" fmla="*/ 0 h 2066271"/>
                <a:gd name="connsiteX6" fmla="*/ 2770496 w 2770496"/>
                <a:gd name="connsiteY6" fmla="*/ 0 h 206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0496" h="2066271">
                  <a:moveTo>
                    <a:pt x="0" y="1992573"/>
                  </a:moveTo>
                  <a:cubicBezTo>
                    <a:pt x="153537" y="2053988"/>
                    <a:pt x="307074" y="2115403"/>
                    <a:pt x="559558" y="2006221"/>
                  </a:cubicBezTo>
                  <a:cubicBezTo>
                    <a:pt x="812042" y="1897039"/>
                    <a:pt x="1514902" y="1337480"/>
                    <a:pt x="1514902" y="1337480"/>
                  </a:cubicBezTo>
                  <a:cubicBezTo>
                    <a:pt x="1776484" y="1155510"/>
                    <a:pt x="1972102" y="1080448"/>
                    <a:pt x="2129051" y="914400"/>
                  </a:cubicBezTo>
                  <a:cubicBezTo>
                    <a:pt x="2286000" y="748352"/>
                    <a:pt x="2349689" y="493594"/>
                    <a:pt x="2456597" y="341194"/>
                  </a:cubicBezTo>
                  <a:cubicBezTo>
                    <a:pt x="2563505" y="188794"/>
                    <a:pt x="2770496" y="0"/>
                    <a:pt x="2770496" y="0"/>
                  </a:cubicBezTo>
                  <a:lnTo>
                    <a:pt x="2770496" y="0"/>
                  </a:lnTo>
                </a:path>
              </a:pathLst>
            </a:custGeom>
            <a:noFill/>
            <a:ln w="3175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8195396" y="3657600"/>
              <a:ext cx="457460" cy="378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f(n)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195396" y="3854263"/>
              <a:ext cx="855251" cy="378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00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c × g(n)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687006" y="5215736"/>
              <a:ext cx="236846" cy="378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053249" y="5943600"/>
            <a:ext cx="19383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f(n) </a:t>
            </a:r>
            <a:r>
              <a:rPr lang="az-Cyrl-AZ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є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 </a:t>
            </a:r>
            <a:r>
              <a:rPr lang="el-G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Ω</a:t>
            </a: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"/>
              </a:rPr>
              <a:t>(g(n))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6626" y="2551093"/>
            <a:ext cx="397897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c2×g(n) ≤ f(n) ≤ c1×g(n)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for all n ≥ n</a:t>
            </a:r>
            <a:r>
              <a:rPr lang="en-US" sz="28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0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3048000" y="3505200"/>
            <a:ext cx="3281294" cy="2846792"/>
            <a:chOff x="2863107" y="3613666"/>
            <a:chExt cx="3799552" cy="2514917"/>
          </a:xfrm>
        </p:grpSpPr>
        <p:cxnSp>
          <p:nvCxnSpPr>
            <p:cNvPr id="51" name="Straight Connector 50"/>
            <p:cNvCxnSpPr/>
            <p:nvPr/>
          </p:nvCxnSpPr>
          <p:spPr bwMode="auto">
            <a:xfrm>
              <a:off x="2863107" y="3804225"/>
              <a:ext cx="0" cy="171503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2863107" y="5519257"/>
              <a:ext cx="3162849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3390249" y="3880449"/>
              <a:ext cx="0" cy="1638808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TextBox 54"/>
            <p:cNvSpPr txBox="1"/>
            <p:nvPr/>
          </p:nvSpPr>
          <p:spPr>
            <a:xfrm>
              <a:off x="6056654" y="5376776"/>
              <a:ext cx="384602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917390" y="5747928"/>
              <a:ext cx="2192527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f(n) </a:t>
              </a:r>
              <a:r>
                <a:rPr lang="az-Cyrl-AZ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є</a:t>
              </a:r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 </a:t>
              </a:r>
              <a:r>
                <a:rPr lang="el-GR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Θ</a:t>
              </a:r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(g(n))</a:t>
              </a:r>
            </a:p>
          </p:txBody>
        </p:sp>
        <p:sp>
          <p:nvSpPr>
            <p:cNvPr id="57" name="Freeform 56"/>
            <p:cNvSpPr/>
            <p:nvPr/>
          </p:nvSpPr>
          <p:spPr bwMode="auto">
            <a:xfrm>
              <a:off x="3390249" y="3802519"/>
              <a:ext cx="1802438" cy="791816"/>
            </a:xfrm>
            <a:custGeom>
              <a:avLst/>
              <a:gdLst>
                <a:gd name="connsiteX0" fmla="*/ 0 w 2866030"/>
                <a:gd name="connsiteY0" fmla="*/ 1583140 h 1583140"/>
                <a:gd name="connsiteX1" fmla="*/ 736979 w 2866030"/>
                <a:gd name="connsiteY1" fmla="*/ 1392072 h 1583140"/>
                <a:gd name="connsiteX2" fmla="*/ 1569493 w 2866030"/>
                <a:gd name="connsiteY2" fmla="*/ 968991 h 1583140"/>
                <a:gd name="connsiteX3" fmla="*/ 2169994 w 2866030"/>
                <a:gd name="connsiteY3" fmla="*/ 682388 h 1583140"/>
                <a:gd name="connsiteX4" fmla="*/ 2866030 w 2866030"/>
                <a:gd name="connsiteY4" fmla="*/ 0 h 1583140"/>
                <a:gd name="connsiteX5" fmla="*/ 2866030 w 2866030"/>
                <a:gd name="connsiteY5" fmla="*/ 0 h 158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66030" h="1583140">
                  <a:moveTo>
                    <a:pt x="0" y="1583140"/>
                  </a:moveTo>
                  <a:cubicBezTo>
                    <a:pt x="237698" y="1538785"/>
                    <a:pt x="475397" y="1494430"/>
                    <a:pt x="736979" y="1392072"/>
                  </a:cubicBezTo>
                  <a:cubicBezTo>
                    <a:pt x="998561" y="1289714"/>
                    <a:pt x="1330657" y="1087272"/>
                    <a:pt x="1569493" y="968991"/>
                  </a:cubicBezTo>
                  <a:cubicBezTo>
                    <a:pt x="1808329" y="850710"/>
                    <a:pt x="1953905" y="843886"/>
                    <a:pt x="2169994" y="682388"/>
                  </a:cubicBezTo>
                  <a:cubicBezTo>
                    <a:pt x="2386083" y="520890"/>
                    <a:pt x="2866030" y="0"/>
                    <a:pt x="2866030" y="0"/>
                  </a:cubicBezTo>
                  <a:lnTo>
                    <a:pt x="2866030" y="0"/>
                  </a:lnTo>
                </a:path>
              </a:pathLst>
            </a:custGeom>
            <a:noFill/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58" name="Freeform 57"/>
            <p:cNvSpPr/>
            <p:nvPr/>
          </p:nvSpPr>
          <p:spPr bwMode="auto">
            <a:xfrm>
              <a:off x="3398832" y="3986821"/>
              <a:ext cx="1802438" cy="805467"/>
            </a:xfrm>
            <a:custGeom>
              <a:avLst/>
              <a:gdLst>
                <a:gd name="connsiteX0" fmla="*/ 0 w 2866030"/>
                <a:gd name="connsiteY0" fmla="*/ 1610435 h 1610435"/>
                <a:gd name="connsiteX1" fmla="*/ 150125 w 2866030"/>
                <a:gd name="connsiteY1" fmla="*/ 1392071 h 1610435"/>
                <a:gd name="connsiteX2" fmla="*/ 368489 w 2866030"/>
                <a:gd name="connsiteY2" fmla="*/ 1323832 h 1610435"/>
                <a:gd name="connsiteX3" fmla="*/ 655092 w 2866030"/>
                <a:gd name="connsiteY3" fmla="*/ 1337480 h 1610435"/>
                <a:gd name="connsiteX4" fmla="*/ 1364776 w 2866030"/>
                <a:gd name="connsiteY4" fmla="*/ 1078173 h 1610435"/>
                <a:gd name="connsiteX5" fmla="*/ 1760561 w 2866030"/>
                <a:gd name="connsiteY5" fmla="*/ 805218 h 1610435"/>
                <a:gd name="connsiteX6" fmla="*/ 2047164 w 2866030"/>
                <a:gd name="connsiteY6" fmla="*/ 600501 h 1610435"/>
                <a:gd name="connsiteX7" fmla="*/ 2183642 w 2866030"/>
                <a:gd name="connsiteY7" fmla="*/ 354841 h 1610435"/>
                <a:gd name="connsiteX8" fmla="*/ 2388358 w 2866030"/>
                <a:gd name="connsiteY8" fmla="*/ 300250 h 1610435"/>
                <a:gd name="connsiteX9" fmla="*/ 2593074 w 2866030"/>
                <a:gd name="connsiteY9" fmla="*/ 245659 h 1610435"/>
                <a:gd name="connsiteX10" fmla="*/ 2866030 w 2866030"/>
                <a:gd name="connsiteY10" fmla="*/ 0 h 1610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66030" h="1610435">
                  <a:moveTo>
                    <a:pt x="0" y="1610435"/>
                  </a:moveTo>
                  <a:cubicBezTo>
                    <a:pt x="44355" y="1525136"/>
                    <a:pt x="88710" y="1439838"/>
                    <a:pt x="150125" y="1392071"/>
                  </a:cubicBezTo>
                  <a:cubicBezTo>
                    <a:pt x="211540" y="1344304"/>
                    <a:pt x="284328" y="1332930"/>
                    <a:pt x="368489" y="1323832"/>
                  </a:cubicBezTo>
                  <a:cubicBezTo>
                    <a:pt x="452650" y="1314734"/>
                    <a:pt x="489044" y="1378423"/>
                    <a:pt x="655092" y="1337480"/>
                  </a:cubicBezTo>
                  <a:cubicBezTo>
                    <a:pt x="821140" y="1296537"/>
                    <a:pt x="1180531" y="1166883"/>
                    <a:pt x="1364776" y="1078173"/>
                  </a:cubicBezTo>
                  <a:cubicBezTo>
                    <a:pt x="1549021" y="989463"/>
                    <a:pt x="1646830" y="884830"/>
                    <a:pt x="1760561" y="805218"/>
                  </a:cubicBezTo>
                  <a:cubicBezTo>
                    <a:pt x="1874292" y="725606"/>
                    <a:pt x="1976651" y="675564"/>
                    <a:pt x="2047164" y="600501"/>
                  </a:cubicBezTo>
                  <a:cubicBezTo>
                    <a:pt x="2117677" y="525438"/>
                    <a:pt x="2126776" y="404883"/>
                    <a:pt x="2183642" y="354841"/>
                  </a:cubicBezTo>
                  <a:cubicBezTo>
                    <a:pt x="2240508" y="304799"/>
                    <a:pt x="2388358" y="300250"/>
                    <a:pt x="2388358" y="300250"/>
                  </a:cubicBezTo>
                  <a:cubicBezTo>
                    <a:pt x="2456597" y="282053"/>
                    <a:pt x="2513462" y="295701"/>
                    <a:pt x="2593074" y="245659"/>
                  </a:cubicBezTo>
                  <a:cubicBezTo>
                    <a:pt x="2672686" y="195617"/>
                    <a:pt x="2769358" y="97808"/>
                    <a:pt x="2866030" y="0"/>
                  </a:cubicBezTo>
                </a:path>
              </a:pathLst>
            </a:custGeom>
            <a:noFill/>
            <a:ln w="31750" cap="flat" cmpd="sng" algn="ctr">
              <a:solidFill>
                <a:srgbClr val="0000CC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59" name="Freeform 58"/>
            <p:cNvSpPr/>
            <p:nvPr/>
          </p:nvSpPr>
          <p:spPr bwMode="auto">
            <a:xfrm>
              <a:off x="3390249" y="4253034"/>
              <a:ext cx="1811021" cy="733689"/>
            </a:xfrm>
            <a:custGeom>
              <a:avLst/>
              <a:gdLst>
                <a:gd name="connsiteX0" fmla="*/ 0 w 2879678"/>
                <a:gd name="connsiteY0" fmla="*/ 1433015 h 1466923"/>
                <a:gd name="connsiteX1" fmla="*/ 382137 w 2879678"/>
                <a:gd name="connsiteY1" fmla="*/ 1460311 h 1466923"/>
                <a:gd name="connsiteX2" fmla="*/ 914400 w 2879678"/>
                <a:gd name="connsiteY2" fmla="*/ 1323833 h 1466923"/>
                <a:gd name="connsiteX3" fmla="*/ 2074460 w 2879678"/>
                <a:gd name="connsiteY3" fmla="*/ 655093 h 1466923"/>
                <a:gd name="connsiteX4" fmla="*/ 2620370 w 2879678"/>
                <a:gd name="connsiteY4" fmla="*/ 272956 h 1466923"/>
                <a:gd name="connsiteX5" fmla="*/ 2879678 w 2879678"/>
                <a:gd name="connsiteY5" fmla="*/ 0 h 1466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9678" h="1466923">
                  <a:moveTo>
                    <a:pt x="0" y="1433015"/>
                  </a:moveTo>
                  <a:cubicBezTo>
                    <a:pt x="114868" y="1455761"/>
                    <a:pt x="229737" y="1478508"/>
                    <a:pt x="382137" y="1460311"/>
                  </a:cubicBezTo>
                  <a:cubicBezTo>
                    <a:pt x="534537" y="1442114"/>
                    <a:pt x="632346" y="1458036"/>
                    <a:pt x="914400" y="1323833"/>
                  </a:cubicBezTo>
                  <a:cubicBezTo>
                    <a:pt x="1196454" y="1189630"/>
                    <a:pt x="1790132" y="830239"/>
                    <a:pt x="2074460" y="655093"/>
                  </a:cubicBezTo>
                  <a:cubicBezTo>
                    <a:pt x="2358788" y="479947"/>
                    <a:pt x="2486167" y="382138"/>
                    <a:pt x="2620370" y="272956"/>
                  </a:cubicBezTo>
                  <a:cubicBezTo>
                    <a:pt x="2754573" y="163774"/>
                    <a:pt x="2817125" y="81887"/>
                    <a:pt x="2879678" y="0"/>
                  </a:cubicBezTo>
                </a:path>
              </a:pathLst>
            </a:custGeom>
            <a:noFill/>
            <a:ln w="31750" cap="flat" cmpd="sng" algn="ctr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163361" y="3613666"/>
              <a:ext cx="1479752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c</a:t>
              </a:r>
              <a:r>
                <a:rPr lang="en-US" sz="2200" b="1" baseline="-250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1 </a:t>
              </a:r>
              <a:r>
                <a:rPr lang="en-US" sz="22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× g(n)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182907" y="4100060"/>
              <a:ext cx="1479752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00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c</a:t>
              </a:r>
              <a:r>
                <a:rPr lang="en-US" sz="2200" b="1" baseline="-25000" dirty="0">
                  <a:solidFill>
                    <a:srgbClr val="00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2 </a:t>
              </a:r>
              <a:r>
                <a:rPr lang="en-US" sz="2200" b="1" dirty="0">
                  <a:solidFill>
                    <a:srgbClr val="0099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× g(n)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216042" y="3883510"/>
              <a:ext cx="742846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"/>
                </a:rPr>
                <a:t>f(n)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276600" y="5486400"/>
              <a:ext cx="518247" cy="3806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</a:t>
              </a:r>
              <a:r>
                <a:rPr lang="en-US" sz="2200" b="1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7968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327900" cy="685800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3300"/>
                </a:solidFill>
              </a:rPr>
              <a:t>Theorem  :</a:t>
            </a:r>
            <a:endParaRPr lang="en-US" sz="2800" cap="none" dirty="0"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610600" cy="594360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arenBoth"/>
            </a:pPr>
            <a:r>
              <a:rPr lang="en-US" sz="2400" b="1" dirty="0">
                <a:solidFill>
                  <a:srgbClr val="0000CC"/>
                </a:solidFill>
              </a:rPr>
              <a:t>Suppose f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 = O(g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(x)) and f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 = O(g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(x)) then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	(f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+f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)(x)  = O (max(g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(x),g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(x))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FF3300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3300"/>
                </a:solidFill>
                <a:latin typeface="Segoe"/>
              </a:rPr>
              <a:t>Example 1:</a:t>
            </a:r>
            <a:r>
              <a:rPr lang="en-US" sz="2400" dirty="0">
                <a:solidFill>
                  <a:srgbClr val="0000CC"/>
                </a:solidFill>
                <a:latin typeface="Segoe"/>
              </a:rPr>
              <a:t> Theorem 1</a:t>
            </a:r>
            <a:endParaRPr lang="en-US" sz="2400" b="1" dirty="0">
              <a:solidFill>
                <a:srgbClr val="FF3300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If our problem contains </a:t>
            </a:r>
            <a:r>
              <a:rPr lang="en-US" sz="2400" u="sng" dirty="0">
                <a:solidFill>
                  <a:schemeClr val="tx1"/>
                </a:solidFill>
                <a:latin typeface="Segoe"/>
              </a:rPr>
              <a:t>sorting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inputs, </a:t>
            </a:r>
            <a:r>
              <a:rPr lang="en-US" sz="2400" b="1" dirty="0">
                <a:solidFill>
                  <a:schemeClr val="tx1"/>
                </a:solidFill>
                <a:latin typeface="Segoe"/>
              </a:rPr>
              <a:t>then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</a:t>
            </a:r>
            <a:r>
              <a:rPr lang="en-US" sz="2400" u="sng" dirty="0">
                <a:solidFill>
                  <a:schemeClr val="tx1"/>
                </a:solidFill>
                <a:latin typeface="Segoe"/>
              </a:rPr>
              <a:t>search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 within.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Consider </a:t>
            </a:r>
            <a:r>
              <a:rPr lang="en-US" sz="2400" u="sng" dirty="0">
                <a:solidFill>
                  <a:schemeClr val="tx1"/>
                </a:solidFill>
                <a:latin typeface="Segoe"/>
              </a:rPr>
              <a:t>sorting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algorithm= O(n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 comparisons and then </a:t>
            </a:r>
            <a:r>
              <a:rPr lang="en-US" sz="2400" u="sng" dirty="0">
                <a:solidFill>
                  <a:schemeClr val="tx1"/>
                </a:solidFill>
                <a:latin typeface="Segoe"/>
              </a:rPr>
              <a:t>binary search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= O(log</a:t>
            </a:r>
            <a:r>
              <a:rPr lang="en-US" sz="2400" baseline="-25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n) comparisons, then: 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efficiency is O(max{n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, log</a:t>
            </a:r>
            <a:r>
              <a:rPr lang="en-US" sz="2400" baseline="-25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n}) = O(n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  <a:endParaRPr lang="en-US" sz="2000" dirty="0">
              <a:solidFill>
                <a:schemeClr val="tx1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59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610600" cy="63246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Segoe"/>
              </a:rPr>
              <a:t>Example 2: </a:t>
            </a:r>
            <a:r>
              <a:rPr lang="en-US" sz="2400" dirty="0">
                <a:solidFill>
                  <a:srgbClr val="0000CC"/>
                </a:solidFill>
                <a:latin typeface="Segoe"/>
              </a:rPr>
              <a:t>Theorem 1</a:t>
            </a:r>
            <a:endParaRPr lang="en-US" sz="2400" b="1" dirty="0">
              <a:solidFill>
                <a:srgbClr val="FF0000"/>
              </a:solidFill>
              <a:latin typeface="Segoe"/>
            </a:endParaRP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Consider the summation f(n) consisting of </a:t>
            </a:r>
            <a:r>
              <a:rPr lang="en-US" sz="2400" u="sng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basic functions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:</a:t>
            </a:r>
          </a:p>
          <a:p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f(n) = n +√n +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1.5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+ lg n + n lg n +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We have seen that</a:t>
            </a:r>
          </a:p>
          <a:p>
            <a:pPr algn="ctr"/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lg n &lt; √n &lt; n &lt;n lg n &lt;n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1.5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&lt;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which means that the function n</a:t>
            </a:r>
            <a:r>
              <a:rPr lang="en-US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 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grows faster than all other functions in the expression</a:t>
            </a:r>
          </a:p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Thus,</a:t>
            </a:r>
          </a:p>
          <a:p>
            <a:pPr indent="693738"/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f(n) = n + √n +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1.5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+ lg n + n lg n +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</a:p>
          <a:p>
            <a:pPr indent="693738"/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	    = O( max (n , √n ,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1.5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, lg n , n lg n , n</a:t>
            </a:r>
            <a:r>
              <a:rPr lang="pt-BR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r>
              <a:rPr lang="pt-B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) )</a:t>
            </a:r>
          </a:p>
          <a:p>
            <a:pPr indent="693738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       = O(n</a:t>
            </a:r>
            <a:r>
              <a:rPr lang="en-US" sz="24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019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327900" cy="685800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3300"/>
                </a:solidFill>
              </a:rPr>
              <a:t>Theorem :</a:t>
            </a:r>
            <a:endParaRPr lang="en-US" sz="2800" cap="none" dirty="0"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610600" cy="5943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(2) Suppose f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 = O(g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(x)) and f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 = O(g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(x)) then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	(f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f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)(x)  = O (g</a:t>
            </a:r>
            <a:r>
              <a:rPr lang="en-US" sz="2400" b="1" baseline="-25000" dirty="0">
                <a:solidFill>
                  <a:srgbClr val="0000CC"/>
                </a:solidFill>
              </a:rPr>
              <a:t>1</a:t>
            </a:r>
            <a:r>
              <a:rPr lang="en-US" sz="2400" b="1" dirty="0">
                <a:solidFill>
                  <a:srgbClr val="0000CC"/>
                </a:solidFill>
              </a:rPr>
              <a:t>(x).g</a:t>
            </a:r>
            <a:r>
              <a:rPr lang="en-US" sz="2400" b="1" baseline="-25000" dirty="0">
                <a:solidFill>
                  <a:srgbClr val="0000CC"/>
                </a:solidFill>
              </a:rPr>
              <a:t>2</a:t>
            </a:r>
            <a:r>
              <a:rPr lang="en-US" sz="2400" b="1" dirty="0">
                <a:solidFill>
                  <a:srgbClr val="0000CC"/>
                </a:solidFill>
              </a:rPr>
              <a:t>(x))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3300"/>
                </a:solidFill>
                <a:latin typeface="Segoe"/>
              </a:rPr>
              <a:t>Example :</a:t>
            </a:r>
            <a:r>
              <a:rPr lang="en-US" sz="2400" dirty="0">
                <a:solidFill>
                  <a:srgbClr val="0000CC"/>
                </a:solidFill>
                <a:latin typeface="Segoe"/>
              </a:rPr>
              <a:t> Theorem 2</a:t>
            </a:r>
            <a:endParaRPr lang="en-US" sz="2400" b="1" dirty="0">
              <a:solidFill>
                <a:srgbClr val="FF3300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If we have two nested loops,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	inner loop = O(n) and outer loop = O(n), so: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Segoe"/>
              </a:rPr>
              <a:t>The efficiency is O(n . n) = O(n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</a:t>
            </a:r>
            <a:endParaRPr lang="en-US" sz="2000" dirty="0">
              <a:solidFill>
                <a:schemeClr val="tx1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77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327900" cy="685800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3300"/>
                </a:solidFill>
              </a:rPr>
              <a:t>Theorem : Polynomial</a:t>
            </a:r>
            <a:endParaRPr lang="en-US" sz="2800" cap="none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762000"/>
                <a:ext cx="8610600" cy="59436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(3) Let 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𝐟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𝐱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𝐢</m:t>
                        </m:r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𝐧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𝐢</m:t>
                            </m:r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𝐢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b="1" dirty="0">
                    <a:solidFill>
                      <a:srgbClr val="0000CC"/>
                    </a:solidFill>
                  </a:rPr>
                  <a:t> =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0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 +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x +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+ …+ 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a</a:t>
                </a:r>
                <a:r>
                  <a:rPr lang="en-US" sz="2400" b="1" baseline="-25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baseline="30000" dirty="0">
                    <a:solidFill>
                      <a:srgbClr val="0000CC"/>
                    </a:solidFill>
                  </a:rPr>
                  <a:t>  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, where 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a</a:t>
                </a:r>
                <a:r>
                  <a:rPr lang="en-US" sz="2400" b="1" baseline="-25000" dirty="0" err="1">
                    <a:solidFill>
                      <a:srgbClr val="0000CC"/>
                    </a:solidFill>
                  </a:rPr>
                  <a:t>i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 are real numbers,  Then F(x) = O(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:endParaRPr lang="en-US" sz="2400" b="1" dirty="0">
                  <a:solidFill>
                    <a:srgbClr val="0000CC"/>
                  </a:solidFill>
                </a:endParaRPr>
              </a:p>
              <a:p>
                <a:r>
                  <a:rPr lang="en-US" sz="2400" b="1" dirty="0">
                    <a:solidFill>
                      <a:srgbClr val="FF3300"/>
                    </a:solidFill>
                    <a:latin typeface="Segoe"/>
                  </a:rPr>
                  <a:t>Example : </a:t>
                </a:r>
                <a:r>
                  <a:rPr lang="en-US" sz="2400" dirty="0">
                    <a:solidFill>
                      <a:srgbClr val="0000CC"/>
                    </a:solidFill>
                    <a:latin typeface="Segoe"/>
                  </a:rPr>
                  <a:t>Theorem 3</a:t>
                </a:r>
                <a:endParaRPr lang="en-US" sz="2400" b="1" dirty="0">
                  <a:solidFill>
                    <a:srgbClr val="FF3300"/>
                  </a:solidFill>
                  <a:latin typeface="Segoe"/>
                </a:endParaRPr>
              </a:p>
              <a:p>
                <a:r>
                  <a:rPr lang="en-US" sz="2400" b="1" dirty="0">
                    <a:solidFill>
                      <a:srgbClr val="FF3300"/>
                    </a:solidFill>
                    <a:latin typeface="Segoe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The polynomial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is order of  x</a:t>
                </a:r>
                <a:r>
                  <a:rPr lang="en-US" sz="2400" baseline="300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5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(or 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O(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x</a:t>
                </a:r>
                <a:r>
                  <a:rPr lang="en-US" sz="2400" baseline="300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5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)). </a:t>
                </a:r>
              </a:p>
              <a:p>
                <a:endParaRPr lang="en-US" sz="2400" dirty="0">
                  <a:solidFill>
                    <a:schemeClr val="tx1"/>
                  </a:solidFill>
                  <a:latin typeface="Segoe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The polynomial 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is order of x</a:t>
                </a:r>
                <a:r>
                  <a:rPr lang="en-US" sz="2400" baseline="300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199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 (or 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O(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x</a:t>
                </a:r>
                <a:r>
                  <a:rPr lang="en-US" sz="2400" baseline="30000" dirty="0">
                    <a:solidFill>
                      <a:schemeClr val="tx1"/>
                    </a:solidFill>
                    <a:latin typeface="Segoe"/>
                    <a:ea typeface="Cambria Math" pitchFamily="18" charset="0"/>
                  </a:rPr>
                  <a:t>199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) )</a:t>
                </a:r>
              </a:p>
              <a:p>
                <a:pPr>
                  <a:lnSpc>
                    <a:spcPct val="150000"/>
                  </a:lnSpc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762000"/>
                <a:ext cx="8610600" cy="5943600"/>
              </a:xfrm>
              <a:blipFill>
                <a:blip r:embed="rId5"/>
                <a:stretch>
                  <a:fillRect l="-1133" r="-1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ddin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2819400" y="3314700"/>
            <a:ext cx="3062288" cy="342900"/>
          </a:xfrm>
          <a:prstGeom prst="rect">
            <a:avLst/>
          </a:prstGeom>
        </p:spPr>
      </p:pic>
      <p:pic>
        <p:nvPicPr>
          <p:cNvPr id="5" name="Picture 4" descr="addin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2590800" y="4838700"/>
            <a:ext cx="526494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327900" cy="685800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3300"/>
                </a:solidFill>
              </a:rPr>
              <a:t>Theorem : Transitivity </a:t>
            </a:r>
            <a:endParaRPr lang="en-US" sz="2800" cap="none" dirty="0">
              <a:solidFill>
                <a:srgbClr val="FF33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610600" cy="5943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CC"/>
                </a:solidFill>
              </a:rPr>
              <a:t>(4) If f(x) = O(g (x)) and h(x) ˃ g(x) for sufficiently large x</a:t>
            </a:r>
            <a:r>
              <a:rPr lang="en-US" sz="2400" b="1" baseline="-25000" dirty="0">
                <a:solidFill>
                  <a:srgbClr val="0000CC"/>
                </a:solidFill>
              </a:rPr>
              <a:t>0</a:t>
            </a:r>
            <a:r>
              <a:rPr lang="en-US" sz="2400" b="1" dirty="0">
                <a:solidFill>
                  <a:srgbClr val="0000CC"/>
                </a:solidFill>
              </a:rPr>
              <a:t>, it follows that  f (x) = O(h (x))</a:t>
            </a: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00CC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  <a:latin typeface="Segoe"/>
              </a:rPr>
              <a:t>Example : </a:t>
            </a:r>
            <a:r>
              <a:rPr lang="en-US" sz="2400" dirty="0">
                <a:solidFill>
                  <a:srgbClr val="0000CC"/>
                </a:solidFill>
                <a:latin typeface="Segoe"/>
              </a:rPr>
              <a:t>Theorem 4</a:t>
            </a:r>
          </a:p>
          <a:p>
            <a:r>
              <a:rPr lang="tr-TR" sz="2400" dirty="0">
                <a:solidFill>
                  <a:schemeClr val="tx1"/>
                </a:solidFill>
                <a:latin typeface="Segoe"/>
              </a:rPr>
              <a:t>x</a:t>
            </a:r>
            <a:r>
              <a:rPr lang="tr-TR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+2x+1 = O(x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); and x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3 </a:t>
            </a:r>
            <a:r>
              <a:rPr lang="en-US" sz="2400" dirty="0">
                <a:solidFill>
                  <a:schemeClr val="tx1"/>
                </a:solidFill>
                <a:latin typeface="Segoe"/>
              </a:rPr>
              <a:t>&gt; x</a:t>
            </a:r>
            <a:r>
              <a:rPr lang="en-US" sz="2400" baseline="30000" dirty="0">
                <a:solidFill>
                  <a:schemeClr val="tx1"/>
                </a:solidFill>
                <a:latin typeface="Segoe"/>
              </a:rPr>
              <a:t>2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r>
              <a:rPr lang="en-US" sz="24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 x</a:t>
            </a:r>
            <a:r>
              <a:rPr lang="en-US" sz="2400" baseline="300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+2x+1 = O(x</a:t>
            </a:r>
            <a:r>
              <a:rPr lang="en-US" sz="2400" baseline="300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3</a:t>
            </a:r>
            <a:r>
              <a:rPr lang="en-US" sz="2400" dirty="0">
                <a:solidFill>
                  <a:schemeClr val="tx1"/>
                </a:solidFill>
                <a:latin typeface="Segoe"/>
                <a:sym typeface="Wingdings" panose="05000000000000000000" pitchFamily="2" charset="2"/>
              </a:rPr>
              <a:t>)</a:t>
            </a:r>
            <a:endParaRPr lang="en-US" sz="2400" dirty="0">
              <a:solidFill>
                <a:schemeClr val="tx1"/>
              </a:solidFill>
              <a:latin typeface="Segoe"/>
            </a:endParaRPr>
          </a:p>
          <a:p>
            <a:pPr>
              <a:lnSpc>
                <a:spcPct val="150000"/>
              </a:lnSpc>
            </a:pPr>
            <a:endParaRPr lang="en-US" sz="24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12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7327900" cy="685800"/>
          </a:xfrm>
        </p:spPr>
        <p:txBody>
          <a:bodyPr>
            <a:normAutofit/>
          </a:bodyPr>
          <a:lstStyle/>
          <a:p>
            <a:r>
              <a:rPr lang="en-US" b="1" cap="none" dirty="0">
                <a:solidFill>
                  <a:srgbClr val="FF3300"/>
                </a:solidFill>
              </a:rPr>
              <a:t>Theorem :</a:t>
            </a:r>
            <a:endParaRPr lang="en-US" sz="2800" cap="none" dirty="0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762000"/>
                <a:ext cx="8610600" cy="594360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lnSpc>
                    <a:spcPct val="150000"/>
                  </a:lnSpc>
                  <a:buAutoNum type="arabicParenBoth"/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Suppose 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 = O(g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 and 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 = O(g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 then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	(f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+f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)(x)  = O (max(g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(x),g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(2) Suppose 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 = O(g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 and 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 = O(g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 then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	(f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f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)(x)  = O (g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(x).g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(x))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(3) Let 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𝐟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(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𝐱</m:t>
                    </m:r>
                    <m:r>
                      <a:rPr lang="en-US" sz="2400" b="1">
                        <a:solidFill>
                          <a:srgbClr val="0000CC"/>
                        </a:solidFill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en-US" sz="2400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𝐢</m:t>
                        </m:r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en-US" sz="2400" b="1">
                            <a:solidFill>
                              <a:srgbClr val="0000CC"/>
                            </a:solidFill>
                            <a:latin typeface="Cambria Math"/>
                          </a:rPr>
                          <m:t>𝐧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𝐚</m:t>
                            </m:r>
                          </m:e>
                          <m:sub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𝐢</m:t>
                            </m:r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  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b="1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>
                                <a:solidFill>
                                  <a:srgbClr val="0000CC"/>
                                </a:solidFill>
                                <a:latin typeface="Cambria Math"/>
                              </a:rPr>
                              <m:t>𝐢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b="1" dirty="0">
                    <a:solidFill>
                      <a:srgbClr val="0000CC"/>
                    </a:solidFill>
                  </a:rPr>
                  <a:t> =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0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 +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1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x + a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>
                    <a:solidFill>
                      <a:srgbClr val="0000CC"/>
                    </a:solidFill>
                  </a:rPr>
                  <a:t>2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+ …+ 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a</a:t>
                </a:r>
                <a:r>
                  <a:rPr lang="en-US" sz="2400" b="1" baseline="-25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baseline="30000" dirty="0">
                    <a:solidFill>
                      <a:srgbClr val="0000CC"/>
                    </a:solidFill>
                  </a:rPr>
                  <a:t>  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, where 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a</a:t>
                </a:r>
                <a:r>
                  <a:rPr lang="en-US" sz="2400" b="1" baseline="-25000" dirty="0" err="1">
                    <a:solidFill>
                      <a:srgbClr val="0000CC"/>
                    </a:solidFill>
                  </a:rPr>
                  <a:t>i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 are real numbers,  Then F(x) = O(</a:t>
                </a:r>
                <a:r>
                  <a:rPr lang="en-US" sz="2400" b="1" dirty="0" err="1">
                    <a:solidFill>
                      <a:srgbClr val="0000CC"/>
                    </a:solidFill>
                  </a:rPr>
                  <a:t>x</a:t>
                </a:r>
                <a:r>
                  <a:rPr lang="en-US" sz="2400" b="1" baseline="30000" dirty="0" err="1">
                    <a:solidFill>
                      <a:srgbClr val="0000CC"/>
                    </a:solidFill>
                  </a:rPr>
                  <a:t>n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) </a:t>
                </a:r>
                <a:r>
                  <a:rPr lang="en-US" sz="2400" b="1" dirty="0">
                    <a:solidFill>
                      <a:srgbClr val="FF3300"/>
                    </a:solidFill>
                  </a:rPr>
                  <a:t>.</a:t>
                </a:r>
                <a:endParaRPr lang="en-US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(4) If f(x) = O(g (x)) and h(x) ˃ g(x) for sufficiently large x</a:t>
                </a:r>
                <a:r>
                  <a:rPr lang="en-US" sz="2400" b="1" baseline="-25000" dirty="0">
                    <a:solidFill>
                      <a:srgbClr val="0000CC"/>
                    </a:solidFill>
                  </a:rPr>
                  <a:t>0</a:t>
                </a:r>
                <a:r>
                  <a:rPr lang="en-US" sz="2400" b="1" dirty="0">
                    <a:solidFill>
                      <a:srgbClr val="0000CC"/>
                    </a:solidFill>
                  </a:rPr>
                  <a:t>, it follows that  f (x) = O(h (x))</a:t>
                </a:r>
              </a:p>
              <a:p>
                <a:pPr>
                  <a:lnSpc>
                    <a:spcPct val="150000"/>
                  </a:lnSpc>
                  <a:buFont typeface="Arial" pitchFamily="34" charset="0"/>
                  <a:buChar char="•"/>
                </a:pP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Analogous assertions are true for </a:t>
                </a:r>
                <a:r>
                  <a:rPr lang="el-GR" sz="2400" dirty="0">
                    <a:solidFill>
                      <a:schemeClr val="tx1"/>
                    </a:solidFill>
                  </a:rPr>
                  <a:t>Ω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and </a:t>
                </a:r>
                <a:r>
                  <a:rPr lang="el-GR" sz="2400" dirty="0">
                    <a:solidFill>
                      <a:schemeClr val="tx1"/>
                    </a:solidFill>
                  </a:rPr>
                  <a:t>Θ</a:t>
                </a:r>
                <a:r>
                  <a:rPr lang="en-US" sz="2400" dirty="0">
                    <a:solidFill>
                      <a:schemeClr val="tx1"/>
                    </a:solidFill>
                    <a:latin typeface="Segoe"/>
                  </a:rPr>
                  <a:t> notations.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762000"/>
                <a:ext cx="8610600" cy="5943600"/>
              </a:xfrm>
              <a:blipFill>
                <a:blip r:embed="rId3"/>
                <a:stretch>
                  <a:fillRect l="-1346" r="-1841" b="-1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23726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6858000" y="64008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447B5872-9CEB-48F9-817D-86A265A2AEAB}" type="slidenum">
              <a:rPr lang="en-US" altLang="en-US" smtClean="0"/>
              <a:pPr/>
              <a:t>28</a:t>
            </a:fld>
            <a:endParaRPr lang="en-US" altLang="en-US" dirty="0"/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534400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305800" cy="5334000"/>
          </a:xfrm>
        </p:spPr>
        <p:txBody>
          <a:bodyPr>
            <a:noAutofit/>
          </a:bodyPr>
          <a:lstStyle/>
          <a:p>
            <a:pPr marL="449263" indent="-276225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All logarithmic functions </a:t>
            </a:r>
            <a:r>
              <a:rPr kumimoji="0" lang="en-US" alt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log</a:t>
            </a:r>
            <a:r>
              <a:rPr kumimoji="0" lang="en-US" altLang="en-US" sz="2800" i="1" baseline="-250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kumimoji="0" lang="en-US" altLang="en-US" sz="2800" i="1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kumimoji="0" lang="en-US" altLang="en-US" sz="2800" b="0" dirty="0"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belong to the same class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 order of (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log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)</a:t>
            </a:r>
            <a:r>
              <a:rPr kumimoji="0" lang="en-US" altLang="en-US" sz="2800" dirty="0">
                <a:solidFill>
                  <a:schemeClr val="tx1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no matter what the logarithm’s base </a:t>
            </a:r>
            <a: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a 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&gt; 1 is</a:t>
            </a:r>
            <a:b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</a:br>
            <a:endParaRPr kumimoji="0" lang="en-US" alt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  <a:p>
            <a:pPr marL="449263" indent="-276225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Exponential functions </a:t>
            </a:r>
            <a: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a</a:t>
            </a:r>
            <a:r>
              <a:rPr kumimoji="0" lang="en-US" alt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 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have different orders of growth for different </a:t>
            </a:r>
            <a: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a</a:t>
            </a:r>
            <a:r>
              <a:rPr kumimoji="0"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’s</a:t>
            </a:r>
            <a:b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</a:br>
            <a:endParaRPr kumimoji="0" lang="en-US" altLang="en-US" sz="2800" i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  <a:p>
            <a:pPr marL="449263" indent="-276225">
              <a:lnSpc>
                <a:spcPct val="80000"/>
              </a:lnSpc>
              <a:buFont typeface="Arial" pitchFamily="34" charset="0"/>
              <a:buChar char="•"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order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log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  &lt;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order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alt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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(&gt;0)  &lt; order </a:t>
            </a:r>
            <a:r>
              <a:rPr kumimoji="0"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a</a:t>
            </a:r>
            <a:r>
              <a:rPr kumimoji="0" lang="en-US" altLang="en-US" sz="2800" i="1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  &lt; order </a:t>
            </a:r>
            <a:r>
              <a:rPr lang="en-US" alt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! &lt; order </a:t>
            </a:r>
            <a:r>
              <a:rPr lang="en-US" altLang="en-US" sz="2800" i="1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altLang="en-US" sz="2800" i="1" baseline="300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n</a:t>
            </a: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																								</a:t>
            </a:r>
            <a:endParaRPr lang="en-US" altLang="en-US" sz="2800" i="1" baseline="300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  <a:sym typeface="Symbol" pitchFamily="18" charset="2"/>
            </a:endParaRP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														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  <a:defRPr/>
            </a:pPr>
            <a:r>
              <a:rPr lang="en-US" alt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152400"/>
            <a:ext cx="76200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Question…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668976" y="838200"/>
            <a:ext cx="7941623" cy="4373563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Cost Function:</a:t>
            </a:r>
            <a:r>
              <a:rPr lang="en-US" sz="2800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</a:t>
            </a:r>
            <a:r>
              <a:rPr lang="en-US" sz="2800" i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2800" i="1" baseline="-25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) = </a:t>
            </a:r>
            <a:r>
              <a:rPr lang="en-US" sz="28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aseline="30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+ 200</a:t>
            </a:r>
            <a:r>
              <a:rPr lang="en-US" sz="2800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0"/>
                <a:cs typeface="Segoe UI" pitchFamily="34" charset="0"/>
              </a:rPr>
              <a:t> + 10000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Which term in the function is most important (dominates)?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It depends on the size of </a:t>
            </a: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20, </a:t>
            </a:r>
            <a:r>
              <a:rPr lang="en-US" sz="2800" i="1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2800" i="1" baseline="-25000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 = 400 + 4000 + </a:t>
            </a:r>
            <a:r>
              <a:rPr lang="en-US" sz="2800" b="1" u="sng" dirty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10000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constant,  is the dominating term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100, </a:t>
            </a:r>
            <a:r>
              <a:rPr lang="en-US" sz="2800" i="1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2800" i="1" baseline="-25000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 = 10000 + </a:t>
            </a:r>
            <a:r>
              <a:rPr lang="en-US" sz="2800" b="1" u="sng" dirty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20000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+ 10000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200n is the dominating term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1000, </a:t>
            </a:r>
            <a:r>
              <a:rPr lang="en-US" sz="2800" i="1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</a:t>
            </a:r>
            <a:r>
              <a:rPr lang="en-US" sz="2800" i="1" baseline="-25000" dirty="0" err="1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i="1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 = </a:t>
            </a:r>
            <a:r>
              <a:rPr lang="en-US" sz="2800" b="1" u="sng" dirty="0">
                <a:solidFill>
                  <a:srgbClr val="00B05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1000000</a:t>
            </a:r>
            <a:r>
              <a:rPr lang="en-US" sz="2800" dirty="0">
                <a:solidFill>
                  <a:srgbClr val="00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+ 200000 + 10000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800" i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</a:t>
            </a:r>
            <a:r>
              <a:rPr lang="en-US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is the dominant term</a:t>
            </a: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92950" y="6553200"/>
            <a:ext cx="1905000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AB7F590D-754F-43B0-B717-242BD7777D2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1600200"/>
            <a:ext cx="8170223" cy="4373563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tx1"/>
                </a:solidFill>
              </a:rPr>
              <a:t>Anany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Levitin</a:t>
            </a:r>
            <a:r>
              <a:rPr lang="en-US" sz="2400" dirty="0">
                <a:solidFill>
                  <a:schemeClr val="tx1"/>
                </a:solidFill>
              </a:rPr>
              <a:t>, Introduction to the design and analysis of algorithms, 2</a:t>
            </a:r>
            <a:r>
              <a:rPr lang="en-US" sz="2400" baseline="30000" dirty="0">
                <a:solidFill>
                  <a:schemeClr val="tx1"/>
                </a:solidFill>
              </a:rPr>
              <a:t>nd</a:t>
            </a:r>
            <a:r>
              <a:rPr lang="en-US" sz="2400" dirty="0">
                <a:solidFill>
                  <a:schemeClr val="tx1"/>
                </a:solidFill>
              </a:rPr>
              <a:t> Edition.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Chapter 1, sections 1.1, 1.2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Chapter 2, Sections 2.1,2.2</a:t>
            </a:r>
          </a:p>
          <a:p>
            <a:r>
              <a:rPr lang="en-US" sz="2400" dirty="0">
                <a:solidFill>
                  <a:schemeClr val="tx1"/>
                </a:solidFill>
              </a:rPr>
              <a:t>Kenneth H. Rosen, Discrete Mathematics and its applications, 7</a:t>
            </a:r>
            <a:r>
              <a:rPr lang="en-US" sz="2400" baseline="30000" dirty="0">
                <a:solidFill>
                  <a:schemeClr val="tx1"/>
                </a:solidFill>
              </a:rPr>
              <a:t>th</a:t>
            </a:r>
            <a:r>
              <a:rPr lang="en-US" sz="2400" dirty="0">
                <a:solidFill>
                  <a:schemeClr val="tx1"/>
                </a:solidFill>
              </a:rPr>
              <a:t> Edition 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Chapter 3 Algorithms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3608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x) = 8x^{5} + 5x^2 + 10$&#10;&#10;\end{document}"/>
  <p:tag name="IGUANATEXSIZE" val="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f(x) = 8x^{199}+ 7x^{100} + x^{99} + 5x^2 + 25$&#10;&#10;\end{document}"/>
  <p:tag name="IGUANATEXSIZE" val="2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Custom 2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4685DF"/>
      </a:hlink>
      <a:folHlink>
        <a:srgbClr val="9965C3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F0DC7C82-3614-4BF8-90D5-A21AC6151AF8}"/>
</file>

<file path=customXml/itemProps2.xml><?xml version="1.0" encoding="utf-8"?>
<ds:datastoreItem xmlns:ds="http://schemas.openxmlformats.org/officeDocument/2006/customXml" ds:itemID="{935A8A86-52BA-4E2A-9CFE-F069EA156B4F}"/>
</file>

<file path=customXml/itemProps3.xml><?xml version="1.0" encoding="utf-8"?>
<ds:datastoreItem xmlns:ds="http://schemas.openxmlformats.org/officeDocument/2006/customXml" ds:itemID="{0B832863-609F-4D18-909A-9B819B9BE865}"/>
</file>

<file path=docProps/app.xml><?xml version="1.0" encoding="utf-8"?>
<Properties xmlns="http://schemas.openxmlformats.org/officeDocument/2006/extended-properties" xmlns:vt="http://schemas.openxmlformats.org/officeDocument/2006/docPropsVTypes">
  <Template>TS102129550</Template>
  <TotalTime>6611</TotalTime>
  <Words>2460</Words>
  <Application>Microsoft Office PowerPoint</Application>
  <PresentationFormat>On-screen Show (4:3)</PresentationFormat>
  <Paragraphs>253</Paragraphs>
  <Slides>30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Arial</vt:lpstr>
      <vt:lpstr>Calibri</vt:lpstr>
      <vt:lpstr>Cambria Math</vt:lpstr>
      <vt:lpstr>Comic Sans MS</vt:lpstr>
      <vt:lpstr>Monotype Sorts</vt:lpstr>
      <vt:lpstr>Segoe</vt:lpstr>
      <vt:lpstr>Segoe UI</vt:lpstr>
      <vt:lpstr>Segoe UI Light</vt:lpstr>
      <vt:lpstr>Tahoma</vt:lpstr>
      <vt:lpstr>Times New Roman</vt:lpstr>
      <vt:lpstr>Wingdings</vt:lpstr>
      <vt:lpstr>Essential</vt:lpstr>
      <vt:lpstr>Equation</vt:lpstr>
      <vt:lpstr>Cs316: Algorithms  Lecture 2  Analysis of Algorithms</vt:lpstr>
      <vt:lpstr> Asymptotic notations and Basic efficiency classes  </vt:lpstr>
      <vt:lpstr>Bounds (Asymptotic Notations)</vt:lpstr>
      <vt:lpstr>Bounds (Asymptotic Notations)</vt:lpstr>
      <vt:lpstr>O-Notation: Definition</vt:lpstr>
      <vt:lpstr>O-Notation :Definition  1</vt:lpstr>
      <vt:lpstr> O-Notation :</vt:lpstr>
      <vt:lpstr>O-Notation :</vt:lpstr>
      <vt:lpstr>O-Notation : Examples</vt:lpstr>
      <vt:lpstr>PowerPoint Presentation</vt:lpstr>
      <vt:lpstr>O-Notation Example Comparison of Growth Rates</vt:lpstr>
      <vt:lpstr>PowerPoint Presentation</vt:lpstr>
      <vt:lpstr>Ω-Notation: DEFINITION</vt:lpstr>
      <vt:lpstr>Ω-Notation: Definition</vt:lpstr>
      <vt:lpstr>Ω-Notation Basic Method</vt:lpstr>
      <vt:lpstr>PowerPoint Presentation</vt:lpstr>
      <vt:lpstr>θ-Notation: Definition</vt:lpstr>
      <vt:lpstr>θ-Notation: Definition</vt:lpstr>
      <vt:lpstr>PowerPoint Presentation</vt:lpstr>
      <vt:lpstr>Comparison of Growth Rates</vt:lpstr>
      <vt:lpstr>Bounds (Asymptotic Notations)</vt:lpstr>
      <vt:lpstr>Theorem  :</vt:lpstr>
      <vt:lpstr>PowerPoint Presentation</vt:lpstr>
      <vt:lpstr>Theorem :</vt:lpstr>
      <vt:lpstr>Theorem : Polynomial</vt:lpstr>
      <vt:lpstr>Theorem : Transitivity </vt:lpstr>
      <vt:lpstr>Theorem :</vt:lpstr>
      <vt:lpstr>Note:</vt:lpstr>
      <vt:lpstr>Question…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Seeker</dc:creator>
  <cp:lastModifiedBy>Mohammed El-Said</cp:lastModifiedBy>
  <cp:revision>514</cp:revision>
  <cp:lastPrinted>2014-03-18T20:55:49Z</cp:lastPrinted>
  <dcterms:created xsi:type="dcterms:W3CDTF">2012-01-21T23:39:36Z</dcterms:created>
  <dcterms:modified xsi:type="dcterms:W3CDTF">2024-02-22T00:54:30Z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TC102037651033</vt:lpwstr>
  </property>
  <property fmtid="{D5CDD505-2E9C-101B-9397-08002B2CF9AE}" pid="3" name="ContentTypeId">
    <vt:lpwstr>0x010100350B7603DA286A41973ED08A6E95DDF1</vt:lpwstr>
  </property>
</Properties>
</file>