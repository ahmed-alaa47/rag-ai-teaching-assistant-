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4"/>
  </p:notesMasterIdLst>
  <p:sldIdLst>
    <p:sldId id="281" r:id="rId2"/>
    <p:sldId id="289" r:id="rId3"/>
    <p:sldId id="257" r:id="rId4"/>
    <p:sldId id="332" r:id="rId5"/>
    <p:sldId id="333" r:id="rId6"/>
    <p:sldId id="334" r:id="rId7"/>
    <p:sldId id="335" r:id="rId8"/>
    <p:sldId id="336" r:id="rId9"/>
    <p:sldId id="338" r:id="rId10"/>
    <p:sldId id="339" r:id="rId11"/>
    <p:sldId id="340" r:id="rId12"/>
    <p:sldId id="341" r:id="rId13"/>
    <p:sldId id="342" r:id="rId14"/>
    <p:sldId id="343" r:id="rId15"/>
    <p:sldId id="345" r:id="rId16"/>
    <p:sldId id="348" r:id="rId17"/>
    <p:sldId id="346" r:id="rId18"/>
    <p:sldId id="337" r:id="rId19"/>
    <p:sldId id="366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5" r:id="rId30"/>
    <p:sldId id="327" r:id="rId31"/>
    <p:sldId id="328" r:id="rId32"/>
    <p:sldId id="330" r:id="rId33"/>
    <p:sldId id="349" r:id="rId34"/>
    <p:sldId id="350" r:id="rId35"/>
    <p:sldId id="351" r:id="rId36"/>
    <p:sldId id="352" r:id="rId37"/>
    <p:sldId id="353" r:id="rId38"/>
    <p:sldId id="354" r:id="rId39"/>
    <p:sldId id="356" r:id="rId40"/>
    <p:sldId id="355" r:id="rId41"/>
    <p:sldId id="357" r:id="rId42"/>
    <p:sldId id="358" r:id="rId43"/>
    <p:sldId id="359" r:id="rId44"/>
    <p:sldId id="360" r:id="rId45"/>
    <p:sldId id="361" r:id="rId46"/>
    <p:sldId id="362" r:id="rId47"/>
    <p:sldId id="363" r:id="rId48"/>
    <p:sldId id="364" r:id="rId49"/>
    <p:sldId id="331" r:id="rId50"/>
    <p:sldId id="288" r:id="rId51"/>
    <p:sldId id="278" r:id="rId52"/>
    <p:sldId id="287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482A"/>
    <a:srgbClr val="FED9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8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customXml" Target="../customXml/item3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B09BC9-3DB1-43F1-9545-06489D3DD843}" type="doc">
      <dgm:prSet loTypeId="urn:microsoft.com/office/officeart/2005/8/layout/chevron2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78F58415-35D3-4C88-A0B4-D8C9383EDFB3}">
      <dgm:prSet phldrT="[Text]" custT="1"/>
      <dgm:spPr/>
      <dgm:t>
        <a:bodyPr/>
        <a:lstStyle/>
        <a:p>
          <a:r>
            <a:rPr lang="en-US" sz="2400" dirty="0"/>
            <a:t>1</a:t>
          </a:r>
        </a:p>
      </dgm:t>
    </dgm:pt>
    <dgm:pt modelId="{8F244BB6-BD79-44E0-B3C7-152FF28686F1}" type="parTrans" cxnId="{E3535A05-A143-493D-8809-9A6A97B5B7DC}">
      <dgm:prSet/>
      <dgm:spPr/>
      <dgm:t>
        <a:bodyPr/>
        <a:lstStyle/>
        <a:p>
          <a:endParaRPr lang="en-US" sz="2400"/>
        </a:p>
      </dgm:t>
    </dgm:pt>
    <dgm:pt modelId="{6CB7077F-0B6A-473B-A818-08E8051536B6}" type="sibTrans" cxnId="{E3535A05-A143-493D-8809-9A6A97B5B7DC}">
      <dgm:prSet/>
      <dgm:spPr/>
      <dgm:t>
        <a:bodyPr/>
        <a:lstStyle/>
        <a:p>
          <a:endParaRPr lang="en-US" sz="2400"/>
        </a:p>
      </dgm:t>
    </dgm:pt>
    <dgm:pt modelId="{3D01CB51-8F16-4F23-8F7C-B6DFD14597A5}">
      <dgm:prSet phldrT="[Text]" custT="1"/>
      <dgm:spPr/>
      <dgm:t>
        <a:bodyPr/>
        <a:lstStyle/>
        <a:p>
          <a:r>
            <a:rPr lang="en-US" sz="2400" dirty="0"/>
            <a:t>2</a:t>
          </a:r>
        </a:p>
      </dgm:t>
    </dgm:pt>
    <dgm:pt modelId="{6D8B95CC-544D-4725-A6AA-B7BA2610312A}" type="sibTrans" cxnId="{4D762385-FF67-49F1-ABF2-F3058FD3BBFA}">
      <dgm:prSet/>
      <dgm:spPr/>
      <dgm:t>
        <a:bodyPr/>
        <a:lstStyle/>
        <a:p>
          <a:endParaRPr lang="en-US" sz="2400"/>
        </a:p>
      </dgm:t>
    </dgm:pt>
    <dgm:pt modelId="{276AF306-B072-42F9-AB39-11E57EA628F0}" type="parTrans" cxnId="{4D762385-FF67-49F1-ABF2-F3058FD3BBFA}">
      <dgm:prSet/>
      <dgm:spPr/>
      <dgm:t>
        <a:bodyPr/>
        <a:lstStyle/>
        <a:p>
          <a:endParaRPr lang="en-US" sz="2400"/>
        </a:p>
      </dgm:t>
    </dgm:pt>
    <dgm:pt modelId="{17FC9327-7D9F-4788-8129-F71A77A223B7}">
      <dgm:prSet phldrT="[Text]" custT="1"/>
      <dgm:spPr/>
      <dgm:t>
        <a:bodyPr/>
        <a:lstStyle/>
        <a:p>
          <a:r>
            <a:rPr lang="en-US" sz="2400" dirty="0"/>
            <a:t>Insertion Sort.</a:t>
          </a:r>
        </a:p>
      </dgm:t>
    </dgm:pt>
    <dgm:pt modelId="{9E3B7B48-DA09-4169-AAF2-450963D4D2A2}" type="parTrans" cxnId="{77511E46-56B6-4880-988D-7AA232BE94D4}">
      <dgm:prSet/>
      <dgm:spPr/>
      <dgm:t>
        <a:bodyPr/>
        <a:lstStyle/>
        <a:p>
          <a:endParaRPr lang="en-US" sz="2400"/>
        </a:p>
      </dgm:t>
    </dgm:pt>
    <dgm:pt modelId="{76A0D1E1-6D56-4814-8BB3-C988B0240EB9}" type="sibTrans" cxnId="{77511E46-56B6-4880-988D-7AA232BE94D4}">
      <dgm:prSet/>
      <dgm:spPr/>
      <dgm:t>
        <a:bodyPr/>
        <a:lstStyle/>
        <a:p>
          <a:endParaRPr lang="en-US" sz="2400"/>
        </a:p>
      </dgm:t>
    </dgm:pt>
    <dgm:pt modelId="{F1618984-B299-4AB8-9E25-69C1E3E2BBA4}">
      <dgm:prSet phldrT="[Text]" custT="1"/>
      <dgm:spPr/>
      <dgm:t>
        <a:bodyPr/>
        <a:lstStyle/>
        <a:p>
          <a:r>
            <a:rPr lang="en-US" sz="2400" dirty="0"/>
            <a:t>3 </a:t>
          </a:r>
        </a:p>
      </dgm:t>
    </dgm:pt>
    <dgm:pt modelId="{7199D887-B99E-4F42-8ED3-C435EF2A4708}" type="parTrans" cxnId="{97969A16-83CB-4F1A-9741-2F5BA81B9A72}">
      <dgm:prSet/>
      <dgm:spPr/>
      <dgm:t>
        <a:bodyPr/>
        <a:lstStyle/>
        <a:p>
          <a:endParaRPr lang="en-US" sz="2400"/>
        </a:p>
      </dgm:t>
    </dgm:pt>
    <dgm:pt modelId="{6ABE7927-0BEA-421E-AB6C-6FC6239A5F06}" type="sibTrans" cxnId="{97969A16-83CB-4F1A-9741-2F5BA81B9A72}">
      <dgm:prSet/>
      <dgm:spPr/>
      <dgm:t>
        <a:bodyPr/>
        <a:lstStyle/>
        <a:p>
          <a:endParaRPr lang="en-US" sz="2400"/>
        </a:p>
      </dgm:t>
    </dgm:pt>
    <dgm:pt modelId="{5BA84749-8805-45A2-B729-92250F3B0A4C}">
      <dgm:prSet custT="1"/>
      <dgm:spPr/>
      <dgm:t>
        <a:bodyPr/>
        <a:lstStyle/>
        <a:p>
          <a:r>
            <a:rPr lang="en-US" sz="2400" dirty="0"/>
            <a:t>Appendix : useful formulas for Analysis of Algorithms.</a:t>
          </a:r>
        </a:p>
      </dgm:t>
    </dgm:pt>
    <dgm:pt modelId="{66DB4072-BAB1-4E4A-B340-5D0E27C0D371}" type="parTrans" cxnId="{86F14F6B-8813-4C2F-80A0-7B24B49B816A}">
      <dgm:prSet/>
      <dgm:spPr/>
      <dgm:t>
        <a:bodyPr/>
        <a:lstStyle/>
        <a:p>
          <a:endParaRPr lang="en-US" sz="2400"/>
        </a:p>
      </dgm:t>
    </dgm:pt>
    <dgm:pt modelId="{AC415008-0BF8-49BE-A697-886A5A1F187E}" type="sibTrans" cxnId="{86F14F6B-8813-4C2F-80A0-7B24B49B816A}">
      <dgm:prSet/>
      <dgm:spPr/>
      <dgm:t>
        <a:bodyPr/>
        <a:lstStyle/>
        <a:p>
          <a:endParaRPr lang="en-US" sz="2400"/>
        </a:p>
      </dgm:t>
    </dgm:pt>
    <dgm:pt modelId="{C02AF712-03A5-4F34-BE7D-766ED40B9FE1}">
      <dgm:prSet phldrT="[Text]" custT="1"/>
      <dgm:spPr/>
      <dgm:t>
        <a:bodyPr/>
        <a:lstStyle/>
        <a:p>
          <a:r>
            <a:rPr lang="en-US" sz="2400" dirty="0"/>
            <a:t>Analyzing Non-recursive Algorithms.</a:t>
          </a:r>
        </a:p>
      </dgm:t>
    </dgm:pt>
    <dgm:pt modelId="{294B3166-B53F-476A-9FF8-EF81D475EB4D}" type="sibTrans" cxnId="{88A48ED3-2332-4BB9-B245-7E337AFB142A}">
      <dgm:prSet/>
      <dgm:spPr/>
      <dgm:t>
        <a:bodyPr/>
        <a:lstStyle/>
        <a:p>
          <a:endParaRPr lang="en-US" sz="2400"/>
        </a:p>
      </dgm:t>
    </dgm:pt>
    <dgm:pt modelId="{D1F201F3-6B7F-4B5A-88C5-AD39BBBF20F4}" type="parTrans" cxnId="{88A48ED3-2332-4BB9-B245-7E337AFB142A}">
      <dgm:prSet/>
      <dgm:spPr/>
      <dgm:t>
        <a:bodyPr/>
        <a:lstStyle/>
        <a:p>
          <a:endParaRPr lang="en-US" sz="2400"/>
        </a:p>
      </dgm:t>
    </dgm:pt>
    <dgm:pt modelId="{1BA58F6A-1196-4736-98A8-9AEDE56A8FFA}">
      <dgm:prSet custT="1"/>
      <dgm:spPr/>
      <dgm:t>
        <a:bodyPr/>
        <a:lstStyle/>
        <a:p>
          <a:r>
            <a:rPr lang="en-US" sz="2400" dirty="0"/>
            <a:t>Merge Sort</a:t>
          </a:r>
        </a:p>
      </dgm:t>
    </dgm:pt>
    <dgm:pt modelId="{BCBD2E7F-EA94-45AC-AFA6-B1D3D69C8658}" type="parTrans" cxnId="{DDFE141D-C319-46C0-B325-A411D1C45225}">
      <dgm:prSet/>
      <dgm:spPr/>
      <dgm:t>
        <a:bodyPr/>
        <a:lstStyle/>
        <a:p>
          <a:endParaRPr lang="en-US" sz="2400"/>
        </a:p>
      </dgm:t>
    </dgm:pt>
    <dgm:pt modelId="{E8097D75-95F4-46D2-9BF3-005B372B0043}" type="sibTrans" cxnId="{DDFE141D-C319-46C0-B325-A411D1C45225}">
      <dgm:prSet/>
      <dgm:spPr/>
      <dgm:t>
        <a:bodyPr/>
        <a:lstStyle/>
        <a:p>
          <a:endParaRPr lang="en-US" sz="2400"/>
        </a:p>
      </dgm:t>
    </dgm:pt>
    <dgm:pt modelId="{F4587E16-3406-4127-B2B8-A6330549F6DA}">
      <dgm:prSet custT="1"/>
      <dgm:spPr/>
      <dgm:t>
        <a:bodyPr/>
        <a:lstStyle/>
        <a:p>
          <a:r>
            <a:rPr lang="en-US" sz="2400" dirty="0"/>
            <a:t>4</a:t>
          </a:r>
        </a:p>
      </dgm:t>
    </dgm:pt>
    <dgm:pt modelId="{31BB2B0F-4BF1-4901-B519-200A2929F479}" type="parTrans" cxnId="{E6F2DE4E-F193-4A5F-9FE3-EBA9722B2699}">
      <dgm:prSet/>
      <dgm:spPr/>
      <dgm:t>
        <a:bodyPr/>
        <a:lstStyle/>
        <a:p>
          <a:endParaRPr lang="en-US" sz="2400"/>
        </a:p>
      </dgm:t>
    </dgm:pt>
    <dgm:pt modelId="{B0F1C9E0-63E1-4BD4-A26A-F6E7B557A7E7}" type="sibTrans" cxnId="{E6F2DE4E-F193-4A5F-9FE3-EBA9722B2699}">
      <dgm:prSet/>
      <dgm:spPr/>
      <dgm:t>
        <a:bodyPr/>
        <a:lstStyle/>
        <a:p>
          <a:endParaRPr lang="en-US" sz="2400"/>
        </a:p>
      </dgm:t>
    </dgm:pt>
    <dgm:pt modelId="{FD389E58-AC63-4C7D-91E8-3B50D4410332}" type="pres">
      <dgm:prSet presAssocID="{A5B09BC9-3DB1-43F1-9545-06489D3DD843}" presName="linearFlow" presStyleCnt="0">
        <dgm:presLayoutVars>
          <dgm:dir/>
          <dgm:animLvl val="lvl"/>
          <dgm:resizeHandles val="exact"/>
        </dgm:presLayoutVars>
      </dgm:prSet>
      <dgm:spPr/>
    </dgm:pt>
    <dgm:pt modelId="{1A9FDB64-8381-45B5-8D0D-11BE0439BD13}" type="pres">
      <dgm:prSet presAssocID="{78F58415-35D3-4C88-A0B4-D8C9383EDFB3}" presName="composite" presStyleCnt="0"/>
      <dgm:spPr/>
    </dgm:pt>
    <dgm:pt modelId="{F312F7E4-F9FA-47AE-8236-A7987EB22D43}" type="pres">
      <dgm:prSet presAssocID="{78F58415-35D3-4C88-A0B4-D8C9383EDFB3}" presName="parentText" presStyleLbl="alignNode1" presStyleIdx="0" presStyleCnt="4" custLinFactX="-83346" custLinFactNeighborX="-100000" custLinFactNeighborY="-10347">
        <dgm:presLayoutVars>
          <dgm:chMax val="1"/>
          <dgm:bulletEnabled val="1"/>
        </dgm:presLayoutVars>
      </dgm:prSet>
      <dgm:spPr/>
    </dgm:pt>
    <dgm:pt modelId="{FB7F6B1D-821A-492B-AB19-6CA67D667810}" type="pres">
      <dgm:prSet presAssocID="{78F58415-35D3-4C88-A0B4-D8C9383EDFB3}" presName="descendantText" presStyleLbl="alignAcc1" presStyleIdx="0" presStyleCnt="4">
        <dgm:presLayoutVars>
          <dgm:bulletEnabled val="1"/>
        </dgm:presLayoutVars>
      </dgm:prSet>
      <dgm:spPr/>
    </dgm:pt>
    <dgm:pt modelId="{945290D2-E67C-4462-A20D-D3E5CEE892F3}" type="pres">
      <dgm:prSet presAssocID="{6CB7077F-0B6A-473B-A818-08E8051536B6}" presName="sp" presStyleCnt="0"/>
      <dgm:spPr/>
    </dgm:pt>
    <dgm:pt modelId="{5796F1FB-84E9-42FA-86C7-22B76FA5CC6B}" type="pres">
      <dgm:prSet presAssocID="{3D01CB51-8F16-4F23-8F7C-B6DFD14597A5}" presName="composite" presStyleCnt="0"/>
      <dgm:spPr/>
    </dgm:pt>
    <dgm:pt modelId="{D99E716D-831D-4080-B015-896BBE4F8B27}" type="pres">
      <dgm:prSet presAssocID="{3D01CB51-8F16-4F23-8F7C-B6DFD14597A5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213F86A4-FF79-4266-98E8-8BA6E9B819FA}" type="pres">
      <dgm:prSet presAssocID="{3D01CB51-8F16-4F23-8F7C-B6DFD14597A5}" presName="descendantText" presStyleLbl="alignAcc1" presStyleIdx="1" presStyleCnt="4">
        <dgm:presLayoutVars>
          <dgm:bulletEnabled val="1"/>
        </dgm:presLayoutVars>
      </dgm:prSet>
      <dgm:spPr/>
    </dgm:pt>
    <dgm:pt modelId="{19330ED1-27C9-46A5-B9B6-DEF6BE363181}" type="pres">
      <dgm:prSet presAssocID="{6D8B95CC-544D-4725-A6AA-B7BA2610312A}" presName="sp" presStyleCnt="0"/>
      <dgm:spPr/>
    </dgm:pt>
    <dgm:pt modelId="{B0257AA2-89FF-46DC-8130-6CA6522C16DF}" type="pres">
      <dgm:prSet presAssocID="{F1618984-B299-4AB8-9E25-69C1E3E2BBA4}" presName="composite" presStyleCnt="0"/>
      <dgm:spPr/>
    </dgm:pt>
    <dgm:pt modelId="{8E90B360-CCE2-4976-B715-5D133EF687C9}" type="pres">
      <dgm:prSet presAssocID="{F1618984-B299-4AB8-9E25-69C1E3E2BBA4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7708983B-AC49-4673-A2DE-98214197AE30}" type="pres">
      <dgm:prSet presAssocID="{F1618984-B299-4AB8-9E25-69C1E3E2BBA4}" presName="descendantText" presStyleLbl="alignAcc1" presStyleIdx="2" presStyleCnt="4">
        <dgm:presLayoutVars>
          <dgm:bulletEnabled val="1"/>
        </dgm:presLayoutVars>
      </dgm:prSet>
      <dgm:spPr/>
    </dgm:pt>
    <dgm:pt modelId="{B80E44F9-3158-4D37-BEC9-135D06C9597B}" type="pres">
      <dgm:prSet presAssocID="{6ABE7927-0BEA-421E-AB6C-6FC6239A5F06}" presName="sp" presStyleCnt="0"/>
      <dgm:spPr/>
    </dgm:pt>
    <dgm:pt modelId="{C744916B-34B0-4C93-B10C-D355B32C2AF7}" type="pres">
      <dgm:prSet presAssocID="{F4587E16-3406-4127-B2B8-A6330549F6DA}" presName="composite" presStyleCnt="0"/>
      <dgm:spPr/>
    </dgm:pt>
    <dgm:pt modelId="{D6AB46D0-FA86-466B-8ADC-F8F86DF2CA63}" type="pres">
      <dgm:prSet presAssocID="{F4587E16-3406-4127-B2B8-A6330549F6DA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DC9939EE-536F-4425-924A-0F4B4186E79E}" type="pres">
      <dgm:prSet presAssocID="{F4587E16-3406-4127-B2B8-A6330549F6DA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E3535A05-A143-493D-8809-9A6A97B5B7DC}" srcId="{A5B09BC9-3DB1-43F1-9545-06489D3DD843}" destId="{78F58415-35D3-4C88-A0B4-D8C9383EDFB3}" srcOrd="0" destOrd="0" parTransId="{8F244BB6-BD79-44E0-B3C7-152FF28686F1}" sibTransId="{6CB7077F-0B6A-473B-A818-08E8051536B6}"/>
    <dgm:cxn modelId="{97969A16-83CB-4F1A-9741-2F5BA81B9A72}" srcId="{A5B09BC9-3DB1-43F1-9545-06489D3DD843}" destId="{F1618984-B299-4AB8-9E25-69C1E3E2BBA4}" srcOrd="2" destOrd="0" parTransId="{7199D887-B99E-4F42-8ED3-C435EF2A4708}" sibTransId="{6ABE7927-0BEA-421E-AB6C-6FC6239A5F06}"/>
    <dgm:cxn modelId="{DDFE141D-C319-46C0-B325-A411D1C45225}" srcId="{F1618984-B299-4AB8-9E25-69C1E3E2BBA4}" destId="{1BA58F6A-1196-4736-98A8-9AEDE56A8FFA}" srcOrd="0" destOrd="0" parTransId="{BCBD2E7F-EA94-45AC-AFA6-B1D3D69C8658}" sibTransId="{E8097D75-95F4-46D2-9BF3-005B372B0043}"/>
    <dgm:cxn modelId="{01AC3232-1CC5-4734-A267-95E8E7C806E3}" type="presOf" srcId="{F4587E16-3406-4127-B2B8-A6330549F6DA}" destId="{D6AB46D0-FA86-466B-8ADC-F8F86DF2CA63}" srcOrd="0" destOrd="0" presId="urn:microsoft.com/office/officeart/2005/8/layout/chevron2"/>
    <dgm:cxn modelId="{C7B17C3A-F359-48CE-BE6E-227EA7B0C4C9}" type="presOf" srcId="{F1618984-B299-4AB8-9E25-69C1E3E2BBA4}" destId="{8E90B360-CCE2-4976-B715-5D133EF687C9}" srcOrd="0" destOrd="0" presId="urn:microsoft.com/office/officeart/2005/8/layout/chevron2"/>
    <dgm:cxn modelId="{77511E46-56B6-4880-988D-7AA232BE94D4}" srcId="{3D01CB51-8F16-4F23-8F7C-B6DFD14597A5}" destId="{17FC9327-7D9F-4788-8129-F71A77A223B7}" srcOrd="0" destOrd="0" parTransId="{9E3B7B48-DA09-4169-AAF2-450963D4D2A2}" sibTransId="{76A0D1E1-6D56-4814-8BB3-C988B0240EB9}"/>
    <dgm:cxn modelId="{86F14F6B-8813-4C2F-80A0-7B24B49B816A}" srcId="{F4587E16-3406-4127-B2B8-A6330549F6DA}" destId="{5BA84749-8805-45A2-B729-92250F3B0A4C}" srcOrd="0" destOrd="0" parTransId="{66DB4072-BAB1-4E4A-B340-5D0E27C0D371}" sibTransId="{AC415008-0BF8-49BE-A697-886A5A1F187E}"/>
    <dgm:cxn modelId="{E6F2DE4E-F193-4A5F-9FE3-EBA9722B2699}" srcId="{A5B09BC9-3DB1-43F1-9545-06489D3DD843}" destId="{F4587E16-3406-4127-B2B8-A6330549F6DA}" srcOrd="3" destOrd="0" parTransId="{31BB2B0F-4BF1-4901-B519-200A2929F479}" sibTransId="{B0F1C9E0-63E1-4BD4-A26A-F6E7B557A7E7}"/>
    <dgm:cxn modelId="{FB5ABA73-4191-485B-8FB9-14B6430F6BF6}" type="presOf" srcId="{A5B09BC9-3DB1-43F1-9545-06489D3DD843}" destId="{FD389E58-AC63-4C7D-91E8-3B50D4410332}" srcOrd="0" destOrd="0" presId="urn:microsoft.com/office/officeart/2005/8/layout/chevron2"/>
    <dgm:cxn modelId="{4738FC79-289B-4179-B3E8-D338C40A45BA}" type="presOf" srcId="{78F58415-35D3-4C88-A0B4-D8C9383EDFB3}" destId="{F312F7E4-F9FA-47AE-8236-A7987EB22D43}" srcOrd="0" destOrd="0" presId="urn:microsoft.com/office/officeart/2005/8/layout/chevron2"/>
    <dgm:cxn modelId="{4D762385-FF67-49F1-ABF2-F3058FD3BBFA}" srcId="{A5B09BC9-3DB1-43F1-9545-06489D3DD843}" destId="{3D01CB51-8F16-4F23-8F7C-B6DFD14597A5}" srcOrd="1" destOrd="0" parTransId="{276AF306-B072-42F9-AB39-11E57EA628F0}" sibTransId="{6D8B95CC-544D-4725-A6AA-B7BA2610312A}"/>
    <dgm:cxn modelId="{E90DF593-89C8-407B-B130-5C8A688360B1}" type="presOf" srcId="{C02AF712-03A5-4F34-BE7D-766ED40B9FE1}" destId="{FB7F6B1D-821A-492B-AB19-6CA67D667810}" srcOrd="0" destOrd="0" presId="urn:microsoft.com/office/officeart/2005/8/layout/chevron2"/>
    <dgm:cxn modelId="{CFE99B95-08C9-401C-9383-39514330F876}" type="presOf" srcId="{1BA58F6A-1196-4736-98A8-9AEDE56A8FFA}" destId="{7708983B-AC49-4673-A2DE-98214197AE30}" srcOrd="0" destOrd="0" presId="urn:microsoft.com/office/officeart/2005/8/layout/chevron2"/>
    <dgm:cxn modelId="{143E95B5-BA22-48B5-ACCB-DBFD66E10322}" type="presOf" srcId="{5BA84749-8805-45A2-B729-92250F3B0A4C}" destId="{DC9939EE-536F-4425-924A-0F4B4186E79E}" srcOrd="0" destOrd="0" presId="urn:microsoft.com/office/officeart/2005/8/layout/chevron2"/>
    <dgm:cxn modelId="{B40BF5D2-DA8D-440E-872D-5AD48BA2A086}" type="presOf" srcId="{17FC9327-7D9F-4788-8129-F71A77A223B7}" destId="{213F86A4-FF79-4266-98E8-8BA6E9B819FA}" srcOrd="0" destOrd="0" presId="urn:microsoft.com/office/officeart/2005/8/layout/chevron2"/>
    <dgm:cxn modelId="{88A48ED3-2332-4BB9-B245-7E337AFB142A}" srcId="{78F58415-35D3-4C88-A0B4-D8C9383EDFB3}" destId="{C02AF712-03A5-4F34-BE7D-766ED40B9FE1}" srcOrd="0" destOrd="0" parTransId="{D1F201F3-6B7F-4B5A-88C5-AD39BBBF20F4}" sibTransId="{294B3166-B53F-476A-9FF8-EF81D475EB4D}"/>
    <dgm:cxn modelId="{F2BDD2E6-B574-40F8-88E7-FF606EAF0102}" type="presOf" srcId="{3D01CB51-8F16-4F23-8F7C-B6DFD14597A5}" destId="{D99E716D-831D-4080-B015-896BBE4F8B27}" srcOrd="0" destOrd="0" presId="urn:microsoft.com/office/officeart/2005/8/layout/chevron2"/>
    <dgm:cxn modelId="{DD88C7DD-9213-4628-8B44-80A0C7740422}" type="presParOf" srcId="{FD389E58-AC63-4C7D-91E8-3B50D4410332}" destId="{1A9FDB64-8381-45B5-8D0D-11BE0439BD13}" srcOrd="0" destOrd="0" presId="urn:microsoft.com/office/officeart/2005/8/layout/chevron2"/>
    <dgm:cxn modelId="{7528D196-83F0-4860-A978-FF14AD7A02FB}" type="presParOf" srcId="{1A9FDB64-8381-45B5-8D0D-11BE0439BD13}" destId="{F312F7E4-F9FA-47AE-8236-A7987EB22D43}" srcOrd="0" destOrd="0" presId="urn:microsoft.com/office/officeart/2005/8/layout/chevron2"/>
    <dgm:cxn modelId="{D296495E-78F6-4BCA-A97A-FEBDE7A1CD38}" type="presParOf" srcId="{1A9FDB64-8381-45B5-8D0D-11BE0439BD13}" destId="{FB7F6B1D-821A-492B-AB19-6CA67D667810}" srcOrd="1" destOrd="0" presId="urn:microsoft.com/office/officeart/2005/8/layout/chevron2"/>
    <dgm:cxn modelId="{442DCD6E-9CFD-48B4-A1A4-C09EEE5D176A}" type="presParOf" srcId="{FD389E58-AC63-4C7D-91E8-3B50D4410332}" destId="{945290D2-E67C-4462-A20D-D3E5CEE892F3}" srcOrd="1" destOrd="0" presId="urn:microsoft.com/office/officeart/2005/8/layout/chevron2"/>
    <dgm:cxn modelId="{5A3F7D0F-516F-4489-B681-9AED97FDAC38}" type="presParOf" srcId="{FD389E58-AC63-4C7D-91E8-3B50D4410332}" destId="{5796F1FB-84E9-42FA-86C7-22B76FA5CC6B}" srcOrd="2" destOrd="0" presId="urn:microsoft.com/office/officeart/2005/8/layout/chevron2"/>
    <dgm:cxn modelId="{F56E389A-76FC-4673-B7B5-547CF67BBA22}" type="presParOf" srcId="{5796F1FB-84E9-42FA-86C7-22B76FA5CC6B}" destId="{D99E716D-831D-4080-B015-896BBE4F8B27}" srcOrd="0" destOrd="0" presId="urn:microsoft.com/office/officeart/2005/8/layout/chevron2"/>
    <dgm:cxn modelId="{F6AF81EF-2A4E-44BF-9341-1B8CEF509BC5}" type="presParOf" srcId="{5796F1FB-84E9-42FA-86C7-22B76FA5CC6B}" destId="{213F86A4-FF79-4266-98E8-8BA6E9B819FA}" srcOrd="1" destOrd="0" presId="urn:microsoft.com/office/officeart/2005/8/layout/chevron2"/>
    <dgm:cxn modelId="{2F3D58DC-205A-4098-A265-BCE435400740}" type="presParOf" srcId="{FD389E58-AC63-4C7D-91E8-3B50D4410332}" destId="{19330ED1-27C9-46A5-B9B6-DEF6BE363181}" srcOrd="3" destOrd="0" presId="urn:microsoft.com/office/officeart/2005/8/layout/chevron2"/>
    <dgm:cxn modelId="{048A30A1-A20B-4222-84ED-3EA72629FBDD}" type="presParOf" srcId="{FD389E58-AC63-4C7D-91E8-3B50D4410332}" destId="{B0257AA2-89FF-46DC-8130-6CA6522C16DF}" srcOrd="4" destOrd="0" presId="urn:microsoft.com/office/officeart/2005/8/layout/chevron2"/>
    <dgm:cxn modelId="{7714F25F-C8A4-4110-B925-726D7883BA8D}" type="presParOf" srcId="{B0257AA2-89FF-46DC-8130-6CA6522C16DF}" destId="{8E90B360-CCE2-4976-B715-5D133EF687C9}" srcOrd="0" destOrd="0" presId="urn:microsoft.com/office/officeart/2005/8/layout/chevron2"/>
    <dgm:cxn modelId="{4049FD70-045B-4945-887F-3C9B7DE5128F}" type="presParOf" srcId="{B0257AA2-89FF-46DC-8130-6CA6522C16DF}" destId="{7708983B-AC49-4673-A2DE-98214197AE30}" srcOrd="1" destOrd="0" presId="urn:microsoft.com/office/officeart/2005/8/layout/chevron2"/>
    <dgm:cxn modelId="{245E728B-ADC6-4859-A549-0AA370E63731}" type="presParOf" srcId="{FD389E58-AC63-4C7D-91E8-3B50D4410332}" destId="{B80E44F9-3158-4D37-BEC9-135D06C9597B}" srcOrd="5" destOrd="0" presId="urn:microsoft.com/office/officeart/2005/8/layout/chevron2"/>
    <dgm:cxn modelId="{5D8ABE88-29BE-4DBC-B74C-C0556A107DA2}" type="presParOf" srcId="{FD389E58-AC63-4C7D-91E8-3B50D4410332}" destId="{C744916B-34B0-4C93-B10C-D355B32C2AF7}" srcOrd="6" destOrd="0" presId="urn:microsoft.com/office/officeart/2005/8/layout/chevron2"/>
    <dgm:cxn modelId="{DA40C549-C417-4CC3-AC82-286730E54F87}" type="presParOf" srcId="{C744916B-34B0-4C93-B10C-D355B32C2AF7}" destId="{D6AB46D0-FA86-466B-8ADC-F8F86DF2CA63}" srcOrd="0" destOrd="0" presId="urn:microsoft.com/office/officeart/2005/8/layout/chevron2"/>
    <dgm:cxn modelId="{28BC427D-5BC1-447F-827A-CF9710698B9D}" type="presParOf" srcId="{C744916B-34B0-4C93-B10C-D355B32C2AF7}" destId="{DC9939EE-536F-4425-924A-0F4B4186E79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2F7E4-F9FA-47AE-8236-A7987EB22D43}">
      <dsp:nvSpPr>
        <dsp:cNvPr id="0" name=""/>
        <dsp:cNvSpPr/>
      </dsp:nvSpPr>
      <dsp:spPr>
        <a:xfrm rot="5400000">
          <a:off x="-202733" y="202733"/>
          <a:ext cx="1351557" cy="946090"/>
        </a:xfrm>
        <a:prstGeom prst="chevron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</a:p>
      </dsp:txBody>
      <dsp:txXfrm rot="-5400000">
        <a:off x="1" y="473044"/>
        <a:ext cx="946090" cy="405467"/>
      </dsp:txXfrm>
    </dsp:sp>
    <dsp:sp modelId="{FB7F6B1D-821A-492B-AB19-6CA67D667810}">
      <dsp:nvSpPr>
        <dsp:cNvPr id="0" name=""/>
        <dsp:cNvSpPr/>
      </dsp:nvSpPr>
      <dsp:spPr>
        <a:xfrm rot="5400000">
          <a:off x="4034288" y="-3083970"/>
          <a:ext cx="878512" cy="70549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Analyzing Non-recursive Algorithms.</a:t>
          </a:r>
        </a:p>
      </dsp:txBody>
      <dsp:txXfrm rot="-5400000">
        <a:off x="946090" y="47113"/>
        <a:ext cx="7012024" cy="792742"/>
      </dsp:txXfrm>
    </dsp:sp>
    <dsp:sp modelId="{D99E716D-831D-4080-B015-896BBE4F8B27}">
      <dsp:nvSpPr>
        <dsp:cNvPr id="0" name=""/>
        <dsp:cNvSpPr/>
      </dsp:nvSpPr>
      <dsp:spPr>
        <a:xfrm rot="5400000">
          <a:off x="-202733" y="1413090"/>
          <a:ext cx="1351557" cy="946090"/>
        </a:xfrm>
        <a:prstGeom prst="chevron">
          <a:avLst/>
        </a:prstGeom>
        <a:solidFill>
          <a:schemeClr val="accent1">
            <a:shade val="80000"/>
            <a:hueOff val="135626"/>
            <a:satOff val="6315"/>
            <a:lumOff val="8794"/>
            <a:alphaOff val="0"/>
          </a:schemeClr>
        </a:solidFill>
        <a:ln w="28575" cap="flat" cmpd="sng" algn="ctr">
          <a:solidFill>
            <a:schemeClr val="accent1">
              <a:shade val="80000"/>
              <a:hueOff val="135626"/>
              <a:satOff val="6315"/>
              <a:lumOff val="87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</a:t>
          </a:r>
        </a:p>
      </dsp:txBody>
      <dsp:txXfrm rot="-5400000">
        <a:off x="1" y="1683401"/>
        <a:ext cx="946090" cy="405467"/>
      </dsp:txXfrm>
    </dsp:sp>
    <dsp:sp modelId="{213F86A4-FF79-4266-98E8-8BA6E9B819FA}">
      <dsp:nvSpPr>
        <dsp:cNvPr id="0" name=""/>
        <dsp:cNvSpPr/>
      </dsp:nvSpPr>
      <dsp:spPr>
        <a:xfrm rot="5400000">
          <a:off x="4034288" y="-1877841"/>
          <a:ext cx="878512" cy="70549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shade val="80000"/>
              <a:hueOff val="135626"/>
              <a:satOff val="6315"/>
              <a:lumOff val="87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Insertion Sort.</a:t>
          </a:r>
        </a:p>
      </dsp:txBody>
      <dsp:txXfrm rot="-5400000">
        <a:off x="946090" y="1253242"/>
        <a:ext cx="7012024" cy="792742"/>
      </dsp:txXfrm>
    </dsp:sp>
    <dsp:sp modelId="{8E90B360-CCE2-4976-B715-5D133EF687C9}">
      <dsp:nvSpPr>
        <dsp:cNvPr id="0" name=""/>
        <dsp:cNvSpPr/>
      </dsp:nvSpPr>
      <dsp:spPr>
        <a:xfrm rot="5400000">
          <a:off x="-202733" y="2619219"/>
          <a:ext cx="1351557" cy="946090"/>
        </a:xfrm>
        <a:prstGeom prst="chevron">
          <a:avLst/>
        </a:prstGeom>
        <a:solidFill>
          <a:schemeClr val="accent1">
            <a:shade val="80000"/>
            <a:hueOff val="271252"/>
            <a:satOff val="12630"/>
            <a:lumOff val="17588"/>
            <a:alphaOff val="0"/>
          </a:schemeClr>
        </a:solidFill>
        <a:ln w="28575" cap="flat" cmpd="sng" algn="ctr">
          <a:solidFill>
            <a:schemeClr val="accent1">
              <a:shade val="80000"/>
              <a:hueOff val="271252"/>
              <a:satOff val="12630"/>
              <a:lumOff val="17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 </a:t>
          </a:r>
        </a:p>
      </dsp:txBody>
      <dsp:txXfrm rot="-5400000">
        <a:off x="1" y="2889530"/>
        <a:ext cx="946090" cy="405467"/>
      </dsp:txXfrm>
    </dsp:sp>
    <dsp:sp modelId="{7708983B-AC49-4673-A2DE-98214197AE30}">
      <dsp:nvSpPr>
        <dsp:cNvPr id="0" name=""/>
        <dsp:cNvSpPr/>
      </dsp:nvSpPr>
      <dsp:spPr>
        <a:xfrm rot="5400000">
          <a:off x="4034288" y="-671712"/>
          <a:ext cx="878512" cy="70549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shade val="80000"/>
              <a:hueOff val="271252"/>
              <a:satOff val="12630"/>
              <a:lumOff val="17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Merge Sort</a:t>
          </a:r>
        </a:p>
      </dsp:txBody>
      <dsp:txXfrm rot="-5400000">
        <a:off x="946090" y="2459371"/>
        <a:ext cx="7012024" cy="792742"/>
      </dsp:txXfrm>
    </dsp:sp>
    <dsp:sp modelId="{D6AB46D0-FA86-466B-8ADC-F8F86DF2CA63}">
      <dsp:nvSpPr>
        <dsp:cNvPr id="0" name=""/>
        <dsp:cNvSpPr/>
      </dsp:nvSpPr>
      <dsp:spPr>
        <a:xfrm rot="5400000">
          <a:off x="-202733" y="3825348"/>
          <a:ext cx="1351557" cy="946090"/>
        </a:xfrm>
        <a:prstGeom prst="chevron">
          <a:avLst/>
        </a:prstGeom>
        <a:solidFill>
          <a:schemeClr val="accent1">
            <a:shade val="80000"/>
            <a:hueOff val="406879"/>
            <a:satOff val="18945"/>
            <a:lumOff val="26382"/>
            <a:alphaOff val="0"/>
          </a:schemeClr>
        </a:solidFill>
        <a:ln w="28575" cap="flat" cmpd="sng" algn="ctr">
          <a:solidFill>
            <a:schemeClr val="accent1">
              <a:shade val="80000"/>
              <a:hueOff val="406879"/>
              <a:satOff val="18945"/>
              <a:lumOff val="263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</a:t>
          </a:r>
        </a:p>
      </dsp:txBody>
      <dsp:txXfrm rot="-5400000">
        <a:off x="1" y="4095659"/>
        <a:ext cx="946090" cy="405467"/>
      </dsp:txXfrm>
    </dsp:sp>
    <dsp:sp modelId="{DC9939EE-536F-4425-924A-0F4B4186E79E}">
      <dsp:nvSpPr>
        <dsp:cNvPr id="0" name=""/>
        <dsp:cNvSpPr/>
      </dsp:nvSpPr>
      <dsp:spPr>
        <a:xfrm rot="5400000">
          <a:off x="4034288" y="534416"/>
          <a:ext cx="878512" cy="70549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shade val="80000"/>
              <a:hueOff val="406879"/>
              <a:satOff val="18945"/>
              <a:lumOff val="263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Appendix : useful formulas for Analysis of Algorithms.</a:t>
          </a:r>
        </a:p>
      </dsp:txBody>
      <dsp:txXfrm rot="-5400000">
        <a:off x="946090" y="3665500"/>
        <a:ext cx="7012024" cy="792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ABD29-D758-4248-B62E-D4ABF7B82BE5}" type="datetimeFigureOut">
              <a:rPr lang="en-US" smtClean="0"/>
              <a:pPr/>
              <a:t>13-Mar-24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C424F-AD99-4A9C-9472-D5095EB94E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42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N=n-1 same as n=n+1, n=n+2</a:t>
            </a:r>
            <a:r>
              <a:rPr lang="en-US" baseline="0" dirty="0"/>
              <a:t> or 3 or 5 whatever value positive or negative</a:t>
            </a:r>
          </a:p>
          <a:p>
            <a:r>
              <a:rPr lang="en-US" baseline="0" dirty="0"/>
              <a:t>N=n/2 or n=n*2  O(</a:t>
            </a:r>
            <a:r>
              <a:rPr lang="en-US" baseline="0" dirty="0" err="1"/>
              <a:t>logn</a:t>
            </a:r>
            <a:r>
              <a:rPr lang="en-US" baseline="0" dirty="0"/>
              <a:t>) for base 2 based on what number you divide or multiply into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9C424F-AD99-4A9C-9472-D5095EB94EA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07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B03FEB-B81E-476D-BA51-75336453A84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Cop is assumed as constant</a:t>
            </a:r>
            <a:r>
              <a:rPr lang="en-US" altLang="en-US" baseline="0" dirty="0"/>
              <a:t> because we still in design phase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16492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9C424F-AD99-4A9C-9472-D5095EB94EA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00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91B78701-D735-489E-9575-4179535B565C}" type="slidenum">
              <a:rPr lang="en-US" sz="1200" b="0" smtClean="0">
                <a:latin typeface="Times New Roman" pitchFamily="18" charset="0"/>
              </a:rPr>
              <a:pPr/>
              <a:t>16</a:t>
            </a:fld>
            <a:endParaRPr lang="en-US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336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Decrease and conquer is a technique used to solve problems by reducing the size of the input data at each step of the solution process. This technique is similar to divide-and-conquer, in that it breaks down a problem into smaller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subproblems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but the difference is that in decrease-and-conquer, the size of the input data is reduced at each step.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9C424F-AD99-4A9C-9472-D5095EB94EA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62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CD6BA4-7CD1-40A0-BEE7-61655649D1CE}" type="slidenum">
              <a:rPr lang="en-US"/>
              <a:pPr/>
              <a:t>21</a:t>
            </a:fld>
            <a:endParaRPr lang="en-US"/>
          </a:p>
        </p:txBody>
      </p:sp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96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47CE0D-4684-4B07-BCAD-024831B369EE}" type="slidenum">
              <a:rPr lang="en-US"/>
              <a:pPr/>
              <a:t>22</a:t>
            </a:fld>
            <a:endParaRPr lang="en-US"/>
          </a:p>
        </p:txBody>
      </p:sp>
      <p:sp>
        <p:nvSpPr>
          <p:cNvPr id="311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815" y="4343713"/>
            <a:ext cx="5028370" cy="4113862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998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77ABB9-246C-4F86-8CCE-34049AD26360}" type="slidenum">
              <a:rPr lang="en-US"/>
              <a:pPr/>
              <a:t>23</a:t>
            </a:fld>
            <a:endParaRPr lang="en-US"/>
          </a:p>
        </p:txBody>
      </p:sp>
      <p:sp>
        <p:nvSpPr>
          <p:cNvPr id="313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815" y="4343713"/>
            <a:ext cx="5028370" cy="4113862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1333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1590AC-87C1-4558-92D2-38FC78A51BDD}" type="slidenum">
              <a:rPr lang="en-US"/>
              <a:pPr/>
              <a:t>24</a:t>
            </a:fld>
            <a:endParaRPr lang="en-US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815" y="4343713"/>
            <a:ext cx="5028370" cy="4113862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034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7BA99E-6872-4282-A92E-95137599517D}" type="slidenum">
              <a:rPr lang="en-US"/>
              <a:pPr/>
              <a:t>25</a:t>
            </a:fld>
            <a:endParaRPr lang="en-US"/>
          </a:p>
        </p:txBody>
      </p:sp>
      <p:sp>
        <p:nvSpPr>
          <p:cNvPr id="28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21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332DB-5F66-4204-B7D2-2238C6380006}" type="slidenum">
              <a:rPr lang="en-US"/>
              <a:pPr/>
              <a:t>26</a:t>
            </a:fld>
            <a:endParaRPr lang="en-US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05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5E5C98-60DB-4B8B-A89C-46D527CA562C}" type="slidenum">
              <a:rPr lang="en-US"/>
              <a:pPr/>
              <a:t>27</a:t>
            </a:fld>
            <a:endParaRPr lang="en-US"/>
          </a:p>
        </p:txBody>
      </p:sp>
      <p:sp>
        <p:nvSpPr>
          <p:cNvPr id="290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</a:t>
            </a:r>
            <a:r>
              <a:rPr lang="en-US" dirty="0">
                <a:sym typeface="Wingdings" panose="05000000000000000000" pitchFamily="2" charset="2"/>
              </a:rPr>
              <a:t> right array</a:t>
            </a:r>
          </a:p>
          <a:p>
            <a:r>
              <a:rPr lang="en-US" dirty="0" err="1">
                <a:sym typeface="Wingdings" panose="05000000000000000000" pitchFamily="2" charset="2"/>
              </a:rPr>
              <a:t>i</a:t>
            </a:r>
            <a:r>
              <a:rPr lang="en-US" dirty="0">
                <a:sym typeface="Wingdings" panose="05000000000000000000" pitchFamily="2" charset="2"/>
              </a:rPr>
              <a:t> left 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138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BB0508-F7A5-4EAA-BD4D-E1CFDB335A70}" type="slidenum">
              <a:rPr lang="en-US"/>
              <a:pPr/>
              <a:t>28</a:t>
            </a:fld>
            <a:endParaRPr lang="en-US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-2500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7512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947AE7-9F6D-4771-BF79-B2A61A348E07}" type="slidenum">
              <a:rPr lang="en-US"/>
              <a:pPr/>
              <a:t>29</a:t>
            </a:fld>
            <a:endParaRPr lang="en-US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75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947AE7-9F6D-4771-BF79-B2A61A348E07}" type="slidenum">
              <a:rPr lang="en-US"/>
              <a:pPr/>
              <a:t>30</a:t>
            </a:fld>
            <a:endParaRPr lang="en-US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14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16CE9A-6DFF-4BDA-8282-F6989B6AA0A4}" type="slidenum">
              <a:rPr lang="en-US"/>
              <a:pPr/>
              <a:t>31</a:t>
            </a:fld>
            <a:endParaRPr lang="en-US"/>
          </a:p>
        </p:txBody>
      </p:sp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15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192EA9-DCCC-48E5-B945-E1319F909B46}" type="slidenum">
              <a:rPr lang="en-US"/>
              <a:pPr/>
              <a:t>32</a:t>
            </a:fld>
            <a:endParaRPr 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98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B94D09-8EA0-4911-ABD1-DDFFD8E0FAB4}" type="slidenum">
              <a:rPr lang="en-US"/>
              <a:pPr/>
              <a:t>41</a:t>
            </a:fld>
            <a:endParaRPr lang="en-US"/>
          </a:p>
        </p:txBody>
      </p:sp>
      <p:sp>
        <p:nvSpPr>
          <p:cNvPr id="323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0278101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559720-CDFA-4D9B-BD33-1EFF1BFEFC3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01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3383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DF4C-42B7-47F9-AFAD-D0E740BCE30E}" type="datetimeFigureOut">
              <a:rPr lang="en-US" smtClean="0"/>
              <a:pPr/>
              <a:t>13-Mar-24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8558760" y="6324600"/>
            <a:ext cx="356640" cy="356640"/>
            <a:chOff x="8136431" y="5022563"/>
            <a:chExt cx="356640" cy="356640"/>
          </a:xfrm>
        </p:grpSpPr>
        <p:sp>
          <p:nvSpPr>
            <p:cNvPr id="8" name="Oval 7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9" name="Isosceles Triangle 8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83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DF4C-42B7-47F9-AFAD-D0E740BCE30E}" type="datetimeFigureOut">
              <a:rPr lang="en-US" smtClean="0"/>
              <a:pPr/>
              <a:t>13-Mar-24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4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1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DF4C-42B7-47F9-AFAD-D0E740BCE30E}" type="datetimeFigureOut">
              <a:rPr lang="en-US" smtClean="0"/>
              <a:pPr/>
              <a:t>13-Mar-24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0" name="Oval 9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sosceles Triangle 13">
                <a:hlinkClick r:id="" action="ppaction://hlinkshowjump?jump=firstslide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8558760" y="6325524"/>
            <a:ext cx="356640" cy="356640"/>
            <a:chOff x="8136431" y="5022563"/>
            <a:chExt cx="356640" cy="356640"/>
          </a:xfrm>
        </p:grpSpPr>
        <p:sp>
          <p:nvSpPr>
            <p:cNvPr id="16" name="Oval 15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17" name="Isosceles Triangle 16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9" name="Oval 18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22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4" name="Straight Connector 23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2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0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DF4C-42B7-47F9-AFAD-D0E740BCE30E}" type="datetimeFigureOut">
              <a:rPr lang="en-US" smtClean="0"/>
              <a:pPr/>
              <a:t>13-Mar-24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6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9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8558760" y="6325524"/>
            <a:ext cx="356640" cy="356640"/>
            <a:chOff x="8136431" y="5022563"/>
            <a:chExt cx="356640" cy="356640"/>
          </a:xfrm>
        </p:grpSpPr>
        <p:sp>
          <p:nvSpPr>
            <p:cNvPr id="6" name="Oval 5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8" name="Isosceles Triangle 7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4" name="Oval 13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Isosceles Triangle 17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19" name="Straight Connector 18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8005715" y="6324600"/>
            <a:ext cx="356640" cy="356640"/>
            <a:chOff x="7583386" y="5022563"/>
            <a:chExt cx="356640" cy="356640"/>
          </a:xfrm>
        </p:grpSpPr>
        <p:sp>
          <p:nvSpPr>
            <p:cNvPr id="21" name="Oval 20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>
              <a:off x="7583386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2" name="Isosceles Triangle 21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 rot="16200000">
              <a:off x="764963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7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9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Group 20"/>
          <p:cNvGrpSpPr/>
          <p:nvPr/>
        </p:nvGrpSpPr>
        <p:grpSpPr>
          <a:xfrm>
            <a:off x="8558760" y="6324600"/>
            <a:ext cx="356640" cy="356640"/>
            <a:chOff x="8136431" y="5022563"/>
            <a:chExt cx="356640" cy="356640"/>
          </a:xfrm>
        </p:grpSpPr>
        <p:sp>
          <p:nvSpPr>
            <p:cNvPr id="22" name="Oval 21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3" name="Isosceles Triangle 22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005715" y="6324600"/>
            <a:ext cx="356640" cy="356640"/>
            <a:chOff x="7583386" y="5022563"/>
            <a:chExt cx="356640" cy="356640"/>
          </a:xfrm>
        </p:grpSpPr>
        <p:sp>
          <p:nvSpPr>
            <p:cNvPr id="25" name="Oval 24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>
              <a:off x="7583386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6" name="Isosceles Triangle 25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 rot="16200000">
              <a:off x="764963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28" name="Oval 27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Isosceles Triangle 31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33" name="Straight Connector 32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35505D2-17A2-43FD-8223-28B4ECB75EAA}" type="datetimeFigureOut">
              <a:rPr lang="en-US" smtClean="0"/>
              <a:pPr/>
              <a:t>13-Mar-24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rtlCol="0"/>
          <a:lstStyle/>
          <a:p>
            <a:fld id="{B923CDE5-75E3-4E4E-95EB-ADB11351FC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22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505D2-17A2-43FD-8223-28B4ECB75EAA}" type="datetimeFigureOut">
              <a:rPr lang="en-US" smtClean="0"/>
              <a:pPr/>
              <a:t>13-Mar-24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B923CDE5-75E3-4E4E-95EB-ADB11351FC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58755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AAEE161-AC0D-41D7-A0D2-21B2C5CE6E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5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2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AD67DF4C-42B7-47F9-AFAD-D0E740BCE30E}" type="datetimeFigureOut">
              <a:rPr lang="en-US" smtClean="0"/>
              <a:pPr/>
              <a:t>13-Mar-24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 cap="all" spc="-60" baseline="0">
          <a:solidFill>
            <a:schemeClr val="tx1">
              <a:lumMod val="65000"/>
              <a:lumOff val="35000"/>
            </a:schemeClr>
          </a:solidFill>
          <a:latin typeface="Segoe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24.png"/><Relationship Id="rId3" Type="http://schemas.openxmlformats.org/officeDocument/2006/relationships/image" Target="../media/image15.wmf"/><Relationship Id="rId7" Type="http://schemas.openxmlformats.org/officeDocument/2006/relationships/image" Target="../media/image21.png"/><Relationship Id="rId12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3.png"/><Relationship Id="rId5" Type="http://schemas.openxmlformats.org/officeDocument/2006/relationships/image" Target="../media/image16.png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65300"/>
            <a:ext cx="7315200" cy="2273300"/>
          </a:xfrm>
        </p:spPr>
        <p:txBody>
          <a:bodyPr/>
          <a:lstStyle/>
          <a:p>
            <a:pPr algn="ctr"/>
            <a:r>
              <a:rPr lang="en-US" sz="3600">
                <a:solidFill>
                  <a:srgbClr val="0070C0"/>
                </a:solidFill>
              </a:rPr>
              <a:t>Cs316</a:t>
            </a:r>
            <a:r>
              <a:rPr lang="en-US" sz="3600" dirty="0">
                <a:solidFill>
                  <a:srgbClr val="0070C0"/>
                </a:solidFill>
              </a:rPr>
              <a:t>: Algorithms </a:t>
            </a:r>
            <a:br>
              <a:rPr lang="en-US" sz="3600" dirty="0"/>
            </a:br>
            <a:r>
              <a:rPr lang="en-US" cap="none" dirty="0">
                <a:solidFill>
                  <a:srgbClr val="FF3300"/>
                </a:solidFill>
              </a:rPr>
              <a:t>Lecture 3</a:t>
            </a:r>
            <a:br>
              <a:rPr lang="en-US" cap="none" dirty="0">
                <a:solidFill>
                  <a:srgbClr val="FF3300"/>
                </a:solidFill>
              </a:rPr>
            </a:br>
            <a:r>
              <a:rPr lang="en-US" dirty="0"/>
              <a:t>Analysis of</a:t>
            </a:r>
            <a:br>
              <a:rPr lang="en-US" dirty="0"/>
            </a:br>
            <a:r>
              <a:rPr lang="en-US" dirty="0"/>
              <a:t> Non-recursive Algorithms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3F9792C-7A2D-4B88-B88B-9BB0D0D780B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457200" y="4038600"/>
            <a:ext cx="7772400" cy="17526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cap="none" dirty="0">
                <a:solidFill>
                  <a:srgbClr val="FF0000"/>
                </a:solidFill>
              </a:rPr>
              <a:t>Prepared by: Assoc. Prof. </a:t>
            </a:r>
            <a:r>
              <a:rPr lang="en-US" cap="none" dirty="0" err="1">
                <a:solidFill>
                  <a:srgbClr val="FF0000"/>
                </a:solidFill>
              </a:rPr>
              <a:t>Ensaf</a:t>
            </a:r>
            <a:r>
              <a:rPr lang="en-US" cap="none" dirty="0">
                <a:solidFill>
                  <a:srgbClr val="FF0000"/>
                </a:solidFill>
              </a:rPr>
              <a:t> Hussein</a:t>
            </a:r>
          </a:p>
          <a:p>
            <a:pPr algn="ctr"/>
            <a:r>
              <a:rPr lang="en-US" cap="none" dirty="0">
                <a:solidFill>
                  <a:srgbClr val="0000CC"/>
                </a:solidFill>
              </a:rPr>
              <a:t>Presented by:</a:t>
            </a:r>
            <a:r>
              <a:rPr lang="en-US" cap="none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400" b="1" cap="none" dirty="0">
                <a:solidFill>
                  <a:schemeClr val="tx1"/>
                </a:solidFill>
              </a:rPr>
              <a:t>Assoc. Prof. Wessam El-</a:t>
            </a:r>
            <a:r>
              <a:rPr lang="en-US" sz="2400" b="1" cap="none" dirty="0" err="1">
                <a:solidFill>
                  <a:schemeClr val="tx1"/>
                </a:solidFill>
              </a:rPr>
              <a:t>Behaidy</a:t>
            </a:r>
            <a:endParaRPr lang="en-US" sz="2400" b="1" cap="none" dirty="0">
              <a:solidFill>
                <a:schemeClr val="tx1"/>
              </a:solidFill>
            </a:endParaRPr>
          </a:p>
          <a:p>
            <a:pPr algn="ctr"/>
            <a:r>
              <a:rPr lang="en-US" sz="2400" b="1" cap="none" dirty="0">
                <a:solidFill>
                  <a:schemeClr val="tx1"/>
                </a:solidFill>
              </a:rPr>
              <a:t>Dr. Mohammed El-Said</a:t>
            </a:r>
            <a:endParaRPr lang="ar-EG" sz="2400" b="1" cap="none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1168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047444296"/>
              </p:ext>
            </p:extLst>
          </p:nvPr>
        </p:nvGraphicFramePr>
        <p:xfrm>
          <a:off x="609600" y="1066800"/>
          <a:ext cx="800100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467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Analyzing Non-recursive Algorithms</a:t>
            </a:r>
          </a:p>
        </p:txBody>
      </p:sp>
    </p:spTree>
    <p:extLst>
      <p:ext uri="{BB962C8B-B14F-4D97-AF65-F5344CB8AC3E}">
        <p14:creationId xmlns:p14="http://schemas.microsoft.com/office/powerpoint/2010/main" val="2210260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839200" cy="8382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Algorithm control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Sequencing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If-then-else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For loop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While loop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Recursion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379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976" y="5029200"/>
            <a:ext cx="3826824" cy="762000"/>
          </a:xfrm>
        </p:spPr>
        <p:txBody>
          <a:bodyPr>
            <a:noAutofit/>
          </a:bodyPr>
          <a:lstStyle/>
          <a:p>
            <a:r>
              <a:rPr lang="en-US" sz="32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lang="en-US" sz="3200" b="1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lang="en-US" sz="32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+t</a:t>
            </a:r>
            <a:r>
              <a:rPr lang="en-US" sz="3200" b="1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B</a:t>
            </a:r>
            <a:r>
              <a:rPr 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= max(</a:t>
            </a:r>
            <a:r>
              <a:rPr lang="en-US" sz="32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lang="en-US" sz="3200" b="1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lang="en-US" sz="32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,t</a:t>
            </a:r>
            <a:r>
              <a:rPr lang="en-US" sz="3200" b="1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B</a:t>
            </a:r>
            <a:r>
              <a:rPr 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endParaRPr lang="en-US" sz="2800" baseline="-250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600200" y="1676400"/>
            <a:ext cx="2438400" cy="3200400"/>
            <a:chOff x="4267200" y="1905000"/>
            <a:chExt cx="2438400" cy="3200400"/>
          </a:xfrm>
        </p:grpSpPr>
        <p:sp>
          <p:nvSpPr>
            <p:cNvPr id="6" name="Rectangle 5"/>
            <p:cNvSpPr/>
            <p:nvPr/>
          </p:nvSpPr>
          <p:spPr>
            <a:xfrm>
              <a:off x="4267200" y="1905000"/>
              <a:ext cx="2438400" cy="3200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4876800" y="2362200"/>
              <a:ext cx="9906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4876800" y="3983182"/>
              <a:ext cx="9906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PB</a:t>
              </a:r>
            </a:p>
          </p:txBody>
        </p:sp>
        <p:cxnSp>
          <p:nvCxnSpPr>
            <p:cNvPr id="8" name="Straight Arrow Connector 7"/>
            <p:cNvCxnSpPr>
              <a:stCxn id="4" idx="2"/>
              <a:endCxn id="5" idx="0"/>
            </p:cNvCxnSpPr>
            <p:nvPr/>
          </p:nvCxnSpPr>
          <p:spPr>
            <a:xfrm>
              <a:off x="5372100" y="3124200"/>
              <a:ext cx="0" cy="85898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5995553" y="2512367"/>
              <a:ext cx="5524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</a:t>
              </a:r>
              <a:r>
                <a:rPr lang="en-US" sz="3200" b="1" baseline="-25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  <a:endPara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95553" y="3983182"/>
              <a:ext cx="5524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</a:t>
              </a:r>
              <a:r>
                <a:rPr lang="en-US" sz="3200" b="1" baseline="-25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  <a:endParaRPr lang="en-US" sz="32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endPara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2" name="Content Placeholder 2"/>
          <p:cNvSpPr txBox="1">
            <a:spLocks/>
          </p:cNvSpPr>
          <p:nvPr/>
        </p:nvSpPr>
        <p:spPr>
          <a:xfrm>
            <a:off x="4783776" y="1798637"/>
            <a:ext cx="4055424" cy="30781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EX: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						</a:t>
            </a:r>
            <a:endParaRPr kumimoji="0" lang="en-US" sz="2800" b="0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If 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= </a:t>
            </a:r>
            <a:r>
              <a:rPr kumimoji="0" lang="el-GR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(n) 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= </a:t>
            </a:r>
            <a:r>
              <a:rPr kumimoji="0" lang="el-GR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(n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  <a:t>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+t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= max(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    =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kumimoji="0" lang="el-GR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(n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  <a:endParaRPr kumimoji="0" lang="en-US" sz="2800" b="0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04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if-then-else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7" y="1600200"/>
            <a:ext cx="7620000" cy="4648200"/>
          </a:xfrm>
        </p:spPr>
        <p:txBody>
          <a:bodyPr>
            <a:noAutofit/>
          </a:bodyPr>
          <a:lstStyle/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						</a:t>
            </a:r>
            <a:endParaRPr lang="en-US" sz="3200" baseline="-25000" dirty="0"/>
          </a:p>
          <a:p>
            <a:endParaRPr lang="en-US" sz="3200" dirty="0"/>
          </a:p>
          <a:p>
            <a:endParaRPr lang="en-US" sz="3200" dirty="0">
              <a:solidFill>
                <a:schemeClr val="tx1"/>
              </a:solidFill>
            </a:endParaRPr>
          </a:p>
          <a:p>
            <a:endParaRPr lang="en-US" sz="3200" dirty="0">
              <a:solidFill>
                <a:schemeClr val="tx1"/>
              </a:solidFill>
            </a:endParaRPr>
          </a:p>
          <a:p>
            <a:pPr algn="ctr"/>
            <a:r>
              <a:rPr lang="en-US" sz="32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lang="en-US" sz="3200" b="1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/</a:t>
            </a:r>
            <a:r>
              <a:rPr lang="en-US" sz="32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lang="en-US" sz="3200" b="1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B</a:t>
            </a:r>
            <a:r>
              <a:rPr 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= max(</a:t>
            </a:r>
            <a:r>
              <a:rPr lang="en-US" sz="32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lang="en-US" sz="3200" b="1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lang="en-US" sz="32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,t</a:t>
            </a:r>
            <a:r>
              <a:rPr lang="en-US" sz="3200" b="1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B</a:t>
            </a:r>
            <a:r>
              <a:rPr 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				</a:t>
            </a:r>
            <a:endParaRPr lang="en-US" sz="3200" baseline="-25000" dirty="0">
              <a:solidFill>
                <a:schemeClr val="tx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838200" y="1600200"/>
            <a:ext cx="7391400" cy="3810000"/>
            <a:chOff x="3048000" y="1752600"/>
            <a:chExt cx="5318481" cy="3810000"/>
          </a:xfrm>
        </p:grpSpPr>
        <p:sp>
          <p:nvSpPr>
            <p:cNvPr id="6" name="Rectangle 5"/>
            <p:cNvSpPr/>
            <p:nvPr/>
          </p:nvSpPr>
          <p:spPr>
            <a:xfrm>
              <a:off x="3048000" y="1752600"/>
              <a:ext cx="5295900" cy="3810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3352800" y="2057400"/>
              <a:ext cx="4419600" cy="3048000"/>
              <a:chOff x="3581400" y="2133600"/>
              <a:chExt cx="4419600" cy="30480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3581400" y="3352800"/>
                <a:ext cx="990600" cy="762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PA</a:t>
                </a:r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7010400" y="3352800"/>
                <a:ext cx="990600" cy="762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PB</a:t>
                </a:r>
              </a:p>
            </p:txBody>
          </p:sp>
          <p:sp>
            <p:nvSpPr>
              <p:cNvPr id="13" name="Flowchart: Decision 12"/>
              <p:cNvSpPr/>
              <p:nvPr/>
            </p:nvSpPr>
            <p:spPr>
              <a:xfrm>
                <a:off x="4705349" y="2133600"/>
                <a:ext cx="2305051" cy="817418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3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Condition</a:t>
                </a:r>
              </a:p>
            </p:txBody>
          </p:sp>
          <p:cxnSp>
            <p:nvCxnSpPr>
              <p:cNvPr id="15" name="Elbow Connector 14"/>
              <p:cNvCxnSpPr>
                <a:stCxn id="13" idx="1"/>
                <a:endCxn id="4" idx="0"/>
              </p:cNvCxnSpPr>
              <p:nvPr/>
            </p:nvCxnSpPr>
            <p:spPr>
              <a:xfrm rot="10800000" flipV="1">
                <a:off x="4076701" y="2542308"/>
                <a:ext cx="628649" cy="810491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Elbow Connector 18"/>
              <p:cNvCxnSpPr>
                <a:endCxn id="13" idx="3"/>
              </p:cNvCxnSpPr>
              <p:nvPr/>
            </p:nvCxnSpPr>
            <p:spPr>
              <a:xfrm rot="16200000" flipV="1">
                <a:off x="6852805" y="2699905"/>
                <a:ext cx="810491" cy="495300"/>
              </a:xfrm>
              <a:prstGeom prst="bentConnector2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Elbow Connector 24"/>
              <p:cNvCxnSpPr>
                <a:endCxn id="5" idx="2"/>
              </p:cNvCxnSpPr>
              <p:nvPr/>
            </p:nvCxnSpPr>
            <p:spPr>
              <a:xfrm flipV="1">
                <a:off x="5867400" y="4114800"/>
                <a:ext cx="1638300" cy="609600"/>
              </a:xfrm>
              <a:prstGeom prst="bentConnector2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Elbow Connector 26"/>
              <p:cNvCxnSpPr>
                <a:endCxn id="4" idx="2"/>
              </p:cNvCxnSpPr>
              <p:nvPr/>
            </p:nvCxnSpPr>
            <p:spPr>
              <a:xfrm rot="10800000">
                <a:off x="4076700" y="4114800"/>
                <a:ext cx="1752600" cy="609600"/>
              </a:xfrm>
              <a:prstGeom prst="bentConnector2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>
                <a:off x="5829300" y="4724401"/>
                <a:ext cx="0" cy="45719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/>
            <p:cNvSpPr txBox="1"/>
            <p:nvPr/>
          </p:nvSpPr>
          <p:spPr>
            <a:xfrm>
              <a:off x="4476749" y="3505200"/>
              <a:ext cx="5524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</a:t>
              </a:r>
              <a:r>
                <a:rPr lang="en-US" sz="3200" b="1" baseline="-25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  <a:endPara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814030" y="3352800"/>
              <a:ext cx="5524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</a:t>
              </a:r>
              <a:r>
                <a:rPr lang="en-US" sz="3200" b="1" baseline="-25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  <a:endParaRPr lang="en-US" sz="32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endPara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545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					</a:t>
            </a:r>
          </a:p>
          <a:p>
            <a:r>
              <a:rPr lang="en-US" sz="2400" dirty="0">
                <a:solidFill>
                  <a:schemeClr val="tx1"/>
                </a:solidFill>
              </a:rPr>
              <a:t>						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9091" y="1524000"/>
            <a:ext cx="3446500" cy="381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for i←1 to n</a:t>
            </a:r>
          </a:p>
          <a:p>
            <a:r>
              <a:rPr lang="en-US" sz="2800" dirty="0"/>
              <a:t>	{</a:t>
            </a:r>
          </a:p>
          <a:p>
            <a:endParaRPr lang="en-US" sz="2800" dirty="0"/>
          </a:p>
          <a:p>
            <a:r>
              <a:rPr lang="en-US" sz="2800" dirty="0"/>
              <a:t>			P(i)</a:t>
            </a:r>
          </a:p>
          <a:p>
            <a:endParaRPr lang="en-US" sz="2800" dirty="0"/>
          </a:p>
          <a:p>
            <a:r>
              <a:rPr lang="en-US" sz="2800" dirty="0"/>
              <a:t>			}	</a:t>
            </a:r>
            <a:endParaRPr lang="en-US" sz="2800" baseline="-25000" dirty="0"/>
          </a:p>
          <a:p>
            <a:pPr algn="ctr"/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loop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05000" y="5468643"/>
            <a:ext cx="914400" cy="1100558"/>
          </a:xfrm>
          <a:prstGeom prst="rect">
            <a:avLst/>
          </a:prstGeom>
          <a:blipFill rotWithShape="1">
            <a:blip r:embed="rId2" cstate="print"/>
            <a:stretch>
              <a:fillRect/>
            </a:stretch>
          </a:blipFill>
        </p:spPr>
        <p:txBody>
          <a:bodyPr/>
          <a:lstStyle/>
          <a:p>
            <a:r>
              <a:rPr lang="en-US" sz="2800" dirty="0">
                <a:noFill/>
              </a:rPr>
              <a:t>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8200" y="1524000"/>
            <a:ext cx="3505200" cy="381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for i←1 to n</a:t>
            </a:r>
          </a:p>
          <a:p>
            <a:r>
              <a:rPr lang="en-US" sz="2800" dirty="0"/>
              <a:t>    {</a:t>
            </a:r>
          </a:p>
          <a:p>
            <a:r>
              <a:rPr lang="en-US" sz="2800" dirty="0"/>
              <a:t>     for j←1 to n</a:t>
            </a:r>
          </a:p>
          <a:p>
            <a:r>
              <a:rPr lang="en-US" sz="2800" dirty="0"/>
              <a:t>	{</a:t>
            </a:r>
          </a:p>
          <a:p>
            <a:endParaRPr lang="en-US" sz="2800" dirty="0"/>
          </a:p>
          <a:p>
            <a:r>
              <a:rPr lang="en-US" sz="2800" dirty="0"/>
              <a:t>	P(</a:t>
            </a:r>
            <a:r>
              <a:rPr lang="en-US" sz="2800" dirty="0" err="1"/>
              <a:t>ij</a:t>
            </a:r>
            <a:r>
              <a:rPr lang="en-US" sz="2800" dirty="0"/>
              <a:t>)</a:t>
            </a:r>
          </a:p>
          <a:p>
            <a:endParaRPr lang="en-US" sz="2800" dirty="0"/>
          </a:p>
          <a:p>
            <a:r>
              <a:rPr lang="en-US" sz="2800" dirty="0"/>
              <a:t>	}</a:t>
            </a:r>
          </a:p>
          <a:p>
            <a:r>
              <a:rPr lang="en-US" sz="2800" dirty="0"/>
              <a:t>     }</a:t>
            </a:r>
            <a:endParaRPr lang="en-US" sz="28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219699" y="5468643"/>
                <a:ext cx="2734733" cy="1142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=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 =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400" i="1" baseline="-25000">
                                  <a:latin typeface="Cambria Math"/>
                                </a:rPr>
                                <m:t>𝑖</m:t>
                              </m:r>
                            </m:e>
                          </m:nary>
                          <m:r>
                            <a:rPr lang="en-US" sz="2400" b="0" i="1" baseline="-25000" smtClean="0">
                              <a:latin typeface="Cambria Math"/>
                            </a:rPr>
                            <m:t>𝑗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699" y="5468643"/>
                <a:ext cx="2734733" cy="1142364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4630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77091" y="1676400"/>
            <a:ext cx="2542310" cy="381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While (n&gt;0)</a:t>
            </a:r>
          </a:p>
          <a:p>
            <a:r>
              <a:rPr lang="en-US" sz="2400" dirty="0"/>
              <a:t>      {</a:t>
            </a:r>
          </a:p>
          <a:p>
            <a:r>
              <a:rPr lang="en-US" sz="2400" dirty="0"/>
              <a:t>         ----------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         ----------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        Set n←n-1</a:t>
            </a:r>
          </a:p>
          <a:p>
            <a:endParaRPr lang="en-US" sz="2400" dirty="0"/>
          </a:p>
          <a:p>
            <a:r>
              <a:rPr lang="en-US" sz="2400" dirty="0"/>
              <a:t>        }	</a:t>
            </a:r>
            <a:endParaRPr lang="en-US" sz="2400" baseline="-25000" dirty="0"/>
          </a:p>
          <a:p>
            <a:pPr algn="ctr"/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loop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48590" y="5558135"/>
                <a:ext cx="12088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/>
                        </a:rPr>
                        <m:t>θ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𝑛</m:t>
                      </m:r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90" y="5558135"/>
                <a:ext cx="1208809" cy="461665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t="-9211" r="-13636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3200400" y="1676400"/>
            <a:ext cx="2514600" cy="381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While (n&gt;0)</a:t>
            </a:r>
          </a:p>
          <a:p>
            <a:r>
              <a:rPr lang="en-US" sz="2400" dirty="0"/>
              <a:t>     {</a:t>
            </a:r>
          </a:p>
          <a:p>
            <a:r>
              <a:rPr lang="en-US" sz="2400" dirty="0"/>
              <a:t>       ----------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       ----------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      Set n ← n/2</a:t>
            </a:r>
          </a:p>
          <a:p>
            <a:r>
              <a:rPr lang="en-US" sz="2400" dirty="0"/>
              <a:t>		</a:t>
            </a:r>
          </a:p>
          <a:p>
            <a:r>
              <a:rPr lang="en-US" sz="2400" dirty="0"/>
              <a:t>      }	</a:t>
            </a:r>
            <a:endParaRPr lang="en-US" sz="2400" baseline="-25000" dirty="0"/>
          </a:p>
          <a:p>
            <a:pPr algn="ctr"/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6096000" y="1676400"/>
            <a:ext cx="2438400" cy="381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400" dirty="0"/>
          </a:p>
          <a:p>
            <a:r>
              <a:rPr lang="en-US" sz="2400" dirty="0"/>
              <a:t>Set x← 0</a:t>
            </a:r>
          </a:p>
          <a:p>
            <a:r>
              <a:rPr lang="en-US" sz="2400" dirty="0"/>
              <a:t>Set y← n</a:t>
            </a:r>
          </a:p>
          <a:p>
            <a:r>
              <a:rPr lang="en-US" sz="2400" dirty="0"/>
              <a:t>While (x&lt;y)</a:t>
            </a:r>
          </a:p>
          <a:p>
            <a:r>
              <a:rPr lang="en-US" sz="2400" dirty="0"/>
              <a:t>      {</a:t>
            </a:r>
          </a:p>
          <a:p>
            <a:r>
              <a:rPr lang="en-US" sz="2400" dirty="0"/>
              <a:t>        ----------</a:t>
            </a:r>
          </a:p>
          <a:p>
            <a:r>
              <a:rPr lang="en-US" sz="2400" dirty="0"/>
              <a:t>        ----------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      Set x ←x+1</a:t>
            </a:r>
          </a:p>
          <a:p>
            <a:r>
              <a:rPr lang="en-US" sz="2400" dirty="0"/>
              <a:t>      Set y ← y-1</a:t>
            </a:r>
          </a:p>
          <a:p>
            <a:r>
              <a:rPr lang="en-US" sz="2400" dirty="0"/>
              <a:t>	}	</a:t>
            </a:r>
            <a:endParaRPr lang="en-US" sz="2400" baseline="-25000" dirty="0"/>
          </a:p>
          <a:p>
            <a:pPr algn="ctr"/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429000" y="5562600"/>
                <a:ext cx="1676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/>
                        </a:rPr>
                        <m:t>θ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e>
                      </m:func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5562600"/>
                <a:ext cx="1676400" cy="461665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t="-9333" r="-872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710795" y="5621043"/>
                <a:ext cx="12088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/>
                        </a:rPr>
                        <m:t>θ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𝑛</m:t>
                      </m:r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795" y="5621043"/>
                <a:ext cx="1208809" cy="461665"/>
              </a:xfrm>
              <a:prstGeom prst="rect">
                <a:avLst/>
              </a:prstGeom>
              <a:blipFill rotWithShape="1">
                <a:blip r:embed="rId5" cstate="print"/>
                <a:stretch>
                  <a:fillRect t="-9211" r="-1313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428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991600" cy="838200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solidFill>
                  <a:srgbClr val="C00000"/>
                </a:solidFill>
              </a:rPr>
              <a:t>Theoretical analysis of time efficiency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1143000"/>
            <a:ext cx="8305800" cy="4905375"/>
          </a:xfrm>
        </p:spPr>
        <p:txBody>
          <a:bodyPr>
            <a:normAutofit/>
          </a:bodyPr>
          <a:lstStyle/>
          <a:p>
            <a:pPr>
              <a:buFont typeface="Monotype Sorts" pitchFamily="2" charset="2"/>
              <a:buNone/>
            </a:pPr>
            <a:r>
              <a:rPr lang="en-US" altLang="en-US" sz="2400" dirty="0">
                <a:solidFill>
                  <a:schemeClr val="tx1"/>
                </a:solidFill>
                <a:latin typeface="Segoe"/>
                <a:cs typeface="Sakkal Majalla" panose="02000000000000000000" pitchFamily="2" charset="-78"/>
              </a:rPr>
              <a:t>Time efficiency is analyzed by determining the number of repetitions of the </a:t>
            </a:r>
            <a:r>
              <a:rPr lang="en-US" altLang="en-US" sz="2400" i="1" u="sng" dirty="0">
                <a:solidFill>
                  <a:srgbClr val="C00000"/>
                </a:solidFill>
                <a:latin typeface="Segoe"/>
                <a:cs typeface="Sakkal Majalla" panose="02000000000000000000" pitchFamily="2" charset="-78"/>
              </a:rPr>
              <a:t>basic operation</a:t>
            </a:r>
            <a:r>
              <a:rPr lang="en-US" altLang="en-US" sz="2400" dirty="0">
                <a:solidFill>
                  <a:srgbClr val="C00000"/>
                </a:solidFill>
                <a:latin typeface="Segoe"/>
                <a:cs typeface="Sakkal Majalla" panose="02000000000000000000" pitchFamily="2" charset="-78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Segoe"/>
                <a:cs typeface="Sakkal Majalla" panose="02000000000000000000" pitchFamily="2" charset="-78"/>
              </a:rPr>
              <a:t>as a function of </a:t>
            </a:r>
            <a:r>
              <a:rPr lang="en-US" altLang="en-US" sz="2400" i="1" u="sng" dirty="0">
                <a:solidFill>
                  <a:srgbClr val="C00000"/>
                </a:solidFill>
                <a:latin typeface="Segoe"/>
                <a:cs typeface="Sakkal Majalla" panose="02000000000000000000" pitchFamily="2" charset="-78"/>
              </a:rPr>
              <a:t>input size</a:t>
            </a:r>
          </a:p>
          <a:p>
            <a:endParaRPr lang="en-US" altLang="en-US" sz="2400" i="1" u="sng" dirty="0">
              <a:solidFill>
                <a:schemeClr val="tx1"/>
              </a:solidFill>
              <a:latin typeface="Segoe"/>
              <a:cs typeface="Sakkal Majalla" panose="02000000000000000000" pitchFamily="2" charset="-78"/>
            </a:endParaRPr>
          </a:p>
          <a:p>
            <a:r>
              <a:rPr lang="en-US" altLang="en-US" sz="2400" i="1" u="sng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Basic operation</a:t>
            </a:r>
            <a:r>
              <a:rPr lang="en-US" altLang="en-US" sz="2400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: </a:t>
            </a:r>
            <a:r>
              <a:rPr lang="en-US" altLang="en-US" sz="2400" dirty="0">
                <a:solidFill>
                  <a:schemeClr val="tx1"/>
                </a:solidFill>
                <a:latin typeface="Segoe"/>
                <a:cs typeface="Sakkal Majalla" panose="02000000000000000000" pitchFamily="2" charset="-78"/>
              </a:rPr>
              <a:t>the operation that contributes most towards the running time of the algorithm</a:t>
            </a:r>
          </a:p>
          <a:p>
            <a:endParaRPr lang="en-US" altLang="en-US" sz="2400" dirty="0">
              <a:solidFill>
                <a:schemeClr val="tx1"/>
              </a:solidFill>
              <a:latin typeface="Segoe"/>
              <a:cs typeface="Sakkal Majalla" panose="02000000000000000000" pitchFamily="2" charset="-78"/>
            </a:endParaRPr>
          </a:p>
          <a:p>
            <a:pPr>
              <a:buFont typeface="Monotype Sorts" pitchFamily="2" charset="2"/>
              <a:buNone/>
            </a:pPr>
            <a:endParaRPr lang="en-US" altLang="en-US" sz="2400" dirty="0">
              <a:solidFill>
                <a:schemeClr val="tx1"/>
              </a:solidFill>
              <a:latin typeface="Segoe"/>
              <a:cs typeface="Sakkal Majalla" panose="02000000000000000000" pitchFamily="2" charset="-78"/>
            </a:endParaRPr>
          </a:p>
          <a:p>
            <a:pPr>
              <a:buFont typeface="Monotype Sorts" pitchFamily="2" charset="2"/>
              <a:buNone/>
            </a:pPr>
            <a:endParaRPr lang="en-US" altLang="en-US" sz="2400" b="1" i="1" dirty="0">
              <a:solidFill>
                <a:schemeClr val="tx1"/>
              </a:solidFill>
              <a:latin typeface="Segoe"/>
              <a:cs typeface="Sakkal Majalla" panose="02000000000000000000" pitchFamily="2" charset="-78"/>
            </a:endParaRPr>
          </a:p>
          <a:p>
            <a:pPr algn="ctr">
              <a:buFont typeface="Monotype Sorts" pitchFamily="2" charset="2"/>
              <a:buNone/>
            </a:pPr>
            <a:r>
              <a:rPr lang="en-US" altLang="en-US" sz="2800" b="1" i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T</a:t>
            </a: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(</a:t>
            </a:r>
            <a:r>
              <a:rPr lang="en-US" altLang="en-US" sz="2800" b="1" i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n</a:t>
            </a: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) ≈ </a:t>
            </a:r>
            <a:r>
              <a:rPr lang="en-US" altLang="en-US" sz="2800" b="1" i="1" dirty="0" err="1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c</a:t>
            </a:r>
            <a:r>
              <a:rPr lang="en-US" altLang="en-US" sz="2800" b="1" i="1" baseline="-25000" dirty="0" err="1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op</a:t>
            </a:r>
            <a:r>
              <a:rPr lang="en-US" altLang="en-US" sz="2800" b="1" i="1" dirty="0" err="1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C</a:t>
            </a: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(</a:t>
            </a:r>
            <a:r>
              <a:rPr lang="en-US" altLang="en-US" sz="2800" b="1" i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n</a:t>
            </a: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)</a:t>
            </a:r>
          </a:p>
        </p:txBody>
      </p:sp>
      <p:grpSp>
        <p:nvGrpSpPr>
          <p:cNvPr id="190479" name="Group 15"/>
          <p:cNvGrpSpPr>
            <a:grpSpLocks/>
          </p:cNvGrpSpPr>
          <p:nvPr/>
        </p:nvGrpSpPr>
        <p:grpSpPr bwMode="auto">
          <a:xfrm>
            <a:off x="1371600" y="4191000"/>
            <a:ext cx="6934201" cy="2293938"/>
            <a:chOff x="491" y="2496"/>
            <a:chExt cx="4368" cy="1445"/>
          </a:xfrm>
        </p:grpSpPr>
        <p:sp>
          <p:nvSpPr>
            <p:cNvPr id="190468" name="Text Box 4"/>
            <p:cNvSpPr txBox="1">
              <a:spLocks noChangeArrowheads="1"/>
            </p:cNvSpPr>
            <p:nvPr/>
          </p:nvSpPr>
          <p:spPr bwMode="auto">
            <a:xfrm>
              <a:off x="491" y="3281"/>
              <a:ext cx="119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running time</a:t>
              </a:r>
            </a:p>
          </p:txBody>
        </p:sp>
        <p:sp>
          <p:nvSpPr>
            <p:cNvPr id="190469" name="Text Box 5"/>
            <p:cNvSpPr txBox="1">
              <a:spLocks noChangeArrowheads="1"/>
            </p:cNvSpPr>
            <p:nvPr/>
          </p:nvSpPr>
          <p:spPr bwMode="auto">
            <a:xfrm>
              <a:off x="1555" y="3456"/>
              <a:ext cx="1720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execution time</a:t>
              </a:r>
            </a:p>
            <a:p>
              <a:r>
                <a:rPr lang="en-US" alt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for basic operation</a:t>
              </a:r>
            </a:p>
          </p:txBody>
        </p:sp>
        <p:sp>
          <p:nvSpPr>
            <p:cNvPr id="190470" name="Text Box 6"/>
            <p:cNvSpPr txBox="1">
              <a:spLocks noChangeArrowheads="1"/>
            </p:cNvSpPr>
            <p:nvPr/>
          </p:nvSpPr>
          <p:spPr bwMode="auto">
            <a:xfrm>
              <a:off x="3275" y="3168"/>
              <a:ext cx="1584" cy="6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Number of times basic operation is executed</a:t>
              </a:r>
            </a:p>
          </p:txBody>
        </p:sp>
        <p:sp>
          <p:nvSpPr>
            <p:cNvPr id="190471" name="Line 7"/>
            <p:cNvSpPr>
              <a:spLocks noChangeShapeType="1"/>
            </p:cNvSpPr>
            <p:nvPr/>
          </p:nvSpPr>
          <p:spPr bwMode="auto">
            <a:xfrm flipV="1">
              <a:off x="1104" y="3216"/>
              <a:ext cx="576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0472" name="Line 8"/>
            <p:cNvSpPr>
              <a:spLocks noChangeShapeType="1"/>
            </p:cNvSpPr>
            <p:nvPr/>
          </p:nvSpPr>
          <p:spPr bwMode="auto">
            <a:xfrm flipV="1">
              <a:off x="2304" y="3264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0473" name="Line 9"/>
            <p:cNvSpPr>
              <a:spLocks noChangeShapeType="1"/>
            </p:cNvSpPr>
            <p:nvPr/>
          </p:nvSpPr>
          <p:spPr bwMode="auto">
            <a:xfrm flipH="1" flipV="1">
              <a:off x="2952" y="3295"/>
              <a:ext cx="382" cy="25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0474" name="Text Box 10"/>
            <p:cNvSpPr txBox="1">
              <a:spLocks noChangeArrowheads="1"/>
            </p:cNvSpPr>
            <p:nvPr/>
          </p:nvSpPr>
          <p:spPr bwMode="auto">
            <a:xfrm>
              <a:off x="2255" y="2496"/>
              <a:ext cx="938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input size</a:t>
              </a:r>
            </a:p>
          </p:txBody>
        </p:sp>
        <p:sp>
          <p:nvSpPr>
            <p:cNvPr id="190475" name="Line 11"/>
            <p:cNvSpPr>
              <a:spLocks noChangeShapeType="1"/>
            </p:cNvSpPr>
            <p:nvPr/>
          </p:nvSpPr>
          <p:spPr bwMode="auto">
            <a:xfrm>
              <a:off x="2736" y="2784"/>
              <a:ext cx="336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0476" name="Line 12"/>
            <p:cNvSpPr>
              <a:spLocks noChangeShapeType="1"/>
            </p:cNvSpPr>
            <p:nvPr/>
          </p:nvSpPr>
          <p:spPr bwMode="auto">
            <a:xfrm flipH="1">
              <a:off x="2016" y="2736"/>
              <a:ext cx="528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738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467600" cy="82534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General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696200" cy="42672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How to find </a:t>
            </a:r>
            <a:r>
              <a:rPr lang="en-US" altLang="en-US" sz="2800" b="1" i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T</a:t>
            </a: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(</a:t>
            </a:r>
            <a:r>
              <a:rPr lang="en-US" altLang="en-US" sz="2800" b="1" i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n</a:t>
            </a: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) ≈ </a:t>
            </a:r>
            <a:r>
              <a:rPr lang="en-US" altLang="en-US" sz="2800" b="1" i="1" dirty="0" err="1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c</a:t>
            </a:r>
            <a:r>
              <a:rPr lang="en-US" altLang="en-US" sz="2800" b="1" i="1" baseline="-25000" dirty="0" err="1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op</a:t>
            </a:r>
            <a:r>
              <a:rPr lang="en-US" altLang="en-US" sz="2800" b="1" i="1" dirty="0" err="1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C</a:t>
            </a: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(</a:t>
            </a:r>
            <a:r>
              <a:rPr lang="en-US" altLang="en-US" sz="2800" b="1" i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n</a:t>
            </a: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Segoe"/>
                <a:cs typeface="Sakkal Majalla" panose="02000000000000000000" pitchFamily="2" charset="-78"/>
              </a:rPr>
              <a:t>)</a:t>
            </a:r>
            <a:r>
              <a:rPr lang="en-US" altLang="en-US" sz="2800" b="1" dirty="0">
                <a:solidFill>
                  <a:schemeClr val="tx1"/>
                </a:solidFill>
                <a:latin typeface="Segoe"/>
                <a:cs typeface="Sakkal Majalla" panose="02000000000000000000" pitchFamily="2" charset="-78"/>
              </a:rPr>
              <a:t>??</a:t>
            </a:r>
            <a:endParaRPr lang="en-US" sz="2800" dirty="0">
              <a:solidFill>
                <a:schemeClr val="tx1"/>
              </a:solidFill>
              <a:latin typeface="Segoe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Decide on a parameter indicating an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input’s size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Does C(n) depends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only on n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or does it also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depend on type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of input?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Identify the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basic operation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Set up sum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expressing the # of times basic operation is executed.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Find closed form for the sum or at least establish its order of growth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/>
            </a:endParaRPr>
          </a:p>
          <a:p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/>
            </a:endParaRPr>
          </a:p>
        </p:txBody>
      </p:sp>
    </p:spTree>
    <p:extLst>
      <p:ext uri="{BB962C8B-B14F-4D97-AF65-F5344CB8AC3E}">
        <p14:creationId xmlns:p14="http://schemas.microsoft.com/office/powerpoint/2010/main" val="22957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152400"/>
            <a:ext cx="8686799" cy="10668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of Non-recursive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696200" cy="4191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ALGORITHM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MaxElement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( A  [0..n-1] 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//Determines largest element</a:t>
            </a:r>
          </a:p>
          <a:p>
            <a:pPr marL="0" indent="0">
              <a:buNone/>
            </a:pP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maxval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 &lt;- A[0]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for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 i &lt;- 1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to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 n-1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do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	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if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 A[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] &gt;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maxval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		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maxval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 &lt;- A[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]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return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maxval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Then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: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91411" y="2590800"/>
            <a:ext cx="44287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Input size: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n</a:t>
            </a:r>
          </a:p>
          <a:p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/>
            </a:endParaRPr>
          </a:p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Basic operation: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&gt;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or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 &lt;-</a:t>
            </a:r>
          </a:p>
        </p:txBody>
      </p:sp>
      <p:sp>
        <p:nvSpPr>
          <p:cNvPr id="5" name="Text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05200" y="5486400"/>
            <a:ext cx="5061129" cy="987322"/>
          </a:xfrm>
          <a:prstGeom prst="rect">
            <a:avLst/>
          </a:prstGeom>
          <a:blipFill rotWithShape="1">
            <a:blip r:embed="rId2" cstate="print"/>
            <a:stretch>
              <a:fillRect l="-2410" t="-4321" b="-16049"/>
            </a:stretch>
          </a:blip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524000"/>
            <a:ext cx="1295400" cy="4572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3" name="Rounded Rectangle 12"/>
          <p:cNvSpPr/>
          <p:nvPr/>
        </p:nvSpPr>
        <p:spPr>
          <a:xfrm>
            <a:off x="1524000" y="3810000"/>
            <a:ext cx="3276600" cy="12192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4" name="Rounded Rectangle 13"/>
          <p:cNvSpPr/>
          <p:nvPr/>
        </p:nvSpPr>
        <p:spPr>
          <a:xfrm>
            <a:off x="685800" y="3200400"/>
            <a:ext cx="3276600" cy="5334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5" name="Oval Callout 14"/>
          <p:cNvSpPr/>
          <p:nvPr/>
        </p:nvSpPr>
        <p:spPr>
          <a:xfrm>
            <a:off x="228600" y="1676400"/>
            <a:ext cx="4876800" cy="990600"/>
          </a:xfrm>
          <a:prstGeom prst="wedgeEllipseCallout">
            <a:avLst>
              <a:gd name="adj1" fmla="val 19818"/>
              <a:gd name="adj2" fmla="val 98490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Times of execution</a:t>
            </a:r>
            <a:endParaRPr lang="ar-EG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91200" y="5562600"/>
            <a:ext cx="2590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1" name="Rectangle 10"/>
          <p:cNvSpPr/>
          <p:nvPr/>
        </p:nvSpPr>
        <p:spPr>
          <a:xfrm>
            <a:off x="2133600" y="6019800"/>
            <a:ext cx="2590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6" name="Rectangle 15"/>
          <p:cNvSpPr/>
          <p:nvPr/>
        </p:nvSpPr>
        <p:spPr>
          <a:xfrm>
            <a:off x="4876800" y="6019800"/>
            <a:ext cx="2590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477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allAtOnce"/>
      <p:bldP spid="5" grpId="0" animBg="1"/>
      <p:bldP spid="12" grpId="0" animBg="1"/>
      <p:bldP spid="13" grpId="0" animBg="1"/>
      <p:bldP spid="14" grpId="0" animBg="1"/>
      <p:bldP spid="15" grpId="0" animBg="1"/>
      <p:bldP spid="10" grpId="0" animBg="1"/>
      <p:bldP spid="11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606" y="-76200"/>
            <a:ext cx="8760794" cy="10668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of </a:t>
            </a:r>
            <a:r>
              <a:rPr lang="en-US" sz="3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Nonrecursive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7696200" cy="419100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ALGORITHM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UniqueElements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(A  [0..n-1]  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//Determines whether all elements are distinct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for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&lt;- 0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to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n-2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do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for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j &lt;- i+1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to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n-1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do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if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A[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] = A[j]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	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return false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return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006" y="5429071"/>
            <a:ext cx="46832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size: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n</a:t>
            </a:r>
          </a:p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operation: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A[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i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] = A[j]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1295400" cy="4572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6" name="Rounded Rectangle 5"/>
          <p:cNvSpPr/>
          <p:nvPr/>
        </p:nvSpPr>
        <p:spPr>
          <a:xfrm>
            <a:off x="2438400" y="3657600"/>
            <a:ext cx="3276600" cy="6096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4495800" cy="10668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8" name="Oval Callout 7"/>
          <p:cNvSpPr/>
          <p:nvPr/>
        </p:nvSpPr>
        <p:spPr>
          <a:xfrm>
            <a:off x="228600" y="838200"/>
            <a:ext cx="4876800" cy="990600"/>
          </a:xfrm>
          <a:prstGeom prst="wedgeEllipseCallout">
            <a:avLst>
              <a:gd name="adj1" fmla="val 19818"/>
              <a:gd name="adj2" fmla="val 9849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Times of execution</a:t>
            </a:r>
            <a:endParaRPr lang="ar-EG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838200" y="2971800"/>
            <a:ext cx="48006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676400" y="3505200"/>
            <a:ext cx="53340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65182" y="2269737"/>
                <a:ext cx="1006879" cy="121129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/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182" y="2269737"/>
                <a:ext cx="1006879" cy="121129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005263" y="2894654"/>
                <a:ext cx="1255857" cy="12591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8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/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263" y="2894654"/>
                <a:ext cx="1255857" cy="125919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4092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  <p:bldP spid="5" grpId="0" animBg="1"/>
      <p:bldP spid="6" grpId="0" animBg="1"/>
      <p:bldP spid="7" grpId="0" animBg="1"/>
      <p:bldP spid="8" grpId="0" animBg="1"/>
      <p:bldP spid="11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839200" cy="5334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of </a:t>
            </a:r>
            <a:r>
              <a:rPr lang="en-US" sz="3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Nonrecursive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(contd.)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76200" y="762000"/>
            <a:ext cx="8686800" cy="5867400"/>
          </a:xfrm>
          <a:blipFill rotWithShape="1">
            <a:blip r:embed="rId3" cstate="print"/>
            <a:stretch>
              <a:fillRect l="-1474" t="-727"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/>
          <a:lstStyle/>
          <a:p>
            <a:r>
              <a:rPr lang="en-US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 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57338"/>
            <a:ext cx="8839200" cy="6124462"/>
          </a:xfrm>
          <a:prstGeom prst="rect">
            <a:avLst/>
          </a:prstGeom>
          <a:blipFill rotWithShape="1">
            <a:blip r:embed="rId3" cstate="print"/>
            <a:stretch>
              <a:fillRect l="-1474" t="-727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752600" y="3200400"/>
            <a:ext cx="2590800" cy="1905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6" name="Rectangle 5"/>
          <p:cNvSpPr/>
          <p:nvPr/>
        </p:nvSpPr>
        <p:spPr>
          <a:xfrm>
            <a:off x="4267200" y="3276600"/>
            <a:ext cx="4343400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/>
          <p:cNvSpPr/>
          <p:nvPr/>
        </p:nvSpPr>
        <p:spPr>
          <a:xfrm>
            <a:off x="1752600" y="5410200"/>
            <a:ext cx="335280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8" name="Rectangle 7"/>
          <p:cNvSpPr/>
          <p:nvPr/>
        </p:nvSpPr>
        <p:spPr>
          <a:xfrm>
            <a:off x="5181600" y="5410200"/>
            <a:ext cx="3352800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9" name="Rectangle 8"/>
          <p:cNvSpPr/>
          <p:nvPr/>
        </p:nvSpPr>
        <p:spPr>
          <a:xfrm>
            <a:off x="3505200" y="990600"/>
            <a:ext cx="3352800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0" name="Rectangle 9"/>
          <p:cNvSpPr/>
          <p:nvPr/>
        </p:nvSpPr>
        <p:spPr>
          <a:xfrm>
            <a:off x="6553200" y="1143000"/>
            <a:ext cx="2590800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1" name="Rectangle 10"/>
          <p:cNvSpPr/>
          <p:nvPr/>
        </p:nvSpPr>
        <p:spPr>
          <a:xfrm>
            <a:off x="2667000" y="1371600"/>
            <a:ext cx="914400" cy="1752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829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05800" cy="4572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of </a:t>
            </a:r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Nonrecursive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4724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ALGORITHM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MatrixMultiplication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(A[ 0..n-1 , 0..n-1],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				B[ 0..n-1 , 0..n-1])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for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&lt;- 0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to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n-1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do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for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j &lt;- 0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to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n-1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do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C[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j] = 0.0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for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k &lt;- 0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to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n-1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do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	C[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j] = C[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j] + A[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k]×B[k, j]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return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C</a:t>
            </a:r>
          </a:p>
        </p:txBody>
      </p:sp>
      <p:sp>
        <p:nvSpPr>
          <p:cNvPr id="5" name="Text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1000" y="5257800"/>
            <a:ext cx="4193969" cy="147598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sz="2400">
                <a:noFill/>
              </a:rPr>
              <a:t>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4580" y="914400"/>
            <a:ext cx="2133600" cy="457200"/>
          </a:xfrm>
          <a:prstGeom prst="round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ounded Rectangle 6"/>
          <p:cNvSpPr/>
          <p:nvPr/>
        </p:nvSpPr>
        <p:spPr>
          <a:xfrm>
            <a:off x="3200400" y="4343400"/>
            <a:ext cx="4724400" cy="6096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8" name="Rounded Rectangle 7"/>
          <p:cNvSpPr/>
          <p:nvPr/>
        </p:nvSpPr>
        <p:spPr>
          <a:xfrm>
            <a:off x="2286000" y="3810000"/>
            <a:ext cx="3276600" cy="45720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9" name="Rounded Rectangle 8"/>
          <p:cNvSpPr/>
          <p:nvPr/>
        </p:nvSpPr>
        <p:spPr>
          <a:xfrm>
            <a:off x="1371600" y="2667000"/>
            <a:ext cx="3276600" cy="45720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3276600" cy="45720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7" t="9091" r="13326" b="9091"/>
          <a:stretch>
            <a:fillRect/>
          </a:stretch>
        </p:blipFill>
        <p:spPr bwMode="auto">
          <a:xfrm>
            <a:off x="304800" y="4343400"/>
            <a:ext cx="7143496" cy="15191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2" name="Rounded Rectangle 11"/>
          <p:cNvSpPr/>
          <p:nvPr/>
        </p:nvSpPr>
        <p:spPr>
          <a:xfrm>
            <a:off x="381000" y="6110990"/>
            <a:ext cx="4038600" cy="680974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bIns="36000"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6184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8305800" cy="45720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Analysis of </a:t>
            </a:r>
            <a:r>
              <a:rPr lang="en-US" sz="3200" b="1" dirty="0" err="1"/>
              <a:t>Nonrecursive</a:t>
            </a:r>
            <a:r>
              <a:rPr lang="en-US" sz="3200" b="1" dirty="0"/>
              <a:t>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7200" y="1981200"/>
                <a:ext cx="8153400" cy="4707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FF0000"/>
                    </a:solidFill>
                  </a:rPr>
                  <a:t>Input size: n</a:t>
                </a:r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Basic operation: ×</a:t>
                </a:r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M(n)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  <m:sup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sub>
                              <m:sup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p>
                              <m:e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b="1" dirty="0"/>
              </a:p>
              <a:p>
                <a:r>
                  <a:rPr lang="en-US" b="1" dirty="0"/>
                  <a:t>If we took into account the time spent in the additions too 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T(n) ≈ </a:t>
                </a:r>
                <a:r>
                  <a:rPr lang="en-US" sz="2800" b="1" dirty="0" err="1">
                    <a:solidFill>
                      <a:srgbClr val="FF0000"/>
                    </a:solidFill>
                  </a:rPr>
                  <a:t>c</a:t>
                </a:r>
                <a:r>
                  <a:rPr lang="en-US" sz="2800" b="1" baseline="-25000" dirty="0" err="1">
                    <a:solidFill>
                      <a:srgbClr val="FF0000"/>
                    </a:solidFill>
                  </a:rPr>
                  <a:t>m</a:t>
                </a:r>
                <a:r>
                  <a:rPr lang="en-US" sz="2800" b="1" dirty="0" err="1">
                    <a:solidFill>
                      <a:srgbClr val="FF0000"/>
                    </a:solidFill>
                  </a:rPr>
                  <a:t>M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(n)+</a:t>
                </a:r>
                <a:r>
                  <a:rPr lang="en-US" sz="2800" b="1" dirty="0" err="1">
                    <a:solidFill>
                      <a:srgbClr val="FF0000"/>
                    </a:solidFill>
                  </a:rPr>
                  <a:t>c</a:t>
                </a:r>
                <a:r>
                  <a:rPr lang="en-US" sz="2800" b="1" baseline="-25000" dirty="0" err="1">
                    <a:solidFill>
                      <a:srgbClr val="FF0000"/>
                    </a:solidFill>
                  </a:rPr>
                  <a:t>a</a:t>
                </a:r>
                <a:r>
                  <a:rPr lang="en-US" sz="2800" b="1" dirty="0" err="1">
                    <a:solidFill>
                      <a:srgbClr val="FF0000"/>
                    </a:solidFill>
                  </a:rPr>
                  <a:t>A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(n) </a:t>
                </a:r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        = c</a:t>
                </a:r>
                <a:r>
                  <a:rPr lang="en-US" sz="2800" b="1" baseline="-25000" dirty="0">
                    <a:solidFill>
                      <a:srgbClr val="FF0000"/>
                    </a:solidFill>
                  </a:rPr>
                  <a:t>m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n3+c</a:t>
                </a:r>
                <a:r>
                  <a:rPr lang="en-US" sz="2800" b="1" baseline="-25000" dirty="0">
                    <a:solidFill>
                      <a:srgbClr val="FF0000"/>
                    </a:solidFill>
                  </a:rPr>
                  <a:t>a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n</a:t>
                </a:r>
                <a:r>
                  <a:rPr lang="en-US" sz="2800" b="1" baseline="30000" dirty="0">
                    <a:solidFill>
                      <a:srgbClr val="FF0000"/>
                    </a:solidFill>
                  </a:rPr>
                  <a:t>3</a:t>
                </a:r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            = (</a:t>
                </a:r>
                <a:r>
                  <a:rPr lang="en-US" sz="2800" b="1" dirty="0" err="1">
                    <a:solidFill>
                      <a:srgbClr val="FF0000"/>
                    </a:solidFill>
                  </a:rPr>
                  <a:t>c</a:t>
                </a:r>
                <a:r>
                  <a:rPr lang="en-US" sz="2800" b="1" baseline="-25000" dirty="0" err="1">
                    <a:solidFill>
                      <a:srgbClr val="FF0000"/>
                    </a:solidFill>
                  </a:rPr>
                  <a:t>m</a:t>
                </a:r>
                <a:r>
                  <a:rPr lang="en-US" sz="2800" b="1" dirty="0" err="1">
                    <a:solidFill>
                      <a:srgbClr val="FF0000"/>
                    </a:solidFill>
                  </a:rPr>
                  <a:t>+c</a:t>
                </a:r>
                <a:r>
                  <a:rPr lang="en-US" sz="2800" b="1" baseline="-25000" dirty="0" err="1">
                    <a:solidFill>
                      <a:srgbClr val="FF0000"/>
                    </a:solidFill>
                  </a:rPr>
                  <a:t>a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)n</a:t>
                </a:r>
                <a:r>
                  <a:rPr lang="en-US" sz="2800" b="1" baseline="30000" dirty="0">
                    <a:solidFill>
                      <a:srgbClr val="FF0000"/>
                    </a:solidFill>
                  </a:rPr>
                  <a:t>3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81200"/>
                <a:ext cx="8153400" cy="4707635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1495" t="-1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62000"/>
            <a:ext cx="6492737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45" y="3962400"/>
            <a:ext cx="7696200" cy="1080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295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5486400" y="6189345"/>
            <a:ext cx="1288093" cy="575310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9" name="Rounded Rectangle 18"/>
          <p:cNvSpPr/>
          <p:nvPr/>
        </p:nvSpPr>
        <p:spPr>
          <a:xfrm>
            <a:off x="7315201" y="4530090"/>
            <a:ext cx="1066800" cy="575310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2" name="Rounded Rectangle 11"/>
          <p:cNvSpPr/>
          <p:nvPr/>
        </p:nvSpPr>
        <p:spPr>
          <a:xfrm>
            <a:off x="2705100" y="2851487"/>
            <a:ext cx="1562100" cy="42511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1" name="Rounded Rectangle 10"/>
          <p:cNvSpPr/>
          <p:nvPr/>
        </p:nvSpPr>
        <p:spPr>
          <a:xfrm>
            <a:off x="1905000" y="2290306"/>
            <a:ext cx="381000" cy="45289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253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90600" y="1066800"/>
            <a:ext cx="7543800" cy="5029200"/>
          </a:xfrm>
          <a:noFill/>
        </p:spPr>
        <p:txBody>
          <a:bodyPr lIns="90488" tIns="44450" rIns="90488" bIns="44450"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Algorithm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linearSearch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(A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[0..n-1] 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key)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for (i = 0 to n-1)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if  ( A[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]== key )  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      return  i;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return -1;</a:t>
            </a:r>
          </a:p>
          <a:p>
            <a:pPr eaLnBrk="1" hangingPunct="1">
              <a:buFont typeface="Wingdings" pitchFamily="2" charset="2"/>
              <a:buNone/>
            </a:pPr>
            <a:endParaRPr lang="en-US" sz="2800" b="1" u="sng" dirty="0">
              <a:solidFill>
                <a:srgbClr val="C00000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800" b="1" u="sng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Best case: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		C(n) = 1   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Then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C(n) </a:t>
            </a:r>
            <a:r>
              <a:rPr lang="az-Cyrl-AZ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є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l-GR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Ω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(1)</a:t>
            </a:r>
          </a:p>
          <a:p>
            <a:pPr eaLnBrk="1" hangingPunct="1">
              <a:buFont typeface="Wingdings" pitchFamily="2" charset="2"/>
              <a:buNone/>
            </a:pPr>
            <a:endParaRPr lang="en-US" sz="800" b="1" u="sng" dirty="0">
              <a:solidFill>
                <a:srgbClr val="C00000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800" b="1" u="sng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Worst case: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C(n) =        = n</a:t>
            </a:r>
          </a:p>
          <a:p>
            <a:endParaRPr lang="en-US" sz="3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                     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Then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C(n)  </a:t>
            </a:r>
            <a:r>
              <a:rPr lang="az-Cyrl-AZ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є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O(n)</a:t>
            </a:r>
          </a:p>
          <a:p>
            <a:pPr eaLnBrk="1" hangingPunct="1">
              <a:buFont typeface="Wingdings" pitchFamily="2" charset="2"/>
              <a:buNone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-381000"/>
            <a:ext cx="8001000" cy="1239837"/>
          </a:xfrm>
        </p:spPr>
        <p:txBody>
          <a:bodyPr lIns="90488" tIns="44450" rIns="90488" bIns="44450"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of </a:t>
            </a:r>
            <a:r>
              <a:rPr 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Nonrecursive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(contd.)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57800" y="1143000"/>
            <a:ext cx="1219200" cy="457200"/>
          </a:xfrm>
          <a:prstGeom prst="round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6" name="Rounded Rectangle 5"/>
          <p:cNvSpPr/>
          <p:nvPr/>
        </p:nvSpPr>
        <p:spPr>
          <a:xfrm>
            <a:off x="2533650" y="2286000"/>
            <a:ext cx="1809750" cy="4572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ounded Rectangle 6"/>
          <p:cNvSpPr/>
          <p:nvPr/>
        </p:nvSpPr>
        <p:spPr>
          <a:xfrm>
            <a:off x="1905000" y="1724819"/>
            <a:ext cx="1981200" cy="45720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9" name="TextBox 8"/>
          <p:cNvSpPr txBox="1"/>
          <p:nvPr/>
        </p:nvSpPr>
        <p:spPr>
          <a:xfrm>
            <a:off x="5354506" y="1953419"/>
            <a:ext cx="36667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Input size: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n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/>
            </a:endParaRPr>
          </a:p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Basic operation: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==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2701290" y="3743018"/>
            <a:ext cx="3966210" cy="438764"/>
          </a:xfrm>
          <a:prstGeom prst="wedgeRoundRectCallout">
            <a:avLst>
              <a:gd name="adj1" fmla="val -49459"/>
              <a:gd name="adj2" fmla="val 156734"/>
              <a:gd name="adj3" fmla="val 16667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</a:t>
            </a:r>
            <a:r>
              <a:rPr lang="en-US" sz="2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0 </a:t>
            </a:r>
            <a:r>
              <a: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 </a:t>
            </a:r>
            <a:r>
              <a: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A[</a:t>
            </a:r>
            <a:r>
              <a:rPr lang="en-US" sz="2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== Key</a:t>
            </a:r>
            <a:endParaRPr lang="ar-EG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69995" y="4682490"/>
            <a:ext cx="1584511" cy="3467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5" name="Rectangle 14"/>
          <p:cNvSpPr/>
          <p:nvPr/>
        </p:nvSpPr>
        <p:spPr>
          <a:xfrm>
            <a:off x="5364634" y="4495800"/>
            <a:ext cx="3322166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6" name="Rounded Rectangular Callout 15"/>
          <p:cNvSpPr/>
          <p:nvPr/>
        </p:nvSpPr>
        <p:spPr>
          <a:xfrm>
            <a:off x="2828533" y="4590436"/>
            <a:ext cx="2276867" cy="438764"/>
          </a:xfrm>
          <a:prstGeom prst="wedgeRoundRectCallout">
            <a:avLst>
              <a:gd name="adj1" fmla="val -49459"/>
              <a:gd name="adj2" fmla="val 156734"/>
              <a:gd name="adj3" fmla="val 16667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not found </a:t>
            </a:r>
            <a:endParaRPr lang="ar-EG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652947" y="5105400"/>
                <a:ext cx="909653" cy="103784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2400" i="1" smtClean="0">
                              <a:ln>
                                <a:noFill/>
                              </a:ln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n>
                                <a:noFill/>
                              </a:ln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n>
                                <a:noFill/>
                              </a:ln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n>
                                <a:noFill/>
                              </a:ln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i="1" smtClean="0">
                              <a:ln>
                                <a:noFill/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n>
                                <a:noFill/>
                              </a:ln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n>
                                <a:noFill/>
                              </a:ln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2400" b="0" i="1" smtClean="0">
                              <a:ln>
                                <a:noFill/>
                              </a:ln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en-US" sz="2400" dirty="0">
                  <a:ln>
                    <a:noFill/>
                  </a:ln>
                  <a:latin typeface="Segoe UI Symbol" panose="020B0502040204020203" pitchFamily="34" charset="0"/>
                  <a:ea typeface="Segoe UI Symbol" panose="020B0502040204020203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947" y="5105400"/>
                <a:ext cx="909653" cy="103784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3769994" y="5541456"/>
            <a:ext cx="3164205" cy="4021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633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5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5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6" presetClass="entr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5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6" presetClass="entr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5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12" grpId="0" animBg="1"/>
      <p:bldP spid="11" grpId="0" animBg="1"/>
      <p:bldP spid="5" grpId="0" animBg="1"/>
      <p:bldP spid="6" grpId="0" animBg="1"/>
      <p:bldP spid="7" grpId="0" animBg="1"/>
      <p:bldP spid="9" grpId="0" uiExpand="1" build="allAtOnce"/>
      <p:bldP spid="13" grpId="0" animBg="1"/>
      <p:bldP spid="13" grpId="1" animBg="1"/>
      <p:bldP spid="14" grpId="0" animBg="1"/>
      <p:bldP spid="15" grpId="0" animBg="1"/>
      <p:bldP spid="16" grpId="0" animBg="1"/>
      <p:bldP spid="16" grpId="1" animBg="1"/>
      <p:bldP spid="17" grpId="0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305800" cy="457200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of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Nonrecursive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(contd.)</a:t>
            </a: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85800" y="762000"/>
            <a:ext cx="7696200" cy="4724400"/>
          </a:xfrm>
          <a:blipFill rotWithShape="1">
            <a:blip r:embed="rId2" cstate="print"/>
            <a:stretch>
              <a:fillRect l="-1664" t="-2194"/>
            </a:stretch>
          </a:blipFill>
        </p:spPr>
        <p:txBody>
          <a:bodyPr/>
          <a:lstStyle/>
          <a:p>
            <a:r>
              <a:rPr lang="en-US" b="1"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4000" y="2971800"/>
            <a:ext cx="990600" cy="3810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8" name="Rectangle 7"/>
          <p:cNvSpPr/>
          <p:nvPr/>
        </p:nvSpPr>
        <p:spPr>
          <a:xfrm>
            <a:off x="4495800" y="762000"/>
            <a:ext cx="4572000" cy="5562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1" anchor="t" anchorCtr="0"/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loop variable takes on only a few values between its lower and upper limits.</a:t>
            </a:r>
          </a:p>
          <a:p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Each iteration 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is divided by 2</a:t>
            </a:r>
          </a:p>
          <a:p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Therefore, we have to use an alternative way of computing the number of times the loop is executed.</a:t>
            </a:r>
            <a:endParaRPr lang="en-US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ar-E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600200" y="4038600"/>
            <a:ext cx="1371600" cy="7620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0" name="Rectangle 9"/>
          <p:cNvSpPr/>
          <p:nvPr/>
        </p:nvSpPr>
        <p:spPr>
          <a:xfrm>
            <a:off x="4495800" y="762000"/>
            <a:ext cx="4572000" cy="5562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1" anchor="t" anchorCtr="0"/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Assume,  there are an integer value m so</a:t>
            </a:r>
          </a:p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en-US" sz="2800" b="1" baseline="30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 </a:t>
            </a:r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&lt;= n &lt;= 2</a:t>
            </a:r>
            <a:r>
              <a:rPr lang="en-US" altLang="en-US" sz="2800" b="1" baseline="30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m+1</a:t>
            </a:r>
          </a:p>
          <a:p>
            <a:endParaRPr lang="en-US" altLang="en-US" sz="2800" b="1" baseline="30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As, n is divided by 2 each iteration</a:t>
            </a:r>
          </a:p>
          <a:p>
            <a:endParaRPr lang="en-US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 how many iteration </a:t>
            </a:r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will be equal to </a:t>
            </a:r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??</a:t>
            </a:r>
          </a:p>
          <a:p>
            <a:endParaRPr lang="en-US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</a:t>
            </a:r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 </a:t>
            </a:r>
            <a:r>
              <a:rPr lang="en-US" altLang="en-US" sz="3600" b="1" u="sng" dirty="0">
                <a:solidFill>
                  <a:srgbClr val="FE48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iteration</a:t>
            </a:r>
          </a:p>
          <a:p>
            <a:endParaRPr lang="ar-E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95800" y="762000"/>
            <a:ext cx="4572000" cy="5562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1" anchor="t" anchorCtr="0"/>
          <a:lstStyle/>
          <a:p>
            <a:r>
              <a:rPr lang="en-US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</a:t>
            </a:r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 </a:t>
            </a:r>
            <a:r>
              <a:rPr lang="en-US" altLang="en-US" sz="3600" b="1" u="sng" dirty="0">
                <a:solidFill>
                  <a:srgbClr val="FE48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iteration</a:t>
            </a:r>
          </a:p>
          <a:p>
            <a:endParaRPr lang="ar-E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en-US" sz="2800" b="1" baseline="30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 </a:t>
            </a:r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&lt;= n &lt;= 2</a:t>
            </a:r>
            <a:r>
              <a:rPr lang="en-US" altLang="en-US" sz="2800" b="1" baseline="30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m+1</a:t>
            </a:r>
          </a:p>
          <a:p>
            <a:endParaRPr lang="en-US" altLang="en-US" sz="2800" b="1" baseline="30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taking log</a:t>
            </a:r>
            <a:r>
              <a:rPr lang="en-US" altLang="en-US" sz="2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  <a:p>
            <a:endParaRPr lang="en-US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altLang="en-US" sz="2800" b="1" baseline="30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&lt;= </a:t>
            </a:r>
            <a:r>
              <a:rPr lang="en-US" altLang="en-US" sz="2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lg</a:t>
            </a:r>
            <a:r>
              <a:rPr lang="en-US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 &lt;= m+1</a:t>
            </a:r>
            <a:endParaRPr lang="en-US" altLang="en-US" sz="2800" b="1" baseline="30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Then: </a:t>
            </a:r>
          </a:p>
          <a:p>
            <a:pPr algn="ctr"/>
            <a:r>
              <a:rPr lang="en-US" altLang="en-US" sz="3600" b="1" u="sng" dirty="0">
                <a:solidFill>
                  <a:srgbClr val="FE48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C(n) </a:t>
            </a:r>
            <a:r>
              <a:rPr lang="en-US" altLang="en-US" sz="3600" b="1" u="sng" dirty="0">
                <a:solidFill>
                  <a:srgbClr val="FE48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 (</a:t>
            </a:r>
            <a:r>
              <a:rPr lang="en-US" altLang="en-US" sz="3600" b="1" u="sng" dirty="0" err="1">
                <a:solidFill>
                  <a:srgbClr val="FE48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lg</a:t>
            </a:r>
            <a:r>
              <a:rPr lang="en-US" altLang="en-US" sz="3600" b="1" u="sng" dirty="0">
                <a:solidFill>
                  <a:srgbClr val="FE48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 n)</a:t>
            </a:r>
            <a:endParaRPr lang="en-US" altLang="en-US" sz="3600" b="1" u="sng" dirty="0">
              <a:solidFill>
                <a:srgbClr val="FE482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497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0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5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3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5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6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6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3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6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6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9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6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72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6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75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0" dur="10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3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6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1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1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03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7" grpId="0" animBg="1"/>
      <p:bldP spid="8" grpId="0" animBg="1"/>
      <p:bldP spid="8" grpId="1" animBg="1"/>
      <p:bldP spid="9" grpId="0" animBg="1"/>
      <p:bldP spid="10" grpId="0" uiExpand="1" build="allAtOnce" animBg="1"/>
      <p:bldP spid="10" grpId="1" uiExpand="1" build="allAtOnce" animBg="1"/>
      <p:bldP spid="11" grpId="0" uiExpand="1" build="allAtOnce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techniques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Brute force (ex. Sequential search)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Decrease and Conquer (ex. Insertion Sort)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Divide and Conquer (ex. Merge – Quick Sort)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Transform and Conquer (ex. Heap Sort)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Dynamic Programming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Greedy Technique.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ar-E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525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6870700" cy="533400"/>
          </a:xfrm>
        </p:spPr>
        <p:txBody>
          <a:bodyPr>
            <a:no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Decrease and 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458200" cy="4800600"/>
          </a:xfrm>
        </p:spPr>
        <p:txBody>
          <a:bodyPr>
            <a:normAutofit/>
          </a:bodyPr>
          <a:lstStyle/>
          <a:p>
            <a:pPr lvl="1"/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 lvl="1"/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Decrease or reduce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problem instance to smaller instance of the same problem and extend solution. </a:t>
            </a:r>
          </a:p>
          <a:p>
            <a:pPr lvl="1"/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Conquer 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 problem by solving smaller instance of the problem.</a:t>
            </a:r>
          </a:p>
          <a:p>
            <a:pPr lvl="1"/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</p:txBody>
      </p:sp>
    </p:spTree>
    <p:extLst>
      <p:ext uri="{BB962C8B-B14F-4D97-AF65-F5344CB8AC3E}">
        <p14:creationId xmlns:p14="http://schemas.microsoft.com/office/powerpoint/2010/main" val="3851627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Insertion Sort</a:t>
            </a:r>
          </a:p>
        </p:txBody>
      </p:sp>
    </p:spTree>
    <p:extLst>
      <p:ext uri="{BB962C8B-B14F-4D97-AF65-F5344CB8AC3E}">
        <p14:creationId xmlns:p14="http://schemas.microsoft.com/office/powerpoint/2010/main" val="2236084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</p:spPr>
        <p:txBody>
          <a:bodyPr/>
          <a:lstStyle/>
          <a:p>
            <a:fld id="{6A6F002A-0C38-4F55-A5F7-3DDA4C952EEC}" type="slidenum">
              <a:rPr lang="en-US"/>
              <a:pPr/>
              <a:t>21</a:t>
            </a:fld>
            <a:endParaRPr lang="en-US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620000" cy="8382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Insertion Sort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976" y="990600"/>
            <a:ext cx="7941623" cy="437356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Idea: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like sorting a hand of playing cards</a:t>
            </a:r>
          </a:p>
          <a:p>
            <a:pPr lvl="1">
              <a:lnSpc>
                <a:spcPct val="11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Start with an empty left hand and the cards facing down on the table.</a:t>
            </a:r>
          </a:p>
          <a:p>
            <a:pPr lvl="1">
              <a:lnSpc>
                <a:spcPct val="11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Remove one card at a time from the table, and insert it into the correct position in the left hand</a:t>
            </a:r>
          </a:p>
          <a:p>
            <a:pPr lvl="2">
              <a:lnSpc>
                <a:spcPct val="11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compare it with each of the cards already in the hand, from right to left</a:t>
            </a:r>
          </a:p>
          <a:p>
            <a:pPr lvl="1">
              <a:lnSpc>
                <a:spcPct val="11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cards held in the left hand are sorted</a:t>
            </a:r>
          </a:p>
          <a:p>
            <a:pPr lvl="2">
              <a:lnSpc>
                <a:spcPct val="11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these cards were originally the top cards of the pile on the table</a:t>
            </a:r>
          </a:p>
        </p:txBody>
      </p:sp>
    </p:spTree>
    <p:extLst>
      <p:ext uri="{BB962C8B-B14F-4D97-AF65-F5344CB8AC3E}">
        <p14:creationId xmlns:p14="http://schemas.microsoft.com/office/powerpoint/2010/main" val="945202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1F11A-D042-40EB-AF16-DCFFA4659167}" type="slidenum">
              <a:rPr lang="en-US"/>
              <a:pPr/>
              <a:t>22</a:t>
            </a:fld>
            <a:endParaRPr lang="en-US"/>
          </a:p>
        </p:txBody>
      </p:sp>
      <p:sp>
        <p:nvSpPr>
          <p:cNvPr id="310274" name="Rectangle 2"/>
          <p:cNvSpPr>
            <a:spLocks noChangeArrowheads="1"/>
          </p:cNvSpPr>
          <p:nvPr/>
        </p:nvSpPr>
        <p:spPr bwMode="auto">
          <a:xfrm>
            <a:off x="4398963" y="1989138"/>
            <a:ext cx="4259262" cy="1570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rgbClr val="0000CC"/>
                </a:solidFill>
              </a:rPr>
              <a:t>To insert 12, we need to make room for it by moving first 36 and then 24.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title"/>
          </p:nvPr>
        </p:nvSpPr>
        <p:spPr>
          <a:xfrm>
            <a:off x="508000" y="617538"/>
            <a:ext cx="6327775" cy="258762"/>
          </a:xfrm>
          <a:noFill/>
          <a:ln/>
        </p:spPr>
        <p:txBody>
          <a:bodyPr lIns="92075" tIns="46038" rIns="92075" bIns="46038" anchor="b">
            <a:noAutofit/>
          </a:bodyPr>
          <a:lstStyle/>
          <a:p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Insertion Sort</a:t>
            </a:r>
          </a:p>
        </p:txBody>
      </p:sp>
      <p:grpSp>
        <p:nvGrpSpPr>
          <p:cNvPr id="310276" name="Group 4"/>
          <p:cNvGrpSpPr>
            <a:grpSpLocks/>
          </p:cNvGrpSpPr>
          <p:nvPr/>
        </p:nvGrpSpPr>
        <p:grpSpPr bwMode="auto">
          <a:xfrm>
            <a:off x="779463" y="2933700"/>
            <a:ext cx="2087562" cy="1235075"/>
            <a:chOff x="491" y="1848"/>
            <a:chExt cx="1315" cy="778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310277" name="AutoShape 5"/>
            <p:cNvSpPr>
              <a:spLocks noChangeArrowheads="1"/>
            </p:cNvSpPr>
            <p:nvPr/>
          </p:nvSpPr>
          <p:spPr bwMode="auto">
            <a:xfrm rot="20400000">
              <a:off x="491" y="1941"/>
              <a:ext cx="459" cy="685"/>
            </a:xfrm>
            <a:prstGeom prst="roundRect">
              <a:avLst>
                <a:gd name="adj" fmla="val 12495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78" name="AutoShape 6"/>
            <p:cNvSpPr>
              <a:spLocks noChangeArrowheads="1"/>
            </p:cNvSpPr>
            <p:nvPr/>
          </p:nvSpPr>
          <p:spPr bwMode="auto">
            <a:xfrm rot="21180000">
              <a:off x="931" y="1848"/>
              <a:ext cx="458" cy="684"/>
            </a:xfrm>
            <a:prstGeom prst="roundRect">
              <a:avLst>
                <a:gd name="adj" fmla="val 12495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79" name="AutoShape 7"/>
            <p:cNvSpPr>
              <a:spLocks noChangeArrowheads="1"/>
            </p:cNvSpPr>
            <p:nvPr/>
          </p:nvSpPr>
          <p:spPr bwMode="auto">
            <a:xfrm rot="720000">
              <a:off x="1341" y="1849"/>
              <a:ext cx="459" cy="684"/>
            </a:xfrm>
            <a:prstGeom prst="roundRect">
              <a:avLst>
                <a:gd name="adj" fmla="val 12495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80" name="Rectangle 8"/>
            <p:cNvSpPr>
              <a:spLocks noChangeArrowheads="1"/>
            </p:cNvSpPr>
            <p:nvPr/>
          </p:nvSpPr>
          <p:spPr bwMode="auto">
            <a:xfrm rot="20460000">
              <a:off x="556" y="1981"/>
              <a:ext cx="258" cy="3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 dirty="0"/>
                <a:t>6</a:t>
              </a:r>
            </a:p>
          </p:txBody>
        </p:sp>
        <p:sp>
          <p:nvSpPr>
            <p:cNvPr id="310281" name="Rectangle 9"/>
            <p:cNvSpPr>
              <a:spLocks noChangeArrowheads="1"/>
            </p:cNvSpPr>
            <p:nvPr/>
          </p:nvSpPr>
          <p:spPr bwMode="auto">
            <a:xfrm rot="21180000">
              <a:off x="938" y="1934"/>
              <a:ext cx="401" cy="3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10</a:t>
              </a:r>
            </a:p>
          </p:txBody>
        </p:sp>
        <p:sp>
          <p:nvSpPr>
            <p:cNvPr id="310282" name="Rectangle 10"/>
            <p:cNvSpPr>
              <a:spLocks noChangeArrowheads="1"/>
            </p:cNvSpPr>
            <p:nvPr/>
          </p:nvSpPr>
          <p:spPr bwMode="auto">
            <a:xfrm rot="480000">
              <a:off x="1405" y="1921"/>
              <a:ext cx="401" cy="3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 dirty="0"/>
                <a:t>24</a:t>
              </a:r>
            </a:p>
          </p:txBody>
        </p:sp>
      </p:grpSp>
      <p:sp>
        <p:nvSpPr>
          <p:cNvPr id="310283" name="AutoShape 11"/>
          <p:cNvSpPr>
            <a:spLocks noChangeArrowheads="1"/>
          </p:cNvSpPr>
          <p:nvPr/>
        </p:nvSpPr>
        <p:spPr bwMode="auto">
          <a:xfrm rot="1740000" flipH="1">
            <a:off x="3019425" y="4705350"/>
            <a:ext cx="730250" cy="1085850"/>
          </a:xfrm>
          <a:prstGeom prst="roundRect">
            <a:avLst>
              <a:gd name="adj" fmla="val 12495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10284" name="Rectangle 12"/>
          <p:cNvSpPr>
            <a:spLocks noChangeArrowheads="1"/>
          </p:cNvSpPr>
          <p:nvPr/>
        </p:nvSpPr>
        <p:spPr bwMode="auto">
          <a:xfrm rot="1800000">
            <a:off x="3084513" y="4832350"/>
            <a:ext cx="636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12</a:t>
            </a:r>
          </a:p>
        </p:txBody>
      </p:sp>
      <p:sp>
        <p:nvSpPr>
          <p:cNvPr id="310285" name="AutoShape 13"/>
          <p:cNvSpPr>
            <a:spLocks noChangeArrowheads="1"/>
          </p:cNvSpPr>
          <p:nvPr/>
        </p:nvSpPr>
        <p:spPr bwMode="auto">
          <a:xfrm rot="1740000" flipH="1">
            <a:off x="2784475" y="3149600"/>
            <a:ext cx="730250" cy="1085850"/>
          </a:xfrm>
          <a:prstGeom prst="roundRect">
            <a:avLst>
              <a:gd name="adj" fmla="val 12495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10286" name="Rectangle 14"/>
          <p:cNvSpPr>
            <a:spLocks noChangeArrowheads="1"/>
          </p:cNvSpPr>
          <p:nvPr/>
        </p:nvSpPr>
        <p:spPr bwMode="auto">
          <a:xfrm rot="1500000">
            <a:off x="2913063" y="3317875"/>
            <a:ext cx="636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 dirty="0"/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194704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6A713D-CD4F-4C11-B571-ACCD464449E2}" type="slidenum">
              <a:rPr lang="en-US"/>
              <a:pPr/>
              <a:t>23</a:t>
            </a:fld>
            <a:endParaRPr lang="en-US"/>
          </a:p>
        </p:txBody>
      </p:sp>
      <p:grpSp>
        <p:nvGrpSpPr>
          <p:cNvPr id="312322" name="Group 2"/>
          <p:cNvGrpSpPr>
            <a:grpSpLocks/>
          </p:cNvGrpSpPr>
          <p:nvPr/>
        </p:nvGrpSpPr>
        <p:grpSpPr bwMode="auto">
          <a:xfrm>
            <a:off x="779463" y="2933700"/>
            <a:ext cx="2087562" cy="1235075"/>
            <a:chOff x="491" y="1848"/>
            <a:chExt cx="1315" cy="778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312323" name="AutoShape 3"/>
            <p:cNvSpPr>
              <a:spLocks noChangeArrowheads="1"/>
            </p:cNvSpPr>
            <p:nvPr/>
          </p:nvSpPr>
          <p:spPr bwMode="auto">
            <a:xfrm rot="20400000">
              <a:off x="491" y="1941"/>
              <a:ext cx="459" cy="685"/>
            </a:xfrm>
            <a:prstGeom prst="roundRect">
              <a:avLst>
                <a:gd name="adj" fmla="val 12495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24" name="AutoShape 4"/>
            <p:cNvSpPr>
              <a:spLocks noChangeArrowheads="1"/>
            </p:cNvSpPr>
            <p:nvPr/>
          </p:nvSpPr>
          <p:spPr bwMode="auto">
            <a:xfrm rot="21180000">
              <a:off x="931" y="1848"/>
              <a:ext cx="458" cy="684"/>
            </a:xfrm>
            <a:prstGeom prst="roundRect">
              <a:avLst>
                <a:gd name="adj" fmla="val 12495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25" name="AutoShape 5"/>
            <p:cNvSpPr>
              <a:spLocks noChangeArrowheads="1"/>
            </p:cNvSpPr>
            <p:nvPr/>
          </p:nvSpPr>
          <p:spPr bwMode="auto">
            <a:xfrm rot="720000">
              <a:off x="1341" y="1849"/>
              <a:ext cx="459" cy="684"/>
            </a:xfrm>
            <a:prstGeom prst="roundRect">
              <a:avLst>
                <a:gd name="adj" fmla="val 12495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26" name="Rectangle 6"/>
            <p:cNvSpPr>
              <a:spLocks noChangeArrowheads="1"/>
            </p:cNvSpPr>
            <p:nvPr/>
          </p:nvSpPr>
          <p:spPr bwMode="auto">
            <a:xfrm rot="20460000">
              <a:off x="556" y="1981"/>
              <a:ext cx="258" cy="3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6</a:t>
              </a:r>
            </a:p>
          </p:txBody>
        </p:sp>
        <p:sp>
          <p:nvSpPr>
            <p:cNvPr id="312327" name="Rectangle 7"/>
            <p:cNvSpPr>
              <a:spLocks noChangeArrowheads="1"/>
            </p:cNvSpPr>
            <p:nvPr/>
          </p:nvSpPr>
          <p:spPr bwMode="auto">
            <a:xfrm rot="21180000">
              <a:off x="938" y="1934"/>
              <a:ext cx="401" cy="3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10</a:t>
              </a:r>
            </a:p>
          </p:txBody>
        </p:sp>
        <p:sp>
          <p:nvSpPr>
            <p:cNvPr id="312328" name="Rectangle 8"/>
            <p:cNvSpPr>
              <a:spLocks noChangeArrowheads="1"/>
            </p:cNvSpPr>
            <p:nvPr/>
          </p:nvSpPr>
          <p:spPr bwMode="auto">
            <a:xfrm rot="480000">
              <a:off x="1405" y="1921"/>
              <a:ext cx="401" cy="3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/>
                <a:t>24</a:t>
              </a:r>
            </a:p>
          </p:txBody>
        </p:sp>
      </p:grpSp>
      <p:sp>
        <p:nvSpPr>
          <p:cNvPr id="312330" name="Rectangle 10"/>
          <p:cNvSpPr>
            <a:spLocks noGrp="1" noChangeArrowheads="1"/>
          </p:cNvSpPr>
          <p:nvPr>
            <p:ph type="title"/>
          </p:nvPr>
        </p:nvSpPr>
        <p:spPr>
          <a:xfrm>
            <a:off x="423863" y="358775"/>
            <a:ext cx="6424612" cy="388938"/>
          </a:xfrm>
          <a:noFill/>
          <a:ln/>
        </p:spPr>
        <p:txBody>
          <a:bodyPr lIns="92075" tIns="46038" rIns="92075" bIns="46038" anchor="b">
            <a:no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Insertion Sort</a:t>
            </a:r>
          </a:p>
        </p:txBody>
      </p:sp>
      <p:sp>
        <p:nvSpPr>
          <p:cNvPr id="312331" name="AutoShape 11"/>
          <p:cNvSpPr>
            <a:spLocks noChangeArrowheads="1"/>
          </p:cNvSpPr>
          <p:nvPr/>
        </p:nvSpPr>
        <p:spPr bwMode="auto">
          <a:xfrm rot="1740000" flipH="1">
            <a:off x="3506788" y="3149600"/>
            <a:ext cx="730250" cy="1085850"/>
          </a:xfrm>
          <a:prstGeom prst="roundRect">
            <a:avLst>
              <a:gd name="adj" fmla="val 12495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12332" name="Rectangle 12"/>
          <p:cNvSpPr>
            <a:spLocks noChangeArrowheads="1"/>
          </p:cNvSpPr>
          <p:nvPr/>
        </p:nvSpPr>
        <p:spPr bwMode="auto">
          <a:xfrm rot="1500000">
            <a:off x="3635375" y="3317875"/>
            <a:ext cx="6365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36</a:t>
            </a:r>
          </a:p>
        </p:txBody>
      </p:sp>
      <p:sp>
        <p:nvSpPr>
          <p:cNvPr id="312333" name="AutoShape 13"/>
          <p:cNvSpPr>
            <a:spLocks noChangeArrowheads="1"/>
          </p:cNvSpPr>
          <p:nvPr/>
        </p:nvSpPr>
        <p:spPr bwMode="auto">
          <a:xfrm rot="1740000" flipH="1">
            <a:off x="3019425" y="4705350"/>
            <a:ext cx="730250" cy="1085850"/>
          </a:xfrm>
          <a:prstGeom prst="roundRect">
            <a:avLst>
              <a:gd name="adj" fmla="val 12495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12334" name="Rectangle 14"/>
          <p:cNvSpPr>
            <a:spLocks noChangeArrowheads="1"/>
          </p:cNvSpPr>
          <p:nvPr/>
        </p:nvSpPr>
        <p:spPr bwMode="auto">
          <a:xfrm rot="1800000">
            <a:off x="3084513" y="4832350"/>
            <a:ext cx="636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34971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3D39F8-0715-43DA-872F-98D57BE82C99}" type="slidenum">
              <a:rPr lang="en-US"/>
              <a:pPr/>
              <a:t>24</a:t>
            </a:fld>
            <a:endParaRPr lang="en-US"/>
          </a:p>
        </p:txBody>
      </p:sp>
      <p:sp>
        <p:nvSpPr>
          <p:cNvPr id="314371" name="Rectangle 3"/>
          <p:cNvSpPr>
            <a:spLocks noGrp="1" noChangeArrowheads="1"/>
          </p:cNvSpPr>
          <p:nvPr>
            <p:ph type="title"/>
          </p:nvPr>
        </p:nvSpPr>
        <p:spPr>
          <a:xfrm>
            <a:off x="341313" y="230188"/>
            <a:ext cx="6494462" cy="517525"/>
          </a:xfrm>
          <a:noFill/>
          <a:ln/>
        </p:spPr>
        <p:txBody>
          <a:bodyPr lIns="92075" tIns="46038" rIns="92075" bIns="46038" anchor="b">
            <a:no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Insertion Sort</a:t>
            </a:r>
          </a:p>
        </p:txBody>
      </p:sp>
      <p:sp>
        <p:nvSpPr>
          <p:cNvPr id="314372" name="AutoShape 4"/>
          <p:cNvSpPr>
            <a:spLocks noChangeArrowheads="1"/>
          </p:cNvSpPr>
          <p:nvPr/>
        </p:nvSpPr>
        <p:spPr bwMode="auto">
          <a:xfrm rot="20400000">
            <a:off x="779463" y="3081338"/>
            <a:ext cx="728662" cy="1087437"/>
          </a:xfrm>
          <a:prstGeom prst="roundRect">
            <a:avLst>
              <a:gd name="adj" fmla="val 12495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14373" name="AutoShape 5"/>
          <p:cNvSpPr>
            <a:spLocks noChangeArrowheads="1"/>
          </p:cNvSpPr>
          <p:nvPr/>
        </p:nvSpPr>
        <p:spPr bwMode="auto">
          <a:xfrm rot="21180000">
            <a:off x="1477963" y="2933700"/>
            <a:ext cx="727075" cy="1085850"/>
          </a:xfrm>
          <a:prstGeom prst="roundRect">
            <a:avLst>
              <a:gd name="adj" fmla="val 12495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14374" name="Rectangle 6"/>
          <p:cNvSpPr>
            <a:spLocks noChangeArrowheads="1"/>
          </p:cNvSpPr>
          <p:nvPr/>
        </p:nvSpPr>
        <p:spPr bwMode="auto">
          <a:xfrm rot="20460000">
            <a:off x="882650" y="3144838"/>
            <a:ext cx="409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6</a:t>
            </a:r>
          </a:p>
        </p:txBody>
      </p:sp>
      <p:sp>
        <p:nvSpPr>
          <p:cNvPr id="314375" name="Rectangle 7"/>
          <p:cNvSpPr>
            <a:spLocks noChangeArrowheads="1"/>
          </p:cNvSpPr>
          <p:nvPr/>
        </p:nvSpPr>
        <p:spPr bwMode="auto">
          <a:xfrm rot="21180000">
            <a:off x="1489075" y="3070225"/>
            <a:ext cx="6365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10</a:t>
            </a:r>
          </a:p>
        </p:txBody>
      </p:sp>
      <p:grpSp>
        <p:nvGrpSpPr>
          <p:cNvPr id="314376" name="Group 8"/>
          <p:cNvGrpSpPr>
            <a:grpSpLocks/>
          </p:cNvGrpSpPr>
          <p:nvPr/>
        </p:nvGrpSpPr>
        <p:grpSpPr bwMode="auto">
          <a:xfrm>
            <a:off x="2851150" y="2935288"/>
            <a:ext cx="1420813" cy="1300162"/>
            <a:chOff x="1796" y="1849"/>
            <a:chExt cx="895" cy="819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314377" name="AutoShape 9"/>
            <p:cNvSpPr>
              <a:spLocks noChangeArrowheads="1"/>
            </p:cNvSpPr>
            <p:nvPr/>
          </p:nvSpPr>
          <p:spPr bwMode="auto">
            <a:xfrm rot="720000">
              <a:off x="1796" y="1849"/>
              <a:ext cx="459" cy="684"/>
            </a:xfrm>
            <a:prstGeom prst="roundRect">
              <a:avLst>
                <a:gd name="adj" fmla="val 12495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378" name="AutoShape 10"/>
            <p:cNvSpPr>
              <a:spLocks noChangeArrowheads="1"/>
            </p:cNvSpPr>
            <p:nvPr/>
          </p:nvSpPr>
          <p:spPr bwMode="auto">
            <a:xfrm rot="1740000" flipH="1">
              <a:off x="2209" y="1984"/>
              <a:ext cx="460" cy="684"/>
            </a:xfrm>
            <a:prstGeom prst="roundRect">
              <a:avLst>
                <a:gd name="adj" fmla="val 12495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379" name="Rectangle 11"/>
            <p:cNvSpPr>
              <a:spLocks noChangeArrowheads="1"/>
            </p:cNvSpPr>
            <p:nvPr/>
          </p:nvSpPr>
          <p:spPr bwMode="auto">
            <a:xfrm rot="480000">
              <a:off x="1860" y="1919"/>
              <a:ext cx="401" cy="36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 dirty="0"/>
                <a:t>24</a:t>
              </a:r>
            </a:p>
          </p:txBody>
        </p:sp>
        <p:sp>
          <p:nvSpPr>
            <p:cNvPr id="314380" name="Rectangle 12"/>
            <p:cNvSpPr>
              <a:spLocks noChangeArrowheads="1"/>
            </p:cNvSpPr>
            <p:nvPr/>
          </p:nvSpPr>
          <p:spPr bwMode="auto">
            <a:xfrm rot="1500000">
              <a:off x="2290" y="2090"/>
              <a:ext cx="401" cy="36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3200" b="1" dirty="0"/>
                <a:t>36</a:t>
              </a:r>
            </a:p>
          </p:txBody>
        </p:sp>
      </p:grpSp>
      <p:sp>
        <p:nvSpPr>
          <p:cNvPr id="314381" name="AutoShape 13"/>
          <p:cNvSpPr>
            <a:spLocks noChangeArrowheads="1"/>
          </p:cNvSpPr>
          <p:nvPr/>
        </p:nvSpPr>
        <p:spPr bwMode="auto">
          <a:xfrm rot="1740000" flipH="1">
            <a:off x="3019425" y="4705350"/>
            <a:ext cx="730250" cy="1085850"/>
          </a:xfrm>
          <a:prstGeom prst="roundRect">
            <a:avLst>
              <a:gd name="adj" fmla="val 12495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14382" name="Rectangle 14"/>
          <p:cNvSpPr>
            <a:spLocks noChangeArrowheads="1"/>
          </p:cNvSpPr>
          <p:nvPr/>
        </p:nvSpPr>
        <p:spPr bwMode="auto">
          <a:xfrm rot="1800000">
            <a:off x="3084513" y="4832350"/>
            <a:ext cx="636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3200" b="1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25227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</p:spPr>
        <p:txBody>
          <a:bodyPr/>
          <a:lstStyle/>
          <a:p>
            <a:fld id="{7C26DFBD-41BE-4662-A2D4-0CEDDF1D4418}" type="slidenum">
              <a:rPr lang="en-US"/>
              <a:pPr/>
              <a:t>25</a:t>
            </a:fld>
            <a:endParaRPr lang="en-US"/>
          </a:p>
        </p:txBody>
      </p:sp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Insertion Sort</a:t>
            </a:r>
          </a:p>
        </p:txBody>
      </p:sp>
      <p:pic>
        <p:nvPicPr>
          <p:cNvPr id="28057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" t="18683" r="5267" b="65454"/>
          <a:stretch>
            <a:fillRect/>
          </a:stretch>
        </p:blipFill>
        <p:spPr>
          <a:xfrm>
            <a:off x="1992313" y="3756025"/>
            <a:ext cx="5068887" cy="855663"/>
          </a:xfrm>
          <a:noFill/>
          <a:ln/>
        </p:spPr>
      </p:pic>
      <p:sp>
        <p:nvSpPr>
          <p:cNvPr id="280587" name="Line 11"/>
          <p:cNvSpPr>
            <a:spLocks noChangeShapeType="1"/>
          </p:cNvSpPr>
          <p:nvPr/>
        </p:nvSpPr>
        <p:spPr bwMode="auto">
          <a:xfrm>
            <a:off x="3644900" y="3611563"/>
            <a:ext cx="0" cy="831850"/>
          </a:xfrm>
          <a:prstGeom prst="line">
            <a:avLst/>
          </a:prstGeom>
          <a:noFill/>
          <a:ln w="57150">
            <a:solidFill>
              <a:srgbClr val="DD011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590" name="Text Box 14"/>
          <p:cNvSpPr txBox="1">
            <a:spLocks noChangeArrowheads="1"/>
          </p:cNvSpPr>
          <p:nvPr/>
        </p:nvSpPr>
        <p:spPr bwMode="auto">
          <a:xfrm>
            <a:off x="2311400" y="1960563"/>
            <a:ext cx="485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800" dirty="0"/>
              <a:t>5      2      4      6      1      3</a:t>
            </a:r>
          </a:p>
        </p:txBody>
      </p:sp>
      <p:sp>
        <p:nvSpPr>
          <p:cNvPr id="280591" name="Text Box 15"/>
          <p:cNvSpPr txBox="1">
            <a:spLocks noChangeArrowheads="1"/>
          </p:cNvSpPr>
          <p:nvPr/>
        </p:nvSpPr>
        <p:spPr bwMode="auto">
          <a:xfrm>
            <a:off x="3867150" y="1495425"/>
            <a:ext cx="1327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input array </a:t>
            </a:r>
          </a:p>
        </p:txBody>
      </p:sp>
      <p:sp>
        <p:nvSpPr>
          <p:cNvPr id="280592" name="Text Box 16"/>
          <p:cNvSpPr txBox="1">
            <a:spLocks noChangeArrowheads="1"/>
          </p:cNvSpPr>
          <p:nvPr/>
        </p:nvSpPr>
        <p:spPr bwMode="auto">
          <a:xfrm>
            <a:off x="1809750" y="3306763"/>
            <a:ext cx="151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left sub-array</a:t>
            </a:r>
          </a:p>
        </p:txBody>
      </p:sp>
      <p:sp>
        <p:nvSpPr>
          <p:cNvPr id="280593" name="Text Box 17"/>
          <p:cNvSpPr txBox="1">
            <a:spLocks noChangeArrowheads="1"/>
          </p:cNvSpPr>
          <p:nvPr/>
        </p:nvSpPr>
        <p:spPr bwMode="auto">
          <a:xfrm>
            <a:off x="4705350" y="3322638"/>
            <a:ext cx="1657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right sub-array</a:t>
            </a:r>
          </a:p>
        </p:txBody>
      </p:sp>
      <p:sp>
        <p:nvSpPr>
          <p:cNvPr id="280594" name="Text Box 18"/>
          <p:cNvSpPr txBox="1">
            <a:spLocks noChangeArrowheads="1"/>
          </p:cNvSpPr>
          <p:nvPr/>
        </p:nvSpPr>
        <p:spPr bwMode="auto">
          <a:xfrm>
            <a:off x="1717675" y="2832100"/>
            <a:ext cx="572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DD0111"/>
                </a:solidFill>
              </a:rPr>
              <a:t>at each iteration, the array is divided in two sub-arrays:</a:t>
            </a:r>
          </a:p>
        </p:txBody>
      </p:sp>
      <p:sp>
        <p:nvSpPr>
          <p:cNvPr id="280595" name="Text Box 19"/>
          <p:cNvSpPr txBox="1">
            <a:spLocks noChangeArrowheads="1"/>
          </p:cNvSpPr>
          <p:nvPr/>
        </p:nvSpPr>
        <p:spPr bwMode="auto">
          <a:xfrm>
            <a:off x="2586038" y="4587875"/>
            <a:ext cx="819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sorted</a:t>
            </a:r>
          </a:p>
        </p:txBody>
      </p:sp>
      <p:sp>
        <p:nvSpPr>
          <p:cNvPr id="280596" name="Text Box 20"/>
          <p:cNvSpPr txBox="1">
            <a:spLocks noChangeArrowheads="1"/>
          </p:cNvSpPr>
          <p:nvPr/>
        </p:nvSpPr>
        <p:spPr bwMode="auto">
          <a:xfrm>
            <a:off x="4841875" y="4491038"/>
            <a:ext cx="1073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unsorted</a:t>
            </a:r>
          </a:p>
        </p:txBody>
      </p:sp>
    </p:spTree>
    <p:extLst>
      <p:ext uri="{BB962C8B-B14F-4D97-AF65-F5344CB8AC3E}">
        <p14:creationId xmlns:p14="http://schemas.microsoft.com/office/powerpoint/2010/main" val="2916171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</p:spPr>
        <p:txBody>
          <a:bodyPr/>
          <a:lstStyle/>
          <a:p>
            <a:fld id="{258C29B0-6A46-4462-B3FB-05C59B40FA4D}" type="slidenum">
              <a:rPr lang="en-US"/>
              <a:pPr/>
              <a:t>26</a:t>
            </a:fld>
            <a:endParaRPr lang="en-US"/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Insertion Sort</a:t>
            </a:r>
          </a:p>
        </p:txBody>
      </p:sp>
      <p:pic>
        <p:nvPicPr>
          <p:cNvPr id="279556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" t="4437" r="5267" b="9506"/>
          <a:stretch>
            <a:fillRect/>
          </a:stretch>
        </p:blipFill>
        <p:spPr>
          <a:xfrm>
            <a:off x="501650" y="1552575"/>
            <a:ext cx="5068888" cy="4641850"/>
          </a:xfrm>
          <a:noFill/>
          <a:ln/>
        </p:spPr>
      </p:pic>
      <p:graphicFrame>
        <p:nvGraphicFramePr>
          <p:cNvPr id="279557" name="Object 5"/>
          <p:cNvGraphicFramePr>
            <a:graphicFrameLocks noChangeAspect="1"/>
          </p:cNvGraphicFramePr>
          <p:nvPr/>
        </p:nvGraphicFramePr>
        <p:xfrm>
          <a:off x="5638800" y="838201"/>
          <a:ext cx="3503806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4" imgW="2526829" imgH="1395500" progId="">
                  <p:embed/>
                </p:oleObj>
              </mc:Choice>
              <mc:Fallback>
                <p:oleObj name="Paint Shop Pro Image" r:id="rId4" imgW="2526829" imgH="1395500" progId="">
                  <p:embed/>
                  <p:pic>
                    <p:nvPicPr>
                      <p:cNvPr id="279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838201"/>
                        <a:ext cx="3503806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8" name="Object 6"/>
          <p:cNvGraphicFramePr>
            <a:graphicFrameLocks noChangeAspect="1"/>
          </p:cNvGraphicFramePr>
          <p:nvPr/>
        </p:nvGraphicFramePr>
        <p:xfrm>
          <a:off x="5637212" y="1646785"/>
          <a:ext cx="3506788" cy="1518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6" imgW="2575610" imgH="1385741" progId="">
                  <p:embed/>
                </p:oleObj>
              </mc:Choice>
              <mc:Fallback>
                <p:oleObj name="Paint Shop Pro Image" r:id="rId6" imgW="2575610" imgH="1385741" progId="">
                  <p:embed/>
                  <p:pic>
                    <p:nvPicPr>
                      <p:cNvPr id="279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212" y="1646785"/>
                        <a:ext cx="3506788" cy="1518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9" name="Object 7"/>
          <p:cNvGraphicFramePr>
            <a:graphicFrameLocks noChangeAspect="1"/>
          </p:cNvGraphicFramePr>
          <p:nvPr/>
        </p:nvGraphicFramePr>
        <p:xfrm>
          <a:off x="5557837" y="2505763"/>
          <a:ext cx="3586163" cy="1634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8" imgW="2526829" imgH="1414634" progId="">
                  <p:embed/>
                </p:oleObj>
              </mc:Choice>
              <mc:Fallback>
                <p:oleObj name="Paint Shop Pro Image" r:id="rId8" imgW="2526829" imgH="1414634" progId="">
                  <p:embed/>
                  <p:pic>
                    <p:nvPicPr>
                      <p:cNvPr id="2795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837" y="2505763"/>
                        <a:ext cx="3586163" cy="1634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0" name="Object 8"/>
          <p:cNvGraphicFramePr>
            <a:graphicFrameLocks noChangeAspect="1"/>
          </p:cNvGraphicFramePr>
          <p:nvPr/>
        </p:nvGraphicFramePr>
        <p:xfrm>
          <a:off x="5410200" y="3505200"/>
          <a:ext cx="3750347" cy="1514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10" imgW="2712195" imgH="1453659" progId="">
                  <p:embed/>
                </p:oleObj>
              </mc:Choice>
              <mc:Fallback>
                <p:oleObj name="Paint Shop Pro Image" r:id="rId10" imgW="2712195" imgH="1453659" progId="">
                  <p:embed/>
                  <p:pic>
                    <p:nvPicPr>
                      <p:cNvPr id="2795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505200"/>
                        <a:ext cx="3750347" cy="1514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1" name="Object 9"/>
          <p:cNvGraphicFramePr>
            <a:graphicFrameLocks noChangeAspect="1"/>
          </p:cNvGraphicFramePr>
          <p:nvPr/>
        </p:nvGraphicFramePr>
        <p:xfrm>
          <a:off x="5562600" y="4368724"/>
          <a:ext cx="3540126" cy="1583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12" imgW="2546341" imgH="1424390" progId="">
                  <p:embed/>
                </p:oleObj>
              </mc:Choice>
              <mc:Fallback>
                <p:oleObj name="Paint Shop Pro Image" r:id="rId12" imgW="2546341" imgH="1424390" progId="">
                  <p:embed/>
                  <p:pic>
                    <p:nvPicPr>
                      <p:cNvPr id="2795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368724"/>
                        <a:ext cx="3540126" cy="15834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62" name="Line 10"/>
          <p:cNvSpPr>
            <a:spLocks noChangeShapeType="1"/>
          </p:cNvSpPr>
          <p:nvPr/>
        </p:nvSpPr>
        <p:spPr bwMode="auto">
          <a:xfrm>
            <a:off x="1298575" y="1325563"/>
            <a:ext cx="0" cy="831850"/>
          </a:xfrm>
          <a:prstGeom prst="line">
            <a:avLst/>
          </a:prstGeom>
          <a:noFill/>
          <a:ln w="57150">
            <a:solidFill>
              <a:srgbClr val="DD011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9563" name="Line 11"/>
          <p:cNvSpPr>
            <a:spLocks noChangeShapeType="1"/>
          </p:cNvSpPr>
          <p:nvPr/>
        </p:nvSpPr>
        <p:spPr bwMode="auto">
          <a:xfrm>
            <a:off x="2173288" y="2209800"/>
            <a:ext cx="0" cy="831850"/>
          </a:xfrm>
          <a:prstGeom prst="line">
            <a:avLst/>
          </a:prstGeom>
          <a:noFill/>
          <a:ln w="57150">
            <a:solidFill>
              <a:srgbClr val="DD011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9564" name="Line 12"/>
          <p:cNvSpPr>
            <a:spLocks noChangeShapeType="1"/>
          </p:cNvSpPr>
          <p:nvPr/>
        </p:nvSpPr>
        <p:spPr bwMode="auto">
          <a:xfrm>
            <a:off x="3095625" y="2987675"/>
            <a:ext cx="0" cy="831850"/>
          </a:xfrm>
          <a:prstGeom prst="line">
            <a:avLst/>
          </a:prstGeom>
          <a:noFill/>
          <a:ln w="57150">
            <a:solidFill>
              <a:srgbClr val="DD011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9565" name="Line 13"/>
          <p:cNvSpPr>
            <a:spLocks noChangeShapeType="1"/>
          </p:cNvSpPr>
          <p:nvPr/>
        </p:nvSpPr>
        <p:spPr bwMode="auto">
          <a:xfrm>
            <a:off x="3919538" y="3863975"/>
            <a:ext cx="0" cy="831850"/>
          </a:xfrm>
          <a:prstGeom prst="line">
            <a:avLst/>
          </a:prstGeom>
          <a:noFill/>
          <a:ln w="57150">
            <a:solidFill>
              <a:srgbClr val="DD011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9566" name="Line 14"/>
          <p:cNvSpPr>
            <a:spLocks noChangeShapeType="1"/>
          </p:cNvSpPr>
          <p:nvPr/>
        </p:nvSpPr>
        <p:spPr bwMode="auto">
          <a:xfrm>
            <a:off x="4714875" y="4714875"/>
            <a:ext cx="0" cy="831850"/>
          </a:xfrm>
          <a:prstGeom prst="line">
            <a:avLst/>
          </a:prstGeom>
          <a:noFill/>
          <a:ln w="57150">
            <a:solidFill>
              <a:srgbClr val="DD011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85800" y="5638800"/>
            <a:ext cx="49530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6" name="Rectangle 15"/>
          <p:cNvSpPr/>
          <p:nvPr/>
        </p:nvSpPr>
        <p:spPr>
          <a:xfrm>
            <a:off x="609600" y="4800600"/>
            <a:ext cx="49530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7" name="Rectangle 16"/>
          <p:cNvSpPr/>
          <p:nvPr/>
        </p:nvSpPr>
        <p:spPr>
          <a:xfrm>
            <a:off x="457200" y="3962400"/>
            <a:ext cx="4953000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8" name="Rectangle 17"/>
          <p:cNvSpPr/>
          <p:nvPr/>
        </p:nvSpPr>
        <p:spPr>
          <a:xfrm>
            <a:off x="609600" y="3124200"/>
            <a:ext cx="495300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9" name="Rectangle 18"/>
          <p:cNvSpPr/>
          <p:nvPr/>
        </p:nvSpPr>
        <p:spPr>
          <a:xfrm>
            <a:off x="533400" y="2286000"/>
            <a:ext cx="4953000" cy="99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410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</p:spPr>
        <p:txBody>
          <a:bodyPr/>
          <a:lstStyle/>
          <a:p>
            <a:fld id="{3D136234-D8CE-4587-A194-B7A0BD6CF3C5}" type="slidenum">
              <a:rPr lang="en-US"/>
              <a:pPr/>
              <a:t>27</a:t>
            </a:fld>
            <a:endParaRPr lang="en-US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467600" cy="1143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INSERTION-SORT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4438"/>
            <a:ext cx="9144000" cy="5411787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FontTx/>
              <a:buNone/>
            </a:pPr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INSERTION-SORT</a:t>
            </a:r>
            <a:r>
              <a:rPr lang="en-US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tx1"/>
                </a:solidFill>
              </a:rPr>
              <a:t>	for </a:t>
            </a:r>
            <a:r>
              <a:rPr lang="en-US" sz="2800" dirty="0">
                <a:solidFill>
                  <a:schemeClr val="tx1"/>
                </a:solidFill>
                <a:latin typeface="Comic Sans MS" pitchFamily="66" charset="0"/>
              </a:rPr>
              <a:t>j ← 2</a:t>
            </a:r>
            <a:r>
              <a:rPr lang="en-US" sz="2800" dirty="0">
                <a:solidFill>
                  <a:schemeClr val="tx1"/>
                </a:solidFill>
              </a:rPr>
              <a:t> to </a:t>
            </a:r>
            <a:r>
              <a:rPr lang="en-US" sz="2800" b="1" dirty="0">
                <a:solidFill>
                  <a:schemeClr val="tx1"/>
                </a:solidFill>
              </a:rPr>
              <a:t>n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tx1"/>
                </a:solidFill>
              </a:rPr>
              <a:t>		</a:t>
            </a:r>
            <a:r>
              <a:rPr lang="en-US" sz="2800" dirty="0">
                <a:solidFill>
                  <a:schemeClr val="tx1"/>
                </a:solidFill>
                <a:latin typeface="Comic Sans MS" pitchFamily="66" charset="0"/>
              </a:rPr>
              <a:t>key</a:t>
            </a:r>
            <a:r>
              <a:rPr lang="en-US" sz="2800" dirty="0">
                <a:solidFill>
                  <a:schemeClr val="tx1"/>
                </a:solidFill>
              </a:rPr>
              <a:t> ← </a:t>
            </a:r>
            <a:r>
              <a:rPr lang="en-US" sz="2800" dirty="0">
                <a:solidFill>
                  <a:schemeClr val="tx1"/>
                </a:solidFill>
                <a:latin typeface="Comic Sans MS" pitchFamily="66" charset="0"/>
              </a:rPr>
              <a:t>A[ j ]	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Comic Sans MS" pitchFamily="66" charset="0"/>
              </a:rPr>
              <a:t>		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//Insert 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A[ j ]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into the sorted sequence 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A[1 . . j-1]</a:t>
            </a:r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Tx/>
              <a:buNone/>
            </a:pPr>
            <a:r>
              <a:rPr lang="en-US" sz="2800" dirty="0">
                <a:solidFill>
                  <a:schemeClr val="tx1"/>
                </a:solidFill>
              </a:rPr>
              <a:t>		 </a:t>
            </a:r>
            <a:r>
              <a:rPr lang="en-US" sz="2800" dirty="0" err="1">
                <a:solidFill>
                  <a:schemeClr val="tx1"/>
                </a:solidFill>
                <a:latin typeface="Comic Sans MS" pitchFamily="66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Comic Sans MS" pitchFamily="66" charset="0"/>
              </a:rPr>
              <a:t> ← j - 1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tx1"/>
                </a:solidFill>
              </a:rPr>
              <a:t>		 while </a:t>
            </a:r>
            <a:r>
              <a:rPr lang="en-US" sz="2800" dirty="0">
                <a:solidFill>
                  <a:schemeClr val="tx1"/>
                </a:solidFill>
                <a:latin typeface="Comic Sans MS" pitchFamily="66" charset="0"/>
              </a:rPr>
              <a:t>i &gt; 0</a:t>
            </a:r>
            <a:r>
              <a:rPr lang="en-US" sz="2800" dirty="0">
                <a:solidFill>
                  <a:schemeClr val="tx1"/>
                </a:solidFill>
              </a:rPr>
              <a:t> and </a:t>
            </a:r>
            <a:r>
              <a:rPr lang="en-US" sz="2800" dirty="0">
                <a:solidFill>
                  <a:schemeClr val="tx1"/>
                </a:solidFill>
                <a:latin typeface="Comic Sans MS" pitchFamily="66" charset="0"/>
              </a:rPr>
              <a:t>A[i] &gt; key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tx1"/>
                </a:solidFill>
              </a:rPr>
              <a:t>			   </a:t>
            </a:r>
            <a:r>
              <a:rPr lang="en-US" sz="2800" dirty="0">
                <a:solidFill>
                  <a:schemeClr val="tx1"/>
                </a:solidFill>
                <a:latin typeface="Comic Sans MS" pitchFamily="66" charset="0"/>
              </a:rPr>
              <a:t>A[</a:t>
            </a:r>
            <a:r>
              <a:rPr lang="en-US" sz="2800" dirty="0" err="1">
                <a:solidFill>
                  <a:schemeClr val="tx1"/>
                </a:solidFill>
                <a:latin typeface="Comic Sans MS" pitchFamily="66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Comic Sans MS" pitchFamily="66" charset="0"/>
              </a:rPr>
              <a:t> + 1] ← A[i]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tx1"/>
                </a:solidFill>
              </a:rPr>
              <a:t>			   </a:t>
            </a:r>
            <a:r>
              <a:rPr lang="en-US" sz="2800" dirty="0" err="1">
                <a:solidFill>
                  <a:schemeClr val="tx1"/>
                </a:solidFill>
                <a:latin typeface="Comic Sans MS" pitchFamily="66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Comic Sans MS" pitchFamily="66" charset="0"/>
              </a:rPr>
              <a:t> ← i – 1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tx1"/>
                </a:solidFill>
              </a:rPr>
              <a:t>		  </a:t>
            </a:r>
            <a:r>
              <a:rPr lang="en-US" sz="2800" dirty="0">
                <a:solidFill>
                  <a:schemeClr val="tx1"/>
                </a:solidFill>
                <a:latin typeface="Comic Sans MS" pitchFamily="66" charset="0"/>
              </a:rPr>
              <a:t>A[</a:t>
            </a:r>
            <a:r>
              <a:rPr lang="en-US" sz="2800" dirty="0" err="1">
                <a:solidFill>
                  <a:schemeClr val="tx1"/>
                </a:solidFill>
                <a:latin typeface="Comic Sans MS" pitchFamily="66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Comic Sans MS" pitchFamily="66" charset="0"/>
              </a:rPr>
              <a:t> + 1] ← key</a:t>
            </a:r>
          </a:p>
        </p:txBody>
      </p:sp>
      <p:grpSp>
        <p:nvGrpSpPr>
          <p:cNvPr id="212996" name="Group 4"/>
          <p:cNvGrpSpPr>
            <a:grpSpLocks/>
          </p:cNvGrpSpPr>
          <p:nvPr/>
        </p:nvGrpSpPr>
        <p:grpSpPr bwMode="auto">
          <a:xfrm>
            <a:off x="4267200" y="228600"/>
            <a:ext cx="4495800" cy="990600"/>
            <a:chOff x="528" y="1392"/>
            <a:chExt cx="2688" cy="480"/>
          </a:xfrm>
        </p:grpSpPr>
        <p:grpSp>
          <p:nvGrpSpPr>
            <p:cNvPr id="212997" name="Group 5"/>
            <p:cNvGrpSpPr>
              <a:grpSpLocks/>
            </p:cNvGrpSpPr>
            <p:nvPr/>
          </p:nvGrpSpPr>
          <p:grpSpPr bwMode="auto">
            <a:xfrm>
              <a:off x="528" y="1584"/>
              <a:ext cx="2688" cy="288"/>
              <a:chOff x="528" y="1440"/>
              <a:chExt cx="2688" cy="288"/>
            </a:xfrm>
          </p:grpSpPr>
          <p:sp>
            <p:nvSpPr>
              <p:cNvPr id="212998" name="Rectangle 6"/>
              <p:cNvSpPr>
                <a:spLocks noChangeArrowheads="1"/>
              </p:cNvSpPr>
              <p:nvPr/>
            </p:nvSpPr>
            <p:spPr bwMode="auto">
              <a:xfrm>
                <a:off x="2880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200" b="1">
                    <a:solidFill>
                      <a:schemeClr val="accent2"/>
                    </a:solidFill>
                  </a:rPr>
                  <a:t>a</a:t>
                </a:r>
                <a:r>
                  <a:rPr lang="en-US" sz="2200" b="1" baseline="-25000">
                    <a:solidFill>
                      <a:schemeClr val="accent2"/>
                    </a:solidFill>
                  </a:rPr>
                  <a:t>8</a:t>
                </a:r>
              </a:p>
            </p:txBody>
          </p:sp>
          <p:sp>
            <p:nvSpPr>
              <p:cNvPr id="212999" name="Rectangle 7"/>
              <p:cNvSpPr>
                <a:spLocks noChangeArrowheads="1"/>
              </p:cNvSpPr>
              <p:nvPr/>
            </p:nvSpPr>
            <p:spPr bwMode="auto">
              <a:xfrm>
                <a:off x="2544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200" b="1">
                    <a:solidFill>
                      <a:schemeClr val="accent2"/>
                    </a:solidFill>
                  </a:rPr>
                  <a:t>a</a:t>
                </a:r>
                <a:r>
                  <a:rPr lang="en-US" sz="2200" b="1" baseline="-25000">
                    <a:solidFill>
                      <a:schemeClr val="accent2"/>
                    </a:solidFill>
                  </a:rPr>
                  <a:t>7</a:t>
                </a:r>
              </a:p>
            </p:txBody>
          </p:sp>
          <p:sp>
            <p:nvSpPr>
              <p:cNvPr id="213000" name="Rectangle 8"/>
              <p:cNvSpPr>
                <a:spLocks noChangeArrowheads="1"/>
              </p:cNvSpPr>
              <p:nvPr/>
            </p:nvSpPr>
            <p:spPr bwMode="auto">
              <a:xfrm>
                <a:off x="2208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200" b="1" dirty="0">
                    <a:solidFill>
                      <a:schemeClr val="accent2"/>
                    </a:solidFill>
                  </a:rPr>
                  <a:t>a</a:t>
                </a:r>
                <a:r>
                  <a:rPr lang="en-US" sz="2200" b="1" baseline="-25000" dirty="0">
                    <a:solidFill>
                      <a:schemeClr val="accent2"/>
                    </a:solidFill>
                  </a:rPr>
                  <a:t>6</a:t>
                </a:r>
              </a:p>
            </p:txBody>
          </p:sp>
          <p:sp>
            <p:nvSpPr>
              <p:cNvPr id="213001" name="Rectangle 9"/>
              <p:cNvSpPr>
                <a:spLocks noChangeArrowheads="1"/>
              </p:cNvSpPr>
              <p:nvPr/>
            </p:nvSpPr>
            <p:spPr bwMode="auto">
              <a:xfrm>
                <a:off x="1872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200" b="1" dirty="0">
                    <a:solidFill>
                      <a:schemeClr val="accent2"/>
                    </a:solidFill>
                  </a:rPr>
                  <a:t>a</a:t>
                </a:r>
                <a:r>
                  <a:rPr lang="en-US" sz="2200" b="1" baseline="-25000" dirty="0">
                    <a:solidFill>
                      <a:schemeClr val="accent2"/>
                    </a:solidFill>
                  </a:rPr>
                  <a:t>5</a:t>
                </a:r>
              </a:p>
            </p:txBody>
          </p:sp>
          <p:sp>
            <p:nvSpPr>
              <p:cNvPr id="213002" name="Rectangle 10"/>
              <p:cNvSpPr>
                <a:spLocks noChangeArrowheads="1"/>
              </p:cNvSpPr>
              <p:nvPr/>
            </p:nvSpPr>
            <p:spPr bwMode="auto">
              <a:xfrm>
                <a:off x="1536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200" b="1">
                    <a:solidFill>
                      <a:schemeClr val="accent2"/>
                    </a:solidFill>
                  </a:rPr>
                  <a:t>a</a:t>
                </a:r>
                <a:r>
                  <a:rPr lang="en-US" sz="2200" b="1" baseline="-25000">
                    <a:solidFill>
                      <a:schemeClr val="accent2"/>
                    </a:solidFill>
                  </a:rPr>
                  <a:t>4</a:t>
                </a:r>
              </a:p>
            </p:txBody>
          </p:sp>
          <p:sp>
            <p:nvSpPr>
              <p:cNvPr id="213003" name="Rectangle 11"/>
              <p:cNvSpPr>
                <a:spLocks noChangeArrowheads="1"/>
              </p:cNvSpPr>
              <p:nvPr/>
            </p:nvSpPr>
            <p:spPr bwMode="auto">
              <a:xfrm>
                <a:off x="1200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200" b="1">
                    <a:solidFill>
                      <a:schemeClr val="accent2"/>
                    </a:solidFill>
                  </a:rPr>
                  <a:t>a</a:t>
                </a:r>
                <a:r>
                  <a:rPr lang="en-US" sz="2200" b="1" baseline="-25000">
                    <a:solidFill>
                      <a:schemeClr val="accent2"/>
                    </a:solidFill>
                  </a:rPr>
                  <a:t>3</a:t>
                </a:r>
              </a:p>
            </p:txBody>
          </p:sp>
          <p:sp>
            <p:nvSpPr>
              <p:cNvPr id="213004" name="Rectangle 12"/>
              <p:cNvSpPr>
                <a:spLocks noChangeArrowheads="1"/>
              </p:cNvSpPr>
              <p:nvPr/>
            </p:nvSpPr>
            <p:spPr bwMode="auto">
              <a:xfrm>
                <a:off x="864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200" b="1">
                    <a:solidFill>
                      <a:schemeClr val="accent2"/>
                    </a:solidFill>
                  </a:rPr>
                  <a:t>a</a:t>
                </a:r>
                <a:r>
                  <a:rPr lang="en-US" sz="2200" b="1" baseline="-25000">
                    <a:solidFill>
                      <a:schemeClr val="accent2"/>
                    </a:solidFill>
                  </a:rPr>
                  <a:t>2</a:t>
                </a:r>
              </a:p>
            </p:txBody>
          </p:sp>
          <p:sp>
            <p:nvSpPr>
              <p:cNvPr id="213005" name="Rectangle 13"/>
              <p:cNvSpPr>
                <a:spLocks noChangeArrowheads="1"/>
              </p:cNvSpPr>
              <p:nvPr/>
            </p:nvSpPr>
            <p:spPr bwMode="auto">
              <a:xfrm>
                <a:off x="528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sz="2200" b="1" dirty="0">
                    <a:solidFill>
                      <a:schemeClr val="accent2"/>
                    </a:solidFill>
                  </a:rPr>
                  <a:t>a</a:t>
                </a:r>
                <a:r>
                  <a:rPr lang="en-US" sz="2200" b="1" baseline="-25000" dirty="0">
                    <a:solidFill>
                      <a:schemeClr val="accent2"/>
                    </a:solidFill>
                  </a:rPr>
                  <a:t>1</a:t>
                </a:r>
              </a:p>
            </p:txBody>
          </p:sp>
          <p:sp>
            <p:nvSpPr>
              <p:cNvPr id="213006" name="Line 14"/>
              <p:cNvSpPr>
                <a:spLocks noChangeShapeType="1"/>
              </p:cNvSpPr>
              <p:nvPr/>
            </p:nvSpPr>
            <p:spPr bwMode="auto">
              <a:xfrm>
                <a:off x="528" y="1440"/>
                <a:ext cx="268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 sz="2200" b="1"/>
              </a:p>
            </p:txBody>
          </p:sp>
          <p:sp>
            <p:nvSpPr>
              <p:cNvPr id="213007" name="Line 15"/>
              <p:cNvSpPr>
                <a:spLocks noChangeShapeType="1"/>
              </p:cNvSpPr>
              <p:nvPr/>
            </p:nvSpPr>
            <p:spPr bwMode="auto">
              <a:xfrm>
                <a:off x="528" y="1728"/>
                <a:ext cx="268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 sz="2200" b="1"/>
              </a:p>
            </p:txBody>
          </p:sp>
          <p:sp>
            <p:nvSpPr>
              <p:cNvPr id="213008" name="Line 16"/>
              <p:cNvSpPr>
                <a:spLocks noChangeShapeType="1"/>
              </p:cNvSpPr>
              <p:nvPr/>
            </p:nvSpPr>
            <p:spPr bwMode="auto">
              <a:xfrm>
                <a:off x="528" y="1440"/>
                <a:ext cx="0" cy="2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 sz="2200" b="1"/>
              </a:p>
            </p:txBody>
          </p:sp>
          <p:sp>
            <p:nvSpPr>
              <p:cNvPr id="213009" name="Line 17"/>
              <p:cNvSpPr>
                <a:spLocks noChangeShapeType="1"/>
              </p:cNvSpPr>
              <p:nvPr/>
            </p:nvSpPr>
            <p:spPr bwMode="auto">
              <a:xfrm>
                <a:off x="864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 sz="2200" b="1"/>
              </a:p>
            </p:txBody>
          </p:sp>
          <p:sp>
            <p:nvSpPr>
              <p:cNvPr id="213010" name="Line 18"/>
              <p:cNvSpPr>
                <a:spLocks noChangeShapeType="1"/>
              </p:cNvSpPr>
              <p:nvPr/>
            </p:nvSpPr>
            <p:spPr bwMode="auto">
              <a:xfrm>
                <a:off x="1200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 sz="2200" b="1"/>
              </a:p>
            </p:txBody>
          </p:sp>
          <p:sp>
            <p:nvSpPr>
              <p:cNvPr id="213011" name="Line 19"/>
              <p:cNvSpPr>
                <a:spLocks noChangeShapeType="1"/>
              </p:cNvSpPr>
              <p:nvPr/>
            </p:nvSpPr>
            <p:spPr bwMode="auto">
              <a:xfrm>
                <a:off x="1536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 sz="2200" b="1"/>
              </a:p>
            </p:txBody>
          </p:sp>
          <p:sp>
            <p:nvSpPr>
              <p:cNvPr id="213012" name="Line 20"/>
              <p:cNvSpPr>
                <a:spLocks noChangeShapeType="1"/>
              </p:cNvSpPr>
              <p:nvPr/>
            </p:nvSpPr>
            <p:spPr bwMode="auto">
              <a:xfrm>
                <a:off x="1872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 sz="2200" b="1"/>
              </a:p>
            </p:txBody>
          </p:sp>
          <p:sp>
            <p:nvSpPr>
              <p:cNvPr id="213013" name="Line 21"/>
              <p:cNvSpPr>
                <a:spLocks noChangeShapeType="1"/>
              </p:cNvSpPr>
              <p:nvPr/>
            </p:nvSpPr>
            <p:spPr bwMode="auto">
              <a:xfrm>
                <a:off x="2208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 sz="2200" b="1"/>
              </a:p>
            </p:txBody>
          </p:sp>
          <p:sp>
            <p:nvSpPr>
              <p:cNvPr id="213014" name="Line 22"/>
              <p:cNvSpPr>
                <a:spLocks noChangeShapeType="1"/>
              </p:cNvSpPr>
              <p:nvPr/>
            </p:nvSpPr>
            <p:spPr bwMode="auto">
              <a:xfrm>
                <a:off x="2544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 sz="2200" b="1"/>
              </a:p>
            </p:txBody>
          </p:sp>
          <p:sp>
            <p:nvSpPr>
              <p:cNvPr id="213015" name="Line 23"/>
              <p:cNvSpPr>
                <a:spLocks noChangeShapeType="1"/>
              </p:cNvSpPr>
              <p:nvPr/>
            </p:nvSpPr>
            <p:spPr bwMode="auto">
              <a:xfrm>
                <a:off x="2880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 sz="2200" b="1"/>
              </a:p>
            </p:txBody>
          </p:sp>
          <p:sp>
            <p:nvSpPr>
              <p:cNvPr id="213016" name="Line 24"/>
              <p:cNvSpPr>
                <a:spLocks noChangeShapeType="1"/>
              </p:cNvSpPr>
              <p:nvPr/>
            </p:nvSpPr>
            <p:spPr bwMode="auto">
              <a:xfrm>
                <a:off x="3216" y="1440"/>
                <a:ext cx="0" cy="2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 sz="2200" b="1"/>
              </a:p>
            </p:txBody>
          </p:sp>
        </p:grpSp>
        <p:sp>
          <p:nvSpPr>
            <p:cNvPr id="213017" name="Text Box 25"/>
            <p:cNvSpPr txBox="1">
              <a:spLocks noChangeArrowheads="1"/>
            </p:cNvSpPr>
            <p:nvPr/>
          </p:nvSpPr>
          <p:spPr bwMode="auto">
            <a:xfrm>
              <a:off x="624" y="1392"/>
              <a:ext cx="144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200" b="1"/>
                <a:t>1</a:t>
              </a:r>
            </a:p>
          </p:txBody>
        </p:sp>
        <p:sp>
          <p:nvSpPr>
            <p:cNvPr id="213018" name="Text Box 26"/>
            <p:cNvSpPr txBox="1">
              <a:spLocks noChangeArrowheads="1"/>
            </p:cNvSpPr>
            <p:nvPr/>
          </p:nvSpPr>
          <p:spPr bwMode="auto">
            <a:xfrm>
              <a:off x="960" y="1392"/>
              <a:ext cx="144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200" b="1"/>
                <a:t>2</a:t>
              </a:r>
            </a:p>
          </p:txBody>
        </p:sp>
        <p:sp>
          <p:nvSpPr>
            <p:cNvPr id="213019" name="Text Box 27"/>
            <p:cNvSpPr txBox="1">
              <a:spLocks noChangeArrowheads="1"/>
            </p:cNvSpPr>
            <p:nvPr/>
          </p:nvSpPr>
          <p:spPr bwMode="auto">
            <a:xfrm>
              <a:off x="1296" y="1392"/>
              <a:ext cx="144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200" b="1"/>
                <a:t>3</a:t>
              </a:r>
            </a:p>
          </p:txBody>
        </p:sp>
        <p:sp>
          <p:nvSpPr>
            <p:cNvPr id="213020" name="Text Box 28"/>
            <p:cNvSpPr txBox="1">
              <a:spLocks noChangeArrowheads="1"/>
            </p:cNvSpPr>
            <p:nvPr/>
          </p:nvSpPr>
          <p:spPr bwMode="auto">
            <a:xfrm>
              <a:off x="1632" y="1392"/>
              <a:ext cx="144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200" b="1"/>
                <a:t>4</a:t>
              </a:r>
            </a:p>
          </p:txBody>
        </p:sp>
        <p:sp>
          <p:nvSpPr>
            <p:cNvPr id="213021" name="Text Box 29"/>
            <p:cNvSpPr txBox="1">
              <a:spLocks noChangeArrowheads="1"/>
            </p:cNvSpPr>
            <p:nvPr/>
          </p:nvSpPr>
          <p:spPr bwMode="auto">
            <a:xfrm>
              <a:off x="1968" y="1392"/>
              <a:ext cx="144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200" b="1"/>
                <a:t>5</a:t>
              </a:r>
            </a:p>
          </p:txBody>
        </p:sp>
        <p:sp>
          <p:nvSpPr>
            <p:cNvPr id="213022" name="Text Box 30"/>
            <p:cNvSpPr txBox="1">
              <a:spLocks noChangeArrowheads="1"/>
            </p:cNvSpPr>
            <p:nvPr/>
          </p:nvSpPr>
          <p:spPr bwMode="auto">
            <a:xfrm>
              <a:off x="2304" y="1392"/>
              <a:ext cx="144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200" b="1"/>
                <a:t>6</a:t>
              </a:r>
            </a:p>
          </p:txBody>
        </p:sp>
        <p:sp>
          <p:nvSpPr>
            <p:cNvPr id="213023" name="Text Box 31"/>
            <p:cNvSpPr txBox="1">
              <a:spLocks noChangeArrowheads="1"/>
            </p:cNvSpPr>
            <p:nvPr/>
          </p:nvSpPr>
          <p:spPr bwMode="auto">
            <a:xfrm>
              <a:off x="2640" y="1392"/>
              <a:ext cx="144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200" b="1"/>
                <a:t>7</a:t>
              </a:r>
            </a:p>
          </p:txBody>
        </p:sp>
        <p:sp>
          <p:nvSpPr>
            <p:cNvPr id="213024" name="Text Box 32"/>
            <p:cNvSpPr txBox="1">
              <a:spLocks noChangeArrowheads="1"/>
            </p:cNvSpPr>
            <p:nvPr/>
          </p:nvSpPr>
          <p:spPr bwMode="auto">
            <a:xfrm>
              <a:off x="2976" y="1392"/>
              <a:ext cx="144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200" b="1"/>
                <a:t>8</a:t>
              </a:r>
            </a:p>
          </p:txBody>
        </p:sp>
      </p:grpSp>
      <p:grpSp>
        <p:nvGrpSpPr>
          <p:cNvPr id="213025" name="Group 33"/>
          <p:cNvGrpSpPr>
            <a:grpSpLocks/>
          </p:cNvGrpSpPr>
          <p:nvPr/>
        </p:nvGrpSpPr>
        <p:grpSpPr bwMode="auto">
          <a:xfrm>
            <a:off x="5057778" y="1152526"/>
            <a:ext cx="1243013" cy="752474"/>
            <a:chOff x="3936" y="2448"/>
            <a:chExt cx="783" cy="474"/>
          </a:xfrm>
        </p:grpSpPr>
        <p:sp>
          <p:nvSpPr>
            <p:cNvPr id="213026" name="Text Box 34"/>
            <p:cNvSpPr txBox="1">
              <a:spLocks noChangeArrowheads="1"/>
            </p:cNvSpPr>
            <p:nvPr/>
          </p:nvSpPr>
          <p:spPr bwMode="auto">
            <a:xfrm>
              <a:off x="4224" y="2592"/>
              <a:ext cx="49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key</a:t>
              </a:r>
            </a:p>
          </p:txBody>
        </p:sp>
        <p:sp>
          <p:nvSpPr>
            <p:cNvPr id="213027" name="Line 35"/>
            <p:cNvSpPr>
              <a:spLocks noChangeShapeType="1"/>
            </p:cNvSpPr>
            <p:nvPr/>
          </p:nvSpPr>
          <p:spPr bwMode="auto">
            <a:xfrm flipH="1">
              <a:off x="3936" y="273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3028" name="Line 36"/>
            <p:cNvSpPr>
              <a:spLocks noChangeShapeType="1"/>
            </p:cNvSpPr>
            <p:nvPr/>
          </p:nvSpPr>
          <p:spPr bwMode="auto">
            <a:xfrm flipV="1">
              <a:off x="3936" y="244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9203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304800"/>
            <a:ext cx="7467600" cy="1143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of Insertion Sort</a:t>
            </a:r>
          </a:p>
        </p:txBody>
      </p:sp>
      <p:sp>
        <p:nvSpPr>
          <p:cNvPr id="22016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6629400" cy="4648199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FontTx/>
              <a:buNone/>
            </a:pP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INSERTION-SORT</a:t>
            </a:r>
            <a:r>
              <a:rPr lang="en-US" sz="2800" b="1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(A)</a:t>
            </a:r>
          </a:p>
          <a:p>
            <a:pPr>
              <a:buFontTx/>
              <a:buNone/>
            </a:pP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for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j ← 2 </a:t>
            </a: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to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 do</a:t>
            </a:r>
          </a:p>
          <a:p>
            <a:pPr>
              <a:buFontTx/>
              <a:buNone/>
            </a:pP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  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key ← A[ j ] 		     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   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← j - 1</a:t>
            </a:r>
          </a:p>
          <a:p>
            <a:pPr>
              <a:buFontTx/>
              <a:buNone/>
            </a:pP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     while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 &gt; 0 and A[i] &gt; key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	</a:t>
            </a: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do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A[i + 1] ← A[i]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	      i ← i – 1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     A[i + 1] ← key</a:t>
            </a:r>
          </a:p>
        </p:txBody>
      </p:sp>
      <p:sp>
        <p:nvSpPr>
          <p:cNvPr id="220170" name="Text Box 10"/>
          <p:cNvSpPr txBox="1">
            <a:spLocks noChangeArrowheads="1"/>
          </p:cNvSpPr>
          <p:nvPr/>
        </p:nvSpPr>
        <p:spPr bwMode="auto">
          <a:xfrm>
            <a:off x="228600" y="5715000"/>
            <a:ext cx="8382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Assume </a:t>
            </a:r>
            <a:r>
              <a:rPr lang="en-US" sz="3200" b="1" dirty="0" err="1">
                <a:solidFill>
                  <a:srgbClr val="C00000"/>
                </a:solidFill>
              </a:rPr>
              <a:t>t</a:t>
            </a:r>
            <a:r>
              <a:rPr lang="en-US" sz="3200" b="1" baseline="-25000" dirty="0" err="1">
                <a:solidFill>
                  <a:srgbClr val="C00000"/>
                </a:solidFill>
              </a:rPr>
              <a:t>j</a:t>
            </a:r>
            <a:r>
              <a:rPr lang="en-US" sz="3200" b="1" baseline="-25000" dirty="0">
                <a:solidFill>
                  <a:srgbClr val="C0000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is # of times the while statement is executed at iteration </a:t>
            </a:r>
            <a:r>
              <a:rPr lang="en-US" sz="2800" b="1" dirty="0">
                <a:solidFill>
                  <a:srgbClr val="C00000"/>
                </a:solidFill>
              </a:rPr>
              <a:t>j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53200" y="5562600"/>
            <a:ext cx="3657600" cy="4572000"/>
          </a:xfrm>
        </p:spPr>
        <p:txBody>
          <a:bodyPr/>
          <a:lstStyle/>
          <a:p>
            <a:endParaRPr lang="en-US" dirty="0"/>
          </a:p>
          <a:p>
            <a:endParaRPr lang="ar-EG" dirty="0"/>
          </a:p>
        </p:txBody>
      </p:sp>
      <p:sp>
        <p:nvSpPr>
          <p:cNvPr id="12" name="Rounded Rectangle 11"/>
          <p:cNvSpPr/>
          <p:nvPr/>
        </p:nvSpPr>
        <p:spPr>
          <a:xfrm>
            <a:off x="2209800" y="3200400"/>
            <a:ext cx="4495800" cy="17526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3" name="Oval Callout 12"/>
          <p:cNvSpPr/>
          <p:nvPr/>
        </p:nvSpPr>
        <p:spPr>
          <a:xfrm>
            <a:off x="4267200" y="1752600"/>
            <a:ext cx="4876800" cy="990600"/>
          </a:xfrm>
          <a:prstGeom prst="wedgeEllipseCallout">
            <a:avLst>
              <a:gd name="adj1" fmla="val -37874"/>
              <a:gd name="adj2" fmla="val 9849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loop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 operation </a:t>
            </a:r>
            <a:endParaRPr lang="ar-EG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687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0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70" grpId="0"/>
      <p:bldP spid="12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</p:spPr>
        <p:txBody>
          <a:bodyPr/>
          <a:lstStyle/>
          <a:p>
            <a:fld id="{94017EB6-7D4D-4F5E-835B-6BF3446128D8}" type="slidenum">
              <a:rPr lang="en-US"/>
              <a:pPr/>
              <a:t>29</a:t>
            </a:fld>
            <a:endParaRPr lang="en-US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381000"/>
            <a:ext cx="7467600" cy="1143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Best Case Analysis</a:t>
            </a:r>
          </a:p>
        </p:txBody>
      </p:sp>
      <p:graphicFrame>
        <p:nvGraphicFramePr>
          <p:cNvPr id="222213" name="Object 5"/>
          <p:cNvGraphicFramePr>
            <a:graphicFrameLocks noChangeAspect="1"/>
          </p:cNvGraphicFramePr>
          <p:nvPr/>
        </p:nvGraphicFramePr>
        <p:xfrm>
          <a:off x="1828800" y="3851090"/>
          <a:ext cx="2168526" cy="1330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23600" imgH="444240" progId="Equation.3">
                  <p:embed/>
                </p:oleObj>
              </mc:Choice>
              <mc:Fallback>
                <p:oleObj name="Equation" r:id="rId3" imgW="723600" imgH="444240" progId="Equation.3">
                  <p:embed/>
                  <p:pic>
                    <p:nvPicPr>
                      <p:cNvPr id="2222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51090"/>
                        <a:ext cx="2168526" cy="13305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4953000" y="990600"/>
            <a:ext cx="4191000" cy="1752600"/>
            <a:chOff x="152400" y="990600"/>
            <a:chExt cx="4191000" cy="1752600"/>
          </a:xfrm>
        </p:grpSpPr>
        <p:sp>
          <p:nvSpPr>
            <p:cNvPr id="7" name="Rectangle 8"/>
            <p:cNvSpPr txBox="1">
              <a:spLocks noChangeArrowheads="1"/>
            </p:cNvSpPr>
            <p:nvPr/>
          </p:nvSpPr>
          <p:spPr>
            <a:xfrm>
              <a:off x="152400" y="990600"/>
              <a:ext cx="4191000" cy="175260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while 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i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 &gt; 0 and A[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i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] &gt; key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	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A[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i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 + 1] ← A[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i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]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	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i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 ← 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i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 – 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52400" y="990600"/>
              <a:ext cx="4191000" cy="1752600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239" y="909638"/>
            <a:ext cx="5287961" cy="564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 array is already sorted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  <a:latin typeface="Segoe"/>
              </a:rPr>
              <a:t>A[i] ≤ key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upon the first 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time the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while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loop test is run </a:t>
            </a:r>
          </a:p>
          <a:p>
            <a:pPr lvl="1">
              <a:lnSpc>
                <a:spcPct val="150000"/>
              </a:lnSpc>
            </a:pP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</a:t>
            </a:r>
            <a:r>
              <a:rPr lang="en-US" sz="28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j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= 1</a:t>
            </a:r>
          </a:p>
          <a:p>
            <a:pPr marL="0" lvl="1" indent="80963"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Then:</a:t>
            </a:r>
          </a:p>
          <a:p>
            <a:pPr>
              <a:lnSpc>
                <a:spcPct val="150000"/>
              </a:lnSpc>
            </a:pPr>
            <a:endParaRPr 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Best case of T(n) </a:t>
            </a:r>
            <a:r>
              <a:rPr lang="en-US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 (n)</a:t>
            </a:r>
            <a:endParaRPr lang="en-US" sz="3200" b="1" baseline="30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/>
            </a:endParaRPr>
          </a:p>
        </p:txBody>
      </p:sp>
    </p:spTree>
    <p:extLst>
      <p:ext uri="{BB962C8B-B14F-4D97-AF65-F5344CB8AC3E}">
        <p14:creationId xmlns:p14="http://schemas.microsoft.com/office/powerpoint/2010/main" val="351226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239" y="909638"/>
            <a:ext cx="8640761" cy="564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 array is reversed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Always </a:t>
            </a:r>
            <a:r>
              <a:rPr lang="en-US" sz="2800" dirty="0">
                <a:solidFill>
                  <a:srgbClr val="C00000"/>
                </a:solidFill>
                <a:latin typeface="Segoe"/>
              </a:rPr>
              <a:t>A[</a:t>
            </a:r>
            <a:r>
              <a:rPr lang="en-US" sz="2800" dirty="0" err="1">
                <a:solidFill>
                  <a:srgbClr val="C00000"/>
                </a:solidFill>
                <a:latin typeface="Segoe"/>
              </a:rPr>
              <a:t>i</a:t>
            </a:r>
            <a:r>
              <a:rPr lang="en-US" sz="2800" dirty="0">
                <a:solidFill>
                  <a:srgbClr val="C00000"/>
                </a:solidFill>
                <a:latin typeface="Segoe"/>
              </a:rPr>
              <a:t>] &gt; key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Have to compare key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with all elements to the left of the j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-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position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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compare with j-1 elements 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  <a:sym typeface="Symbol" pitchFamily="18" charset="2"/>
              </a:rPr>
              <a:t>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t</a:t>
            </a:r>
            <a:r>
              <a:rPr lang="en-US" sz="2800" b="1" baseline="-25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j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 = j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 marL="0" lvl="1" indent="80963"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Then: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</p:spPr>
        <p:txBody>
          <a:bodyPr/>
          <a:lstStyle/>
          <a:p>
            <a:fld id="{94017EB6-7D4D-4F5E-835B-6BF3446128D8}" type="slidenum">
              <a:rPr lang="en-US"/>
              <a:pPr/>
              <a:t>30</a:t>
            </a:fld>
            <a:endParaRPr lang="en-US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381000"/>
            <a:ext cx="7467600" cy="1143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Worst Case Analysis</a:t>
            </a:r>
          </a:p>
        </p:txBody>
      </p:sp>
      <p:graphicFrame>
        <p:nvGraphicFramePr>
          <p:cNvPr id="222213" name="Object 5"/>
          <p:cNvGraphicFramePr>
            <a:graphicFrameLocks noChangeAspect="1"/>
          </p:cNvGraphicFramePr>
          <p:nvPr/>
        </p:nvGraphicFramePr>
        <p:xfrm>
          <a:off x="2057400" y="4343400"/>
          <a:ext cx="2244725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49160" imgH="444240" progId="Equation.3">
                  <p:embed/>
                </p:oleObj>
              </mc:Choice>
              <mc:Fallback>
                <p:oleObj name="Equation" r:id="rId3" imgW="749160" imgH="444240" progId="Equation.3">
                  <p:embed/>
                  <p:pic>
                    <p:nvPicPr>
                      <p:cNvPr id="2222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343400"/>
                        <a:ext cx="2244725" cy="1330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>
          <a:xfrm>
            <a:off x="4876800" y="685800"/>
            <a:ext cx="4191000" cy="1752600"/>
            <a:chOff x="152400" y="990600"/>
            <a:chExt cx="4191000" cy="1752600"/>
          </a:xfrm>
        </p:grpSpPr>
        <p:sp>
          <p:nvSpPr>
            <p:cNvPr id="7" name="Rectangle 8"/>
            <p:cNvSpPr txBox="1">
              <a:spLocks noChangeArrowheads="1"/>
            </p:cNvSpPr>
            <p:nvPr/>
          </p:nvSpPr>
          <p:spPr>
            <a:xfrm>
              <a:off x="152400" y="990601"/>
              <a:ext cx="4191000" cy="1752599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while 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i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 &gt; 0 and A[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i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] &gt; key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	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A[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i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 + 1] ← A[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i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]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	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i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 ← 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i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Segoe UI" pitchFamily="34" charset="0"/>
                  <a:cs typeface="Segoe UI" pitchFamily="34" charset="0"/>
                </a:rPr>
                <a:t> – 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52400" y="990600"/>
              <a:ext cx="4191000" cy="1752600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57737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Worst Case Analysis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0838" y="1214438"/>
            <a:ext cx="8232775" cy="5491162"/>
          </a:xfrm>
        </p:spPr>
        <p:txBody>
          <a:bodyPr>
            <a:normAutofit/>
          </a:bodyPr>
          <a:lstStyle/>
          <a:p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Worst case of T(n) </a:t>
            </a:r>
            <a:r>
              <a:rPr lang="en-US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 (n</a:t>
            </a:r>
            <a:r>
              <a:rPr lang="en-US" altLang="en-US" sz="3200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2</a:t>
            </a:r>
            <a:r>
              <a:rPr lang="en-US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)</a:t>
            </a:r>
            <a:endParaRPr lang="en-US" sz="3200" b="1" baseline="30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/>
            </a:endParaRPr>
          </a:p>
        </p:txBody>
      </p:sp>
      <p:graphicFrame>
        <p:nvGraphicFramePr>
          <p:cNvPr id="223237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133600" y="1295400"/>
          <a:ext cx="3429000" cy="2744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914400" progId="Equation.3">
                  <p:embed/>
                </p:oleObj>
              </mc:Choice>
              <mc:Fallback>
                <p:oleObj name="Equation" r:id="rId3" imgW="1143000" imgH="914400" progId="Equation.3">
                  <p:embed/>
                  <p:pic>
                    <p:nvPicPr>
                      <p:cNvPr id="223237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295400"/>
                        <a:ext cx="3429000" cy="27445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1" name="Text Box 9"/>
          <p:cNvSpPr txBox="1">
            <a:spLocks noChangeArrowheads="1"/>
          </p:cNvSpPr>
          <p:nvPr/>
        </p:nvSpPr>
        <p:spPr bwMode="auto">
          <a:xfrm>
            <a:off x="685800" y="1686580"/>
            <a:ext cx="11833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685800" y="3058180"/>
            <a:ext cx="13724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 (n) = </a:t>
            </a:r>
          </a:p>
        </p:txBody>
      </p:sp>
    </p:spTree>
    <p:extLst>
      <p:ext uri="{BB962C8B-B14F-4D97-AF65-F5344CB8AC3E}">
        <p14:creationId xmlns:p14="http://schemas.microsoft.com/office/powerpoint/2010/main" val="23307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</p:spPr>
        <p:txBody>
          <a:bodyPr/>
          <a:lstStyle/>
          <a:p>
            <a:fld id="{96CCE30B-223F-44B1-A148-B0F64F7F6A6B}" type="slidenum">
              <a:rPr lang="en-US"/>
              <a:pPr/>
              <a:t>32</a:t>
            </a:fld>
            <a:endParaRPr lang="en-US"/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Insertion Sort - Summary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Advantages</a:t>
            </a:r>
          </a:p>
          <a:p>
            <a:pPr lvl="1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Good running time for “almost sorted” arrays</a:t>
            </a:r>
            <a:r>
              <a:rPr lang="en-US" sz="2800" dirty="0">
                <a:solidFill>
                  <a:srgbClr val="CC0000"/>
                </a:solidFill>
                <a:latin typeface="Segoe"/>
                <a:sym typeface="Symbol" pitchFamily="18" charset="2"/>
              </a:rPr>
              <a:t> (n)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Disadvantages</a:t>
            </a:r>
          </a:p>
          <a:p>
            <a:pPr lvl="1"/>
            <a:r>
              <a:rPr lang="en-US" sz="2800" dirty="0">
                <a:solidFill>
                  <a:srgbClr val="CC0000"/>
                </a:solidFill>
                <a:latin typeface="Segoe"/>
                <a:sym typeface="Symbol" pitchFamily="18" charset="2"/>
              </a:rPr>
              <a:t>(n</a:t>
            </a:r>
            <a:r>
              <a:rPr lang="en-US" sz="2800" baseline="30000" dirty="0">
                <a:solidFill>
                  <a:srgbClr val="CC0000"/>
                </a:solidFill>
                <a:latin typeface="Segoe"/>
                <a:sym typeface="Symbol" pitchFamily="18" charset="2"/>
              </a:rPr>
              <a:t>2</a:t>
            </a:r>
            <a:r>
              <a:rPr lang="en-US" sz="2800" dirty="0">
                <a:solidFill>
                  <a:srgbClr val="CC0000"/>
                </a:solidFill>
                <a:latin typeface="Segoe"/>
                <a:sym typeface="Symbol" pitchFamily="18" charset="2"/>
              </a:rPr>
              <a:t>)</a:t>
            </a:r>
            <a:r>
              <a:rPr lang="en-US" sz="2800" dirty="0">
                <a:latin typeface="Segoe"/>
                <a:sym typeface="Symbol" pitchFamily="18" charset="2"/>
              </a:rPr>
              <a:t>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running time in </a:t>
            </a:r>
            <a:r>
              <a:rPr lang="en-US" sz="2800" dirty="0">
                <a:solidFill>
                  <a:srgbClr val="CC0000"/>
                </a:solidFill>
                <a:latin typeface="Segoe"/>
                <a:sym typeface="Symbol" pitchFamily="18" charset="2"/>
              </a:rPr>
              <a:t>worst</a:t>
            </a:r>
            <a:r>
              <a:rPr lang="en-US" sz="2800" dirty="0">
                <a:latin typeface="Segoe"/>
                <a:sym typeface="Symbol" pitchFamily="18" charset="2"/>
              </a:rPr>
              <a:t>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and</a:t>
            </a:r>
            <a:r>
              <a:rPr lang="en-US" sz="2800" dirty="0">
                <a:latin typeface="Segoe"/>
                <a:sym typeface="Symbol" pitchFamily="18" charset="2"/>
              </a:rPr>
              <a:t> </a:t>
            </a:r>
            <a:r>
              <a:rPr lang="en-US" sz="2800" dirty="0">
                <a:solidFill>
                  <a:srgbClr val="CC0000"/>
                </a:solidFill>
                <a:latin typeface="Segoe"/>
                <a:sym typeface="Symbol" pitchFamily="18" charset="2"/>
              </a:rPr>
              <a:t>average</a:t>
            </a:r>
            <a:r>
              <a:rPr lang="en-US" sz="2800" dirty="0">
                <a:latin typeface="Segoe"/>
                <a:sym typeface="Symbol" pitchFamily="18" charset="2"/>
              </a:rPr>
              <a:t>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Symbol" pitchFamily="18" charset="2"/>
              </a:rPr>
              <a:t>case</a:t>
            </a:r>
          </a:p>
        </p:txBody>
      </p:sp>
    </p:spTree>
    <p:extLst>
      <p:ext uri="{BB962C8B-B14F-4D97-AF65-F5344CB8AC3E}">
        <p14:creationId xmlns:p14="http://schemas.microsoft.com/office/powerpoint/2010/main" val="3755709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590800"/>
            <a:ext cx="77724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Divide and conquer algorithm design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00" y="6172200"/>
            <a:ext cx="6096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5898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6870700" cy="533400"/>
          </a:xfrm>
        </p:spPr>
        <p:txBody>
          <a:bodyPr>
            <a:no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Divide and 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458200" cy="48006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Three steps are involved:</a:t>
            </a:r>
          </a:p>
          <a:p>
            <a:pPr lvl="1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Divide the problem into several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subproblems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 perhaps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of equal size</a:t>
            </a:r>
          </a:p>
          <a:p>
            <a:pPr lvl="1"/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 lvl="1"/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Subproblems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are solved, typically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recursively</a:t>
            </a:r>
          </a:p>
          <a:p>
            <a:pPr lvl="1"/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  <a:p>
            <a:pPr lvl="1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 solutions to the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subproblems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are combined to get a solution to the original problem</a:t>
            </a:r>
          </a:p>
        </p:txBody>
      </p:sp>
    </p:spTree>
    <p:extLst>
      <p:ext uri="{BB962C8B-B14F-4D97-AF65-F5344CB8AC3E}">
        <p14:creationId xmlns:p14="http://schemas.microsoft.com/office/powerpoint/2010/main" val="28539439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6870700" cy="533400"/>
          </a:xfrm>
        </p:spPr>
        <p:txBody>
          <a:bodyPr>
            <a:normAutofit fontScale="90000"/>
          </a:bodyPr>
          <a:lstStyle/>
          <a:p>
            <a:r>
              <a:rPr lang="en-US" altLang="en-US" sz="3600" b="1" dirty="0">
                <a:solidFill>
                  <a:schemeClr val="tx1"/>
                </a:solidFill>
              </a:rPr>
              <a:t>Divide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altLang="en-US" sz="3600" b="1" dirty="0">
                <a:solidFill>
                  <a:schemeClr val="tx1"/>
                </a:solidFill>
              </a:rPr>
              <a:t>and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altLang="en-US" sz="3600" b="1" dirty="0">
                <a:solidFill>
                  <a:schemeClr val="tx1"/>
                </a:solidFill>
              </a:rPr>
              <a:t>Conquer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altLang="en-US" sz="3600" b="1" dirty="0">
                <a:solidFill>
                  <a:schemeClr val="tx1"/>
                </a:solidFill>
              </a:rPr>
              <a:t>(contd.)</a:t>
            </a:r>
          </a:p>
        </p:txBody>
      </p:sp>
      <p:sp>
        <p:nvSpPr>
          <p:cNvPr id="4" name="Oval 3"/>
          <p:cNvSpPr/>
          <p:nvPr/>
        </p:nvSpPr>
        <p:spPr bwMode="auto">
          <a:xfrm>
            <a:off x="2156177" y="762000"/>
            <a:ext cx="4571493" cy="914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rPr>
              <a:t>Problem of size n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1185334" y="3733800"/>
            <a:ext cx="2385126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rPr>
              <a:t>Solution to sub-problem</a:t>
            </a:r>
            <a:r>
              <a:rPr kumimoji="0" lang="en-US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rPr>
              <a:t> 1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5452534" y="3733800"/>
            <a:ext cx="2385126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rPr>
              <a:t>Solution to sub-problem</a:t>
            </a:r>
            <a:r>
              <a:rPr kumimoji="0" lang="en-US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rPr>
              <a:t> 2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3208866" y="5486400"/>
            <a:ext cx="2683267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rPr>
              <a:t>Solution to the</a:t>
            </a:r>
            <a:r>
              <a:rPr kumimoji="0" lang="en-US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rPr>
              <a:t> original problem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70556" y="1542489"/>
            <a:ext cx="8844844" cy="1715173"/>
            <a:chOff x="990600" y="1698587"/>
            <a:chExt cx="6781800" cy="127321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" name="Oval 6"/>
            <p:cNvSpPr/>
            <p:nvPr/>
          </p:nvSpPr>
          <p:spPr bwMode="auto">
            <a:xfrm>
              <a:off x="990600" y="2286000"/>
              <a:ext cx="2438400" cy="6858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Segoe UI" pitchFamily="34" charset="0"/>
                  <a:ea typeface="Segoe UI" pitchFamily="34" charset="0"/>
                  <a:cs typeface="Segoe UI" pitchFamily="34" charset="0"/>
                </a:rPr>
                <a:t>Sub-problem 1</a:t>
              </a: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5334000" y="2286000"/>
              <a:ext cx="2438400" cy="6858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Segoe UI" pitchFamily="34" charset="0"/>
                  <a:ea typeface="Segoe UI" pitchFamily="34" charset="0"/>
                  <a:cs typeface="Segoe UI" pitchFamily="34" charset="0"/>
                </a:rPr>
                <a:t>Sub-problem 2</a:t>
              </a:r>
            </a:p>
          </p:txBody>
        </p:sp>
        <p:cxnSp>
          <p:nvCxnSpPr>
            <p:cNvPr id="14" name="Straight Arrow Connector 13"/>
            <p:cNvCxnSpPr>
              <a:stCxn id="4" idx="3"/>
              <a:endCxn id="7" idx="0"/>
            </p:cNvCxnSpPr>
            <p:nvPr/>
          </p:nvCxnSpPr>
          <p:spPr bwMode="auto">
            <a:xfrm flipH="1">
              <a:off x="2209801" y="1698587"/>
              <a:ext cx="893278" cy="587413"/>
            </a:xfrm>
            <a:prstGeom prst="straightConnector1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Arrow Connector 15"/>
            <p:cNvCxnSpPr>
              <a:stCxn id="4" idx="5"/>
              <a:endCxn id="8" idx="0"/>
            </p:cNvCxnSpPr>
            <p:nvPr/>
          </p:nvCxnSpPr>
          <p:spPr bwMode="auto">
            <a:xfrm>
              <a:off x="5581629" y="1698587"/>
              <a:ext cx="971571" cy="587413"/>
            </a:xfrm>
            <a:prstGeom prst="straightConnector1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8" name="Straight Arrow Connector 17"/>
          <p:cNvCxnSpPr>
            <a:stCxn id="7" idx="4"/>
          </p:cNvCxnSpPr>
          <p:nvPr/>
        </p:nvCxnSpPr>
        <p:spPr bwMode="auto">
          <a:xfrm>
            <a:off x="1660641" y="3257662"/>
            <a:ext cx="633826" cy="47613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>
            <a:stCxn id="8" idx="4"/>
            <a:endCxn id="10" idx="0"/>
          </p:cNvCxnSpPr>
          <p:nvPr/>
        </p:nvCxnSpPr>
        <p:spPr bwMode="auto">
          <a:xfrm flipH="1">
            <a:off x="6645097" y="3257662"/>
            <a:ext cx="680219" cy="47613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>
            <a:stCxn id="9" idx="2"/>
          </p:cNvCxnSpPr>
          <p:nvPr/>
        </p:nvCxnSpPr>
        <p:spPr bwMode="auto">
          <a:xfrm flipH="1">
            <a:off x="2370667" y="4648200"/>
            <a:ext cx="7230" cy="3048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2362200" y="4953000"/>
            <a:ext cx="4191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 flipV="1">
            <a:off x="6553200" y="4495800"/>
            <a:ext cx="0" cy="457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/>
          <p:cNvCxnSpPr/>
          <p:nvPr/>
        </p:nvCxnSpPr>
        <p:spPr bwMode="auto">
          <a:xfrm>
            <a:off x="4419600" y="4953000"/>
            <a:ext cx="0" cy="6096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Box 31"/>
          <p:cNvSpPr txBox="1"/>
          <p:nvPr/>
        </p:nvSpPr>
        <p:spPr>
          <a:xfrm>
            <a:off x="76200" y="5029200"/>
            <a:ext cx="3429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Don’t assume</a:t>
            </a:r>
          </a:p>
          <a:p>
            <a:r>
              <a:rPr lang="en-US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always breaks up</a:t>
            </a:r>
          </a:p>
          <a:p>
            <a:r>
              <a:rPr lang="en-US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into 2, could be &gt; 2</a:t>
            </a:r>
          </a:p>
          <a:p>
            <a:r>
              <a:rPr lang="en-US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Sub-problems</a:t>
            </a:r>
          </a:p>
        </p:txBody>
      </p:sp>
    </p:spTree>
    <p:extLst>
      <p:ext uri="{BB962C8B-B14F-4D97-AF65-F5344CB8AC3E}">
        <p14:creationId xmlns:p14="http://schemas.microsoft.com/office/powerpoint/2010/main" val="333676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3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6870700" cy="533400"/>
          </a:xfrm>
        </p:spPr>
        <p:txBody>
          <a:bodyPr>
            <a:no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Divide and Conquer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696200" cy="480060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FF0000"/>
                </a:solidFill>
                <a:latin typeface="Segoe"/>
              </a:rPr>
              <a:t>Example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Segoe"/>
              </a:rPr>
              <a:t>1: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Divide array into two halves, recursively sort left and right halves, then merge two halves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latin typeface="Segoe"/>
                <a:sym typeface="Wingdings" pitchFamily="2" charset="2"/>
              </a:rPr>
              <a:t> Merge sort</a:t>
            </a:r>
          </a:p>
          <a:p>
            <a:pPr>
              <a:lnSpc>
                <a:spcPct val="90000"/>
              </a:lnSpc>
            </a:pP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Segoe"/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FF0000"/>
                </a:solidFill>
                <a:latin typeface="Segoe"/>
              </a:rPr>
              <a:t>Example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Segoe"/>
              </a:rPr>
              <a:t>2: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Wingdings" pitchFamily="2" charset="2"/>
              </a:rPr>
              <a:t>Partition array into items that are “small” and items that are “large”, then recursively sort the two sets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latin typeface="Segoe"/>
                <a:sym typeface="Wingdings" pitchFamily="2" charset="2"/>
              </a:rPr>
              <a:t> Quicksort </a:t>
            </a:r>
          </a:p>
          <a:p>
            <a:pPr>
              <a:lnSpc>
                <a:spcPct val="90000"/>
              </a:lnSpc>
            </a:pPr>
            <a:endParaRPr lang="en-US" sz="2800" b="1" dirty="0">
              <a:solidFill>
                <a:schemeClr val="bg2">
                  <a:lumMod val="50000"/>
                </a:schemeClr>
              </a:solidFill>
              <a:latin typeface="Segoe"/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FF0000"/>
                </a:solidFill>
                <a:latin typeface="Segoe"/>
              </a:rPr>
              <a:t>Example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Segoe"/>
              </a:rPr>
              <a:t>3: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  <a:sym typeface="Wingdings" pitchFamily="2" charset="2"/>
              </a:rPr>
              <a:t>Partition array into two halves from ‘mid’, search into the left half if the search key is smaller than ‘mid’ or search into the right half otherwise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latin typeface="Segoe"/>
                <a:sym typeface="Wingdings" pitchFamily="2" charset="2"/>
              </a:rPr>
              <a:t> Binary search </a:t>
            </a:r>
          </a:p>
          <a:p>
            <a:pPr>
              <a:lnSpc>
                <a:spcPct val="90000"/>
              </a:lnSpc>
            </a:pPr>
            <a:endParaRPr lang="en-US" sz="2800" b="1" dirty="0">
              <a:solidFill>
                <a:schemeClr val="bg2">
                  <a:lumMod val="50000"/>
                </a:schemeClr>
              </a:solidFill>
              <a:latin typeface="Segoe"/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endParaRPr lang="en-US" sz="2800" b="1" dirty="0" err="1">
              <a:solidFill>
                <a:schemeClr val="bg2">
                  <a:lumMod val="50000"/>
                </a:schemeClr>
              </a:solidFill>
              <a:latin typeface="Segoe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0646506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590800"/>
            <a:ext cx="77724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 Sort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00" y="6172200"/>
            <a:ext cx="6096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67596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 sz="3600" b="1" dirty="0">
                <a:solidFill>
                  <a:schemeClr val="tx1"/>
                </a:solidFill>
              </a:rPr>
              <a:t>Merge sort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977" y="2255837"/>
            <a:ext cx="7620000" cy="4373563"/>
          </a:xfrm>
        </p:spPr>
        <p:txBody>
          <a:bodyPr>
            <a:noAutofit/>
          </a:bodyPr>
          <a:lstStyle/>
          <a:p>
            <a:r>
              <a:rPr lang="en-US" sz="2800" b="1" i="1" u="sng" dirty="0">
                <a:solidFill>
                  <a:srgbClr val="CC33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Sorting Problem</a:t>
            </a:r>
            <a:r>
              <a:rPr lang="en-US" sz="2800" b="1" u="sng" dirty="0">
                <a:solidFill>
                  <a:srgbClr val="CC33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:</a:t>
            </a:r>
            <a:r>
              <a:rPr lang="en-US" sz="2800" dirty="0">
                <a:solidFill>
                  <a:srgbClr val="CC99FF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Sort a sequence of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elements into non-decreasing order.</a:t>
            </a:r>
          </a:p>
          <a:p>
            <a:r>
              <a:rPr lang="en-US" sz="2800" b="1" i="1" dirty="0">
                <a:solidFill>
                  <a:srgbClr val="CC33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Divide</a:t>
            </a:r>
            <a:r>
              <a:rPr lang="en-US" sz="2800" b="1" dirty="0">
                <a:solidFill>
                  <a:srgbClr val="CC33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:</a:t>
            </a: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Divide the n-element sequence to be sorted into two subsequences of n/2 elements each</a:t>
            </a:r>
          </a:p>
          <a:p>
            <a:r>
              <a:rPr lang="en-US" sz="2800" b="1" i="1" dirty="0">
                <a:solidFill>
                  <a:srgbClr val="CC33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Conquer:</a:t>
            </a: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Sort the two subsequences recursively using merge sort.</a:t>
            </a:r>
          </a:p>
          <a:p>
            <a:r>
              <a:rPr lang="en-US" sz="2800" b="1" i="1" dirty="0">
                <a:solidFill>
                  <a:srgbClr val="CC33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Combine</a:t>
            </a:r>
            <a:r>
              <a:rPr lang="en-US" sz="2800" b="1" dirty="0">
                <a:solidFill>
                  <a:srgbClr val="CC33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:</a:t>
            </a:r>
            <a:r>
              <a:rPr lang="en-US" sz="2800" dirty="0">
                <a:solidFill>
                  <a:srgbClr val="CC99FF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Merge the two sorted subsequences to produce the sorted answer.</a:t>
            </a:r>
          </a:p>
          <a:p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  <a:sym typeface="Wingdings" pitchFamily="2" charset="2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209800" y="1524000"/>
            <a:ext cx="4267200" cy="533400"/>
            <a:chOff x="2209800" y="1524000"/>
            <a:chExt cx="4267200" cy="533400"/>
          </a:xfrm>
          <a:solidFill>
            <a:schemeClr val="bg2"/>
          </a:solidFill>
        </p:grpSpPr>
        <p:sp>
          <p:nvSpPr>
            <p:cNvPr id="54287" name="Rectangle 15"/>
            <p:cNvSpPr>
              <a:spLocks noChangeArrowheads="1"/>
            </p:cNvSpPr>
            <p:nvPr/>
          </p:nvSpPr>
          <p:spPr bwMode="auto">
            <a:xfrm>
              <a:off x="2209800" y="1524000"/>
              <a:ext cx="533400" cy="5334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3200" dirty="0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54288" name="Rectangle 16"/>
            <p:cNvSpPr>
              <a:spLocks noChangeArrowheads="1"/>
            </p:cNvSpPr>
            <p:nvPr/>
          </p:nvSpPr>
          <p:spPr bwMode="auto">
            <a:xfrm>
              <a:off x="2743200" y="1524000"/>
              <a:ext cx="533400" cy="5334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32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4289" name="Rectangle 17"/>
            <p:cNvSpPr>
              <a:spLocks noChangeArrowheads="1"/>
            </p:cNvSpPr>
            <p:nvPr/>
          </p:nvSpPr>
          <p:spPr bwMode="auto">
            <a:xfrm>
              <a:off x="3276600" y="1524000"/>
              <a:ext cx="533400" cy="5334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3200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54290" name="Rectangle 18"/>
            <p:cNvSpPr>
              <a:spLocks noChangeArrowheads="1"/>
            </p:cNvSpPr>
            <p:nvPr/>
          </p:nvSpPr>
          <p:spPr bwMode="auto">
            <a:xfrm>
              <a:off x="3810000" y="1524000"/>
              <a:ext cx="533400" cy="5334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32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54291" name="Rectangle 19"/>
            <p:cNvSpPr>
              <a:spLocks noChangeArrowheads="1"/>
            </p:cNvSpPr>
            <p:nvPr/>
          </p:nvSpPr>
          <p:spPr bwMode="auto">
            <a:xfrm>
              <a:off x="4343400" y="1524000"/>
              <a:ext cx="533400" cy="5334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32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54292" name="Rectangle 20"/>
            <p:cNvSpPr>
              <a:spLocks noChangeArrowheads="1"/>
            </p:cNvSpPr>
            <p:nvPr/>
          </p:nvSpPr>
          <p:spPr bwMode="auto">
            <a:xfrm>
              <a:off x="4876800" y="1524000"/>
              <a:ext cx="533400" cy="5334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32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4293" name="Rectangle 21"/>
            <p:cNvSpPr>
              <a:spLocks noChangeArrowheads="1"/>
            </p:cNvSpPr>
            <p:nvPr/>
          </p:nvSpPr>
          <p:spPr bwMode="auto">
            <a:xfrm>
              <a:off x="5410200" y="1524000"/>
              <a:ext cx="533400" cy="5334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32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4294" name="Rectangle 22"/>
            <p:cNvSpPr>
              <a:spLocks noChangeArrowheads="1"/>
            </p:cNvSpPr>
            <p:nvPr/>
          </p:nvSpPr>
          <p:spPr bwMode="auto">
            <a:xfrm>
              <a:off x="5943600" y="1524000"/>
              <a:ext cx="533400" cy="5334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3200">
                  <a:latin typeface="Times New Roman" pitchFamily="18" charset="0"/>
                </a:rPr>
                <a:t>6</a:t>
              </a:r>
            </a:p>
          </p:txBody>
        </p:sp>
      </p:grpSp>
      <p:sp>
        <p:nvSpPr>
          <p:cNvPr id="54295" name="Line 23"/>
          <p:cNvSpPr>
            <a:spLocks noChangeShapeType="1"/>
          </p:cNvSpPr>
          <p:nvPr/>
        </p:nvSpPr>
        <p:spPr bwMode="auto">
          <a:xfrm>
            <a:off x="4343400" y="1219200"/>
            <a:ext cx="0" cy="1143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597703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133600" y="609600"/>
          <a:ext cx="4267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 bwMode="auto">
          <a:xfrm>
            <a:off x="685800" y="152400"/>
            <a:ext cx="6870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/>
            <a:r>
              <a:rPr lang="en-US" altLang="en-US" sz="3200" b="1" cap="all" spc="-60" dirty="0">
                <a:latin typeface="Segoe" pitchFamily="34" charset="0"/>
              </a:rPr>
              <a:t>Merge sort (contd.)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08048" y="1524000"/>
          <a:ext cx="25971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CC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CC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CC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CC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27648" y="1600200"/>
          <a:ext cx="25971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1000" y="2362200"/>
          <a:ext cx="990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0" y="2286000"/>
          <a:ext cx="990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0" y="2286000"/>
          <a:ext cx="990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91400" y="2286000"/>
          <a:ext cx="990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3134360"/>
          <a:ext cx="457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CC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66800" y="3124200"/>
          <a:ext cx="457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CC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514600" y="3124200"/>
          <a:ext cx="457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CC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505200" y="3124200"/>
          <a:ext cx="457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CC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800600" y="3124200"/>
          <a:ext cx="457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CC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867400" y="3134360"/>
          <a:ext cx="457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162800" y="3124200"/>
          <a:ext cx="457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CC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53400" y="3124200"/>
          <a:ext cx="457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CC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81000" y="3962400"/>
          <a:ext cx="990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743200" y="3962400"/>
          <a:ext cx="990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0" y="3962400"/>
          <a:ext cx="990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91400" y="3962400"/>
          <a:ext cx="990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CC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38200" y="4810760"/>
          <a:ext cx="25971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257800" y="4810760"/>
          <a:ext cx="25971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Content Placeholder 5"/>
          <p:cNvGraphicFramePr>
            <a:graphicFrameLocks/>
          </p:cNvGraphicFramePr>
          <p:nvPr/>
        </p:nvGraphicFramePr>
        <p:xfrm>
          <a:off x="2209800" y="5801360"/>
          <a:ext cx="4267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CC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>
            <a:endCxn id="7" idx="0"/>
          </p:cNvCxnSpPr>
          <p:nvPr/>
        </p:nvCxnSpPr>
        <p:spPr bwMode="auto">
          <a:xfrm flipH="1">
            <a:off x="2206624" y="990600"/>
            <a:ext cx="993776" cy="533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Arrow Connector 31"/>
          <p:cNvCxnSpPr>
            <a:endCxn id="8" idx="0"/>
          </p:cNvCxnSpPr>
          <p:nvPr/>
        </p:nvCxnSpPr>
        <p:spPr bwMode="auto">
          <a:xfrm>
            <a:off x="5334000" y="1066800"/>
            <a:ext cx="1292224" cy="533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/>
          <p:cNvCxnSpPr>
            <a:endCxn id="9" idx="0"/>
          </p:cNvCxnSpPr>
          <p:nvPr/>
        </p:nvCxnSpPr>
        <p:spPr bwMode="auto">
          <a:xfrm flipH="1">
            <a:off x="876300" y="1981200"/>
            <a:ext cx="647700" cy="3810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/>
          <p:cNvCxnSpPr>
            <a:endCxn id="10" idx="0"/>
          </p:cNvCxnSpPr>
          <p:nvPr/>
        </p:nvCxnSpPr>
        <p:spPr bwMode="auto">
          <a:xfrm>
            <a:off x="2895600" y="1905000"/>
            <a:ext cx="342900" cy="3810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>
            <a:endCxn id="11" idx="0"/>
          </p:cNvCxnSpPr>
          <p:nvPr/>
        </p:nvCxnSpPr>
        <p:spPr bwMode="auto">
          <a:xfrm flipH="1">
            <a:off x="5524500" y="1905000"/>
            <a:ext cx="455612" cy="3810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endCxn id="12" idx="0"/>
          </p:cNvCxnSpPr>
          <p:nvPr/>
        </p:nvCxnSpPr>
        <p:spPr bwMode="auto">
          <a:xfrm>
            <a:off x="7239000" y="1905000"/>
            <a:ext cx="647700" cy="3810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endCxn id="13" idx="0"/>
          </p:cNvCxnSpPr>
          <p:nvPr/>
        </p:nvCxnSpPr>
        <p:spPr bwMode="auto">
          <a:xfrm flipH="1">
            <a:off x="381000" y="2667000"/>
            <a:ext cx="304800" cy="46736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/>
          <p:cNvCxnSpPr>
            <a:endCxn id="14" idx="0"/>
          </p:cNvCxnSpPr>
          <p:nvPr/>
        </p:nvCxnSpPr>
        <p:spPr bwMode="auto">
          <a:xfrm>
            <a:off x="1066800" y="2667000"/>
            <a:ext cx="228600" cy="4572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Arrow Connector 45"/>
          <p:cNvCxnSpPr/>
          <p:nvPr/>
        </p:nvCxnSpPr>
        <p:spPr bwMode="auto">
          <a:xfrm flipH="1">
            <a:off x="2703512" y="2667000"/>
            <a:ext cx="192088" cy="533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16" idx="0"/>
          </p:cNvCxnSpPr>
          <p:nvPr/>
        </p:nvCxnSpPr>
        <p:spPr bwMode="auto">
          <a:xfrm>
            <a:off x="3505200" y="2667000"/>
            <a:ext cx="228600" cy="4572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Arrow Connector 49"/>
          <p:cNvCxnSpPr>
            <a:endCxn id="17" idx="0"/>
          </p:cNvCxnSpPr>
          <p:nvPr/>
        </p:nvCxnSpPr>
        <p:spPr bwMode="auto">
          <a:xfrm flipH="1">
            <a:off x="5029200" y="2667000"/>
            <a:ext cx="228600" cy="4572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Straight Arrow Connector 51"/>
          <p:cNvCxnSpPr>
            <a:endCxn id="18" idx="0"/>
          </p:cNvCxnSpPr>
          <p:nvPr/>
        </p:nvCxnSpPr>
        <p:spPr bwMode="auto">
          <a:xfrm>
            <a:off x="5752306" y="2667000"/>
            <a:ext cx="343694" cy="46736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>
            <a:endCxn id="19" idx="0"/>
          </p:cNvCxnSpPr>
          <p:nvPr/>
        </p:nvCxnSpPr>
        <p:spPr bwMode="auto">
          <a:xfrm flipH="1">
            <a:off x="7391400" y="2667000"/>
            <a:ext cx="171450" cy="4572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Arrow Connector 55"/>
          <p:cNvCxnSpPr/>
          <p:nvPr/>
        </p:nvCxnSpPr>
        <p:spPr bwMode="auto">
          <a:xfrm>
            <a:off x="8153400" y="2667000"/>
            <a:ext cx="304800" cy="533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Straight Arrow Connector 57"/>
          <p:cNvCxnSpPr>
            <a:endCxn id="22" idx="0"/>
          </p:cNvCxnSpPr>
          <p:nvPr/>
        </p:nvCxnSpPr>
        <p:spPr bwMode="auto">
          <a:xfrm>
            <a:off x="381000" y="3429000"/>
            <a:ext cx="495300" cy="533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Straight Arrow Connector 59"/>
          <p:cNvCxnSpPr>
            <a:endCxn id="22" idx="0"/>
          </p:cNvCxnSpPr>
          <p:nvPr/>
        </p:nvCxnSpPr>
        <p:spPr bwMode="auto">
          <a:xfrm flipH="1">
            <a:off x="876300" y="3429000"/>
            <a:ext cx="419100" cy="533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Straight Arrow Connector 61"/>
          <p:cNvCxnSpPr>
            <a:endCxn id="23" idx="0"/>
          </p:cNvCxnSpPr>
          <p:nvPr/>
        </p:nvCxnSpPr>
        <p:spPr bwMode="auto">
          <a:xfrm>
            <a:off x="2703512" y="3429000"/>
            <a:ext cx="534988" cy="533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/>
          <p:cNvCxnSpPr>
            <a:endCxn id="23" idx="0"/>
          </p:cNvCxnSpPr>
          <p:nvPr/>
        </p:nvCxnSpPr>
        <p:spPr bwMode="auto">
          <a:xfrm flipH="1">
            <a:off x="3238500" y="3429000"/>
            <a:ext cx="495300" cy="533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>
            <a:endCxn id="24" idx="0"/>
          </p:cNvCxnSpPr>
          <p:nvPr/>
        </p:nvCxnSpPr>
        <p:spPr bwMode="auto">
          <a:xfrm>
            <a:off x="5029200" y="3429000"/>
            <a:ext cx="495300" cy="533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/>
          <p:cNvCxnSpPr>
            <a:endCxn id="24" idx="0"/>
          </p:cNvCxnSpPr>
          <p:nvPr/>
        </p:nvCxnSpPr>
        <p:spPr bwMode="auto">
          <a:xfrm flipH="1">
            <a:off x="5524500" y="3429000"/>
            <a:ext cx="571500" cy="533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Arrow Connector 69"/>
          <p:cNvCxnSpPr>
            <a:endCxn id="25" idx="0"/>
          </p:cNvCxnSpPr>
          <p:nvPr/>
        </p:nvCxnSpPr>
        <p:spPr bwMode="auto">
          <a:xfrm>
            <a:off x="7391400" y="3429000"/>
            <a:ext cx="495300" cy="533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Arrow Connector 71"/>
          <p:cNvCxnSpPr>
            <a:endCxn id="25" idx="0"/>
          </p:cNvCxnSpPr>
          <p:nvPr/>
        </p:nvCxnSpPr>
        <p:spPr bwMode="auto">
          <a:xfrm flipH="1">
            <a:off x="7886700" y="3429000"/>
            <a:ext cx="571500" cy="533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Straight Arrow Connector 73"/>
          <p:cNvCxnSpPr>
            <a:endCxn id="26" idx="0"/>
          </p:cNvCxnSpPr>
          <p:nvPr/>
        </p:nvCxnSpPr>
        <p:spPr bwMode="auto">
          <a:xfrm>
            <a:off x="876300" y="4267200"/>
            <a:ext cx="1260476" cy="54356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Straight Arrow Connector 75"/>
          <p:cNvCxnSpPr>
            <a:endCxn id="26" idx="0"/>
          </p:cNvCxnSpPr>
          <p:nvPr/>
        </p:nvCxnSpPr>
        <p:spPr bwMode="auto">
          <a:xfrm flipH="1">
            <a:off x="2136776" y="4267200"/>
            <a:ext cx="1101724" cy="54356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Straight Arrow Connector 77"/>
          <p:cNvCxnSpPr>
            <a:endCxn id="27" idx="0"/>
          </p:cNvCxnSpPr>
          <p:nvPr/>
        </p:nvCxnSpPr>
        <p:spPr bwMode="auto">
          <a:xfrm>
            <a:off x="5524500" y="4267200"/>
            <a:ext cx="1031876" cy="54356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Straight Arrow Connector 79"/>
          <p:cNvCxnSpPr>
            <a:endCxn id="27" idx="0"/>
          </p:cNvCxnSpPr>
          <p:nvPr/>
        </p:nvCxnSpPr>
        <p:spPr bwMode="auto">
          <a:xfrm flipH="1">
            <a:off x="6556376" y="4267200"/>
            <a:ext cx="1330324" cy="54356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Straight Arrow Connector 81"/>
          <p:cNvCxnSpPr>
            <a:endCxn id="28" idx="0"/>
          </p:cNvCxnSpPr>
          <p:nvPr/>
        </p:nvCxnSpPr>
        <p:spPr bwMode="auto">
          <a:xfrm>
            <a:off x="2136776" y="5181600"/>
            <a:ext cx="2206624" cy="61976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" name="Straight Arrow Connector 83"/>
          <p:cNvCxnSpPr>
            <a:endCxn id="28" idx="0"/>
          </p:cNvCxnSpPr>
          <p:nvPr/>
        </p:nvCxnSpPr>
        <p:spPr bwMode="auto">
          <a:xfrm flipH="1">
            <a:off x="4343400" y="5181600"/>
            <a:ext cx="2212976" cy="61976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Straight Arrow Connector 85"/>
          <p:cNvCxnSpPr/>
          <p:nvPr/>
        </p:nvCxnSpPr>
        <p:spPr bwMode="auto">
          <a:xfrm>
            <a:off x="914400" y="713096"/>
            <a:ext cx="3810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Straight Arrow Connector 87"/>
          <p:cNvCxnSpPr/>
          <p:nvPr/>
        </p:nvCxnSpPr>
        <p:spPr bwMode="auto">
          <a:xfrm>
            <a:off x="914400" y="1066800"/>
            <a:ext cx="3810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1" name="TextBox 90"/>
          <p:cNvSpPr txBox="1"/>
          <p:nvPr/>
        </p:nvSpPr>
        <p:spPr>
          <a:xfrm>
            <a:off x="13935" y="53340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Divide: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0" y="849868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Merge:</a:t>
            </a:r>
          </a:p>
        </p:txBody>
      </p:sp>
      <p:sp>
        <p:nvSpPr>
          <p:cNvPr id="95" name="Freeform 94"/>
          <p:cNvSpPr/>
          <p:nvPr/>
        </p:nvSpPr>
        <p:spPr bwMode="auto">
          <a:xfrm>
            <a:off x="136478" y="361535"/>
            <a:ext cx="1519930" cy="948650"/>
          </a:xfrm>
          <a:custGeom>
            <a:avLst/>
            <a:gdLst>
              <a:gd name="connsiteX0" fmla="*/ 0 w 1519930"/>
              <a:gd name="connsiteY0" fmla="*/ 948650 h 948650"/>
              <a:gd name="connsiteX1" fmla="*/ 518615 w 1519930"/>
              <a:gd name="connsiteY1" fmla="*/ 907707 h 948650"/>
              <a:gd name="connsiteX2" fmla="*/ 1460310 w 1519930"/>
              <a:gd name="connsiteY2" fmla="*/ 866764 h 948650"/>
              <a:gd name="connsiteX3" fmla="*/ 1364776 w 1519930"/>
              <a:gd name="connsiteY3" fmla="*/ 307205 h 948650"/>
              <a:gd name="connsiteX4" fmla="*/ 887104 w 1519930"/>
              <a:gd name="connsiteY4" fmla="*/ 6955 h 948650"/>
              <a:gd name="connsiteX5" fmla="*/ 109182 w 1519930"/>
              <a:gd name="connsiteY5" fmla="*/ 88841 h 948650"/>
              <a:gd name="connsiteX6" fmla="*/ 109182 w 1519930"/>
              <a:gd name="connsiteY6" fmla="*/ 88841 h 94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9930" h="948650">
                <a:moveTo>
                  <a:pt x="0" y="948650"/>
                </a:moveTo>
                <a:cubicBezTo>
                  <a:pt x="137615" y="938414"/>
                  <a:pt x="275230" y="921355"/>
                  <a:pt x="518615" y="907707"/>
                </a:cubicBezTo>
                <a:cubicBezTo>
                  <a:pt x="762000" y="894059"/>
                  <a:pt x="1319283" y="966848"/>
                  <a:pt x="1460310" y="866764"/>
                </a:cubicBezTo>
                <a:cubicBezTo>
                  <a:pt x="1601337" y="766680"/>
                  <a:pt x="1460310" y="450506"/>
                  <a:pt x="1364776" y="307205"/>
                </a:cubicBezTo>
                <a:cubicBezTo>
                  <a:pt x="1269242" y="163904"/>
                  <a:pt x="1096370" y="43349"/>
                  <a:pt x="887104" y="6955"/>
                </a:cubicBezTo>
                <a:cubicBezTo>
                  <a:pt x="677838" y="-29439"/>
                  <a:pt x="109182" y="88841"/>
                  <a:pt x="109182" y="88841"/>
                </a:cubicBezTo>
                <a:lnTo>
                  <a:pt x="109182" y="88841"/>
                </a:lnTo>
              </a:path>
            </a:pathLst>
          </a:custGeom>
          <a:noFill/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791520" y="1290935"/>
            <a:ext cx="17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</a:p>
        </p:txBody>
      </p:sp>
      <p:sp>
        <p:nvSpPr>
          <p:cNvPr id="61" name="Down Arrow 60"/>
          <p:cNvSpPr/>
          <p:nvPr/>
        </p:nvSpPr>
        <p:spPr bwMode="auto">
          <a:xfrm flipV="1">
            <a:off x="3886200" y="1066800"/>
            <a:ext cx="152400" cy="304800"/>
          </a:xfrm>
          <a:prstGeom prst="downArrow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752600" y="2209800"/>
            <a:ext cx="17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</a:p>
        </p:txBody>
      </p:sp>
      <p:sp>
        <p:nvSpPr>
          <p:cNvPr id="65" name="Down Arrow 64"/>
          <p:cNvSpPr/>
          <p:nvPr/>
        </p:nvSpPr>
        <p:spPr bwMode="auto">
          <a:xfrm flipV="1">
            <a:off x="1847280" y="1985665"/>
            <a:ext cx="152400" cy="304800"/>
          </a:xfrm>
          <a:prstGeom prst="downArrow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172200" y="2209800"/>
            <a:ext cx="17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</a:p>
        </p:txBody>
      </p:sp>
      <p:sp>
        <p:nvSpPr>
          <p:cNvPr id="69" name="Down Arrow 68"/>
          <p:cNvSpPr/>
          <p:nvPr/>
        </p:nvSpPr>
        <p:spPr bwMode="auto">
          <a:xfrm flipV="1">
            <a:off x="6266880" y="1985665"/>
            <a:ext cx="152400" cy="304800"/>
          </a:xfrm>
          <a:prstGeom prst="downArrow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05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0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3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1" grpId="0" animBg="1"/>
      <p:bldP spid="63" grpId="0"/>
      <p:bldP spid="65" grpId="0" animBg="1"/>
      <p:bldP spid="67" grpId="0"/>
      <p:bldP spid="6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543800" cy="457200"/>
          </a:xfrm>
        </p:spPr>
        <p:txBody>
          <a:bodyPr>
            <a:no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Merge sort(contd.)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5005431"/>
          <a:ext cx="60960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Down Arrow 7"/>
          <p:cNvSpPr/>
          <p:nvPr/>
        </p:nvSpPr>
        <p:spPr bwMode="auto">
          <a:xfrm flipV="1">
            <a:off x="6955130" y="5652655"/>
            <a:ext cx="304800" cy="457200"/>
          </a:xfrm>
          <a:prstGeom prst="downArrow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24000" y="6172200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001859"/>
            <a:ext cx="617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9270" y="4990191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7470" y="4990191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3270" y="4990191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5270" y="4990191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3470" y="4990191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5470" y="4990191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1270" y="4990191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5</a:t>
            </a:r>
          </a:p>
        </p:txBody>
      </p:sp>
      <p:sp>
        <p:nvSpPr>
          <p:cNvPr id="25" name="Down Arrow 24"/>
          <p:cNvSpPr/>
          <p:nvPr/>
        </p:nvSpPr>
        <p:spPr bwMode="auto">
          <a:xfrm flipV="1">
            <a:off x="1586345" y="5652655"/>
            <a:ext cx="304800" cy="457200"/>
          </a:xfrm>
          <a:prstGeom prst="downArrow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34200" y="4990191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5130" y="6176941"/>
            <a:ext cx="3449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0" y="6096000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</a:p>
        </p:txBody>
      </p:sp>
      <p:sp>
        <p:nvSpPr>
          <p:cNvPr id="29" name="Down Arrow 28"/>
          <p:cNvSpPr/>
          <p:nvPr/>
        </p:nvSpPr>
        <p:spPr bwMode="auto">
          <a:xfrm flipV="1">
            <a:off x="3886200" y="5664323"/>
            <a:ext cx="304800" cy="457200"/>
          </a:xfrm>
          <a:prstGeom prst="downArrow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722020" y="1132344"/>
            <a:ext cx="6593180" cy="2677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800" b="1" dirty="0">
                <a:latin typeface="Courier New" pitchFamily="49" charset="0"/>
              </a:rPr>
              <a:t>Algorithm Merge-Sort</a:t>
            </a:r>
            <a:r>
              <a:rPr lang="en-US" sz="2800" dirty="0">
                <a:latin typeface="Courier New" pitchFamily="49" charset="0"/>
              </a:rPr>
              <a:t>(A, p, r):</a:t>
            </a:r>
            <a:endParaRPr lang="en-GB" sz="2800" dirty="0">
              <a:latin typeface="Courier New" pitchFamily="49" charset="0"/>
            </a:endParaRPr>
          </a:p>
          <a:p>
            <a:pPr eaLnBrk="0" hangingPunct="0"/>
            <a:r>
              <a:rPr lang="en-US" sz="2800" b="1" dirty="0">
                <a:latin typeface="Courier New" pitchFamily="49" charset="0"/>
              </a:rPr>
              <a:t>   if </a:t>
            </a:r>
            <a:r>
              <a:rPr lang="en-US" sz="2800" dirty="0">
                <a:latin typeface="Courier New" pitchFamily="49" charset="0"/>
              </a:rPr>
              <a:t>p &lt; r </a:t>
            </a:r>
            <a:r>
              <a:rPr lang="en-US" sz="2800" b="1" dirty="0">
                <a:latin typeface="Courier New" pitchFamily="49" charset="0"/>
              </a:rPr>
              <a:t>then</a:t>
            </a:r>
            <a:endParaRPr lang="en-GB" sz="2800" dirty="0">
              <a:latin typeface="Courier New" pitchFamily="49" charset="0"/>
            </a:endParaRPr>
          </a:p>
          <a:p>
            <a:pPr eaLnBrk="0" hangingPunct="0"/>
            <a:r>
              <a:rPr lang="en-GB" sz="2800" dirty="0">
                <a:latin typeface="Courier New" pitchFamily="49" charset="0"/>
              </a:rPr>
              <a:t>      q</a:t>
            </a:r>
            <a:r>
              <a:rPr lang="en-GB" sz="2800" dirty="0">
                <a:latin typeface="Symbol" pitchFamily="18" charset="2"/>
              </a:rPr>
              <a:t>¬ </a:t>
            </a:r>
            <a:r>
              <a:rPr lang="en-US" sz="2800" dirty="0">
                <a:latin typeface="Symbol" pitchFamily="18" charset="2"/>
                <a:sym typeface="Symbol"/>
              </a:rPr>
              <a:t>(</a:t>
            </a:r>
            <a:r>
              <a:rPr lang="en-GB" sz="2800" dirty="0" err="1">
                <a:latin typeface="Courier New" pitchFamily="49" charset="0"/>
              </a:rPr>
              <a:t>p+r</a:t>
            </a:r>
            <a:r>
              <a:rPr lang="en-GB" sz="2800" dirty="0">
                <a:latin typeface="Courier New" pitchFamily="49" charset="0"/>
              </a:rPr>
              <a:t>)/2</a:t>
            </a:r>
            <a:r>
              <a:rPr lang="en-US" sz="2800" dirty="0">
                <a:latin typeface="Symbol" pitchFamily="18" charset="2"/>
                <a:sym typeface="Symbol"/>
              </a:rPr>
              <a:t></a:t>
            </a:r>
            <a:r>
              <a:rPr lang="en-GB" sz="2800" dirty="0">
                <a:latin typeface="Courier New" pitchFamily="49" charset="0"/>
              </a:rPr>
              <a:t> </a:t>
            </a:r>
          </a:p>
          <a:p>
            <a:pPr eaLnBrk="0" hangingPunct="0"/>
            <a:r>
              <a:rPr lang="en-GB" sz="2800" dirty="0">
                <a:latin typeface="Courier New" pitchFamily="49" charset="0"/>
              </a:rPr>
              <a:t>      </a:t>
            </a:r>
            <a:r>
              <a:rPr lang="en-GB" sz="2800" b="1" dirty="0">
                <a:latin typeface="Courier New" pitchFamily="49" charset="0"/>
              </a:rPr>
              <a:t>Merge-Sort</a:t>
            </a:r>
            <a:r>
              <a:rPr lang="en-GB" sz="2800" dirty="0">
                <a:latin typeface="Courier New" pitchFamily="49" charset="0"/>
              </a:rPr>
              <a:t>(A, p, q)</a:t>
            </a:r>
          </a:p>
          <a:p>
            <a:pPr eaLnBrk="0" hangingPunct="0"/>
            <a:r>
              <a:rPr lang="en-GB" sz="2800" dirty="0">
                <a:latin typeface="Courier New" pitchFamily="49" charset="0"/>
              </a:rPr>
              <a:t>      </a:t>
            </a:r>
            <a:r>
              <a:rPr lang="en-GB" sz="2800" b="1" dirty="0">
                <a:latin typeface="Courier New" pitchFamily="49" charset="0"/>
              </a:rPr>
              <a:t>Merge-Sort</a:t>
            </a:r>
            <a:r>
              <a:rPr lang="en-GB" sz="2800" dirty="0">
                <a:latin typeface="Courier New" pitchFamily="49" charset="0"/>
              </a:rPr>
              <a:t>(A, q+1, r)</a:t>
            </a:r>
          </a:p>
          <a:p>
            <a:pPr eaLnBrk="0" hangingPunct="0"/>
            <a:r>
              <a:rPr lang="en-GB" sz="2800" dirty="0">
                <a:latin typeface="Courier New" pitchFamily="49" charset="0"/>
              </a:rPr>
              <a:t>   </a:t>
            </a:r>
            <a:r>
              <a:rPr lang="en-GB" sz="2800" b="1" dirty="0">
                <a:latin typeface="Courier New" pitchFamily="49" charset="0"/>
              </a:rPr>
              <a:t>Merge</a:t>
            </a:r>
            <a:r>
              <a:rPr lang="en-GB" sz="2800" dirty="0">
                <a:latin typeface="Courier New" pitchFamily="49" charset="0"/>
              </a:rPr>
              <a:t>(A, p, q, r)</a:t>
            </a:r>
          </a:p>
        </p:txBody>
      </p:sp>
    </p:spTree>
    <p:extLst>
      <p:ext uri="{BB962C8B-B14F-4D97-AF65-F5344CB8AC3E}">
        <p14:creationId xmlns:p14="http://schemas.microsoft.com/office/powerpoint/2010/main" val="154297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  <p:bldP spid="12" grpId="0"/>
      <p:bldP spid="14" grpId="0"/>
      <p:bldP spid="17" grpId="0"/>
      <p:bldP spid="19" grpId="0"/>
      <p:bldP spid="21" grpId="0"/>
      <p:bldP spid="23" grpId="0"/>
      <p:bldP spid="24" grpId="0"/>
      <p:bldP spid="25" grpId="0" animBg="1"/>
      <p:bldP spid="26" grpId="0"/>
      <p:bldP spid="27" grpId="0"/>
      <p:bldP spid="28" grpId="0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</p:spPr>
        <p:txBody>
          <a:bodyPr/>
          <a:lstStyle/>
          <a:p>
            <a:fld id="{ABE82E8E-21E5-42C9-B474-7750C5F70A0B}" type="slidenum">
              <a:rPr lang="en-US"/>
              <a:pPr/>
              <a:t>41</a:t>
            </a:fld>
            <a:endParaRPr lang="en-US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620000" cy="8382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Merging Idea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308975" cy="3894137"/>
          </a:xfrm>
        </p:spPr>
        <p:txBody>
          <a:bodyPr>
            <a:normAutofit/>
          </a:bodyPr>
          <a:lstStyle/>
          <a:p>
            <a:pPr lvl="1">
              <a:lnSpc>
                <a:spcPct val="13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Copy each of the two sorted sub-sets into two temp sets</a:t>
            </a:r>
          </a:p>
          <a:p>
            <a:pPr marL="531813" lvl="2" indent="-265113">
              <a:lnSpc>
                <a:spcPct val="13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Choose the smaller of the two top elements of the two temp sets </a:t>
            </a:r>
          </a:p>
          <a:p>
            <a:pPr marL="266700" lvl="2" indent="182563">
              <a:lnSpc>
                <a:spcPct val="13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Remove it and place it in the output set</a:t>
            </a:r>
          </a:p>
          <a:p>
            <a:pPr lvl="1">
              <a:lnSpc>
                <a:spcPct val="13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Repeat the process until one set is empty</a:t>
            </a:r>
          </a:p>
          <a:p>
            <a:pPr lvl="1">
              <a:lnSpc>
                <a:spcPct val="13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Take the remaining and place them onto the output set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511800" y="76200"/>
            <a:ext cx="3098800" cy="1017587"/>
            <a:chOff x="3808" y="977"/>
            <a:chExt cx="1952" cy="641"/>
          </a:xfrm>
        </p:grpSpPr>
        <p:sp>
          <p:nvSpPr>
            <p:cNvPr id="242693" name="Text Box 5"/>
            <p:cNvSpPr txBox="1">
              <a:spLocks noChangeArrowheads="1"/>
            </p:cNvSpPr>
            <p:nvPr/>
          </p:nvSpPr>
          <p:spPr bwMode="auto">
            <a:xfrm>
              <a:off x="3823" y="1231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1</a:t>
              </a:r>
            </a:p>
          </p:txBody>
        </p:sp>
        <p:sp>
          <p:nvSpPr>
            <p:cNvPr id="242694" name="Text Box 6"/>
            <p:cNvSpPr txBox="1">
              <a:spLocks noChangeArrowheads="1"/>
            </p:cNvSpPr>
            <p:nvPr/>
          </p:nvSpPr>
          <p:spPr bwMode="auto">
            <a:xfrm>
              <a:off x="4063" y="1231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242695" name="Text Box 7"/>
            <p:cNvSpPr txBox="1">
              <a:spLocks noChangeArrowheads="1"/>
            </p:cNvSpPr>
            <p:nvPr/>
          </p:nvSpPr>
          <p:spPr bwMode="auto">
            <a:xfrm>
              <a:off x="4303" y="1231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242696" name="Text Box 8"/>
            <p:cNvSpPr txBox="1">
              <a:spLocks noChangeArrowheads="1"/>
            </p:cNvSpPr>
            <p:nvPr/>
          </p:nvSpPr>
          <p:spPr bwMode="auto">
            <a:xfrm>
              <a:off x="4543" y="1231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242697" name="Text Box 9"/>
            <p:cNvSpPr txBox="1">
              <a:spLocks noChangeArrowheads="1"/>
            </p:cNvSpPr>
            <p:nvPr/>
          </p:nvSpPr>
          <p:spPr bwMode="auto">
            <a:xfrm>
              <a:off x="4783" y="1231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242698" name="Text Box 10"/>
            <p:cNvSpPr txBox="1">
              <a:spLocks noChangeArrowheads="1"/>
            </p:cNvSpPr>
            <p:nvPr/>
          </p:nvSpPr>
          <p:spPr bwMode="auto">
            <a:xfrm>
              <a:off x="5023" y="1231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6</a:t>
              </a:r>
            </a:p>
          </p:txBody>
        </p:sp>
        <p:sp>
          <p:nvSpPr>
            <p:cNvPr id="242699" name="Text Box 11"/>
            <p:cNvSpPr txBox="1">
              <a:spLocks noChangeArrowheads="1"/>
            </p:cNvSpPr>
            <p:nvPr/>
          </p:nvSpPr>
          <p:spPr bwMode="auto">
            <a:xfrm>
              <a:off x="5263" y="1231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7</a:t>
              </a:r>
            </a:p>
          </p:txBody>
        </p:sp>
        <p:sp>
          <p:nvSpPr>
            <p:cNvPr id="242700" name="Text Box 12"/>
            <p:cNvSpPr txBox="1">
              <a:spLocks noChangeArrowheads="1"/>
            </p:cNvSpPr>
            <p:nvPr/>
          </p:nvSpPr>
          <p:spPr bwMode="auto">
            <a:xfrm>
              <a:off x="5503" y="1231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8</a:t>
              </a:r>
            </a:p>
          </p:txBody>
        </p:sp>
        <p:sp>
          <p:nvSpPr>
            <p:cNvPr id="242701" name="Rectangle 13"/>
            <p:cNvSpPr>
              <a:spLocks noChangeArrowheads="1"/>
            </p:cNvSpPr>
            <p:nvPr/>
          </p:nvSpPr>
          <p:spPr bwMode="auto">
            <a:xfrm>
              <a:off x="5488" y="1388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242702" name="Rectangle 14"/>
            <p:cNvSpPr>
              <a:spLocks noChangeArrowheads="1"/>
            </p:cNvSpPr>
            <p:nvPr/>
          </p:nvSpPr>
          <p:spPr bwMode="auto">
            <a:xfrm>
              <a:off x="5248" y="1388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242703" name="Rectangle 15"/>
            <p:cNvSpPr>
              <a:spLocks noChangeArrowheads="1"/>
            </p:cNvSpPr>
            <p:nvPr/>
          </p:nvSpPr>
          <p:spPr bwMode="auto">
            <a:xfrm>
              <a:off x="5008" y="1388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242704" name="Rectangle 16"/>
            <p:cNvSpPr>
              <a:spLocks noChangeArrowheads="1"/>
            </p:cNvSpPr>
            <p:nvPr/>
          </p:nvSpPr>
          <p:spPr bwMode="auto">
            <a:xfrm>
              <a:off x="4768" y="1388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242705" name="Rectangle 17"/>
            <p:cNvSpPr>
              <a:spLocks noChangeArrowheads="1"/>
            </p:cNvSpPr>
            <p:nvPr/>
          </p:nvSpPr>
          <p:spPr bwMode="auto">
            <a:xfrm>
              <a:off x="4528" y="1388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242706" name="Rectangle 18"/>
            <p:cNvSpPr>
              <a:spLocks noChangeArrowheads="1"/>
            </p:cNvSpPr>
            <p:nvPr/>
          </p:nvSpPr>
          <p:spPr bwMode="auto">
            <a:xfrm>
              <a:off x="4288" y="1388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dirty="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242707" name="Rectangle 19"/>
            <p:cNvSpPr>
              <a:spLocks noChangeArrowheads="1"/>
            </p:cNvSpPr>
            <p:nvPr/>
          </p:nvSpPr>
          <p:spPr bwMode="auto">
            <a:xfrm>
              <a:off x="4048" y="1388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242708" name="Rectangle 20"/>
            <p:cNvSpPr>
              <a:spLocks noChangeArrowheads="1"/>
            </p:cNvSpPr>
            <p:nvPr/>
          </p:nvSpPr>
          <p:spPr bwMode="auto">
            <a:xfrm>
              <a:off x="3808" y="1388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242709" name="Line 21"/>
            <p:cNvSpPr>
              <a:spLocks noChangeShapeType="1"/>
            </p:cNvSpPr>
            <p:nvPr/>
          </p:nvSpPr>
          <p:spPr bwMode="auto">
            <a:xfrm>
              <a:off x="3808" y="1388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10" name="Line 22"/>
            <p:cNvSpPr>
              <a:spLocks noChangeShapeType="1"/>
            </p:cNvSpPr>
            <p:nvPr/>
          </p:nvSpPr>
          <p:spPr bwMode="auto">
            <a:xfrm>
              <a:off x="3808" y="1618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11" name="Line 23"/>
            <p:cNvSpPr>
              <a:spLocks noChangeShapeType="1"/>
            </p:cNvSpPr>
            <p:nvPr/>
          </p:nvSpPr>
          <p:spPr bwMode="auto">
            <a:xfrm>
              <a:off x="3808" y="1388"/>
              <a:ext cx="0" cy="2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12" name="Line 24"/>
            <p:cNvSpPr>
              <a:spLocks noChangeShapeType="1"/>
            </p:cNvSpPr>
            <p:nvPr/>
          </p:nvSpPr>
          <p:spPr bwMode="auto">
            <a:xfrm>
              <a:off x="4048" y="1388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13" name="Line 25"/>
            <p:cNvSpPr>
              <a:spLocks noChangeShapeType="1"/>
            </p:cNvSpPr>
            <p:nvPr/>
          </p:nvSpPr>
          <p:spPr bwMode="auto">
            <a:xfrm>
              <a:off x="4288" y="1388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14" name="Line 26"/>
            <p:cNvSpPr>
              <a:spLocks noChangeShapeType="1"/>
            </p:cNvSpPr>
            <p:nvPr/>
          </p:nvSpPr>
          <p:spPr bwMode="auto">
            <a:xfrm>
              <a:off x="4528" y="1388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15" name="Line 27"/>
            <p:cNvSpPr>
              <a:spLocks noChangeShapeType="1"/>
            </p:cNvSpPr>
            <p:nvPr/>
          </p:nvSpPr>
          <p:spPr bwMode="auto">
            <a:xfrm>
              <a:off x="4768" y="1388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16" name="Line 28"/>
            <p:cNvSpPr>
              <a:spLocks noChangeShapeType="1"/>
            </p:cNvSpPr>
            <p:nvPr/>
          </p:nvSpPr>
          <p:spPr bwMode="auto">
            <a:xfrm>
              <a:off x="5008" y="1388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17" name="Line 29"/>
            <p:cNvSpPr>
              <a:spLocks noChangeShapeType="1"/>
            </p:cNvSpPr>
            <p:nvPr/>
          </p:nvSpPr>
          <p:spPr bwMode="auto">
            <a:xfrm>
              <a:off x="5248" y="1388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18" name="Line 30"/>
            <p:cNvSpPr>
              <a:spLocks noChangeShapeType="1"/>
            </p:cNvSpPr>
            <p:nvPr/>
          </p:nvSpPr>
          <p:spPr bwMode="auto">
            <a:xfrm>
              <a:off x="5488" y="1388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19" name="Line 31"/>
            <p:cNvSpPr>
              <a:spLocks noChangeShapeType="1"/>
            </p:cNvSpPr>
            <p:nvPr/>
          </p:nvSpPr>
          <p:spPr bwMode="auto">
            <a:xfrm>
              <a:off x="5728" y="1388"/>
              <a:ext cx="0" cy="2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20" name="Line 32"/>
            <p:cNvSpPr>
              <a:spLocks noChangeShapeType="1"/>
            </p:cNvSpPr>
            <p:nvPr/>
          </p:nvSpPr>
          <p:spPr bwMode="auto">
            <a:xfrm>
              <a:off x="3957" y="1260"/>
              <a:ext cx="7" cy="1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21" name="Text Box 33"/>
            <p:cNvSpPr txBox="1">
              <a:spLocks noChangeArrowheads="1"/>
            </p:cNvSpPr>
            <p:nvPr/>
          </p:nvSpPr>
          <p:spPr bwMode="auto">
            <a:xfrm>
              <a:off x="3878" y="980"/>
              <a:ext cx="20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CC0000"/>
                  </a:solidFill>
                  <a:latin typeface="Comic Sans MS" pitchFamily="66" charset="0"/>
                </a:rPr>
                <a:t>p</a:t>
              </a:r>
            </a:p>
          </p:txBody>
        </p:sp>
        <p:sp>
          <p:nvSpPr>
            <p:cNvPr id="242722" name="Line 34"/>
            <p:cNvSpPr>
              <a:spLocks noChangeShapeType="1"/>
            </p:cNvSpPr>
            <p:nvPr/>
          </p:nvSpPr>
          <p:spPr bwMode="auto">
            <a:xfrm>
              <a:off x="5646" y="1257"/>
              <a:ext cx="7" cy="1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23" name="Text Box 35"/>
            <p:cNvSpPr txBox="1">
              <a:spLocks noChangeArrowheads="1"/>
            </p:cNvSpPr>
            <p:nvPr/>
          </p:nvSpPr>
          <p:spPr bwMode="auto">
            <a:xfrm>
              <a:off x="5567" y="977"/>
              <a:ext cx="1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CC0000"/>
                  </a:solidFill>
                  <a:latin typeface="Comic Sans MS" pitchFamily="66" charset="0"/>
                </a:rPr>
                <a:t>r</a:t>
              </a:r>
            </a:p>
          </p:txBody>
        </p:sp>
        <p:sp>
          <p:nvSpPr>
            <p:cNvPr id="242724" name="Line 36"/>
            <p:cNvSpPr>
              <a:spLocks noChangeShapeType="1"/>
            </p:cNvSpPr>
            <p:nvPr/>
          </p:nvSpPr>
          <p:spPr bwMode="auto">
            <a:xfrm>
              <a:off x="4690" y="1275"/>
              <a:ext cx="7" cy="1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2725" name="Text Box 37"/>
            <p:cNvSpPr txBox="1">
              <a:spLocks noChangeArrowheads="1"/>
            </p:cNvSpPr>
            <p:nvPr/>
          </p:nvSpPr>
          <p:spPr bwMode="auto">
            <a:xfrm>
              <a:off x="4611" y="995"/>
              <a:ext cx="1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CC0000"/>
                  </a:solidFill>
                  <a:latin typeface="Comic Sans MS" pitchFamily="66" charset="0"/>
                </a:rPr>
                <a:t>q</a:t>
              </a:r>
            </a:p>
          </p:txBody>
        </p:sp>
      </p:grpSp>
      <p:pic>
        <p:nvPicPr>
          <p:cNvPr id="242726" name="Picture 38"/>
          <p:cNvPicPr>
            <a:picLocks noChangeAspect="1" noChangeArrowheads="1"/>
          </p:cNvPicPr>
          <p:nvPr/>
        </p:nvPicPr>
        <p:blipFill>
          <a:blip r:embed="rId3" cstate="print"/>
          <a:srcRect l="4098" t="9375" r="2459" b="9375"/>
          <a:stretch>
            <a:fillRect/>
          </a:stretch>
        </p:blipFill>
        <p:spPr bwMode="auto">
          <a:xfrm>
            <a:off x="228600" y="4267200"/>
            <a:ext cx="8686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2727" name="Text Box 39"/>
          <p:cNvSpPr txBox="1">
            <a:spLocks noChangeArrowheads="1"/>
          </p:cNvSpPr>
          <p:nvPr/>
        </p:nvSpPr>
        <p:spPr bwMode="auto">
          <a:xfrm>
            <a:off x="304800" y="4201180"/>
            <a:ext cx="2743200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dirty="0"/>
              <a:t>A1</a:t>
            </a:r>
            <a:r>
              <a:rPr lang="en-US" sz="2800" dirty="0">
                <a:sym typeface="Wingdings" pitchFamily="2" charset="2"/>
              </a:rPr>
              <a:t> A[p, q]                      </a:t>
            </a:r>
            <a:endParaRPr lang="en-US" sz="2800" dirty="0"/>
          </a:p>
        </p:txBody>
      </p:sp>
      <p:sp>
        <p:nvSpPr>
          <p:cNvPr id="242728" name="Text Box 40"/>
          <p:cNvSpPr txBox="1">
            <a:spLocks noChangeArrowheads="1"/>
          </p:cNvSpPr>
          <p:nvPr/>
        </p:nvSpPr>
        <p:spPr bwMode="auto">
          <a:xfrm>
            <a:off x="152401" y="5486400"/>
            <a:ext cx="3276600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dirty="0"/>
              <a:t>A2</a:t>
            </a:r>
            <a:r>
              <a:rPr lang="en-US" sz="2800" dirty="0">
                <a:sym typeface="Wingdings" pitchFamily="2" charset="2"/>
              </a:rPr>
              <a:t> A[q+1, r]                      </a:t>
            </a:r>
            <a:endParaRPr lang="en-US" sz="2800" dirty="0"/>
          </a:p>
        </p:txBody>
      </p:sp>
      <p:sp>
        <p:nvSpPr>
          <p:cNvPr id="242729" name="Text Box 41"/>
          <p:cNvSpPr txBox="1">
            <a:spLocks noChangeArrowheads="1"/>
          </p:cNvSpPr>
          <p:nvPr/>
        </p:nvSpPr>
        <p:spPr bwMode="auto">
          <a:xfrm>
            <a:off x="6120645" y="4734580"/>
            <a:ext cx="3023355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dirty="0">
                <a:sym typeface="Wingdings" pitchFamily="2" charset="2"/>
              </a:rPr>
              <a:t>A[p, r]                     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51188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228600"/>
            <a:ext cx="8991600" cy="838200"/>
          </a:xfrm>
        </p:spPr>
        <p:txBody>
          <a:bodyPr>
            <a:noAutofit/>
          </a:bodyPr>
          <a:lstStyle/>
          <a:p>
            <a:r>
              <a:rPr lang="en-US" altLang="en-US" b="1" dirty="0" err="1">
                <a:solidFill>
                  <a:schemeClr val="tx1"/>
                </a:solidFill>
              </a:rPr>
              <a:t>Pseudocode</a:t>
            </a:r>
            <a:r>
              <a:rPr lang="en-US" altLang="en-US" b="1" dirty="0">
                <a:solidFill>
                  <a:schemeClr val="tx1"/>
                </a:solidFill>
              </a:rPr>
              <a:t> of the MERGE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68977" y="533400"/>
            <a:ext cx="7865423" cy="5791200"/>
          </a:xfrm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MERGE (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p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q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)</a:t>
            </a:r>
          </a:p>
          <a:p>
            <a:pPr marL="400050" lvl="1" indent="0">
              <a:buNone/>
            </a:pP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	//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n</a:t>
            </a:r>
            <a:r>
              <a:rPr lang="en-US" sz="2400" b="1" baseline="-250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1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n</a:t>
            </a:r>
            <a:r>
              <a:rPr lang="en-US" sz="2400" b="1" baseline="-250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2</a:t>
            </a:r>
            <a:endParaRPr lang="en-US" sz="2400" b="1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/>
            </a:endParaRPr>
          </a:p>
          <a:p>
            <a:pPr marL="400050" lvl="1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1.      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n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←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q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−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p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+ 1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2.      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n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←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−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q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3.      Create arrays L[1 . .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n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+ 1] and R[1 . .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n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+ 1]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4.      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← 1 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TO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n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5.            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DO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L[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← A[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p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+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− 1]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6.      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j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← 1 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TO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n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7.            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DO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R[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j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← A[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q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+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j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]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8.      L[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n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+ 1] ← ∞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9.      R[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n</a:t>
            </a:r>
            <a:r>
              <a:rPr 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+ 1] ← ∞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</a:b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. . .</a:t>
            </a: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5334000" y="471487"/>
            <a:ext cx="3100388" cy="1738313"/>
            <a:chOff x="3305" y="2504"/>
            <a:chExt cx="1953" cy="1095"/>
          </a:xfrm>
        </p:grpSpPr>
        <p:sp>
          <p:nvSpPr>
            <p:cNvPr id="5" name="Text Box 32"/>
            <p:cNvSpPr txBox="1">
              <a:spLocks noChangeArrowheads="1"/>
            </p:cNvSpPr>
            <p:nvPr/>
          </p:nvSpPr>
          <p:spPr bwMode="auto">
            <a:xfrm>
              <a:off x="332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1</a:t>
              </a:r>
            </a:p>
          </p:txBody>
        </p:sp>
        <p:sp>
          <p:nvSpPr>
            <p:cNvPr id="6" name="Text Box 33"/>
            <p:cNvSpPr txBox="1">
              <a:spLocks noChangeArrowheads="1"/>
            </p:cNvSpPr>
            <p:nvPr/>
          </p:nvSpPr>
          <p:spPr bwMode="auto">
            <a:xfrm>
              <a:off x="356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7" name="Text Box 34"/>
            <p:cNvSpPr txBox="1">
              <a:spLocks noChangeArrowheads="1"/>
            </p:cNvSpPr>
            <p:nvPr/>
          </p:nvSpPr>
          <p:spPr bwMode="auto">
            <a:xfrm>
              <a:off x="380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8" name="Text Box 35"/>
            <p:cNvSpPr txBox="1">
              <a:spLocks noChangeArrowheads="1"/>
            </p:cNvSpPr>
            <p:nvPr/>
          </p:nvSpPr>
          <p:spPr bwMode="auto">
            <a:xfrm>
              <a:off x="404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9" name="Text Box 36"/>
            <p:cNvSpPr txBox="1">
              <a:spLocks noChangeArrowheads="1"/>
            </p:cNvSpPr>
            <p:nvPr/>
          </p:nvSpPr>
          <p:spPr bwMode="auto">
            <a:xfrm>
              <a:off x="428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10" name="Text Box 37"/>
            <p:cNvSpPr txBox="1">
              <a:spLocks noChangeArrowheads="1"/>
            </p:cNvSpPr>
            <p:nvPr/>
          </p:nvSpPr>
          <p:spPr bwMode="auto">
            <a:xfrm>
              <a:off x="452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6</a:t>
              </a:r>
            </a:p>
          </p:txBody>
        </p:sp>
        <p:sp>
          <p:nvSpPr>
            <p:cNvPr id="11" name="Text Box 38"/>
            <p:cNvSpPr txBox="1">
              <a:spLocks noChangeArrowheads="1"/>
            </p:cNvSpPr>
            <p:nvPr/>
          </p:nvSpPr>
          <p:spPr bwMode="auto">
            <a:xfrm>
              <a:off x="476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7</a:t>
              </a:r>
            </a:p>
          </p:txBody>
        </p:sp>
        <p:sp>
          <p:nvSpPr>
            <p:cNvPr id="12" name="Text Box 39"/>
            <p:cNvSpPr txBox="1">
              <a:spLocks noChangeArrowheads="1"/>
            </p:cNvSpPr>
            <p:nvPr/>
          </p:nvSpPr>
          <p:spPr bwMode="auto">
            <a:xfrm>
              <a:off x="500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8</a:t>
              </a:r>
            </a:p>
          </p:txBody>
        </p:sp>
        <p:sp>
          <p:nvSpPr>
            <p:cNvPr id="13" name="Rectangle 40"/>
            <p:cNvSpPr>
              <a:spLocks noChangeArrowheads="1"/>
            </p:cNvSpPr>
            <p:nvPr/>
          </p:nvSpPr>
          <p:spPr bwMode="auto">
            <a:xfrm>
              <a:off x="498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14" name="Rectangle 41"/>
            <p:cNvSpPr>
              <a:spLocks noChangeArrowheads="1"/>
            </p:cNvSpPr>
            <p:nvPr/>
          </p:nvSpPr>
          <p:spPr bwMode="auto">
            <a:xfrm>
              <a:off x="474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15" name="Rectangle 42"/>
            <p:cNvSpPr>
              <a:spLocks noChangeArrowheads="1"/>
            </p:cNvSpPr>
            <p:nvPr/>
          </p:nvSpPr>
          <p:spPr bwMode="auto">
            <a:xfrm>
              <a:off x="450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16" name="Rectangle 43"/>
            <p:cNvSpPr>
              <a:spLocks noChangeArrowheads="1"/>
            </p:cNvSpPr>
            <p:nvPr/>
          </p:nvSpPr>
          <p:spPr bwMode="auto">
            <a:xfrm>
              <a:off x="426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17" name="Rectangle 44"/>
            <p:cNvSpPr>
              <a:spLocks noChangeArrowheads="1"/>
            </p:cNvSpPr>
            <p:nvPr/>
          </p:nvSpPr>
          <p:spPr bwMode="auto">
            <a:xfrm>
              <a:off x="402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18" name="Rectangle 45"/>
            <p:cNvSpPr>
              <a:spLocks noChangeArrowheads="1"/>
            </p:cNvSpPr>
            <p:nvPr/>
          </p:nvSpPr>
          <p:spPr bwMode="auto">
            <a:xfrm>
              <a:off x="378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19" name="Rectangle 46"/>
            <p:cNvSpPr>
              <a:spLocks noChangeArrowheads="1"/>
            </p:cNvSpPr>
            <p:nvPr/>
          </p:nvSpPr>
          <p:spPr bwMode="auto">
            <a:xfrm>
              <a:off x="354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20" name="Rectangle 47"/>
            <p:cNvSpPr>
              <a:spLocks noChangeArrowheads="1"/>
            </p:cNvSpPr>
            <p:nvPr/>
          </p:nvSpPr>
          <p:spPr bwMode="auto">
            <a:xfrm>
              <a:off x="330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21" name="Line 48"/>
            <p:cNvSpPr>
              <a:spLocks noChangeShapeType="1"/>
            </p:cNvSpPr>
            <p:nvPr/>
          </p:nvSpPr>
          <p:spPr bwMode="auto">
            <a:xfrm>
              <a:off x="3306" y="2915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2" name="Line 49"/>
            <p:cNvSpPr>
              <a:spLocks noChangeShapeType="1"/>
            </p:cNvSpPr>
            <p:nvPr/>
          </p:nvSpPr>
          <p:spPr bwMode="auto">
            <a:xfrm>
              <a:off x="3306" y="3145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Line 50"/>
            <p:cNvSpPr>
              <a:spLocks noChangeShapeType="1"/>
            </p:cNvSpPr>
            <p:nvPr/>
          </p:nvSpPr>
          <p:spPr bwMode="auto">
            <a:xfrm>
              <a:off x="3306" y="2915"/>
              <a:ext cx="0" cy="2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354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5" name="Line 52"/>
            <p:cNvSpPr>
              <a:spLocks noChangeShapeType="1"/>
            </p:cNvSpPr>
            <p:nvPr/>
          </p:nvSpPr>
          <p:spPr bwMode="auto">
            <a:xfrm>
              <a:off x="378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Line 53"/>
            <p:cNvSpPr>
              <a:spLocks noChangeShapeType="1"/>
            </p:cNvSpPr>
            <p:nvPr/>
          </p:nvSpPr>
          <p:spPr bwMode="auto">
            <a:xfrm>
              <a:off x="402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7" name="Line 54"/>
            <p:cNvSpPr>
              <a:spLocks noChangeShapeType="1"/>
            </p:cNvSpPr>
            <p:nvPr/>
          </p:nvSpPr>
          <p:spPr bwMode="auto">
            <a:xfrm>
              <a:off x="426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8" name="Line 55"/>
            <p:cNvSpPr>
              <a:spLocks noChangeShapeType="1"/>
            </p:cNvSpPr>
            <p:nvPr/>
          </p:nvSpPr>
          <p:spPr bwMode="auto">
            <a:xfrm>
              <a:off x="450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9" name="Line 56"/>
            <p:cNvSpPr>
              <a:spLocks noChangeShapeType="1"/>
            </p:cNvSpPr>
            <p:nvPr/>
          </p:nvSpPr>
          <p:spPr bwMode="auto">
            <a:xfrm>
              <a:off x="474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30" name="Line 57"/>
            <p:cNvSpPr>
              <a:spLocks noChangeShapeType="1"/>
            </p:cNvSpPr>
            <p:nvPr/>
          </p:nvSpPr>
          <p:spPr bwMode="auto">
            <a:xfrm>
              <a:off x="498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31" name="Line 58"/>
            <p:cNvSpPr>
              <a:spLocks noChangeShapeType="1"/>
            </p:cNvSpPr>
            <p:nvPr/>
          </p:nvSpPr>
          <p:spPr bwMode="auto">
            <a:xfrm>
              <a:off x="5226" y="2915"/>
              <a:ext cx="0" cy="2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32" name="Line 59"/>
            <p:cNvSpPr>
              <a:spLocks noChangeShapeType="1"/>
            </p:cNvSpPr>
            <p:nvPr/>
          </p:nvSpPr>
          <p:spPr bwMode="auto">
            <a:xfrm>
              <a:off x="3455" y="2787"/>
              <a:ext cx="7" cy="1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33" name="Text Box 60"/>
            <p:cNvSpPr txBox="1">
              <a:spLocks noChangeArrowheads="1"/>
            </p:cNvSpPr>
            <p:nvPr/>
          </p:nvSpPr>
          <p:spPr bwMode="auto">
            <a:xfrm>
              <a:off x="3376" y="2507"/>
              <a:ext cx="20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CC0000"/>
                  </a:solidFill>
                  <a:latin typeface="Comic Sans MS" pitchFamily="66" charset="0"/>
                </a:rPr>
                <a:t>p</a:t>
              </a:r>
            </a:p>
          </p:txBody>
        </p:sp>
        <p:sp>
          <p:nvSpPr>
            <p:cNvPr id="34" name="Line 61"/>
            <p:cNvSpPr>
              <a:spLocks noChangeShapeType="1"/>
            </p:cNvSpPr>
            <p:nvPr/>
          </p:nvSpPr>
          <p:spPr bwMode="auto">
            <a:xfrm>
              <a:off x="5144" y="2784"/>
              <a:ext cx="7" cy="1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35" name="Text Box 62"/>
            <p:cNvSpPr txBox="1">
              <a:spLocks noChangeArrowheads="1"/>
            </p:cNvSpPr>
            <p:nvPr/>
          </p:nvSpPr>
          <p:spPr bwMode="auto">
            <a:xfrm>
              <a:off x="5065" y="2504"/>
              <a:ext cx="1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CC0000"/>
                  </a:solidFill>
                  <a:latin typeface="Comic Sans MS" pitchFamily="66" charset="0"/>
                </a:rPr>
                <a:t>r</a:t>
              </a:r>
            </a:p>
          </p:txBody>
        </p:sp>
        <p:sp>
          <p:nvSpPr>
            <p:cNvPr id="36" name="Line 63"/>
            <p:cNvSpPr>
              <a:spLocks noChangeShapeType="1"/>
            </p:cNvSpPr>
            <p:nvPr/>
          </p:nvSpPr>
          <p:spPr bwMode="auto">
            <a:xfrm>
              <a:off x="4188" y="2802"/>
              <a:ext cx="7" cy="1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37" name="Text Box 64"/>
            <p:cNvSpPr txBox="1">
              <a:spLocks noChangeArrowheads="1"/>
            </p:cNvSpPr>
            <p:nvPr/>
          </p:nvSpPr>
          <p:spPr bwMode="auto">
            <a:xfrm>
              <a:off x="4109" y="2522"/>
              <a:ext cx="1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CC0000"/>
                  </a:solidFill>
                  <a:latin typeface="Comic Sans MS" pitchFamily="66" charset="0"/>
                </a:rPr>
                <a:t>q</a:t>
              </a:r>
            </a:p>
          </p:txBody>
        </p:sp>
        <p:sp>
          <p:nvSpPr>
            <p:cNvPr id="38" name="AutoShape 65"/>
            <p:cNvSpPr>
              <a:spLocks/>
            </p:cNvSpPr>
            <p:nvPr/>
          </p:nvSpPr>
          <p:spPr bwMode="auto">
            <a:xfrm rot="-5400000">
              <a:off x="3727" y="2798"/>
              <a:ext cx="106" cy="949"/>
            </a:xfrm>
            <a:prstGeom prst="leftBrace">
              <a:avLst>
                <a:gd name="adj1" fmla="val 7460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39" name="AutoShape 66"/>
            <p:cNvSpPr>
              <a:spLocks/>
            </p:cNvSpPr>
            <p:nvPr/>
          </p:nvSpPr>
          <p:spPr bwMode="auto">
            <a:xfrm rot="-5400000">
              <a:off x="4690" y="2798"/>
              <a:ext cx="106" cy="949"/>
            </a:xfrm>
            <a:prstGeom prst="leftBrace">
              <a:avLst>
                <a:gd name="adj1" fmla="val 7460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40" name="Text Box 67"/>
            <p:cNvSpPr txBox="1">
              <a:spLocks noChangeArrowheads="1"/>
            </p:cNvSpPr>
            <p:nvPr/>
          </p:nvSpPr>
          <p:spPr bwMode="auto">
            <a:xfrm>
              <a:off x="3678" y="3349"/>
              <a:ext cx="2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CC0000"/>
                  </a:solidFill>
                  <a:latin typeface="Comic Sans MS" pitchFamily="66" charset="0"/>
                </a:rPr>
                <a:t>n</a:t>
              </a:r>
              <a:r>
                <a:rPr lang="en-US" sz="2000" baseline="-25000">
                  <a:solidFill>
                    <a:srgbClr val="CC0000"/>
                  </a:solidFill>
                  <a:latin typeface="Comic Sans MS" pitchFamily="66" charset="0"/>
                </a:rPr>
                <a:t>1</a:t>
              </a:r>
              <a:endParaRPr lang="en-US" sz="2000">
                <a:solidFill>
                  <a:srgbClr val="CC0000"/>
                </a:solidFill>
                <a:latin typeface="Comic Sans MS" pitchFamily="66" charset="0"/>
              </a:endParaRPr>
            </a:p>
          </p:txBody>
        </p:sp>
        <p:sp>
          <p:nvSpPr>
            <p:cNvPr id="41" name="Text Box 68"/>
            <p:cNvSpPr txBox="1">
              <a:spLocks noChangeArrowheads="1"/>
            </p:cNvSpPr>
            <p:nvPr/>
          </p:nvSpPr>
          <p:spPr bwMode="auto">
            <a:xfrm>
              <a:off x="4627" y="3338"/>
              <a:ext cx="2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CC0000"/>
                  </a:solidFill>
                  <a:latin typeface="Comic Sans MS" pitchFamily="66" charset="0"/>
                </a:rPr>
                <a:t>n</a:t>
              </a:r>
              <a:r>
                <a:rPr lang="en-US" sz="2000" baseline="-25000">
                  <a:solidFill>
                    <a:srgbClr val="CC0000"/>
                  </a:solidFill>
                  <a:latin typeface="Comic Sans MS" pitchFamily="66" charset="0"/>
                </a:rPr>
                <a:t>2</a:t>
              </a:r>
              <a:endParaRPr lang="en-US" sz="2000">
                <a:solidFill>
                  <a:srgbClr val="CC0000"/>
                </a:solidFill>
                <a:latin typeface="Comic Sans MS" pitchFamily="66" charset="0"/>
              </a:endParaRPr>
            </a:p>
          </p:txBody>
        </p:sp>
      </p:grpSp>
      <p:grpSp>
        <p:nvGrpSpPr>
          <p:cNvPr id="42" name="Group 4"/>
          <p:cNvGrpSpPr>
            <a:grpSpLocks/>
          </p:cNvGrpSpPr>
          <p:nvPr/>
        </p:nvGrpSpPr>
        <p:grpSpPr bwMode="auto">
          <a:xfrm>
            <a:off x="5305425" y="3641726"/>
            <a:ext cx="3114675" cy="1239838"/>
            <a:chOff x="3629" y="2150"/>
            <a:chExt cx="1962" cy="781"/>
          </a:xfrm>
        </p:grpSpPr>
        <p:sp>
          <p:nvSpPr>
            <p:cNvPr id="45" name="Rectangle 7"/>
            <p:cNvSpPr>
              <a:spLocks noChangeArrowheads="1"/>
            </p:cNvSpPr>
            <p:nvPr/>
          </p:nvSpPr>
          <p:spPr bwMode="auto">
            <a:xfrm>
              <a:off x="4919" y="215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7</a:t>
              </a:r>
              <a:endParaRPr lang="en-US" sz="2400" baseline="-25000">
                <a:solidFill>
                  <a:schemeClr val="accent2"/>
                </a:solidFill>
              </a:endParaRPr>
            </a:p>
          </p:txBody>
        </p:sp>
        <p:sp>
          <p:nvSpPr>
            <p:cNvPr id="46" name="Rectangle 8"/>
            <p:cNvSpPr>
              <a:spLocks noChangeArrowheads="1"/>
            </p:cNvSpPr>
            <p:nvPr/>
          </p:nvSpPr>
          <p:spPr bwMode="auto">
            <a:xfrm>
              <a:off x="4583" y="215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47" name="Rectangle 9"/>
            <p:cNvSpPr>
              <a:spLocks noChangeArrowheads="1"/>
            </p:cNvSpPr>
            <p:nvPr/>
          </p:nvSpPr>
          <p:spPr bwMode="auto">
            <a:xfrm>
              <a:off x="4247" y="215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48" name="Rectangle 10"/>
            <p:cNvSpPr>
              <a:spLocks noChangeArrowheads="1"/>
            </p:cNvSpPr>
            <p:nvPr/>
          </p:nvSpPr>
          <p:spPr bwMode="auto">
            <a:xfrm>
              <a:off x="3911" y="215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2</a:t>
              </a:r>
              <a:endParaRPr lang="en-US" sz="2400" baseline="-25000">
                <a:solidFill>
                  <a:schemeClr val="accent2"/>
                </a:solidFill>
              </a:endParaRPr>
            </a:p>
          </p:txBody>
        </p:sp>
        <p:sp>
          <p:nvSpPr>
            <p:cNvPr id="49" name="Line 11"/>
            <p:cNvSpPr>
              <a:spLocks noChangeShapeType="1"/>
            </p:cNvSpPr>
            <p:nvPr/>
          </p:nvSpPr>
          <p:spPr bwMode="auto">
            <a:xfrm>
              <a:off x="3911" y="215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50" name="Line 12"/>
            <p:cNvSpPr>
              <a:spLocks noChangeShapeType="1"/>
            </p:cNvSpPr>
            <p:nvPr/>
          </p:nvSpPr>
          <p:spPr bwMode="auto">
            <a:xfrm>
              <a:off x="4247" y="215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4583" y="215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4919" y="215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53" name="Line 15"/>
            <p:cNvSpPr>
              <a:spLocks noChangeShapeType="1"/>
            </p:cNvSpPr>
            <p:nvPr/>
          </p:nvSpPr>
          <p:spPr bwMode="auto">
            <a:xfrm>
              <a:off x="5255" y="215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54" name="Rectangle 16"/>
            <p:cNvSpPr>
              <a:spLocks noChangeArrowheads="1"/>
            </p:cNvSpPr>
            <p:nvPr/>
          </p:nvSpPr>
          <p:spPr bwMode="auto">
            <a:xfrm>
              <a:off x="4919" y="264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6</a:t>
              </a:r>
              <a:endParaRPr lang="en-US" sz="2400" baseline="-25000">
                <a:solidFill>
                  <a:schemeClr val="accent2"/>
                </a:solidFill>
              </a:endParaRPr>
            </a:p>
          </p:txBody>
        </p:sp>
        <p:sp>
          <p:nvSpPr>
            <p:cNvPr id="55" name="Rectangle 17"/>
            <p:cNvSpPr>
              <a:spLocks noChangeArrowheads="1"/>
            </p:cNvSpPr>
            <p:nvPr/>
          </p:nvSpPr>
          <p:spPr bwMode="auto">
            <a:xfrm>
              <a:off x="4583" y="264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56" name="Rectangle 18"/>
            <p:cNvSpPr>
              <a:spLocks noChangeArrowheads="1"/>
            </p:cNvSpPr>
            <p:nvPr/>
          </p:nvSpPr>
          <p:spPr bwMode="auto">
            <a:xfrm>
              <a:off x="4247" y="264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57" name="Rectangle 19"/>
            <p:cNvSpPr>
              <a:spLocks noChangeArrowheads="1"/>
            </p:cNvSpPr>
            <p:nvPr/>
          </p:nvSpPr>
          <p:spPr bwMode="auto">
            <a:xfrm>
              <a:off x="3911" y="264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1</a:t>
              </a:r>
              <a:endParaRPr lang="en-US" sz="2400" baseline="-25000">
                <a:solidFill>
                  <a:schemeClr val="accent2"/>
                </a:solidFill>
              </a:endParaRPr>
            </a:p>
          </p:txBody>
        </p:sp>
        <p:sp>
          <p:nvSpPr>
            <p:cNvPr id="58" name="Line 20"/>
            <p:cNvSpPr>
              <a:spLocks noChangeShapeType="1"/>
            </p:cNvSpPr>
            <p:nvPr/>
          </p:nvSpPr>
          <p:spPr bwMode="auto">
            <a:xfrm>
              <a:off x="3911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59" name="Line 21"/>
            <p:cNvSpPr>
              <a:spLocks noChangeShapeType="1"/>
            </p:cNvSpPr>
            <p:nvPr/>
          </p:nvSpPr>
          <p:spPr bwMode="auto">
            <a:xfrm>
              <a:off x="4247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60" name="Line 22"/>
            <p:cNvSpPr>
              <a:spLocks noChangeShapeType="1"/>
            </p:cNvSpPr>
            <p:nvPr/>
          </p:nvSpPr>
          <p:spPr bwMode="auto">
            <a:xfrm>
              <a:off x="4583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61" name="Line 23"/>
            <p:cNvSpPr>
              <a:spLocks noChangeShapeType="1"/>
            </p:cNvSpPr>
            <p:nvPr/>
          </p:nvSpPr>
          <p:spPr bwMode="auto">
            <a:xfrm>
              <a:off x="4919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62" name="Line 24"/>
            <p:cNvSpPr>
              <a:spLocks noChangeShapeType="1"/>
            </p:cNvSpPr>
            <p:nvPr/>
          </p:nvSpPr>
          <p:spPr bwMode="auto">
            <a:xfrm>
              <a:off x="5255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65" name="Text Box 27"/>
            <p:cNvSpPr txBox="1">
              <a:spLocks noChangeArrowheads="1"/>
            </p:cNvSpPr>
            <p:nvPr/>
          </p:nvSpPr>
          <p:spPr bwMode="auto">
            <a:xfrm>
              <a:off x="3653" y="2160"/>
              <a:ext cx="23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</a:t>
              </a:r>
            </a:p>
          </p:txBody>
        </p:sp>
        <p:sp>
          <p:nvSpPr>
            <p:cNvPr id="66" name="Text Box 28"/>
            <p:cNvSpPr txBox="1">
              <a:spLocks noChangeArrowheads="1"/>
            </p:cNvSpPr>
            <p:nvPr/>
          </p:nvSpPr>
          <p:spPr bwMode="auto">
            <a:xfrm>
              <a:off x="3629" y="2640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</a:t>
              </a:r>
            </a:p>
          </p:txBody>
        </p:sp>
        <p:sp>
          <p:nvSpPr>
            <p:cNvPr id="67" name="Rectangle 29"/>
            <p:cNvSpPr>
              <a:spLocks noChangeArrowheads="1"/>
            </p:cNvSpPr>
            <p:nvPr/>
          </p:nvSpPr>
          <p:spPr bwMode="auto">
            <a:xfrm>
              <a:off x="5255" y="215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sym typeface="Symbol" pitchFamily="18" charset="2"/>
                </a:rPr>
                <a:t></a:t>
              </a:r>
              <a:endParaRPr lang="en-US" sz="2400" baseline="-25000">
                <a:solidFill>
                  <a:schemeClr val="accent2"/>
                </a:solidFill>
                <a:sym typeface="Symbol" pitchFamily="18" charset="2"/>
              </a:endParaRPr>
            </a:p>
          </p:txBody>
        </p:sp>
        <p:sp>
          <p:nvSpPr>
            <p:cNvPr id="68" name="Rectangle 30"/>
            <p:cNvSpPr>
              <a:spLocks noChangeArrowheads="1"/>
            </p:cNvSpPr>
            <p:nvPr/>
          </p:nvSpPr>
          <p:spPr bwMode="auto">
            <a:xfrm>
              <a:off x="5255" y="264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sym typeface="Symbol" pitchFamily="18" charset="2"/>
                </a:rPr>
                <a:t></a:t>
              </a:r>
            </a:p>
          </p:txBody>
        </p:sp>
      </p:grpSp>
      <p:sp>
        <p:nvSpPr>
          <p:cNvPr id="69" name="Rectangle 68"/>
          <p:cNvSpPr/>
          <p:nvPr/>
        </p:nvSpPr>
        <p:spPr>
          <a:xfrm>
            <a:off x="1066800" y="2286000"/>
            <a:ext cx="7162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0" name="Rectangle 69"/>
          <p:cNvSpPr/>
          <p:nvPr/>
        </p:nvSpPr>
        <p:spPr>
          <a:xfrm>
            <a:off x="838200" y="2667000"/>
            <a:ext cx="44958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8426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69" grpId="0" animBg="1"/>
      <p:bldP spid="7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228600"/>
            <a:ext cx="8991600" cy="838200"/>
          </a:xfrm>
        </p:spPr>
        <p:txBody>
          <a:bodyPr>
            <a:noAutofit/>
          </a:bodyPr>
          <a:lstStyle/>
          <a:p>
            <a:r>
              <a:rPr lang="en-US" altLang="en-US" b="1" dirty="0" err="1">
                <a:solidFill>
                  <a:schemeClr val="tx1"/>
                </a:solidFill>
              </a:rPr>
              <a:t>Pseudocode</a:t>
            </a:r>
            <a:r>
              <a:rPr lang="en-US" altLang="en-US" b="1" dirty="0">
                <a:solidFill>
                  <a:schemeClr val="tx1"/>
                </a:solidFill>
              </a:rPr>
              <a:t> of the MERGE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68977" y="533400"/>
            <a:ext cx="7865423" cy="5791200"/>
          </a:xfrm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MERGE (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p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q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)</a:t>
            </a:r>
          </a:p>
          <a:p>
            <a:pPr marL="400050" lvl="1" indent="0">
              <a:buNone/>
            </a:pPr>
            <a:r>
              <a:rPr 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. . .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10.    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 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← 1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11.    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j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← 1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12.    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k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←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p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TO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13.         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DO IF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L[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] ≤ R[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j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14.                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THEN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A[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k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 ← L[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]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15.                        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←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i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+ 1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16.                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ELSE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A[k] ← R[j]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17.                        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j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←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j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+ 1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</a:t>
            </a: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5334000" y="471487"/>
            <a:ext cx="3100388" cy="1738313"/>
            <a:chOff x="3305" y="2504"/>
            <a:chExt cx="1953" cy="1095"/>
          </a:xfrm>
        </p:grpSpPr>
        <p:sp>
          <p:nvSpPr>
            <p:cNvPr id="5" name="Text Box 32"/>
            <p:cNvSpPr txBox="1">
              <a:spLocks noChangeArrowheads="1"/>
            </p:cNvSpPr>
            <p:nvPr/>
          </p:nvSpPr>
          <p:spPr bwMode="auto">
            <a:xfrm>
              <a:off x="332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1</a:t>
              </a:r>
            </a:p>
          </p:txBody>
        </p:sp>
        <p:sp>
          <p:nvSpPr>
            <p:cNvPr id="6" name="Text Box 33"/>
            <p:cNvSpPr txBox="1">
              <a:spLocks noChangeArrowheads="1"/>
            </p:cNvSpPr>
            <p:nvPr/>
          </p:nvSpPr>
          <p:spPr bwMode="auto">
            <a:xfrm>
              <a:off x="356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7" name="Text Box 34"/>
            <p:cNvSpPr txBox="1">
              <a:spLocks noChangeArrowheads="1"/>
            </p:cNvSpPr>
            <p:nvPr/>
          </p:nvSpPr>
          <p:spPr bwMode="auto">
            <a:xfrm>
              <a:off x="380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3</a:t>
              </a:r>
            </a:p>
          </p:txBody>
        </p:sp>
        <p:sp>
          <p:nvSpPr>
            <p:cNvPr id="8" name="Text Box 35"/>
            <p:cNvSpPr txBox="1">
              <a:spLocks noChangeArrowheads="1"/>
            </p:cNvSpPr>
            <p:nvPr/>
          </p:nvSpPr>
          <p:spPr bwMode="auto">
            <a:xfrm>
              <a:off x="404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9" name="Text Box 36"/>
            <p:cNvSpPr txBox="1">
              <a:spLocks noChangeArrowheads="1"/>
            </p:cNvSpPr>
            <p:nvPr/>
          </p:nvSpPr>
          <p:spPr bwMode="auto">
            <a:xfrm>
              <a:off x="428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10" name="Text Box 37"/>
            <p:cNvSpPr txBox="1">
              <a:spLocks noChangeArrowheads="1"/>
            </p:cNvSpPr>
            <p:nvPr/>
          </p:nvSpPr>
          <p:spPr bwMode="auto">
            <a:xfrm>
              <a:off x="452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6</a:t>
              </a:r>
            </a:p>
          </p:txBody>
        </p:sp>
        <p:sp>
          <p:nvSpPr>
            <p:cNvPr id="11" name="Text Box 38"/>
            <p:cNvSpPr txBox="1">
              <a:spLocks noChangeArrowheads="1"/>
            </p:cNvSpPr>
            <p:nvPr/>
          </p:nvSpPr>
          <p:spPr bwMode="auto">
            <a:xfrm>
              <a:off x="476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7</a:t>
              </a:r>
            </a:p>
          </p:txBody>
        </p:sp>
        <p:sp>
          <p:nvSpPr>
            <p:cNvPr id="12" name="Text Box 39"/>
            <p:cNvSpPr txBox="1">
              <a:spLocks noChangeArrowheads="1"/>
            </p:cNvSpPr>
            <p:nvPr/>
          </p:nvSpPr>
          <p:spPr bwMode="auto">
            <a:xfrm>
              <a:off x="5001" y="2758"/>
              <a:ext cx="14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8</a:t>
              </a:r>
            </a:p>
          </p:txBody>
        </p:sp>
        <p:sp>
          <p:nvSpPr>
            <p:cNvPr id="13" name="Rectangle 40"/>
            <p:cNvSpPr>
              <a:spLocks noChangeArrowheads="1"/>
            </p:cNvSpPr>
            <p:nvPr/>
          </p:nvSpPr>
          <p:spPr bwMode="auto">
            <a:xfrm>
              <a:off x="498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14" name="Rectangle 41"/>
            <p:cNvSpPr>
              <a:spLocks noChangeArrowheads="1"/>
            </p:cNvSpPr>
            <p:nvPr/>
          </p:nvSpPr>
          <p:spPr bwMode="auto">
            <a:xfrm>
              <a:off x="474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15" name="Rectangle 42"/>
            <p:cNvSpPr>
              <a:spLocks noChangeArrowheads="1"/>
            </p:cNvSpPr>
            <p:nvPr/>
          </p:nvSpPr>
          <p:spPr bwMode="auto">
            <a:xfrm>
              <a:off x="450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16" name="Rectangle 43"/>
            <p:cNvSpPr>
              <a:spLocks noChangeArrowheads="1"/>
            </p:cNvSpPr>
            <p:nvPr/>
          </p:nvSpPr>
          <p:spPr bwMode="auto">
            <a:xfrm>
              <a:off x="426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17" name="Rectangle 44"/>
            <p:cNvSpPr>
              <a:spLocks noChangeArrowheads="1"/>
            </p:cNvSpPr>
            <p:nvPr/>
          </p:nvSpPr>
          <p:spPr bwMode="auto">
            <a:xfrm>
              <a:off x="402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18" name="Rectangle 45"/>
            <p:cNvSpPr>
              <a:spLocks noChangeArrowheads="1"/>
            </p:cNvSpPr>
            <p:nvPr/>
          </p:nvSpPr>
          <p:spPr bwMode="auto">
            <a:xfrm>
              <a:off x="378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19" name="Rectangle 46"/>
            <p:cNvSpPr>
              <a:spLocks noChangeArrowheads="1"/>
            </p:cNvSpPr>
            <p:nvPr/>
          </p:nvSpPr>
          <p:spPr bwMode="auto">
            <a:xfrm>
              <a:off x="354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20" name="Rectangle 47"/>
            <p:cNvSpPr>
              <a:spLocks noChangeArrowheads="1"/>
            </p:cNvSpPr>
            <p:nvPr/>
          </p:nvSpPr>
          <p:spPr bwMode="auto">
            <a:xfrm>
              <a:off x="3306" y="2915"/>
              <a:ext cx="24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21" name="Line 48"/>
            <p:cNvSpPr>
              <a:spLocks noChangeShapeType="1"/>
            </p:cNvSpPr>
            <p:nvPr/>
          </p:nvSpPr>
          <p:spPr bwMode="auto">
            <a:xfrm>
              <a:off x="3306" y="2915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2" name="Line 49"/>
            <p:cNvSpPr>
              <a:spLocks noChangeShapeType="1"/>
            </p:cNvSpPr>
            <p:nvPr/>
          </p:nvSpPr>
          <p:spPr bwMode="auto">
            <a:xfrm>
              <a:off x="3306" y="3145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Line 50"/>
            <p:cNvSpPr>
              <a:spLocks noChangeShapeType="1"/>
            </p:cNvSpPr>
            <p:nvPr/>
          </p:nvSpPr>
          <p:spPr bwMode="auto">
            <a:xfrm>
              <a:off x="3306" y="2915"/>
              <a:ext cx="0" cy="2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354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5" name="Line 52"/>
            <p:cNvSpPr>
              <a:spLocks noChangeShapeType="1"/>
            </p:cNvSpPr>
            <p:nvPr/>
          </p:nvSpPr>
          <p:spPr bwMode="auto">
            <a:xfrm>
              <a:off x="378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Line 53"/>
            <p:cNvSpPr>
              <a:spLocks noChangeShapeType="1"/>
            </p:cNvSpPr>
            <p:nvPr/>
          </p:nvSpPr>
          <p:spPr bwMode="auto">
            <a:xfrm>
              <a:off x="402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7" name="Line 54"/>
            <p:cNvSpPr>
              <a:spLocks noChangeShapeType="1"/>
            </p:cNvSpPr>
            <p:nvPr/>
          </p:nvSpPr>
          <p:spPr bwMode="auto">
            <a:xfrm>
              <a:off x="426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8" name="Line 55"/>
            <p:cNvSpPr>
              <a:spLocks noChangeShapeType="1"/>
            </p:cNvSpPr>
            <p:nvPr/>
          </p:nvSpPr>
          <p:spPr bwMode="auto">
            <a:xfrm>
              <a:off x="450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29" name="Line 56"/>
            <p:cNvSpPr>
              <a:spLocks noChangeShapeType="1"/>
            </p:cNvSpPr>
            <p:nvPr/>
          </p:nvSpPr>
          <p:spPr bwMode="auto">
            <a:xfrm>
              <a:off x="474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30" name="Line 57"/>
            <p:cNvSpPr>
              <a:spLocks noChangeShapeType="1"/>
            </p:cNvSpPr>
            <p:nvPr/>
          </p:nvSpPr>
          <p:spPr bwMode="auto">
            <a:xfrm>
              <a:off x="4986" y="2915"/>
              <a:ext cx="0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31" name="Line 58"/>
            <p:cNvSpPr>
              <a:spLocks noChangeShapeType="1"/>
            </p:cNvSpPr>
            <p:nvPr/>
          </p:nvSpPr>
          <p:spPr bwMode="auto">
            <a:xfrm>
              <a:off x="5226" y="2915"/>
              <a:ext cx="0" cy="2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32" name="Line 59"/>
            <p:cNvSpPr>
              <a:spLocks noChangeShapeType="1"/>
            </p:cNvSpPr>
            <p:nvPr/>
          </p:nvSpPr>
          <p:spPr bwMode="auto">
            <a:xfrm>
              <a:off x="3455" y="2787"/>
              <a:ext cx="7" cy="1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33" name="Text Box 60"/>
            <p:cNvSpPr txBox="1">
              <a:spLocks noChangeArrowheads="1"/>
            </p:cNvSpPr>
            <p:nvPr/>
          </p:nvSpPr>
          <p:spPr bwMode="auto">
            <a:xfrm>
              <a:off x="3376" y="2507"/>
              <a:ext cx="20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CC0000"/>
                  </a:solidFill>
                  <a:latin typeface="Comic Sans MS" pitchFamily="66" charset="0"/>
                </a:rPr>
                <a:t>p</a:t>
              </a:r>
            </a:p>
          </p:txBody>
        </p:sp>
        <p:sp>
          <p:nvSpPr>
            <p:cNvPr id="34" name="Line 61"/>
            <p:cNvSpPr>
              <a:spLocks noChangeShapeType="1"/>
            </p:cNvSpPr>
            <p:nvPr/>
          </p:nvSpPr>
          <p:spPr bwMode="auto">
            <a:xfrm>
              <a:off x="5144" y="2784"/>
              <a:ext cx="7" cy="1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35" name="Text Box 62"/>
            <p:cNvSpPr txBox="1">
              <a:spLocks noChangeArrowheads="1"/>
            </p:cNvSpPr>
            <p:nvPr/>
          </p:nvSpPr>
          <p:spPr bwMode="auto">
            <a:xfrm>
              <a:off x="5065" y="2504"/>
              <a:ext cx="1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CC0000"/>
                  </a:solidFill>
                  <a:latin typeface="Comic Sans MS" pitchFamily="66" charset="0"/>
                </a:rPr>
                <a:t>r</a:t>
              </a:r>
            </a:p>
          </p:txBody>
        </p:sp>
        <p:sp>
          <p:nvSpPr>
            <p:cNvPr id="36" name="Line 63"/>
            <p:cNvSpPr>
              <a:spLocks noChangeShapeType="1"/>
            </p:cNvSpPr>
            <p:nvPr/>
          </p:nvSpPr>
          <p:spPr bwMode="auto">
            <a:xfrm>
              <a:off x="4188" y="2802"/>
              <a:ext cx="7" cy="1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37" name="Text Box 64"/>
            <p:cNvSpPr txBox="1">
              <a:spLocks noChangeArrowheads="1"/>
            </p:cNvSpPr>
            <p:nvPr/>
          </p:nvSpPr>
          <p:spPr bwMode="auto">
            <a:xfrm>
              <a:off x="4109" y="2522"/>
              <a:ext cx="1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CC0000"/>
                  </a:solidFill>
                  <a:latin typeface="Comic Sans MS" pitchFamily="66" charset="0"/>
                </a:rPr>
                <a:t>q</a:t>
              </a:r>
            </a:p>
          </p:txBody>
        </p:sp>
        <p:sp>
          <p:nvSpPr>
            <p:cNvPr id="38" name="AutoShape 65"/>
            <p:cNvSpPr>
              <a:spLocks/>
            </p:cNvSpPr>
            <p:nvPr/>
          </p:nvSpPr>
          <p:spPr bwMode="auto">
            <a:xfrm rot="-5400000">
              <a:off x="3727" y="2798"/>
              <a:ext cx="106" cy="949"/>
            </a:xfrm>
            <a:prstGeom prst="leftBrace">
              <a:avLst>
                <a:gd name="adj1" fmla="val 7460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39" name="AutoShape 66"/>
            <p:cNvSpPr>
              <a:spLocks/>
            </p:cNvSpPr>
            <p:nvPr/>
          </p:nvSpPr>
          <p:spPr bwMode="auto">
            <a:xfrm rot="-5400000">
              <a:off x="4690" y="2798"/>
              <a:ext cx="106" cy="949"/>
            </a:xfrm>
            <a:prstGeom prst="leftBrace">
              <a:avLst>
                <a:gd name="adj1" fmla="val 7460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40" name="Text Box 67"/>
            <p:cNvSpPr txBox="1">
              <a:spLocks noChangeArrowheads="1"/>
            </p:cNvSpPr>
            <p:nvPr/>
          </p:nvSpPr>
          <p:spPr bwMode="auto">
            <a:xfrm>
              <a:off x="3678" y="3349"/>
              <a:ext cx="2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CC0000"/>
                  </a:solidFill>
                  <a:latin typeface="Comic Sans MS" pitchFamily="66" charset="0"/>
                </a:rPr>
                <a:t>n</a:t>
              </a:r>
              <a:r>
                <a:rPr lang="en-US" sz="2000" baseline="-25000">
                  <a:solidFill>
                    <a:srgbClr val="CC0000"/>
                  </a:solidFill>
                  <a:latin typeface="Comic Sans MS" pitchFamily="66" charset="0"/>
                </a:rPr>
                <a:t>1</a:t>
              </a:r>
              <a:endParaRPr lang="en-US" sz="2000">
                <a:solidFill>
                  <a:srgbClr val="CC0000"/>
                </a:solidFill>
                <a:latin typeface="Comic Sans MS" pitchFamily="66" charset="0"/>
              </a:endParaRPr>
            </a:p>
          </p:txBody>
        </p:sp>
        <p:sp>
          <p:nvSpPr>
            <p:cNvPr id="41" name="Text Box 68"/>
            <p:cNvSpPr txBox="1">
              <a:spLocks noChangeArrowheads="1"/>
            </p:cNvSpPr>
            <p:nvPr/>
          </p:nvSpPr>
          <p:spPr bwMode="auto">
            <a:xfrm>
              <a:off x="4627" y="3338"/>
              <a:ext cx="2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CC0000"/>
                  </a:solidFill>
                  <a:latin typeface="Comic Sans MS" pitchFamily="66" charset="0"/>
                </a:rPr>
                <a:t>n</a:t>
              </a:r>
              <a:r>
                <a:rPr lang="en-US" sz="2000" baseline="-25000">
                  <a:solidFill>
                    <a:srgbClr val="CC0000"/>
                  </a:solidFill>
                  <a:latin typeface="Comic Sans MS" pitchFamily="66" charset="0"/>
                </a:rPr>
                <a:t>2</a:t>
              </a:r>
              <a:endParaRPr lang="en-US" sz="2000">
                <a:solidFill>
                  <a:srgbClr val="CC0000"/>
                </a:solidFill>
                <a:latin typeface="Comic Sans MS" pitchFamily="66" charset="0"/>
              </a:endParaRPr>
            </a:p>
          </p:txBody>
        </p:sp>
      </p:grpSp>
      <p:grpSp>
        <p:nvGrpSpPr>
          <p:cNvPr id="42" name="Group 4"/>
          <p:cNvGrpSpPr>
            <a:grpSpLocks/>
          </p:cNvGrpSpPr>
          <p:nvPr/>
        </p:nvGrpSpPr>
        <p:grpSpPr bwMode="auto">
          <a:xfrm>
            <a:off x="5305425" y="3641726"/>
            <a:ext cx="3114675" cy="1239838"/>
            <a:chOff x="3629" y="2150"/>
            <a:chExt cx="1962" cy="781"/>
          </a:xfrm>
        </p:grpSpPr>
        <p:sp>
          <p:nvSpPr>
            <p:cNvPr id="45" name="Rectangle 7"/>
            <p:cNvSpPr>
              <a:spLocks noChangeArrowheads="1"/>
            </p:cNvSpPr>
            <p:nvPr/>
          </p:nvSpPr>
          <p:spPr bwMode="auto">
            <a:xfrm>
              <a:off x="4919" y="215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7</a:t>
              </a:r>
              <a:endParaRPr lang="en-US" sz="2400" baseline="-25000">
                <a:solidFill>
                  <a:schemeClr val="accent2"/>
                </a:solidFill>
              </a:endParaRPr>
            </a:p>
          </p:txBody>
        </p:sp>
        <p:sp>
          <p:nvSpPr>
            <p:cNvPr id="46" name="Rectangle 8"/>
            <p:cNvSpPr>
              <a:spLocks noChangeArrowheads="1"/>
            </p:cNvSpPr>
            <p:nvPr/>
          </p:nvSpPr>
          <p:spPr bwMode="auto">
            <a:xfrm>
              <a:off x="4583" y="215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47" name="Rectangle 9"/>
            <p:cNvSpPr>
              <a:spLocks noChangeArrowheads="1"/>
            </p:cNvSpPr>
            <p:nvPr/>
          </p:nvSpPr>
          <p:spPr bwMode="auto">
            <a:xfrm>
              <a:off x="4247" y="215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48" name="Rectangle 10"/>
            <p:cNvSpPr>
              <a:spLocks noChangeArrowheads="1"/>
            </p:cNvSpPr>
            <p:nvPr/>
          </p:nvSpPr>
          <p:spPr bwMode="auto">
            <a:xfrm>
              <a:off x="3911" y="215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2</a:t>
              </a:r>
              <a:endParaRPr lang="en-US" sz="2400" baseline="-25000">
                <a:solidFill>
                  <a:schemeClr val="accent2"/>
                </a:solidFill>
              </a:endParaRPr>
            </a:p>
          </p:txBody>
        </p:sp>
        <p:sp>
          <p:nvSpPr>
            <p:cNvPr id="49" name="Line 11"/>
            <p:cNvSpPr>
              <a:spLocks noChangeShapeType="1"/>
            </p:cNvSpPr>
            <p:nvPr/>
          </p:nvSpPr>
          <p:spPr bwMode="auto">
            <a:xfrm>
              <a:off x="3911" y="215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50" name="Line 12"/>
            <p:cNvSpPr>
              <a:spLocks noChangeShapeType="1"/>
            </p:cNvSpPr>
            <p:nvPr/>
          </p:nvSpPr>
          <p:spPr bwMode="auto">
            <a:xfrm>
              <a:off x="4247" y="215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4583" y="215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4919" y="215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53" name="Line 15"/>
            <p:cNvSpPr>
              <a:spLocks noChangeShapeType="1"/>
            </p:cNvSpPr>
            <p:nvPr/>
          </p:nvSpPr>
          <p:spPr bwMode="auto">
            <a:xfrm>
              <a:off x="5255" y="215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54" name="Rectangle 16"/>
            <p:cNvSpPr>
              <a:spLocks noChangeArrowheads="1"/>
            </p:cNvSpPr>
            <p:nvPr/>
          </p:nvSpPr>
          <p:spPr bwMode="auto">
            <a:xfrm>
              <a:off x="4919" y="264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6</a:t>
              </a:r>
              <a:endParaRPr lang="en-US" sz="2400" baseline="-25000">
                <a:solidFill>
                  <a:schemeClr val="accent2"/>
                </a:solidFill>
              </a:endParaRPr>
            </a:p>
          </p:txBody>
        </p:sp>
        <p:sp>
          <p:nvSpPr>
            <p:cNvPr id="55" name="Rectangle 17"/>
            <p:cNvSpPr>
              <a:spLocks noChangeArrowheads="1"/>
            </p:cNvSpPr>
            <p:nvPr/>
          </p:nvSpPr>
          <p:spPr bwMode="auto">
            <a:xfrm>
              <a:off x="4583" y="264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56" name="Rectangle 18"/>
            <p:cNvSpPr>
              <a:spLocks noChangeArrowheads="1"/>
            </p:cNvSpPr>
            <p:nvPr/>
          </p:nvSpPr>
          <p:spPr bwMode="auto">
            <a:xfrm>
              <a:off x="4247" y="264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57" name="Rectangle 19"/>
            <p:cNvSpPr>
              <a:spLocks noChangeArrowheads="1"/>
            </p:cNvSpPr>
            <p:nvPr/>
          </p:nvSpPr>
          <p:spPr bwMode="auto">
            <a:xfrm>
              <a:off x="3911" y="264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1</a:t>
              </a:r>
              <a:endParaRPr lang="en-US" sz="2400" baseline="-25000">
                <a:solidFill>
                  <a:schemeClr val="accent2"/>
                </a:solidFill>
              </a:endParaRPr>
            </a:p>
          </p:txBody>
        </p:sp>
        <p:sp>
          <p:nvSpPr>
            <p:cNvPr id="58" name="Line 20"/>
            <p:cNvSpPr>
              <a:spLocks noChangeShapeType="1"/>
            </p:cNvSpPr>
            <p:nvPr/>
          </p:nvSpPr>
          <p:spPr bwMode="auto">
            <a:xfrm>
              <a:off x="3911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59" name="Line 21"/>
            <p:cNvSpPr>
              <a:spLocks noChangeShapeType="1"/>
            </p:cNvSpPr>
            <p:nvPr/>
          </p:nvSpPr>
          <p:spPr bwMode="auto">
            <a:xfrm>
              <a:off x="4247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60" name="Line 22"/>
            <p:cNvSpPr>
              <a:spLocks noChangeShapeType="1"/>
            </p:cNvSpPr>
            <p:nvPr/>
          </p:nvSpPr>
          <p:spPr bwMode="auto">
            <a:xfrm>
              <a:off x="4583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61" name="Line 23"/>
            <p:cNvSpPr>
              <a:spLocks noChangeShapeType="1"/>
            </p:cNvSpPr>
            <p:nvPr/>
          </p:nvSpPr>
          <p:spPr bwMode="auto">
            <a:xfrm>
              <a:off x="4919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62" name="Line 24"/>
            <p:cNvSpPr>
              <a:spLocks noChangeShapeType="1"/>
            </p:cNvSpPr>
            <p:nvPr/>
          </p:nvSpPr>
          <p:spPr bwMode="auto">
            <a:xfrm>
              <a:off x="5255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endParaRPr lang="ar-EG"/>
            </a:p>
          </p:txBody>
        </p:sp>
        <p:sp>
          <p:nvSpPr>
            <p:cNvPr id="63" name="Text Box 25"/>
            <p:cNvSpPr txBox="1">
              <a:spLocks noChangeArrowheads="1"/>
            </p:cNvSpPr>
            <p:nvPr/>
          </p:nvSpPr>
          <p:spPr bwMode="auto">
            <a:xfrm>
              <a:off x="5023" y="2486"/>
              <a:ext cx="13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000"/>
                <a:t>r</a:t>
              </a:r>
            </a:p>
          </p:txBody>
        </p:sp>
        <p:sp>
          <p:nvSpPr>
            <p:cNvPr id="65" name="Text Box 27"/>
            <p:cNvSpPr txBox="1">
              <a:spLocks noChangeArrowheads="1"/>
            </p:cNvSpPr>
            <p:nvPr/>
          </p:nvSpPr>
          <p:spPr bwMode="auto">
            <a:xfrm>
              <a:off x="3653" y="2160"/>
              <a:ext cx="23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</a:t>
              </a:r>
            </a:p>
          </p:txBody>
        </p:sp>
        <p:sp>
          <p:nvSpPr>
            <p:cNvPr id="66" name="Text Box 28"/>
            <p:cNvSpPr txBox="1">
              <a:spLocks noChangeArrowheads="1"/>
            </p:cNvSpPr>
            <p:nvPr/>
          </p:nvSpPr>
          <p:spPr bwMode="auto">
            <a:xfrm>
              <a:off x="3629" y="2640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</a:t>
              </a:r>
            </a:p>
          </p:txBody>
        </p:sp>
        <p:sp>
          <p:nvSpPr>
            <p:cNvPr id="67" name="Rectangle 29"/>
            <p:cNvSpPr>
              <a:spLocks noChangeArrowheads="1"/>
            </p:cNvSpPr>
            <p:nvPr/>
          </p:nvSpPr>
          <p:spPr bwMode="auto">
            <a:xfrm>
              <a:off x="5255" y="215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sym typeface="Symbol" pitchFamily="18" charset="2"/>
                </a:rPr>
                <a:t></a:t>
              </a:r>
              <a:endParaRPr lang="en-US" sz="2400" baseline="-25000">
                <a:solidFill>
                  <a:schemeClr val="accent2"/>
                </a:solidFill>
                <a:sym typeface="Symbol" pitchFamily="18" charset="2"/>
              </a:endParaRPr>
            </a:p>
          </p:txBody>
        </p:sp>
        <p:sp>
          <p:nvSpPr>
            <p:cNvPr id="68" name="Rectangle 30"/>
            <p:cNvSpPr>
              <a:spLocks noChangeArrowheads="1"/>
            </p:cNvSpPr>
            <p:nvPr/>
          </p:nvSpPr>
          <p:spPr bwMode="auto">
            <a:xfrm>
              <a:off x="5255" y="2640"/>
              <a:ext cx="336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sym typeface="Symbol" pitchFamily="18" charset="2"/>
                </a:rPr>
                <a:t></a:t>
              </a:r>
            </a:p>
          </p:txBody>
        </p:sp>
      </p:grpSp>
      <p:sp>
        <p:nvSpPr>
          <p:cNvPr id="69" name="Rectangle 68"/>
          <p:cNvSpPr/>
          <p:nvPr/>
        </p:nvSpPr>
        <p:spPr>
          <a:xfrm>
            <a:off x="1143000" y="1752600"/>
            <a:ext cx="38100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0" name="Rectangle 69"/>
          <p:cNvSpPr/>
          <p:nvPr/>
        </p:nvSpPr>
        <p:spPr>
          <a:xfrm>
            <a:off x="762000" y="2362200"/>
            <a:ext cx="44958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1" name="TextBox 70"/>
          <p:cNvSpPr txBox="1"/>
          <p:nvPr/>
        </p:nvSpPr>
        <p:spPr>
          <a:xfrm>
            <a:off x="5848920" y="5105400"/>
            <a:ext cx="247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</a:t>
            </a:r>
          </a:p>
        </p:txBody>
      </p:sp>
      <p:sp>
        <p:nvSpPr>
          <p:cNvPr id="72" name="Down Arrow 71"/>
          <p:cNvSpPr/>
          <p:nvPr/>
        </p:nvSpPr>
        <p:spPr bwMode="auto">
          <a:xfrm flipV="1">
            <a:off x="5885879" y="4881265"/>
            <a:ext cx="220359" cy="304800"/>
          </a:xfrm>
          <a:prstGeom prst="downArrow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925120" y="2743200"/>
            <a:ext cx="17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4" name="Down Arrow 73"/>
          <p:cNvSpPr/>
          <p:nvPr/>
        </p:nvSpPr>
        <p:spPr bwMode="auto">
          <a:xfrm>
            <a:off x="5943600" y="3276600"/>
            <a:ext cx="228600" cy="300335"/>
          </a:xfrm>
          <a:prstGeom prst="downArrow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373241" y="1748135"/>
            <a:ext cx="247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</a:t>
            </a:r>
          </a:p>
        </p:txBody>
      </p:sp>
      <p:sp>
        <p:nvSpPr>
          <p:cNvPr id="76" name="Down Arrow 75"/>
          <p:cNvSpPr/>
          <p:nvPr/>
        </p:nvSpPr>
        <p:spPr bwMode="auto">
          <a:xfrm flipV="1">
            <a:off x="5410200" y="1524000"/>
            <a:ext cx="220359" cy="304800"/>
          </a:xfrm>
          <a:prstGeom prst="downArrow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45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/>
      <p:bldP spid="72" grpId="0" animBg="1"/>
      <p:bldP spid="73" grpId="0"/>
      <p:bldP spid="74" grpId="0" animBg="1"/>
      <p:bldP spid="75" grpId="0"/>
      <p:bldP spid="7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Analysis of Merge Sort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6858000" cy="4648200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ALGORITHM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Mergesort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(A, p, r 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 IF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p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&lt;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                                   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THEN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q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= FLOOR[(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p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+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)/2]       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MERGE_Sort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(A,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p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q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                  T(n/2)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MERGE_Sort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(A,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q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+ 1,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             T(n/2)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 MERGE (A,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p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q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 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r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                       θ(n)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				T(n) =	2T(n/2) + θ(n)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Segoe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029200" y="5257800"/>
            <a:ext cx="1905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382977" y="6248400"/>
            <a:ext cx="2237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recurrence relation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6477000" y="5791200"/>
            <a:ext cx="609600" cy="424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5465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590800"/>
            <a:ext cx="77724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Binary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00" y="6172200"/>
            <a:ext cx="6096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867876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Binary search</a:t>
            </a:r>
            <a:br>
              <a:rPr lang="en-US" dirty="0"/>
            </a:br>
            <a:endParaRPr lang="en-US" dirty="0"/>
          </a:p>
        </p:txBody>
      </p: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3975100" y="0"/>
            <a:ext cx="3033203" cy="1015663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000" b="1" dirty="0"/>
              <a:t>low </a:t>
            </a:r>
            <a:r>
              <a:rPr lang="en-US" altLang="en-US" sz="2000" dirty="0">
                <a:sym typeface="Wingdings" panose="05000000000000000000" pitchFamily="2" charset="2"/>
              </a:rPr>
              <a:t> low index in range</a:t>
            </a:r>
          </a:p>
          <a:p>
            <a:r>
              <a:rPr lang="en-US" altLang="en-US" sz="2000" b="1" dirty="0">
                <a:sym typeface="Wingdings" panose="05000000000000000000" pitchFamily="2" charset="2"/>
              </a:rPr>
              <a:t>high</a:t>
            </a:r>
            <a:r>
              <a:rPr lang="en-US" altLang="en-US" sz="2000" dirty="0">
                <a:sym typeface="Wingdings" panose="05000000000000000000" pitchFamily="2" charset="2"/>
              </a:rPr>
              <a:t>  high index in range</a:t>
            </a:r>
          </a:p>
          <a:p>
            <a:r>
              <a:rPr lang="en-US" altLang="en-US" sz="2000" b="1" dirty="0">
                <a:sym typeface="Wingdings" panose="05000000000000000000" pitchFamily="2" charset="2"/>
              </a:rPr>
              <a:t>middle</a:t>
            </a:r>
            <a:r>
              <a:rPr lang="en-US" altLang="en-US" sz="2000" dirty="0">
                <a:sym typeface="Wingdings" panose="05000000000000000000" pitchFamily="2" charset="2"/>
              </a:rPr>
              <a:t>= ∟(low+ high)/2⅃</a:t>
            </a:r>
            <a:endParaRPr lang="en-US" altLang="en-US" sz="20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1428750" y="1511300"/>
          <a:ext cx="5643560" cy="731838"/>
        </p:xfrm>
        <a:graphic>
          <a:graphicData uri="http://schemas.openxmlformats.org/drawingml/2006/table">
            <a:tbl>
              <a:tblPr bandRow="1">
                <a:tableStyleId>{F2DE63D5-997A-4646-A377-4702673A728D}</a:tableStyleId>
              </a:tblPr>
              <a:tblGrid>
                <a:gridCol w="564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3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3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3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3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3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3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91439" marR="91439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91439" marR="91439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91439" marR="91439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91439" marR="91439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91439" marR="91439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91439" marR="91439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91439" marR="91439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marL="91439" marR="91439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</a:p>
                  </a:txBody>
                  <a:tcPr marL="91439" marR="91439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</a:t>
                      </a:r>
                    </a:p>
                  </a:txBody>
                  <a:tcPr marL="91439" marR="91439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91439" marR="91439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17</a:t>
                      </a:r>
                    </a:p>
                  </a:txBody>
                  <a:tcPr marL="91439" marR="91439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35</a:t>
                      </a:r>
                    </a:p>
                  </a:txBody>
                  <a:tcPr marL="91439" marR="91439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59</a:t>
                      </a:r>
                    </a:p>
                  </a:txBody>
                  <a:tcPr marL="91439" marR="91439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77</a:t>
                      </a:r>
                    </a:p>
                  </a:txBody>
                  <a:tcPr marL="91439" marR="91439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79</a:t>
                      </a:r>
                    </a:p>
                  </a:txBody>
                  <a:tcPr marL="91439" marR="91439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83</a:t>
                      </a:r>
                    </a:p>
                  </a:txBody>
                  <a:tcPr marL="91439" marR="91439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90</a:t>
                      </a:r>
                    </a:p>
                  </a:txBody>
                  <a:tcPr marL="91439" marR="91439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92</a:t>
                      </a:r>
                    </a:p>
                  </a:txBody>
                  <a:tcPr marL="91439" marR="91439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120</a:t>
                      </a:r>
                    </a:p>
                  </a:txBody>
                  <a:tcPr marL="91439" marR="91439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829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fld id="{1702FBD0-A0DC-4739-96FD-AA927C4ADD02}" type="slidenum">
              <a:rPr lang="en-US" altLang="en-US" sz="1400" smtClean="0">
                <a:solidFill>
                  <a:srgbClr val="FFFFFF"/>
                </a:solidFill>
              </a:rPr>
              <a:pPr/>
              <a:t>46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43813" y="1751013"/>
            <a:ext cx="857250" cy="50006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rgbClr val="C00000"/>
                </a:solidFill>
              </a:rPr>
              <a:t>79</a:t>
            </a:r>
          </a:p>
        </p:txBody>
      </p:sp>
      <p:sp>
        <p:nvSpPr>
          <p:cNvPr id="33834" name="TextBox 12"/>
          <p:cNvSpPr txBox="1">
            <a:spLocks noChangeArrowheads="1"/>
          </p:cNvSpPr>
          <p:nvPr/>
        </p:nvSpPr>
        <p:spPr bwMode="auto">
          <a:xfrm>
            <a:off x="7712075" y="1381125"/>
            <a:ext cx="646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b="1"/>
              <a:t>Key</a:t>
            </a:r>
          </a:p>
        </p:txBody>
      </p:sp>
      <p:sp>
        <p:nvSpPr>
          <p:cNvPr id="14" name="Oval 13"/>
          <p:cNvSpPr/>
          <p:nvPr/>
        </p:nvSpPr>
        <p:spPr>
          <a:xfrm>
            <a:off x="1571625" y="1549400"/>
            <a:ext cx="285750" cy="28575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rot="5400000" flipH="1" flipV="1">
            <a:off x="1540669" y="1375569"/>
            <a:ext cx="347662" cy="0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506538" y="863600"/>
            <a:ext cx="565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C00000"/>
                </a:solidFill>
                <a:latin typeface="Comic Sans MS" panose="030F0702030302020204" pitchFamily="66" charset="0"/>
              </a:rPr>
              <a:t>low</a:t>
            </a:r>
          </a:p>
        </p:txBody>
      </p:sp>
      <p:sp>
        <p:nvSpPr>
          <p:cNvPr id="19" name="Oval 18"/>
          <p:cNvSpPr/>
          <p:nvPr/>
        </p:nvSpPr>
        <p:spPr>
          <a:xfrm>
            <a:off x="6637338" y="1520825"/>
            <a:ext cx="285750" cy="28575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 flipH="1" flipV="1">
            <a:off x="6606382" y="1346994"/>
            <a:ext cx="347662" cy="0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6500813" y="835025"/>
            <a:ext cx="687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C00000"/>
                </a:solidFill>
                <a:latin typeface="Comic Sans MS" panose="030F0702030302020204" pitchFamily="66" charset="0"/>
              </a:rPr>
              <a:t>high</a:t>
            </a:r>
          </a:p>
        </p:txBody>
      </p:sp>
      <p:sp>
        <p:nvSpPr>
          <p:cNvPr id="23" name="Oval 22"/>
          <p:cNvSpPr/>
          <p:nvPr/>
        </p:nvSpPr>
        <p:spPr>
          <a:xfrm>
            <a:off x="3857625" y="1520825"/>
            <a:ext cx="285750" cy="28575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 rot="5400000" flipH="1" flipV="1">
            <a:off x="3826669" y="1346994"/>
            <a:ext cx="347662" cy="0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792538" y="835025"/>
            <a:ext cx="969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C00000"/>
                </a:solidFill>
                <a:latin typeface="Comic Sans MS" panose="030F0702030302020204" pitchFamily="66" charset="0"/>
              </a:rPr>
              <a:t>middle</a:t>
            </a:r>
          </a:p>
        </p:txBody>
      </p:sp>
      <p:sp>
        <p:nvSpPr>
          <p:cNvPr id="27" name="Oval 26"/>
          <p:cNvSpPr/>
          <p:nvPr/>
        </p:nvSpPr>
        <p:spPr>
          <a:xfrm>
            <a:off x="3786188" y="1906588"/>
            <a:ext cx="428625" cy="28575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286250" y="1906588"/>
            <a:ext cx="2786063" cy="357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4641850" y="2263775"/>
            <a:ext cx="22161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C00000"/>
                </a:solidFill>
                <a:latin typeface="Comic Sans MS" panose="030F0702030302020204" pitchFamily="66" charset="0"/>
              </a:rPr>
              <a:t>key &gt; a [middle]</a:t>
            </a:r>
          </a:p>
          <a:p>
            <a:pPr algn="ctr"/>
            <a:r>
              <a:rPr lang="en-US" altLang="en-US" sz="2000" b="1">
                <a:solidFill>
                  <a:srgbClr val="FF3300"/>
                </a:solidFill>
                <a:latin typeface="Comic Sans MS" panose="030F0702030302020204" pitchFamily="66" charset="0"/>
              </a:rPr>
              <a:t>low= middle+1</a:t>
            </a:r>
          </a:p>
        </p:txBody>
      </p:sp>
      <p:sp>
        <p:nvSpPr>
          <p:cNvPr id="53" name="Oval 52"/>
          <p:cNvSpPr/>
          <p:nvPr/>
        </p:nvSpPr>
        <p:spPr>
          <a:xfrm>
            <a:off x="4384675" y="1549400"/>
            <a:ext cx="285750" cy="285750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33CC"/>
              </a:solidFill>
            </a:endParaRPr>
          </a:p>
        </p:txBody>
      </p:sp>
      <p:cxnSp>
        <p:nvCxnSpPr>
          <p:cNvPr id="54" name="Straight Connector 53"/>
          <p:cNvCxnSpPr/>
          <p:nvPr/>
        </p:nvCxnSpPr>
        <p:spPr>
          <a:xfrm rot="5400000" flipH="1" flipV="1">
            <a:off x="4345782" y="1375569"/>
            <a:ext cx="347662" cy="0"/>
          </a:xfrm>
          <a:prstGeom prst="line">
            <a:avLst/>
          </a:prstGeom>
          <a:ln>
            <a:solidFill>
              <a:srgbClr val="FF3300"/>
            </a:solidFill>
            <a:headEnd type="arrow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4221163" y="1006475"/>
            <a:ext cx="5651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FF3300"/>
                </a:solidFill>
                <a:latin typeface="Comic Sans MS" panose="030F0702030302020204" pitchFamily="66" charset="0"/>
              </a:rPr>
              <a:t>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-103188" y="6453188"/>
            <a:ext cx="9247188" cy="431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2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In our example, it returns the index</a:t>
            </a: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5 </a:t>
            </a:r>
            <a:r>
              <a:rPr lang="en-US" sz="22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after only </a:t>
            </a: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3 comparisons</a:t>
            </a:r>
          </a:p>
        </p:txBody>
      </p:sp>
      <p:graphicFrame>
        <p:nvGraphicFramePr>
          <p:cNvPr id="38" name="Content Placeholder 4"/>
          <p:cNvGraphicFramePr>
            <a:graphicFrameLocks/>
          </p:cNvGraphicFramePr>
          <p:nvPr/>
        </p:nvGraphicFramePr>
        <p:xfrm>
          <a:off x="4211638" y="3633788"/>
          <a:ext cx="2822575" cy="731838"/>
        </p:xfrm>
        <a:graphic>
          <a:graphicData uri="http://schemas.openxmlformats.org/drawingml/2006/table">
            <a:tbl>
              <a:tblPr bandRow="1">
                <a:tableStyleId>{F2DE63D5-997A-4646-A377-4702673A728D}</a:tableStyleId>
              </a:tblPr>
              <a:tblGrid>
                <a:gridCol w="564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91465" marR="91465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91465" marR="91465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marL="91465" marR="91465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</a:p>
                  </a:txBody>
                  <a:tcPr marL="91465" marR="91465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</a:t>
                      </a:r>
                    </a:p>
                  </a:txBody>
                  <a:tcPr marL="91465" marR="91465" marT="45740" marB="45740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79</a:t>
                      </a:r>
                    </a:p>
                  </a:txBody>
                  <a:tcPr marL="91465" marR="91465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83</a:t>
                      </a:r>
                    </a:p>
                  </a:txBody>
                  <a:tcPr marL="91465" marR="91465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90</a:t>
                      </a:r>
                    </a:p>
                  </a:txBody>
                  <a:tcPr marL="91465" marR="91465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92</a:t>
                      </a:r>
                    </a:p>
                  </a:txBody>
                  <a:tcPr marL="91465" marR="91465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120</a:t>
                      </a:r>
                    </a:p>
                  </a:txBody>
                  <a:tcPr marL="91465" marR="91465" marT="45740" marB="457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" name="Oval 39"/>
          <p:cNvSpPr/>
          <p:nvPr/>
        </p:nvSpPr>
        <p:spPr>
          <a:xfrm>
            <a:off x="6611938" y="3679825"/>
            <a:ext cx="285750" cy="28575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 rot="5400000" flipH="1" flipV="1">
            <a:off x="6580982" y="3505994"/>
            <a:ext cx="347662" cy="0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6477000" y="2994025"/>
            <a:ext cx="687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C00000"/>
                </a:solidFill>
                <a:latin typeface="Comic Sans MS" panose="030F0702030302020204" pitchFamily="66" charset="0"/>
              </a:rPr>
              <a:t>high</a:t>
            </a:r>
          </a:p>
        </p:txBody>
      </p:sp>
      <p:sp>
        <p:nvSpPr>
          <p:cNvPr id="59" name="Oval 58"/>
          <p:cNvSpPr/>
          <p:nvPr/>
        </p:nvSpPr>
        <p:spPr>
          <a:xfrm>
            <a:off x="5459413" y="3635375"/>
            <a:ext cx="285750" cy="28575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0" name="Straight Connector 59"/>
          <p:cNvCxnSpPr/>
          <p:nvPr/>
        </p:nvCxnSpPr>
        <p:spPr>
          <a:xfrm flipH="1" flipV="1">
            <a:off x="5580063" y="3128963"/>
            <a:ext cx="22225" cy="506412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5168900" y="2852738"/>
            <a:ext cx="998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C00000"/>
                </a:solidFill>
                <a:latin typeface="Comic Sans MS" panose="030F0702030302020204" pitchFamily="66" charset="0"/>
              </a:rPr>
              <a:t>Middle</a:t>
            </a:r>
          </a:p>
        </p:txBody>
      </p:sp>
      <p:sp>
        <p:nvSpPr>
          <p:cNvPr id="62" name="Oval 61"/>
          <p:cNvSpPr/>
          <p:nvPr/>
        </p:nvSpPr>
        <p:spPr>
          <a:xfrm>
            <a:off x="4348163" y="3635375"/>
            <a:ext cx="285750" cy="28575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3" name="Straight Connector 62"/>
          <p:cNvCxnSpPr/>
          <p:nvPr/>
        </p:nvCxnSpPr>
        <p:spPr>
          <a:xfrm rot="5400000" flipH="1" flipV="1">
            <a:off x="4317207" y="3461544"/>
            <a:ext cx="347662" cy="0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4273550" y="2949575"/>
            <a:ext cx="565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C00000"/>
                </a:solidFill>
                <a:latin typeface="Comic Sans MS" panose="030F0702030302020204" pitchFamily="66" charset="0"/>
              </a:rPr>
              <a:t>low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4600575" y="4465638"/>
            <a:ext cx="22336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C00000"/>
                </a:solidFill>
                <a:latin typeface="Comic Sans MS" panose="030F0702030302020204" pitchFamily="66" charset="0"/>
              </a:rPr>
              <a:t>Key &lt; a [middle]</a:t>
            </a:r>
          </a:p>
          <a:p>
            <a:pPr algn="ctr"/>
            <a:r>
              <a:rPr lang="en-US" altLang="en-US" sz="2000" b="1">
                <a:solidFill>
                  <a:srgbClr val="FF3300"/>
                </a:solidFill>
                <a:latin typeface="Comic Sans MS" panose="030F0702030302020204" pitchFamily="66" charset="0"/>
              </a:rPr>
              <a:t>high= middle-1</a:t>
            </a:r>
          </a:p>
        </p:txBody>
      </p:sp>
      <p:sp>
        <p:nvSpPr>
          <p:cNvPr id="66" name="Oval 65"/>
          <p:cNvSpPr/>
          <p:nvPr/>
        </p:nvSpPr>
        <p:spPr>
          <a:xfrm>
            <a:off x="5364163" y="3994150"/>
            <a:ext cx="428625" cy="358775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4211638" y="3994150"/>
            <a:ext cx="1152525" cy="3587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8" name="Oval 67"/>
          <p:cNvSpPr/>
          <p:nvPr/>
        </p:nvSpPr>
        <p:spPr>
          <a:xfrm>
            <a:off x="4924425" y="3708400"/>
            <a:ext cx="285750" cy="285750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9" name="Straight Connector 68"/>
          <p:cNvCxnSpPr/>
          <p:nvPr/>
        </p:nvCxnSpPr>
        <p:spPr>
          <a:xfrm rot="5400000" flipH="1" flipV="1">
            <a:off x="4893469" y="3534569"/>
            <a:ext cx="347662" cy="0"/>
          </a:xfrm>
          <a:prstGeom prst="line">
            <a:avLst/>
          </a:prstGeom>
          <a:ln>
            <a:solidFill>
              <a:srgbClr val="FF3300"/>
            </a:solidFill>
            <a:headEnd type="arrow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4787900" y="3022600"/>
            <a:ext cx="687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FF0000"/>
                </a:solidFill>
                <a:latin typeface="Comic Sans MS" panose="030F0702030302020204" pitchFamily="66" charset="0"/>
              </a:rPr>
              <a:t>high</a:t>
            </a:r>
          </a:p>
        </p:txBody>
      </p:sp>
      <p:graphicFrame>
        <p:nvGraphicFramePr>
          <p:cNvPr id="71" name="Content Placeholder 4"/>
          <p:cNvGraphicFramePr>
            <a:graphicFrameLocks/>
          </p:cNvGraphicFramePr>
          <p:nvPr/>
        </p:nvGraphicFramePr>
        <p:xfrm>
          <a:off x="2932113" y="5002213"/>
          <a:ext cx="1128712" cy="731838"/>
        </p:xfrm>
        <a:graphic>
          <a:graphicData uri="http://schemas.openxmlformats.org/drawingml/2006/table">
            <a:tbl>
              <a:tblPr bandRow="1">
                <a:tableStyleId>{F2DE63D5-997A-4646-A377-4702673A728D}</a:tableStyleId>
              </a:tblPr>
              <a:tblGrid>
                <a:gridCol w="564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91439" marR="91439" marT="45681" marB="45681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91439" marR="91439" marT="45681" marB="45681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79</a:t>
                      </a:r>
                    </a:p>
                  </a:txBody>
                  <a:tcPr marL="91439" marR="91439" marT="45681" marB="4568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83</a:t>
                      </a:r>
                    </a:p>
                  </a:txBody>
                  <a:tcPr marL="91439" marR="91439" marT="45681" marB="4568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2" name="Oval 71"/>
          <p:cNvSpPr/>
          <p:nvPr/>
        </p:nvSpPr>
        <p:spPr>
          <a:xfrm>
            <a:off x="3652838" y="5014913"/>
            <a:ext cx="285750" cy="28575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Connector 72"/>
          <p:cNvCxnSpPr/>
          <p:nvPr/>
        </p:nvCxnSpPr>
        <p:spPr>
          <a:xfrm rot="5400000" flipH="1" flipV="1">
            <a:off x="3621881" y="4841082"/>
            <a:ext cx="347663" cy="0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3660775" y="4365625"/>
            <a:ext cx="688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C00000"/>
                </a:solidFill>
                <a:latin typeface="Comic Sans MS" panose="030F0702030302020204" pitchFamily="66" charset="0"/>
              </a:rPr>
              <a:t>high</a:t>
            </a:r>
          </a:p>
        </p:txBody>
      </p:sp>
      <p:sp>
        <p:nvSpPr>
          <p:cNvPr id="75" name="Oval 74"/>
          <p:cNvSpPr/>
          <p:nvPr/>
        </p:nvSpPr>
        <p:spPr>
          <a:xfrm>
            <a:off x="3044825" y="5051425"/>
            <a:ext cx="285750" cy="28575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Connector 75"/>
          <p:cNvCxnSpPr/>
          <p:nvPr/>
        </p:nvCxnSpPr>
        <p:spPr>
          <a:xfrm rot="5400000" flipH="1" flipV="1">
            <a:off x="3013869" y="4877594"/>
            <a:ext cx="347662" cy="0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2605088" y="4365625"/>
            <a:ext cx="63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C00000"/>
                </a:solidFill>
                <a:latin typeface="Comic Sans MS" panose="030F0702030302020204" pitchFamily="66" charset="0"/>
              </a:rPr>
              <a:t>Low</a:t>
            </a:r>
          </a:p>
        </p:txBody>
      </p:sp>
      <p:cxnSp>
        <p:nvCxnSpPr>
          <p:cNvPr id="79" name="Straight Connector 78"/>
          <p:cNvCxnSpPr>
            <a:stCxn id="75" idx="2"/>
          </p:cNvCxnSpPr>
          <p:nvPr/>
        </p:nvCxnSpPr>
        <p:spPr>
          <a:xfrm flipH="1" flipV="1">
            <a:off x="2189163" y="5013325"/>
            <a:ext cx="855662" cy="180975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1706563" y="4613275"/>
            <a:ext cx="996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C00000"/>
                </a:solidFill>
                <a:latin typeface="Comic Sans MS" panose="030F0702030302020204" pitchFamily="66" charset="0"/>
              </a:rPr>
              <a:t>Middle</a:t>
            </a:r>
          </a:p>
        </p:txBody>
      </p:sp>
      <p:sp>
        <p:nvSpPr>
          <p:cNvPr id="83" name="Oval 82"/>
          <p:cNvSpPr/>
          <p:nvPr/>
        </p:nvSpPr>
        <p:spPr>
          <a:xfrm>
            <a:off x="2984500" y="5375275"/>
            <a:ext cx="428625" cy="28575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2395538" y="5673725"/>
            <a:ext cx="23923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C00000"/>
                </a:solidFill>
                <a:latin typeface="Comic Sans MS" panose="030F0702030302020204" pitchFamily="66" charset="0"/>
              </a:rPr>
              <a:t>Key == a [middle]</a:t>
            </a:r>
          </a:p>
          <a:p>
            <a:pPr algn="ctr"/>
            <a:r>
              <a:rPr lang="en-IN" altLang="en-US" sz="2000" b="1">
                <a:solidFill>
                  <a:srgbClr val="FF3300"/>
                </a:solidFill>
                <a:latin typeface="Comic Sans MS" panose="030F0702030302020204" pitchFamily="66" charset="0"/>
              </a:rPr>
              <a:t>Return Middle</a:t>
            </a:r>
            <a:endParaRPr lang="en-US" altLang="en-US" sz="2000" b="1">
              <a:solidFill>
                <a:srgbClr val="FF33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575" y="785307"/>
            <a:ext cx="4572000" cy="15158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700"/>
              </a:lnSpc>
              <a:tabLst>
                <a:tab pos="342900" algn="l"/>
              </a:tabLst>
            </a:pPr>
            <a:r>
              <a:rPr lang="en-US" altLang="zh-CN" sz="2000" b="1" dirty="0">
                <a:solidFill>
                  <a:srgbClr val="C00000"/>
                </a:solidFill>
                <a:latin typeface="Calibri" pitchFamily="18" charset="0"/>
                <a:cs typeface="Calibri" pitchFamily="18" charset="0"/>
              </a:rPr>
              <a:t>Initially:</a:t>
            </a:r>
          </a:p>
          <a:p>
            <a:pPr>
              <a:lnSpc>
                <a:spcPts val="3700"/>
              </a:lnSpc>
              <a:tabLst>
                <a:tab pos="342900" algn="l"/>
              </a:tabLst>
            </a:pPr>
            <a:r>
              <a:rPr lang="en-US" altLang="zh-CN" sz="2000" dirty="0">
                <a:latin typeface="Calibri" pitchFamily="18" charset="0"/>
                <a:cs typeface="Calibri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ow=0, </a:t>
            </a:r>
          </a:p>
          <a:p>
            <a:pPr>
              <a:lnSpc>
                <a:spcPts val="3700"/>
              </a:lnSpc>
              <a:tabLst>
                <a:tab pos="34290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high=size-1 </a:t>
            </a:r>
          </a:p>
        </p:txBody>
      </p:sp>
    </p:spTree>
    <p:extLst>
      <p:ext uri="{BB962C8B-B14F-4D97-AF65-F5344CB8AC3E}">
        <p14:creationId xmlns:p14="http://schemas.microsoft.com/office/powerpoint/2010/main" val="121176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19" grpId="0" animBg="1"/>
      <p:bldP spid="21" grpId="0"/>
      <p:bldP spid="23" grpId="0" animBg="1"/>
      <p:bldP spid="25" grpId="0"/>
      <p:bldP spid="27" grpId="0" animBg="1"/>
      <p:bldP spid="46" grpId="0" animBg="1"/>
      <p:bldP spid="47" grpId="0" build="allAtOnce"/>
      <p:bldP spid="53" grpId="0" animBg="1"/>
      <p:bldP spid="55" grpId="0"/>
      <p:bldP spid="57" grpId="0"/>
      <p:bldP spid="40" grpId="0" animBg="1"/>
      <p:bldP spid="43" grpId="0"/>
      <p:bldP spid="59" grpId="0" animBg="1"/>
      <p:bldP spid="61" grpId="0"/>
      <p:bldP spid="62" grpId="0" animBg="1"/>
      <p:bldP spid="64" grpId="0"/>
      <p:bldP spid="65" grpId="0" build="allAtOnce"/>
      <p:bldP spid="66" grpId="0" animBg="1"/>
      <p:bldP spid="67" grpId="0" animBg="1"/>
      <p:bldP spid="68" grpId="0" animBg="1"/>
      <p:bldP spid="70" grpId="0"/>
      <p:bldP spid="72" grpId="0" animBg="1"/>
      <p:bldP spid="74" grpId="0"/>
      <p:bldP spid="75" grpId="0" animBg="1"/>
      <p:bldP spid="77" grpId="0"/>
      <p:bldP spid="80" grpId="0"/>
      <p:bldP spid="83" grpId="0" animBg="1"/>
      <p:bldP spid="84" grpId="0" build="allAtOnce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0FEC2F7-0F54-4EBE-8A16-660796A6D999}" type="slidenum">
              <a:rPr lang="en-US"/>
              <a:pPr/>
              <a:t>47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341313" y="0"/>
            <a:ext cx="8229600" cy="9064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BINARY-SEARCH: Recurrence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0838" y="990600"/>
            <a:ext cx="8793162" cy="5262562"/>
          </a:xfrm>
        </p:spPr>
        <p:txBody>
          <a:bodyPr>
            <a:noAutofit/>
          </a:bodyPr>
          <a:lstStyle/>
          <a:p>
            <a:pPr marL="457200" indent="-457200" eaLnBrk="1" hangingPunct="1">
              <a:lnSpc>
                <a:spcPct val="90000"/>
              </a:lnSpc>
            </a:pPr>
            <a:r>
              <a:rPr lang="en-US" sz="2400" i="1" dirty="0">
                <a:solidFill>
                  <a:schemeClr val="tx1"/>
                </a:solidFill>
                <a:latin typeface="+mn-lt"/>
                <a:sym typeface="Symbol" pitchFamily="18" charset="2"/>
              </a:rPr>
              <a:t>For an </a:t>
            </a:r>
            <a:r>
              <a:rPr lang="en-US" sz="2400" i="1" dirty="0">
                <a:solidFill>
                  <a:srgbClr val="C00000"/>
                </a:solidFill>
                <a:latin typeface="+mn-lt"/>
                <a:sym typeface="Symbol" pitchFamily="18" charset="2"/>
              </a:rPr>
              <a:t>ordered array A</a:t>
            </a:r>
            <a:r>
              <a:rPr lang="en-US" sz="2400" i="1" dirty="0">
                <a:solidFill>
                  <a:schemeClr val="tx1"/>
                </a:solidFill>
                <a:latin typeface="+mn-lt"/>
                <a:sym typeface="Symbol" pitchFamily="18" charset="2"/>
              </a:rPr>
              <a:t>, finds if </a:t>
            </a:r>
            <a:r>
              <a:rPr lang="en-US" sz="2400" i="1" dirty="0">
                <a:solidFill>
                  <a:srgbClr val="C00000"/>
                </a:solidFill>
                <a:latin typeface="+mn-lt"/>
                <a:sym typeface="Symbol" pitchFamily="18" charset="2"/>
              </a:rPr>
              <a:t>x</a:t>
            </a:r>
            <a:r>
              <a:rPr lang="en-US" sz="2400" i="1" dirty="0">
                <a:solidFill>
                  <a:schemeClr val="tx1"/>
                </a:solidFill>
                <a:latin typeface="+mn-lt"/>
                <a:sym typeface="Symbol" pitchFamily="18" charset="2"/>
              </a:rPr>
              <a:t> is in the </a:t>
            </a:r>
            <a:r>
              <a:rPr lang="en-US" sz="2400" i="1" dirty="0">
                <a:solidFill>
                  <a:srgbClr val="C00000"/>
                </a:solidFill>
                <a:latin typeface="+mn-lt"/>
                <a:sym typeface="Symbol" pitchFamily="18" charset="2"/>
              </a:rPr>
              <a:t>array A[lo…hi]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BINARY-SEARCH (A, lo, hi, x) 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if</a:t>
            </a: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 (lo &gt; hi)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		</a:t>
            </a:r>
            <a:r>
              <a:rPr lang="en-US" sz="24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return</a:t>
            </a: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 FALSE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	mid  (</a:t>
            </a:r>
            <a:r>
              <a:rPr lang="en-US" sz="2400" dirty="0" err="1">
                <a:solidFill>
                  <a:schemeClr val="tx1"/>
                </a:solidFill>
                <a:latin typeface="+mn-lt"/>
                <a:sym typeface="Symbol" pitchFamily="18" charset="2"/>
              </a:rPr>
              <a:t>lo+hi</a:t>
            </a: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)/2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if</a:t>
            </a: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 x = A[mid]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		return TRUE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if</a:t>
            </a: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 ( x &lt; A[mid] )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		BINARY-SEARCH (A, lo, mid-1, x)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	</a:t>
            </a:r>
            <a:r>
              <a:rPr lang="en-US" sz="24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if</a:t>
            </a: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 ( x &gt; A[mid] )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 		BINARY-SEARCH (A, mid+1, hi, x)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038600" y="2133602"/>
            <a:ext cx="4812651" cy="1743075"/>
            <a:chOff x="2736" y="1751"/>
            <a:chExt cx="2688" cy="1098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736" y="1751"/>
              <a:ext cx="2688" cy="624"/>
              <a:chOff x="528" y="1271"/>
              <a:chExt cx="2688" cy="624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528" y="1584"/>
                <a:ext cx="2688" cy="311"/>
                <a:chOff x="528" y="1440"/>
                <a:chExt cx="2688" cy="311"/>
              </a:xfrm>
            </p:grpSpPr>
            <p:sp>
              <p:nvSpPr>
                <p:cNvPr id="15384" name="Rectangle 7"/>
                <p:cNvSpPr>
                  <a:spLocks noChangeArrowheads="1"/>
                </p:cNvSpPr>
                <p:nvPr/>
              </p:nvSpPr>
              <p:spPr bwMode="auto">
                <a:xfrm>
                  <a:off x="2880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800" b="1">
                      <a:solidFill>
                        <a:schemeClr val="accent2"/>
                      </a:solidFill>
                    </a:rPr>
                    <a:t>12</a:t>
                  </a:r>
                  <a:endParaRPr lang="en-US" sz="2800" b="1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5385" name="Rectangle 8"/>
                <p:cNvSpPr>
                  <a:spLocks noChangeArrowheads="1"/>
                </p:cNvSpPr>
                <p:nvPr/>
              </p:nvSpPr>
              <p:spPr bwMode="auto">
                <a:xfrm>
                  <a:off x="2544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800" b="1">
                      <a:solidFill>
                        <a:schemeClr val="accent2"/>
                      </a:solidFill>
                    </a:rPr>
                    <a:t>11</a:t>
                  </a:r>
                  <a:endParaRPr lang="en-US" sz="2800" b="1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5386" name="Rectangle 9"/>
                <p:cNvSpPr>
                  <a:spLocks noChangeArrowheads="1"/>
                </p:cNvSpPr>
                <p:nvPr/>
              </p:nvSpPr>
              <p:spPr bwMode="auto">
                <a:xfrm>
                  <a:off x="2208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800" b="1">
                      <a:solidFill>
                        <a:schemeClr val="accent2"/>
                      </a:solidFill>
                    </a:rPr>
                    <a:t>10</a:t>
                  </a:r>
                  <a:endParaRPr lang="en-US" sz="2800" b="1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5387" name="Rectangle 10"/>
                <p:cNvSpPr>
                  <a:spLocks noChangeArrowheads="1"/>
                </p:cNvSpPr>
                <p:nvPr/>
              </p:nvSpPr>
              <p:spPr bwMode="auto">
                <a:xfrm>
                  <a:off x="1872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800" b="1">
                      <a:solidFill>
                        <a:schemeClr val="accent2"/>
                      </a:solidFill>
                    </a:rPr>
                    <a:t>9</a:t>
                  </a:r>
                  <a:endParaRPr lang="en-US" sz="2800" b="1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5388" name="Rectangle 11"/>
                <p:cNvSpPr>
                  <a:spLocks noChangeArrowheads="1"/>
                </p:cNvSpPr>
                <p:nvPr/>
              </p:nvSpPr>
              <p:spPr bwMode="auto">
                <a:xfrm>
                  <a:off x="1536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800" b="1">
                      <a:solidFill>
                        <a:schemeClr val="accent2"/>
                      </a:solidFill>
                    </a:rPr>
                    <a:t>7</a:t>
                  </a:r>
                  <a:endParaRPr lang="en-US" sz="2800" b="1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5389" name="Rectangle 12"/>
                <p:cNvSpPr>
                  <a:spLocks noChangeArrowheads="1"/>
                </p:cNvSpPr>
                <p:nvPr/>
              </p:nvSpPr>
              <p:spPr bwMode="auto">
                <a:xfrm>
                  <a:off x="1200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800" b="1">
                      <a:solidFill>
                        <a:schemeClr val="accent2"/>
                      </a:solidFill>
                    </a:rPr>
                    <a:t>5</a:t>
                  </a:r>
                  <a:endParaRPr lang="en-US" sz="2800" b="1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5390" name="Rectangle 13"/>
                <p:cNvSpPr>
                  <a:spLocks noChangeArrowheads="1"/>
                </p:cNvSpPr>
                <p:nvPr/>
              </p:nvSpPr>
              <p:spPr bwMode="auto">
                <a:xfrm>
                  <a:off x="864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800" b="1">
                      <a:solidFill>
                        <a:schemeClr val="accent2"/>
                      </a:solidFill>
                    </a:rPr>
                    <a:t>3</a:t>
                  </a:r>
                  <a:endParaRPr lang="en-US" sz="2800" b="1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5391" name="Rectangle 14"/>
                <p:cNvSpPr>
                  <a:spLocks noChangeArrowheads="1"/>
                </p:cNvSpPr>
                <p:nvPr/>
              </p:nvSpPr>
              <p:spPr bwMode="auto">
                <a:xfrm>
                  <a:off x="528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800" b="1">
                      <a:solidFill>
                        <a:schemeClr val="accent2"/>
                      </a:solidFill>
                    </a:rPr>
                    <a:t>2</a:t>
                  </a:r>
                  <a:endParaRPr lang="en-US" sz="2800" b="1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5392" name="Line 15"/>
                <p:cNvSpPr>
                  <a:spLocks noChangeShapeType="1"/>
                </p:cNvSpPr>
                <p:nvPr/>
              </p:nvSpPr>
              <p:spPr bwMode="auto">
                <a:xfrm>
                  <a:off x="528" y="1440"/>
                  <a:ext cx="268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 anchorCtr="1"/>
                <a:lstStyle/>
                <a:p>
                  <a:endParaRPr lang="ar-EG" sz="2800" b="1"/>
                </a:p>
              </p:txBody>
            </p:sp>
            <p:sp>
              <p:nvSpPr>
                <p:cNvPr id="15393" name="Line 16"/>
                <p:cNvSpPr>
                  <a:spLocks noChangeShapeType="1"/>
                </p:cNvSpPr>
                <p:nvPr/>
              </p:nvSpPr>
              <p:spPr bwMode="auto">
                <a:xfrm>
                  <a:off x="528" y="1751"/>
                  <a:ext cx="268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 anchorCtr="1"/>
                <a:lstStyle/>
                <a:p>
                  <a:endParaRPr lang="ar-EG" sz="2800" b="1"/>
                </a:p>
              </p:txBody>
            </p:sp>
            <p:sp>
              <p:nvSpPr>
                <p:cNvPr id="15394" name="Line 17"/>
                <p:cNvSpPr>
                  <a:spLocks noChangeShapeType="1"/>
                </p:cNvSpPr>
                <p:nvPr/>
              </p:nvSpPr>
              <p:spPr bwMode="auto">
                <a:xfrm>
                  <a:off x="528" y="1440"/>
                  <a:ext cx="0" cy="28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 anchorCtr="1"/>
                <a:lstStyle/>
                <a:p>
                  <a:endParaRPr lang="ar-EG" sz="2800" b="1"/>
                </a:p>
              </p:txBody>
            </p:sp>
            <p:sp>
              <p:nvSpPr>
                <p:cNvPr id="15395" name="Line 18"/>
                <p:cNvSpPr>
                  <a:spLocks noChangeShapeType="1"/>
                </p:cNvSpPr>
                <p:nvPr/>
              </p:nvSpPr>
              <p:spPr bwMode="auto">
                <a:xfrm>
                  <a:off x="864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 anchorCtr="1"/>
                <a:lstStyle/>
                <a:p>
                  <a:endParaRPr lang="ar-EG" sz="2800" b="1"/>
                </a:p>
              </p:txBody>
            </p:sp>
            <p:sp>
              <p:nvSpPr>
                <p:cNvPr id="15396" name="Line 19"/>
                <p:cNvSpPr>
                  <a:spLocks noChangeShapeType="1"/>
                </p:cNvSpPr>
                <p:nvPr/>
              </p:nvSpPr>
              <p:spPr bwMode="auto">
                <a:xfrm>
                  <a:off x="1200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 anchorCtr="1"/>
                <a:lstStyle/>
                <a:p>
                  <a:endParaRPr lang="ar-EG" sz="2800" b="1"/>
                </a:p>
              </p:txBody>
            </p:sp>
            <p:sp>
              <p:nvSpPr>
                <p:cNvPr id="15397" name="Line 20"/>
                <p:cNvSpPr>
                  <a:spLocks noChangeShapeType="1"/>
                </p:cNvSpPr>
                <p:nvPr/>
              </p:nvSpPr>
              <p:spPr bwMode="auto">
                <a:xfrm>
                  <a:off x="1536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 anchorCtr="1"/>
                <a:lstStyle/>
                <a:p>
                  <a:endParaRPr lang="ar-EG" sz="2800" b="1"/>
                </a:p>
              </p:txBody>
            </p:sp>
            <p:sp>
              <p:nvSpPr>
                <p:cNvPr id="15398" name="Line 21"/>
                <p:cNvSpPr>
                  <a:spLocks noChangeShapeType="1"/>
                </p:cNvSpPr>
                <p:nvPr/>
              </p:nvSpPr>
              <p:spPr bwMode="auto">
                <a:xfrm>
                  <a:off x="1872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 anchorCtr="1"/>
                <a:lstStyle/>
                <a:p>
                  <a:endParaRPr lang="ar-EG" sz="2800" b="1"/>
                </a:p>
              </p:txBody>
            </p:sp>
            <p:sp>
              <p:nvSpPr>
                <p:cNvPr id="15399" name="Line 22"/>
                <p:cNvSpPr>
                  <a:spLocks noChangeShapeType="1"/>
                </p:cNvSpPr>
                <p:nvPr/>
              </p:nvSpPr>
              <p:spPr bwMode="auto">
                <a:xfrm>
                  <a:off x="2208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 anchorCtr="1"/>
                <a:lstStyle/>
                <a:p>
                  <a:endParaRPr lang="ar-EG" sz="2800" b="1"/>
                </a:p>
              </p:txBody>
            </p:sp>
            <p:sp>
              <p:nvSpPr>
                <p:cNvPr id="15400" name="Line 23"/>
                <p:cNvSpPr>
                  <a:spLocks noChangeShapeType="1"/>
                </p:cNvSpPr>
                <p:nvPr/>
              </p:nvSpPr>
              <p:spPr bwMode="auto">
                <a:xfrm>
                  <a:off x="2544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 anchorCtr="1"/>
                <a:lstStyle/>
                <a:p>
                  <a:endParaRPr lang="ar-EG" sz="2800" b="1"/>
                </a:p>
              </p:txBody>
            </p:sp>
            <p:sp>
              <p:nvSpPr>
                <p:cNvPr id="15401" name="Line 24"/>
                <p:cNvSpPr>
                  <a:spLocks noChangeShapeType="1"/>
                </p:cNvSpPr>
                <p:nvPr/>
              </p:nvSpPr>
              <p:spPr bwMode="auto">
                <a:xfrm>
                  <a:off x="2880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 anchorCtr="1"/>
                <a:lstStyle/>
                <a:p>
                  <a:endParaRPr lang="ar-EG" sz="2800" b="1"/>
                </a:p>
              </p:txBody>
            </p:sp>
            <p:sp>
              <p:nvSpPr>
                <p:cNvPr id="15402" name="Line 25"/>
                <p:cNvSpPr>
                  <a:spLocks noChangeShapeType="1"/>
                </p:cNvSpPr>
                <p:nvPr/>
              </p:nvSpPr>
              <p:spPr bwMode="auto">
                <a:xfrm>
                  <a:off x="3216" y="1440"/>
                  <a:ext cx="0" cy="28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 anchorCtr="1"/>
                <a:lstStyle/>
                <a:p>
                  <a:endParaRPr lang="ar-EG" sz="2800" b="1"/>
                </a:p>
              </p:txBody>
            </p:sp>
          </p:grpSp>
          <p:sp>
            <p:nvSpPr>
              <p:cNvPr id="15376" name="Text Box 26"/>
              <p:cNvSpPr txBox="1">
                <a:spLocks noChangeArrowheads="1"/>
              </p:cNvSpPr>
              <p:nvPr/>
            </p:nvSpPr>
            <p:spPr bwMode="auto">
              <a:xfrm>
                <a:off x="624" y="1271"/>
                <a:ext cx="144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800" b="1" dirty="0"/>
                  <a:t>1</a:t>
                </a:r>
              </a:p>
            </p:txBody>
          </p:sp>
          <p:sp>
            <p:nvSpPr>
              <p:cNvPr id="15377" name="Text Box 27"/>
              <p:cNvSpPr txBox="1">
                <a:spLocks noChangeArrowheads="1"/>
              </p:cNvSpPr>
              <p:nvPr/>
            </p:nvSpPr>
            <p:spPr bwMode="auto">
              <a:xfrm>
                <a:off x="960" y="1271"/>
                <a:ext cx="144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5378" name="Text Box 28"/>
              <p:cNvSpPr txBox="1">
                <a:spLocks noChangeArrowheads="1"/>
              </p:cNvSpPr>
              <p:nvPr/>
            </p:nvSpPr>
            <p:spPr bwMode="auto">
              <a:xfrm>
                <a:off x="1296" y="1271"/>
                <a:ext cx="144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800" b="1"/>
                  <a:t>3</a:t>
                </a:r>
              </a:p>
            </p:txBody>
          </p:sp>
          <p:sp>
            <p:nvSpPr>
              <p:cNvPr id="15379" name="Text Box 29"/>
              <p:cNvSpPr txBox="1">
                <a:spLocks noChangeArrowheads="1"/>
              </p:cNvSpPr>
              <p:nvPr/>
            </p:nvSpPr>
            <p:spPr bwMode="auto">
              <a:xfrm>
                <a:off x="1632" y="1271"/>
                <a:ext cx="144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800" b="1"/>
                  <a:t>4</a:t>
                </a:r>
              </a:p>
            </p:txBody>
          </p:sp>
          <p:sp>
            <p:nvSpPr>
              <p:cNvPr id="15380" name="Text Box 30"/>
              <p:cNvSpPr txBox="1">
                <a:spLocks noChangeArrowheads="1"/>
              </p:cNvSpPr>
              <p:nvPr/>
            </p:nvSpPr>
            <p:spPr bwMode="auto">
              <a:xfrm>
                <a:off x="1968" y="1271"/>
                <a:ext cx="144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800" b="1"/>
                  <a:t>5</a:t>
                </a:r>
              </a:p>
            </p:txBody>
          </p:sp>
          <p:sp>
            <p:nvSpPr>
              <p:cNvPr id="15381" name="Text Box 31"/>
              <p:cNvSpPr txBox="1">
                <a:spLocks noChangeArrowheads="1"/>
              </p:cNvSpPr>
              <p:nvPr/>
            </p:nvSpPr>
            <p:spPr bwMode="auto">
              <a:xfrm>
                <a:off x="2304" y="1271"/>
                <a:ext cx="144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800" b="1"/>
                  <a:t>6</a:t>
                </a:r>
              </a:p>
            </p:txBody>
          </p:sp>
          <p:sp>
            <p:nvSpPr>
              <p:cNvPr id="15382" name="Text Box 32"/>
              <p:cNvSpPr txBox="1">
                <a:spLocks noChangeArrowheads="1"/>
              </p:cNvSpPr>
              <p:nvPr/>
            </p:nvSpPr>
            <p:spPr bwMode="auto">
              <a:xfrm>
                <a:off x="2640" y="1271"/>
                <a:ext cx="144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800" b="1"/>
                  <a:t>7</a:t>
                </a:r>
              </a:p>
            </p:txBody>
          </p:sp>
          <p:sp>
            <p:nvSpPr>
              <p:cNvPr id="15383" name="Text Box 33"/>
              <p:cNvSpPr txBox="1">
                <a:spLocks noChangeArrowheads="1"/>
              </p:cNvSpPr>
              <p:nvPr/>
            </p:nvSpPr>
            <p:spPr bwMode="auto">
              <a:xfrm>
                <a:off x="2976" y="1271"/>
                <a:ext cx="144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800" b="1"/>
                  <a:t>8</a:t>
                </a:r>
              </a:p>
            </p:txBody>
          </p:sp>
        </p:grpSp>
        <p:grpSp>
          <p:nvGrpSpPr>
            <p:cNvPr id="5" name="Group 34"/>
            <p:cNvGrpSpPr>
              <a:grpSpLocks/>
            </p:cNvGrpSpPr>
            <p:nvPr/>
          </p:nvGrpSpPr>
          <p:grpSpPr bwMode="auto">
            <a:xfrm>
              <a:off x="3936" y="2448"/>
              <a:ext cx="780" cy="401"/>
              <a:chOff x="3936" y="2448"/>
              <a:chExt cx="780" cy="401"/>
            </a:xfrm>
          </p:grpSpPr>
          <p:sp>
            <p:nvSpPr>
              <p:cNvPr id="15372" name="Text Box 35"/>
              <p:cNvSpPr txBox="1">
                <a:spLocks noChangeArrowheads="1"/>
              </p:cNvSpPr>
              <p:nvPr/>
            </p:nvSpPr>
            <p:spPr bwMode="auto">
              <a:xfrm>
                <a:off x="4224" y="2519"/>
                <a:ext cx="492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 b="1" dirty="0"/>
                  <a:t>mid</a:t>
                </a:r>
              </a:p>
            </p:txBody>
          </p:sp>
          <p:sp>
            <p:nvSpPr>
              <p:cNvPr id="15373" name="Line 36"/>
              <p:cNvSpPr>
                <a:spLocks noChangeShapeType="1"/>
              </p:cNvSpPr>
              <p:nvPr/>
            </p:nvSpPr>
            <p:spPr bwMode="auto">
              <a:xfrm flipH="1">
                <a:off x="3936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800" b="1"/>
              </a:p>
            </p:txBody>
          </p:sp>
          <p:sp>
            <p:nvSpPr>
              <p:cNvPr id="15374" name="Line 37"/>
              <p:cNvSpPr>
                <a:spLocks noChangeShapeType="1"/>
              </p:cNvSpPr>
              <p:nvPr/>
            </p:nvSpPr>
            <p:spPr bwMode="auto">
              <a:xfrm flipV="1">
                <a:off x="3936" y="2448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ar-EG" sz="2800" b="1"/>
              </a:p>
            </p:txBody>
          </p:sp>
        </p:grpSp>
        <p:sp>
          <p:nvSpPr>
            <p:cNvPr id="15368" name="Text Box 38"/>
            <p:cNvSpPr txBox="1">
              <a:spLocks noChangeArrowheads="1"/>
            </p:cNvSpPr>
            <p:nvPr/>
          </p:nvSpPr>
          <p:spPr bwMode="auto">
            <a:xfrm>
              <a:off x="2736" y="2519"/>
              <a:ext cx="29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 dirty="0"/>
                <a:t>lo</a:t>
              </a:r>
            </a:p>
          </p:txBody>
        </p:sp>
        <p:sp>
          <p:nvSpPr>
            <p:cNvPr id="15369" name="Text Box 39"/>
            <p:cNvSpPr txBox="1">
              <a:spLocks noChangeArrowheads="1"/>
            </p:cNvSpPr>
            <p:nvPr/>
          </p:nvSpPr>
          <p:spPr bwMode="auto">
            <a:xfrm>
              <a:off x="5078" y="2519"/>
              <a:ext cx="29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/>
                <a:t>hi</a:t>
              </a:r>
            </a:p>
          </p:txBody>
        </p:sp>
        <p:sp>
          <p:nvSpPr>
            <p:cNvPr id="15370" name="Line 40"/>
            <p:cNvSpPr>
              <a:spLocks noChangeShapeType="1"/>
            </p:cNvSpPr>
            <p:nvPr/>
          </p:nvSpPr>
          <p:spPr bwMode="auto">
            <a:xfrm flipV="1">
              <a:off x="2880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ar-EG" sz="2800" b="1"/>
            </a:p>
          </p:txBody>
        </p:sp>
        <p:sp>
          <p:nvSpPr>
            <p:cNvPr id="15371" name="Line 41"/>
            <p:cNvSpPr>
              <a:spLocks noChangeShapeType="1"/>
            </p:cNvSpPr>
            <p:nvPr/>
          </p:nvSpPr>
          <p:spPr bwMode="auto">
            <a:xfrm flipV="1">
              <a:off x="5232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ar-EG" sz="2800" b="1"/>
            </a:p>
          </p:txBody>
        </p:sp>
      </p:grpSp>
    </p:spTree>
    <p:extLst>
      <p:ext uri="{BB962C8B-B14F-4D97-AF65-F5344CB8AC3E}">
        <p14:creationId xmlns:p14="http://schemas.microsoft.com/office/powerpoint/2010/main" val="428842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</p:spPr>
        <p:txBody>
          <a:bodyPr/>
          <a:lstStyle/>
          <a:p>
            <a:fld id="{6729DF28-4A68-499D-9581-7E7ED77D0E75}" type="slidenum">
              <a:rPr lang="en-US"/>
              <a:pPr/>
              <a:t>48</a:t>
            </a:fld>
            <a:endParaRPr 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924800" cy="8382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BINARY-SEARCH: Recurrence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288" y="927100"/>
            <a:ext cx="8229600" cy="5397500"/>
          </a:xfrm>
        </p:spPr>
        <p:txBody>
          <a:bodyPr>
            <a:noAutofit/>
          </a:bodyPr>
          <a:lstStyle/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BINARY-SEARCH (A, lo, hi, x)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	</a:t>
            </a:r>
            <a:r>
              <a:rPr lang="en-US" sz="28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if</a:t>
            </a: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 (lo &gt; hi)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		</a:t>
            </a:r>
            <a:r>
              <a:rPr lang="en-US" sz="28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return</a:t>
            </a: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FALSE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	mid  (</a:t>
            </a:r>
            <a:r>
              <a:rPr lang="en-US" sz="2800" dirty="0" err="1">
                <a:solidFill>
                  <a:schemeClr val="tx1"/>
                </a:solidFill>
                <a:latin typeface="+mn-lt"/>
                <a:sym typeface="Symbol" pitchFamily="18" charset="2"/>
              </a:rPr>
              <a:t>lo+hi</a:t>
            </a: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)/2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	</a:t>
            </a:r>
            <a:r>
              <a:rPr lang="en-US" sz="28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if</a:t>
            </a: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 x = A[mid]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		return </a:t>
            </a:r>
            <a:r>
              <a:rPr lang="en-US" sz="28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TRUE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	</a:t>
            </a:r>
            <a:r>
              <a:rPr lang="en-US" sz="28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if</a:t>
            </a: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 ( x &lt; A[mid] )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		BINARY-SEARCH (A, lo, mid-1, x)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	</a:t>
            </a:r>
            <a:r>
              <a:rPr lang="en-US" sz="28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if</a:t>
            </a: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 ( x &gt; A[mid] )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 		BINARY-SEARCH (A, mid+1, hi, x)</a:t>
            </a:r>
          </a:p>
          <a:p>
            <a:pPr marL="533400" indent="-533400" eaLnBrk="1" hangingPunct="1">
              <a:lnSpc>
                <a:spcPct val="150000"/>
              </a:lnSpc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T(n) = c +  T( n / 2 )</a:t>
            </a:r>
          </a:p>
        </p:txBody>
      </p:sp>
      <p:sp>
        <p:nvSpPr>
          <p:cNvPr id="224260" name="Line 4"/>
          <p:cNvSpPr>
            <a:spLocks noChangeShapeType="1"/>
          </p:cNvSpPr>
          <p:nvPr/>
        </p:nvSpPr>
        <p:spPr bwMode="auto">
          <a:xfrm flipH="1">
            <a:off x="3987800" y="2667000"/>
            <a:ext cx="17954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ar-EG"/>
          </a:p>
        </p:txBody>
      </p:sp>
      <p:sp>
        <p:nvSpPr>
          <p:cNvPr id="224261" name="Text Box 5"/>
          <p:cNvSpPr txBox="1">
            <a:spLocks noChangeArrowheads="1"/>
          </p:cNvSpPr>
          <p:nvPr/>
        </p:nvSpPr>
        <p:spPr bwMode="auto">
          <a:xfrm>
            <a:off x="5922963" y="2362200"/>
            <a:ext cx="30171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constant time: c</a:t>
            </a:r>
            <a:r>
              <a:rPr lang="en-US" sz="2800" b="1" baseline="-25000" dirty="0">
                <a:solidFill>
                  <a:srgbClr val="0070C0"/>
                </a:solidFill>
              </a:rPr>
              <a:t>2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24262" name="Text Box 6"/>
          <p:cNvSpPr txBox="1">
            <a:spLocks noChangeArrowheads="1"/>
          </p:cNvSpPr>
          <p:nvPr/>
        </p:nvSpPr>
        <p:spPr bwMode="auto">
          <a:xfrm>
            <a:off x="6681788" y="4151293"/>
            <a:ext cx="276701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same problem of size n/2</a:t>
            </a:r>
          </a:p>
        </p:txBody>
      </p:sp>
      <p:sp>
        <p:nvSpPr>
          <p:cNvPr id="224263" name="Text Box 7"/>
          <p:cNvSpPr txBox="1">
            <a:spLocks noChangeArrowheads="1"/>
          </p:cNvSpPr>
          <p:nvPr/>
        </p:nvSpPr>
        <p:spPr bwMode="auto">
          <a:xfrm>
            <a:off x="6586538" y="5334000"/>
            <a:ext cx="278606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same problem of size n/2</a:t>
            </a:r>
          </a:p>
        </p:txBody>
      </p:sp>
      <p:sp>
        <p:nvSpPr>
          <p:cNvPr id="224264" name="Line 8"/>
          <p:cNvSpPr>
            <a:spLocks noChangeShapeType="1"/>
          </p:cNvSpPr>
          <p:nvPr/>
        </p:nvSpPr>
        <p:spPr bwMode="auto">
          <a:xfrm flipH="1">
            <a:off x="3983038" y="2154238"/>
            <a:ext cx="1793875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ar-EG"/>
          </a:p>
        </p:txBody>
      </p:sp>
      <p:sp>
        <p:nvSpPr>
          <p:cNvPr id="224265" name="Text Box 9"/>
          <p:cNvSpPr txBox="1">
            <a:spLocks noChangeArrowheads="1"/>
          </p:cNvSpPr>
          <p:nvPr/>
        </p:nvSpPr>
        <p:spPr bwMode="auto">
          <a:xfrm>
            <a:off x="5867400" y="1828800"/>
            <a:ext cx="30171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constant time: c</a:t>
            </a:r>
            <a:r>
              <a:rPr lang="en-US" sz="2800" b="1" baseline="-25000" dirty="0">
                <a:solidFill>
                  <a:srgbClr val="0070C0"/>
                </a:solidFill>
              </a:rPr>
              <a:t>1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24266" name="Line 10"/>
          <p:cNvSpPr>
            <a:spLocks noChangeShapeType="1"/>
          </p:cNvSpPr>
          <p:nvPr/>
        </p:nvSpPr>
        <p:spPr bwMode="auto">
          <a:xfrm flipH="1">
            <a:off x="4114799" y="3581400"/>
            <a:ext cx="166211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ar-EG"/>
          </a:p>
        </p:txBody>
      </p:sp>
      <p:sp>
        <p:nvSpPr>
          <p:cNvPr id="224267" name="Text Box 11"/>
          <p:cNvSpPr txBox="1">
            <a:spLocks noChangeArrowheads="1"/>
          </p:cNvSpPr>
          <p:nvPr/>
        </p:nvSpPr>
        <p:spPr bwMode="auto">
          <a:xfrm>
            <a:off x="5916613" y="3352800"/>
            <a:ext cx="30171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constant time: c</a:t>
            </a:r>
            <a:r>
              <a:rPr lang="en-US" sz="2800" b="1" baseline="-25000" dirty="0">
                <a:solidFill>
                  <a:srgbClr val="0070C0"/>
                </a:solidFill>
              </a:rPr>
              <a:t>3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224268" name="Line 12"/>
          <p:cNvSpPr>
            <a:spLocks noChangeShapeType="1"/>
          </p:cNvSpPr>
          <p:nvPr/>
        </p:nvSpPr>
        <p:spPr bwMode="auto">
          <a:xfrm flipH="1">
            <a:off x="6265863" y="4648200"/>
            <a:ext cx="363537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ar-EG"/>
          </a:p>
        </p:txBody>
      </p:sp>
      <p:sp>
        <p:nvSpPr>
          <p:cNvPr id="224269" name="Line 13"/>
          <p:cNvSpPr>
            <a:spLocks noChangeShapeType="1"/>
          </p:cNvSpPr>
          <p:nvPr/>
        </p:nvSpPr>
        <p:spPr bwMode="auto">
          <a:xfrm flipH="1">
            <a:off x="6265863" y="5715000"/>
            <a:ext cx="363537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ar-EG"/>
          </a:p>
        </p:txBody>
      </p:sp>
      <p:sp>
        <p:nvSpPr>
          <p:cNvPr id="16" name="Rounded Rectangle 15"/>
          <p:cNvSpPr/>
          <p:nvPr/>
        </p:nvSpPr>
        <p:spPr>
          <a:xfrm>
            <a:off x="685800" y="3962400"/>
            <a:ext cx="2514600" cy="381000"/>
          </a:xfrm>
          <a:prstGeom prst="roundRect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ar-EG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4953000"/>
            <a:ext cx="2514600" cy="381000"/>
          </a:xfrm>
          <a:prstGeom prst="roundRect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ar-EG">
              <a:solidFill>
                <a:schemeClr val="tx1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143000" y="4800600"/>
            <a:ext cx="5029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143000" y="5867400"/>
            <a:ext cx="5029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Oval Callout 20"/>
          <p:cNvSpPr/>
          <p:nvPr/>
        </p:nvSpPr>
        <p:spPr>
          <a:xfrm>
            <a:off x="914400" y="1752600"/>
            <a:ext cx="6019800" cy="1981200"/>
          </a:xfrm>
          <a:prstGeom prst="wedgeEllipseCallout">
            <a:avLst>
              <a:gd name="adj1" fmla="val 12980"/>
              <a:gd name="adj2" fmla="val 87409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Because of 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condition only one of the two calls will be executed</a:t>
            </a:r>
            <a:endParaRPr lang="ar-EG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759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0" grpId="0" animBg="1"/>
      <p:bldP spid="224261" grpId="0"/>
      <p:bldP spid="224262" grpId="0"/>
      <p:bldP spid="224263" grpId="0"/>
      <p:bldP spid="224264" grpId="0" animBg="1"/>
      <p:bldP spid="224265" grpId="0"/>
      <p:bldP spid="224266" grpId="0" animBg="1"/>
      <p:bldP spid="224267" grpId="0"/>
      <p:bldP spid="224268" grpId="0" animBg="1"/>
      <p:bldP spid="224269" grpId="0" animBg="1"/>
      <p:bldP spid="16" grpId="0" animBg="1"/>
      <p:bldP spid="17" grpId="0" animBg="1"/>
      <p:bldP spid="2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27432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Appendix: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useful mathematical formulas for the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39379972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928100" cy="45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Appendix: </a:t>
            </a:r>
            <a:r>
              <a:rPr lang="en-US" sz="3200" b="1" dirty="0"/>
              <a:t>Important Summation Formulas</a:t>
            </a: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09600"/>
                <a:ext cx="8763000" cy="6019800"/>
              </a:xfrm>
            </p:spPr>
            <p:txBody>
              <a:bodyPr>
                <a:normAutofit/>
              </a:bodyPr>
              <a:lstStyle/>
              <a:p>
                <a:pPr marL="514350" indent="-514350" algn="l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𝑙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𝑢</m:t>
                        </m:r>
                      </m:sup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</m:e>
                    </m:nary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1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+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1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+…+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1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= 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𝑙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+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1</m:t>
                    </m:r>
                  </m:oMath>
                </a14:m>
                <a:r>
                  <a:rPr lang="en-US" sz="24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itchFamily="18" charset="0"/>
                    <a:ea typeface="Cambria Math" pitchFamily="18" charset="0"/>
                  </a:rPr>
                  <a:t>  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en-US" sz="24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itchFamily="18" charset="0"/>
                    <a:ea typeface="Cambria Math" pitchFamily="18" charset="0"/>
                  </a:rPr>
                  <a:t>		(</a:t>
                </a:r>
                <a:r>
                  <a:rPr lang="en-US" sz="2400" i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itchFamily="18" charset="0"/>
                    <a:ea typeface="Cambria Math" pitchFamily="18" charset="0"/>
                  </a:rPr>
                  <a:t>l,u</a:t>
                </a:r>
                <a:r>
                  <a:rPr lang="en-US" sz="24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itchFamily="18" charset="0"/>
                    <a:ea typeface="Cambria Math" pitchFamily="18" charset="0"/>
                  </a:rPr>
                  <a:t> are integer limits, l≤ u);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e>
                    </m:nary>
                  </m:oMath>
                </a14:m>
                <a:endParaRPr lang="en-US" sz="32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itchFamily="18" charset="0"/>
                  <a:ea typeface="Cambria Math" pitchFamily="18" charset="0"/>
                </a:endParaRPr>
              </a:p>
              <a:p>
                <a:pPr marL="457200" indent="-457200" algn="l">
                  <a:lnSpc>
                    <a:spcPct val="150000"/>
                  </a:lnSpc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𝑖</m:t>
                        </m:r>
                      </m:e>
                    </m:nary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2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+ …+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≈</m:t>
                    </m:r>
                    <m:box>
                      <m:box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2</m:t>
                            </m:r>
                          </m:sup>
                        </m:sSup>
                      </m:e>
                    </m:box>
                  </m:oMath>
                </a14:m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itchFamily="18" charset="0"/>
                  <a:ea typeface="Cambria Math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 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 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+… +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 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)(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6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≈</m:t>
                    </m:r>
                    <m:box>
                      <m:box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3</m:t>
                            </m:r>
                          </m:sup>
                        </m:sSup>
                      </m:e>
                    </m:box>
                  </m:oMath>
                </a14:m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itchFamily="18" charset="0"/>
                  <a:ea typeface="Cambria Math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+… +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 </m:t>
                        </m:r>
                      </m:sup>
                    </m:sSup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≈</m:t>
                    </m:r>
                    <m:box>
                      <m:box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1</m:t>
                            </m:r>
                          </m:den>
                        </m:f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1</m:t>
                            </m:r>
                          </m:sup>
                        </m:sSup>
                      </m:e>
                    </m:box>
                  </m:oMath>
                </a14:m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itchFamily="18" charset="0"/>
                  <a:ea typeface="Cambria Math" pitchFamily="18" charset="0"/>
                </a:endParaRPr>
              </a:p>
              <a:p>
                <a:pPr marL="457200" indent="-457200" algn="l">
                  <a:lnSpc>
                    <a:spcPct val="150000"/>
                  </a:lnSpc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+…+ 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  = </m:t>
                        </m:r>
                      </m:sup>
                    </m:sSup>
                    <m:f>
                      <m:f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≠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itchFamily="18" charset="0"/>
                    <a:ea typeface="Cambria Math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itchFamily="18" charset="0"/>
                    <a:ea typeface="Cambria Math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𝑛</m:t>
                        </m:r>
                        <m:r>
                          <a:rPr lang="en-US" sz="24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itchFamily="18" charset="0"/>
                    <a:ea typeface="Cambria Math" pitchFamily="18" charset="0"/>
                  </a:rPr>
                  <a:t>-1</a:t>
                </a:r>
                <a:endParaRPr lang="en-US" sz="24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itchFamily="18" charset="0"/>
                  <a:ea typeface="Cambria Math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 startAt="2"/>
                </a:pP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itchFamily="18" charset="0"/>
                  <a:ea typeface="Cambria Math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:endPara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09600"/>
                <a:ext cx="8763000" cy="6019800"/>
              </a:xfrm>
              <a:blipFill rotWithShape="1">
                <a:blip r:embed="rId2" cstate="print"/>
                <a:stretch>
                  <a:fillRect l="-1043" t="-7895" r="-1669" b="-19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05998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928100" cy="45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Appendix: </a:t>
            </a:r>
            <a:r>
              <a:rPr lang="en-US" sz="3200" b="1" dirty="0"/>
              <a:t>Important Summation Formulas</a:t>
            </a: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09600"/>
                <a:ext cx="8458200" cy="601980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 startAt="6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4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𝑖</m:t>
                            </m:r>
                          </m:den>
                        </m:f>
                      </m:e>
                    </m:nary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 …+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𝑛</m:t>
                        </m:r>
                      </m:den>
                    </m:f>
                    <m:r>
                      <a:rPr lang="en-US" sz="240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≈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+ 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 </m:t>
                        </m:r>
                      </m:e>
                    </m:func>
                  </m:oMath>
                </a14:m>
                <a:endParaRPr lang="en-US" sz="24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/>
                  <a:ea typeface="Cambria Math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/>
                      </a:rPr>
                      <m:t>𝑤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/>
                      </a:rPr>
                      <m:t>h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/>
                      </a:rPr>
                      <m:t>𝑒𝑟𝑒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/>
                      </a:rPr>
                      <m:t>𝛾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/>
                      </a:rPr>
                      <m:t> ≈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/>
                      </a:rPr>
                      <m:t>0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/>
                      </a:rPr>
                      <m:t>.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/>
                      </a:rPr>
                      <m:t>5772</m:t>
                    </m:r>
                  </m:oMath>
                </a14:m>
                <a:r>
                  <a:rPr lang="en-US" sz="24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Cambria Math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𝐸𝑢𝑙𝑒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𝐶𝑜𝑛𝑠𝑡𝑎𝑛𝑡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)</m:t>
                    </m:r>
                  </m:oMath>
                </a14:m>
                <a:endParaRPr lang="en-US" sz="24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/>
                  <a:ea typeface="Cambria Math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𝑖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1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∗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2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+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2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∗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+ …+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𝑛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=(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1</m:t>
                    </m:r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)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𝑛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+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1</m:t>
                        </m:r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itchFamily="18" charset="0"/>
                    <a:ea typeface="Cambria Math" pitchFamily="18" charset="0"/>
                  </a:rPr>
                  <a:t>+2</a:t>
                </a:r>
              </a:p>
              <a:p>
                <a:pPr marL="457200" indent="-457200" algn="l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𝑖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∗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2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2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∗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/>
                        <a:ea typeface="Cambria Math" pitchFamily="18" charset="0"/>
                      </a:rPr>
                      <m:t>+ …+ </m:t>
                    </m:r>
                    <m:r>
                      <a:rPr lang="en-US" sz="24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𝑎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𝑑𝑎</m:t>
                        </m:r>
                      </m:den>
                    </m:f>
                    <m:d>
                      <m:dPr>
                        <m:ctrl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𝑎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itchFamily="18" charset="0"/>
                  <a:ea typeface="Cambria Math" pitchFamily="18" charset="0"/>
                </a:endParaRPr>
              </a:p>
              <a:p>
                <a:pPr marL="457200" indent="-457200" algn="l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 ≈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𝑛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  <a:ea typeface="Cambria Math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  <a:ea typeface="Cambria Math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e>
                    </m:nary>
                  </m:oMath>
                </a14:m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itchFamily="18" charset="0"/>
                  <a:ea typeface="Cambria Math" pitchFamily="18" charset="0"/>
                </a:endParaRPr>
              </a:p>
              <a:p>
                <a:pPr marL="514350" indent="-514350" algn="l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𝑙</m:t>
                        </m:r>
                      </m:sub>
                      <m:sup>
                        <m: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𝑢</m:t>
                        </m:r>
                      </m:sup>
                      <m:e>
                        <m: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=</m:t>
                    </m:r>
                    <m:r>
                      <a:rPr lang="en-US" sz="2800" b="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itchFamily="18" charset="0"/>
                        <a:ea typeface="Cambria Math" pitchFamily="18" charset="0"/>
                      </a:rPr>
                      <m:t>𝑐</m:t>
                    </m:r>
                    <m:nary>
                      <m:naryPr>
                        <m:chr m:val="∑"/>
                        <m:ctrlP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𝑙</m:t>
                        </m:r>
                      </m:sub>
                      <m:sup>
                        <m: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𝑢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itchFamily="18" charset="0"/>
                  <a:ea typeface="Cambria Math" pitchFamily="18" charset="0"/>
                </a:endParaRPr>
              </a:p>
              <a:p>
                <a:pPr marL="514350" indent="-514350" algn="l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𝑖</m:t>
                        </m:r>
                        <m: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=</m:t>
                        </m:r>
                        <m: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𝑙</m:t>
                        </m:r>
                      </m:sub>
                      <m:sup>
                        <m: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𝑢</m:t>
                        </m:r>
                      </m:sup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800" b="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itchFamily="18" charset="0"/>
                                <a:ea typeface="Cambria Math" pitchFamily="18" charset="0"/>
                              </a:rPr>
                              <m:t>±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800" b="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itchFamily="18" charset="0"/>
                                <a:ea typeface="Cambria Math" pitchFamily="18" charset="0"/>
                              </a:rPr>
                              <m:t>𝑖</m:t>
                            </m:r>
                            <m: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=</m:t>
                            </m:r>
                            <m: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𝑢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800" b="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sz="2800" b="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±</m:t>
                        </m:r>
                        <m:nary>
                          <m:naryPr>
                            <m:chr m:val="∑"/>
                            <m:ctrlPr>
                              <a:rPr 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itchFamily="18" charset="0"/>
                                <a:ea typeface="Cambria Math" pitchFamily="18" charset="0"/>
                              </a:rPr>
                              <m:t>𝑖</m:t>
                            </m:r>
                            <m: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=</m:t>
                            </m:r>
                            <m: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en-US" sz="2800" b="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  <m:t>𝑢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800" b="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itchFamily="18" charset="0"/>
                  <a:ea typeface="Cambria Math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:endPara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09600"/>
                <a:ext cx="8458200" cy="6019800"/>
              </a:xfrm>
              <a:blipFill rotWithShape="1">
                <a:blip r:embed="rId2" cstate="print"/>
                <a:stretch>
                  <a:fillRect l="-1081" b="-16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77555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928100" cy="45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Appendix: </a:t>
            </a:r>
            <a:r>
              <a:rPr lang="en-US" sz="3200" b="1" dirty="0"/>
              <a:t>Properties of logarithms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696200" cy="6019800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7200" y="762000"/>
                <a:ext cx="8153400" cy="5528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a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 1 = 0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a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 a = 1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(</a:t>
                </a: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m</a:t>
                </a:r>
                <a:r>
                  <a:rPr lang="en-US" sz="2400" baseline="30000" dirty="0" err="1">
                    <a:latin typeface="Cambria Math" pitchFamily="18" charset="0"/>
                    <a:ea typeface="Cambria Math" pitchFamily="18" charset="0"/>
                  </a:rPr>
                  <a:t>n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) = n · </a:t>
                </a: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(m)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(</a:t>
                </a: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mn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) = </a:t>
                </a: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(m) + </a:t>
                </a: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(n)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(</a:t>
                </a:r>
                <a:r>
                  <a:rPr lang="en-US" sz="2400" baseline="30000" dirty="0">
                    <a:latin typeface="Cambria Math" pitchFamily="18" charset="0"/>
                    <a:ea typeface="Cambria Math" pitchFamily="18" charset="0"/>
                  </a:rPr>
                  <a:t>m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/</a:t>
                </a:r>
                <a:r>
                  <a:rPr lang="en-US" sz="2400" baseline="-25000" dirty="0">
                    <a:latin typeface="Cambria Math" pitchFamily="18" charset="0"/>
                    <a:ea typeface="Cambria Math" pitchFamily="18" charset="0"/>
                  </a:rPr>
                  <a:t>n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) = </a:t>
                </a: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(m) – </a:t>
                </a: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(n)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a </a:t>
                </a:r>
                <a:r>
                  <a:rPr lang="en-US" sz="2400" baseline="300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5000" dirty="0" err="1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US" sz="2400" baseline="30000" dirty="0">
                    <a:latin typeface="Cambria Math" pitchFamily="18" charset="0"/>
                    <a:ea typeface="Cambria Math" pitchFamily="18" charset="0"/>
                  </a:rPr>
                  <a:t> m 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 = m</a:t>
                </a:r>
                <a:r>
                  <a:rPr lang="en-US" sz="2400" baseline="30000" dirty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sz="2400" baseline="300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5000" dirty="0" err="1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US" sz="2400" baseline="30000" dirty="0">
                    <a:latin typeface="Cambria Math" pitchFamily="18" charset="0"/>
                    <a:ea typeface="Cambria Math" pitchFamily="18" charset="0"/>
                  </a:rPr>
                  <a:t> a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a</a:t>
                </a:r>
                <a:r>
                  <a:rPr lang="en-US" sz="2400" baseline="-25000" dirty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>
                            <a:latin typeface="Cambria Math" pitchFamily="18" charset="0"/>
                            <a:ea typeface="Cambria Math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sz="2400" b="0" i="0" baseline="-25000" dirty="0" smtClean="0">
                            <a:latin typeface="Cambria Math" pitchFamily="18" charset="0"/>
                            <a:ea typeface="Cambria Math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latin typeface="Cambria Math" pitchFamily="18" charset="0"/>
                            <a:ea typeface="Cambria Math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ambria Math" pitchFamily="18" charset="0"/>
                            <a:ea typeface="Cambria Math" pitchFamily="18" charset="0"/>
                          </a:rPr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latin typeface="Cambria Math" pitchFamily="18" charset="0"/>
                            <a:ea typeface="Cambria Math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sz="2400" b="0" i="0" baseline="-25000" dirty="0" smtClean="0">
                            <a:latin typeface="Cambria Math" pitchFamily="18" charset="0"/>
                            <a:ea typeface="Cambria Math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latin typeface="Cambria Math" pitchFamily="18" charset="0"/>
                            <a:ea typeface="Cambria Math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>
                            <a:latin typeface="Cambria Math" pitchFamily="18" charset="0"/>
                            <a:ea typeface="Cambria Math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 = </a:t>
                </a: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a</a:t>
                </a:r>
                <a:r>
                  <a:rPr lang="en-US" sz="2400" baseline="-25000" dirty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b </a:t>
                </a:r>
                <a:r>
                  <a:rPr lang="en-US" sz="2400" dirty="0" err="1">
                    <a:latin typeface="Cambria Math" pitchFamily="18" charset="0"/>
                    <a:ea typeface="Cambria Math" pitchFamily="18" charset="0"/>
                  </a:rPr>
                  <a:t>log</a:t>
                </a:r>
                <a:r>
                  <a:rPr lang="en-US" sz="2400" baseline="-25000" dirty="0" err="1">
                    <a:latin typeface="Cambria Math" pitchFamily="18" charset="0"/>
                    <a:ea typeface="Cambria Math" pitchFamily="18" charset="0"/>
                  </a:rPr>
                  <a:t>b</a:t>
                </a:r>
                <a:r>
                  <a:rPr lang="en-US" sz="2400" baseline="-25000" dirty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m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762000"/>
                <a:ext cx="8153400" cy="5528758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1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54642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Custom 2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4685DF"/>
      </a:hlink>
      <a:folHlink>
        <a:srgbClr val="9965C3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0B7603DA286A41973ED08A6E95DDF1" ma:contentTypeVersion="14" ma:contentTypeDescription="Create a new document." ma:contentTypeScope="" ma:versionID="9dbda6c21f670f81b314fde63e299b67">
  <xsd:schema xmlns:xsd="http://www.w3.org/2001/XMLSchema" xmlns:xs="http://www.w3.org/2001/XMLSchema" xmlns:p="http://schemas.microsoft.com/office/2006/metadata/properties" xmlns:ns2="b59073bf-3226-4cc2-a862-685e8fd0a4b2" xmlns:ns3="77f424dc-c8a0-4eac-a0a6-0f28ce03e3e3" targetNamespace="http://schemas.microsoft.com/office/2006/metadata/properties" ma:root="true" ma:fieldsID="3c2f63c7967b26ca995ad52a8d891f55" ns2:_="" ns3:_="">
    <xsd:import namespace="b59073bf-3226-4cc2-a862-685e8fd0a4b2"/>
    <xsd:import namespace="77f424dc-c8a0-4eac-a0a6-0f28ce03e3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073bf-3226-4cc2-a862-685e8fd0a4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f14da48-c7bd-4fbb-b3d0-c28c7c6f1f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424dc-c8a0-4eac-a0a6-0f28ce03e3e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6a6a460-902d-4d5c-a475-b7e5fe6fe2a9}" ma:internalName="TaxCatchAll" ma:showField="CatchAllData" ma:web="77f424dc-c8a0-4eac-a0a6-0f28ce03e3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073bf-3226-4cc2-a862-685e8fd0a4b2">
      <Terms xmlns="http://schemas.microsoft.com/office/infopath/2007/PartnerControls"/>
    </lcf76f155ced4ddcb4097134ff3c332f>
    <TaxCatchAll xmlns="77f424dc-c8a0-4eac-a0a6-0f28ce03e3e3" xsi:nil="true"/>
  </documentManagement>
</p:properties>
</file>

<file path=customXml/itemProps1.xml><?xml version="1.0" encoding="utf-8"?>
<ds:datastoreItem xmlns:ds="http://schemas.openxmlformats.org/officeDocument/2006/customXml" ds:itemID="{3955E66B-B87A-4C0D-B301-04457DE1433A}"/>
</file>

<file path=customXml/itemProps2.xml><?xml version="1.0" encoding="utf-8"?>
<ds:datastoreItem xmlns:ds="http://schemas.openxmlformats.org/officeDocument/2006/customXml" ds:itemID="{6551C8EC-A043-48C6-907F-08AB9E2814F8}"/>
</file>

<file path=customXml/itemProps3.xml><?xml version="1.0" encoding="utf-8"?>
<ds:datastoreItem xmlns:ds="http://schemas.openxmlformats.org/officeDocument/2006/customXml" ds:itemID="{C4E779A0-7741-4365-BEC1-EE6829A038D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4175</TotalTime>
  <Words>3327</Words>
  <Application>Microsoft Office PowerPoint</Application>
  <PresentationFormat>On-screen Show (4:3)</PresentationFormat>
  <Paragraphs>742</Paragraphs>
  <Slides>52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68" baseType="lpstr">
      <vt:lpstr>Arial</vt:lpstr>
      <vt:lpstr>Calibri</vt:lpstr>
      <vt:lpstr>Cambria Math</vt:lpstr>
      <vt:lpstr>Comic Sans MS</vt:lpstr>
      <vt:lpstr>Courier New</vt:lpstr>
      <vt:lpstr>Monotype Sorts</vt:lpstr>
      <vt:lpstr>Segoe</vt:lpstr>
      <vt:lpstr>Segoe UI</vt:lpstr>
      <vt:lpstr>Segoe UI Light</vt:lpstr>
      <vt:lpstr>Segoe UI Symbol</vt:lpstr>
      <vt:lpstr>Symbol</vt:lpstr>
      <vt:lpstr>Times New Roman</vt:lpstr>
      <vt:lpstr>Wingdings</vt:lpstr>
      <vt:lpstr>Essential</vt:lpstr>
      <vt:lpstr>Equation</vt:lpstr>
      <vt:lpstr>Paint Shop Pro Image</vt:lpstr>
      <vt:lpstr>Cs316: Algorithms  Lecture 3 Analysis of  Non-recursive Algorithms</vt:lpstr>
      <vt:lpstr>PowerPoint Presentation</vt:lpstr>
      <vt:lpstr>Analyzing Non-recursive Algorithms</vt:lpstr>
      <vt:lpstr>Analysis Algorithm control structures</vt:lpstr>
      <vt:lpstr>sequencing</vt:lpstr>
      <vt:lpstr>if-then-else</vt:lpstr>
      <vt:lpstr>For loop</vt:lpstr>
      <vt:lpstr>While loop</vt:lpstr>
      <vt:lpstr>Theoretical analysis of time efficiency</vt:lpstr>
      <vt:lpstr>General Plan</vt:lpstr>
      <vt:lpstr>Analysis of Non-recursive Examples</vt:lpstr>
      <vt:lpstr>Analysis of Nonrecursive (contd.)</vt:lpstr>
      <vt:lpstr>Analysis of Nonrecursive (contd.)</vt:lpstr>
      <vt:lpstr>Analysis of Nonrecursive (contd.)</vt:lpstr>
      <vt:lpstr>Analysis of Nonrecursive (contd.)</vt:lpstr>
      <vt:lpstr>Analysis of Nonrecursive (contd.)</vt:lpstr>
      <vt:lpstr>Analysis of Nonrecursive (contd.)</vt:lpstr>
      <vt:lpstr>Algorithms techniques</vt:lpstr>
      <vt:lpstr>Decrease and Conquer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INSERTION-SORT</vt:lpstr>
      <vt:lpstr>Analysis of Insertion Sort</vt:lpstr>
      <vt:lpstr>Best Case Analysis</vt:lpstr>
      <vt:lpstr>Worst Case Analysis</vt:lpstr>
      <vt:lpstr>Worst Case Analysis</vt:lpstr>
      <vt:lpstr>Insertion Sort - Summary</vt:lpstr>
      <vt:lpstr>Divide and conquer algorithm design strategy</vt:lpstr>
      <vt:lpstr>Divide and Conquer</vt:lpstr>
      <vt:lpstr>Divide and Conquer (contd.)</vt:lpstr>
      <vt:lpstr>Divide and Conquer (contd.)</vt:lpstr>
      <vt:lpstr>Merge Sort</vt:lpstr>
      <vt:lpstr>Merge sort</vt:lpstr>
      <vt:lpstr>PowerPoint Presentation</vt:lpstr>
      <vt:lpstr>Merge sort(contd.)</vt:lpstr>
      <vt:lpstr>Merging Idea</vt:lpstr>
      <vt:lpstr>Pseudocode of the MERGE procedure</vt:lpstr>
      <vt:lpstr>Pseudocode of the MERGE procedure</vt:lpstr>
      <vt:lpstr>Analysis of Merge Sort</vt:lpstr>
      <vt:lpstr>Binary Search</vt:lpstr>
      <vt:lpstr>Binary search </vt:lpstr>
      <vt:lpstr>BINARY-SEARCH: Recurrence</vt:lpstr>
      <vt:lpstr>BINARY-SEARCH: Recurrence</vt:lpstr>
      <vt:lpstr>Appendix: useful mathematical formulas for the analysis of algorithms</vt:lpstr>
      <vt:lpstr>Appendix: Important Summation Formulas</vt:lpstr>
      <vt:lpstr>Appendix: Important Summation Formulas</vt:lpstr>
      <vt:lpstr>Appendix: Properties of logarithms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316: Algorithms  Lecture 3: Analysis of Algorithms</dc:title>
  <dc:creator>EHM</dc:creator>
  <cp:lastModifiedBy>Mohammed El-Said</cp:lastModifiedBy>
  <cp:revision>146</cp:revision>
  <dcterms:created xsi:type="dcterms:W3CDTF">2015-02-09T18:13:26Z</dcterms:created>
  <dcterms:modified xsi:type="dcterms:W3CDTF">2024-03-13T19:20:54Z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0x010100350B7603DA286A41973ED08A6E95DDF1</vt:lpwstr>
  </property>
</Properties>
</file>