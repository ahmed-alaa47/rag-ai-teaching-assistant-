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7" r:id="rId2"/>
    <p:sldId id="258" r:id="rId3"/>
    <p:sldId id="385" r:id="rId4"/>
    <p:sldId id="384" r:id="rId5"/>
    <p:sldId id="360" r:id="rId6"/>
    <p:sldId id="383" r:id="rId7"/>
    <p:sldId id="359" r:id="rId8"/>
    <p:sldId id="366" r:id="rId9"/>
    <p:sldId id="283" r:id="rId10"/>
    <p:sldId id="367" r:id="rId11"/>
    <p:sldId id="386" r:id="rId12"/>
    <p:sldId id="284" r:id="rId13"/>
    <p:sldId id="332" r:id="rId14"/>
    <p:sldId id="387" r:id="rId15"/>
    <p:sldId id="285" r:id="rId16"/>
    <p:sldId id="286" r:id="rId17"/>
    <p:sldId id="287" r:id="rId18"/>
    <p:sldId id="288" r:id="rId19"/>
    <p:sldId id="315" r:id="rId20"/>
    <p:sldId id="318" r:id="rId21"/>
    <p:sldId id="317" r:id="rId22"/>
    <p:sldId id="35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632" autoAdjust="0"/>
  </p:normalViewPr>
  <p:slideViewPr>
    <p:cSldViewPr>
      <p:cViewPr varScale="1">
        <p:scale>
          <a:sx n="51" d="100"/>
          <a:sy n="51" d="100"/>
        </p:scale>
        <p:origin x="1956" y="72"/>
      </p:cViewPr>
      <p:guideLst>
        <p:guide orient="horz" pos="2160"/>
        <p:guide pos="2880"/>
      </p:guideLst>
    </p:cSldViewPr>
  </p:slideViewPr>
  <p:notesTextViewPr>
    <p:cViewPr>
      <p:scale>
        <a:sx n="1" d="1"/>
        <a:sy n="1" d="1"/>
      </p:scale>
      <p:origin x="0" y="0"/>
    </p:cViewPr>
  </p:notesTextViewPr>
  <p:sorterViewPr>
    <p:cViewPr>
      <p:scale>
        <a:sx n="100" d="100"/>
        <a:sy n="100" d="100"/>
      </p:scale>
      <p:origin x="0" y="4440"/>
    </p:cViewPr>
  </p:sorter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8B100E-1B10-4026-A837-718250C37990}" type="datetimeFigureOut">
              <a:rPr lang="en-US" smtClean="0"/>
              <a:pPr/>
              <a:t>16-Mar-24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F9FA32-A7E7-433D-9806-7C101BF74AE1}" type="slidenum">
              <a:rPr lang="en-US" smtClean="0"/>
              <a:pPr/>
              <a:t>‹#›</a:t>
            </a:fld>
            <a:endParaRPr lang="en-US"/>
          </a:p>
        </p:txBody>
      </p:sp>
    </p:spTree>
    <p:extLst>
      <p:ext uri="{BB962C8B-B14F-4D97-AF65-F5344CB8AC3E}">
        <p14:creationId xmlns:p14="http://schemas.microsoft.com/office/powerpoint/2010/main" val="2532960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a:t>
            </a:r>
            <a:r>
              <a:rPr lang="en-US" baseline="0" dirty="0"/>
              <a:t> the infinite geometric series instead of finite, </a:t>
            </a:r>
            <a:r>
              <a:rPr lang="en-US" sz="1200" dirty="0">
                <a:latin typeface="Segoe"/>
              </a:rPr>
              <a:t>a=1, r = ¾</a:t>
            </a:r>
            <a:r>
              <a:rPr lang="en-US" sz="1200" baseline="0" dirty="0">
                <a:latin typeface="Segoe"/>
              </a:rPr>
              <a:t> </a:t>
            </a:r>
            <a:r>
              <a:rPr lang="en-US" sz="1200" baseline="0" dirty="0">
                <a:latin typeface="Segoe"/>
                <a:sym typeface="Wingdings" panose="05000000000000000000" pitchFamily="2" charset="2"/>
              </a:rPr>
              <a:t> 1/1-r</a:t>
            </a:r>
            <a:endParaRPr lang="en-US" sz="1200" dirty="0">
              <a:latin typeface="Segoe"/>
            </a:endParaRPr>
          </a:p>
          <a:p>
            <a:endParaRPr lang="en-US" dirty="0"/>
          </a:p>
        </p:txBody>
      </p:sp>
      <p:sp>
        <p:nvSpPr>
          <p:cNvPr id="4" name="Slide Number Placeholder 3"/>
          <p:cNvSpPr>
            <a:spLocks noGrp="1"/>
          </p:cNvSpPr>
          <p:nvPr>
            <p:ph type="sldNum" sz="quarter" idx="10"/>
          </p:nvPr>
        </p:nvSpPr>
        <p:spPr/>
        <p:txBody>
          <a:bodyPr/>
          <a:lstStyle/>
          <a:p>
            <a:fld id="{BAF9FA32-A7E7-433D-9806-7C101BF74AE1}" type="slidenum">
              <a:rPr lang="en-US" smtClean="0"/>
              <a:pPr/>
              <a:t>14</a:t>
            </a:fld>
            <a:endParaRPr lang="en-US"/>
          </a:p>
        </p:txBody>
      </p:sp>
    </p:spTree>
    <p:extLst>
      <p:ext uri="{BB962C8B-B14F-4D97-AF65-F5344CB8AC3E}">
        <p14:creationId xmlns:p14="http://schemas.microsoft.com/office/powerpoint/2010/main" val="28080670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9143999" cy="338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57200" y="1828800"/>
            <a:ext cx="7772400" cy="1143000"/>
          </a:xfrm>
        </p:spPr>
        <p:txBody>
          <a:bodyPr anchor="ctr">
            <a:noAutofit/>
          </a:bodyPr>
          <a:lstStyle>
            <a:lvl1pPr>
              <a:lnSpc>
                <a:spcPct val="100000"/>
              </a:lnSpc>
              <a:defRPr sz="3600" spc="-80" baseline="0">
                <a:solidFill>
                  <a:schemeClr val="tx1">
                    <a:lumMod val="65000"/>
                    <a:lumOff val="35000"/>
                  </a:schemeClr>
                </a:solidFill>
                <a:latin typeface="Segoe"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457200" y="2971800"/>
            <a:ext cx="7772400" cy="914400"/>
          </a:xfrm>
        </p:spPr>
        <p:txBody>
          <a:bodyPr/>
          <a:lstStyle>
            <a:lvl1pPr marL="0" indent="0" algn="l">
              <a:buNone/>
              <a:defRPr b="0" cap="all" spc="120" baseline="0">
                <a:solidFill>
                  <a:srgbClr val="FE5815"/>
                </a:solidFill>
                <a:latin typeface="Segoe"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0BB0C2-0C7E-4864-8B9D-4B7B8548A421}" type="datetimeFigureOut">
              <a:rPr lang="en-US" smtClean="0"/>
              <a:pPr/>
              <a:t>16-Mar-24</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p:nvGrpSpPr>
        <p:grpSpPr>
          <a:xfrm>
            <a:off x="8558760" y="6324600"/>
            <a:ext cx="356640" cy="356640"/>
            <a:chOff x="8136431" y="5022563"/>
            <a:chExt cx="356640" cy="356640"/>
          </a:xfrm>
        </p:grpSpPr>
        <p:sp>
          <p:nvSpPr>
            <p:cNvPr id="8" name="Oval 7">
              <a:hlinkClick r:id="" action="ppaction://hlinkshowjump?jump=nextslide"/>
            </p:cNvPr>
            <p:cNvSpPr>
              <a:spLocks noChangeAspect="1"/>
            </p:cNvSpPr>
            <p:nvPr/>
          </p:nvSpPr>
          <p:spPr>
            <a:xfrm>
              <a:off x="8136431"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sp>
          <p:nvSpPr>
            <p:cNvPr id="9" name="Isosceles Triangle 8">
              <a:hlinkClick r:id="" action="ppaction://hlinkshowjump?jump=nextslide"/>
            </p:cNvPr>
            <p:cNvSpPr>
              <a:spLocks noChangeAspect="1"/>
            </p:cNvSpPr>
            <p:nvPr/>
          </p:nvSpPr>
          <p:spPr>
            <a:xfrm rot="5400000" flipH="1">
              <a:off x="8252374" y="5117516"/>
              <a:ext cx="195162" cy="168243"/>
            </a:xfrm>
            <a:prstGeom prst="triangle">
              <a:avLst/>
            </a:prstGeom>
            <a:solidFill>
              <a:schemeClr val="bg1"/>
            </a:solidFill>
            <a:ln>
              <a:noFill/>
            </a:ln>
            <a:effectLst>
              <a:outerShdw blurRad="50800" dist="38100" algn="l" rotWithShape="0">
                <a:srgbClr val="D3564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pic>
        <p:nvPicPr>
          <p:cNvPr id="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383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D10BB0C2-0C7E-4864-8B9D-4B7B8548A421}" type="datetimeFigureOut">
              <a:rPr lang="en-US" smtClean="0"/>
              <a:pPr/>
              <a:t>16-Mar-24</a:t>
            </a:fld>
            <a:endParaRPr lang="en-US"/>
          </a:p>
        </p:txBody>
      </p:sp>
      <p:sp>
        <p:nvSpPr>
          <p:cNvPr id="5" name="Footer Placeholder 4"/>
          <p:cNvSpPr>
            <a:spLocks noGrp="1"/>
          </p:cNvSpPr>
          <p:nvPr>
            <p:ph type="ftr" sz="quarter" idx="11"/>
          </p:nvPr>
        </p:nvSpPr>
        <p:spPr/>
        <p:txBody>
          <a:bodyPr/>
          <a:lstStyle/>
          <a:p>
            <a:endParaRPr lang="en-US"/>
          </a:p>
        </p:txBody>
      </p:sp>
      <p:sp>
        <p:nvSpPr>
          <p:cNvPr id="11" name="Title 1"/>
          <p:cNvSpPr>
            <a:spLocks noGrp="1"/>
          </p:cNvSpPr>
          <p:nvPr>
            <p:ph type="ctrTitle"/>
          </p:nvPr>
        </p:nvSpPr>
        <p:spPr>
          <a:xfrm>
            <a:off x="457200" y="1828800"/>
            <a:ext cx="7772400" cy="1143000"/>
          </a:xfrm>
        </p:spPr>
        <p:txBody>
          <a:bodyPr anchor="ctr">
            <a:noAutofit/>
          </a:bodyPr>
          <a:lstStyle>
            <a:lvl1pPr>
              <a:lnSpc>
                <a:spcPct val="100000"/>
              </a:lnSpc>
              <a:defRPr sz="3600" spc="-80" baseline="0">
                <a:solidFill>
                  <a:schemeClr val="tx1">
                    <a:lumMod val="65000"/>
                    <a:lumOff val="35000"/>
                  </a:schemeClr>
                </a:solidFill>
                <a:latin typeface="Segoe" pitchFamily="34" charset="0"/>
              </a:defRPr>
            </a:lvl1pPr>
          </a:lstStyle>
          <a:p>
            <a:r>
              <a:rPr lang="en-US"/>
              <a:t>Click to edit Master title style</a:t>
            </a:r>
            <a:endParaRPr lang="en-US" dirty="0"/>
          </a:p>
        </p:txBody>
      </p:sp>
      <p:sp>
        <p:nvSpPr>
          <p:cNvPr id="12" name="Subtitle 2"/>
          <p:cNvSpPr>
            <a:spLocks noGrp="1"/>
          </p:cNvSpPr>
          <p:nvPr>
            <p:ph type="subTitle" idx="1"/>
          </p:nvPr>
        </p:nvSpPr>
        <p:spPr>
          <a:xfrm>
            <a:off x="457200" y="2971800"/>
            <a:ext cx="7772400" cy="914400"/>
          </a:xfrm>
        </p:spPr>
        <p:txBody>
          <a:bodyPr/>
          <a:lstStyle>
            <a:lvl1pPr marL="0" indent="0" algn="l">
              <a:buNone/>
              <a:defRPr b="0" cap="all" spc="120" baseline="0">
                <a:solidFill>
                  <a:srgbClr val="FE5815"/>
                </a:solidFill>
                <a:latin typeface="Segoe"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64542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Custom Layout">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4699000" y="1"/>
            <a:ext cx="444500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D10BB0C2-0C7E-4864-8B9D-4B7B8548A421}" type="datetimeFigureOut">
              <a:rPr lang="en-US" smtClean="0"/>
              <a:pPr/>
              <a:t>16-Mar-24</a:t>
            </a:fld>
            <a:endParaRPr lang="en-US"/>
          </a:p>
        </p:txBody>
      </p:sp>
      <p:sp>
        <p:nvSpPr>
          <p:cNvPr id="4" name="Footer Placeholder 3"/>
          <p:cNvSpPr>
            <a:spLocks noGrp="1"/>
          </p:cNvSpPr>
          <p:nvPr>
            <p:ph type="ftr" sz="quarter" idx="11"/>
          </p:nvPr>
        </p:nvSpPr>
        <p:spPr/>
        <p:txBody>
          <a:bodyPr/>
          <a:lstStyle/>
          <a:p>
            <a:endParaRPr lang="en-US"/>
          </a:p>
        </p:txBody>
      </p:sp>
      <p:sp>
        <p:nvSpPr>
          <p:cNvPr id="8" name="Title 1"/>
          <p:cNvSpPr>
            <a:spLocks noGrp="1"/>
          </p:cNvSpPr>
          <p:nvPr>
            <p:ph type="title"/>
          </p:nvPr>
        </p:nvSpPr>
        <p:spPr>
          <a:xfrm>
            <a:off x="685800" y="304800"/>
            <a:ext cx="7620000" cy="838200"/>
          </a:xfrm>
        </p:spPr>
        <p:txBody>
          <a:bodyPr/>
          <a:lstStyle/>
          <a:p>
            <a:r>
              <a:rPr lang="en-US"/>
              <a:t>Click to edit Master title style</a:t>
            </a:r>
            <a:endParaRPr lang="en-US" dirty="0"/>
          </a:p>
        </p:txBody>
      </p:sp>
      <p:sp>
        <p:nvSpPr>
          <p:cNvPr id="9" name="Content Placeholder 2"/>
          <p:cNvSpPr>
            <a:spLocks noGrp="1"/>
          </p:cNvSpPr>
          <p:nvPr>
            <p:ph idx="1"/>
          </p:nvPr>
        </p:nvSpPr>
        <p:spPr>
          <a:xfrm>
            <a:off x="685800" y="1600200"/>
            <a:ext cx="7620000" cy="4373563"/>
          </a:xfrm>
        </p:spPr>
        <p:txBody>
          <a:bodyPr/>
          <a:lstStyle>
            <a:lvl1pPr>
              <a:defRPr sz="2200">
                <a:latin typeface="Segoe"/>
              </a:defRPr>
            </a:lvl1pPr>
            <a:lvl2pPr>
              <a:defRPr>
                <a:latin typeface="Segoe"/>
              </a:defRPr>
            </a:lvl2pPr>
            <a:lvl3pPr>
              <a:defRPr>
                <a:latin typeface="Segoe"/>
              </a:defRPr>
            </a:lvl3pPr>
            <a:lvl4pPr>
              <a:defRPr>
                <a:latin typeface="Segoe"/>
              </a:defRPr>
            </a:lvl4pPr>
            <a:lvl5pPr>
              <a:defRPr>
                <a:latin typeface="Sego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oup 6"/>
          <p:cNvGrpSpPr/>
          <p:nvPr/>
        </p:nvGrpSpPr>
        <p:grpSpPr>
          <a:xfrm>
            <a:off x="7274499" y="6324600"/>
            <a:ext cx="356640" cy="356640"/>
            <a:chOff x="6852170" y="5022563"/>
            <a:chExt cx="356640" cy="356640"/>
          </a:xfrm>
        </p:grpSpPr>
        <p:sp>
          <p:nvSpPr>
            <p:cNvPr id="10" name="Oval 9">
              <a:hlinkClick r:id="" action="ppaction://hlinkshowjump?jump=firstslide"/>
            </p:cNvPr>
            <p:cNvSpPr>
              <a:spLocks noChangeAspect="1"/>
            </p:cNvSpPr>
            <p:nvPr/>
          </p:nvSpPr>
          <p:spPr>
            <a:xfrm>
              <a:off x="6852170"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grpSp>
          <p:nvGrpSpPr>
            <p:cNvPr id="11" name="Group 10"/>
            <p:cNvGrpSpPr/>
            <p:nvPr/>
          </p:nvGrpSpPr>
          <p:grpSpPr>
            <a:xfrm>
              <a:off x="6920649" y="5087260"/>
              <a:ext cx="240202" cy="214123"/>
              <a:chOff x="7066773" y="5942997"/>
              <a:chExt cx="240202" cy="214123"/>
            </a:xfrm>
          </p:grpSpPr>
          <p:sp>
            <p:nvSpPr>
              <p:cNvPr id="12" name="Rectangle 11"/>
              <p:cNvSpPr/>
              <p:nvPr/>
            </p:nvSpPr>
            <p:spPr>
              <a:xfrm>
                <a:off x="7203307"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hlinkClick r:id="" action="ppaction://hlinkshowjump?jump=firstslide"/>
              </p:cNvPr>
              <p:cNvSpPr/>
              <p:nvPr/>
            </p:nvSpPr>
            <p:spPr>
              <a:xfrm>
                <a:off x="7100694"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hlinkClick r:id="" action="ppaction://hlinkshowjump?jump=firstslide"/>
              </p:cNvPr>
              <p:cNvSpPr/>
              <p:nvPr/>
            </p:nvSpPr>
            <p:spPr>
              <a:xfrm>
                <a:off x="7066773" y="5942997"/>
                <a:ext cx="240202" cy="112122"/>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 name="Group 14"/>
          <p:cNvGrpSpPr/>
          <p:nvPr/>
        </p:nvGrpSpPr>
        <p:grpSpPr>
          <a:xfrm>
            <a:off x="8558760" y="6325524"/>
            <a:ext cx="356640" cy="356640"/>
            <a:chOff x="8136431" y="5022563"/>
            <a:chExt cx="356640" cy="356640"/>
          </a:xfrm>
        </p:grpSpPr>
        <p:sp>
          <p:nvSpPr>
            <p:cNvPr id="16" name="Oval 15">
              <a:hlinkClick r:id="" action="ppaction://hlinkshowjump?jump=nextslide"/>
            </p:cNvPr>
            <p:cNvSpPr>
              <a:spLocks noChangeAspect="1"/>
            </p:cNvSpPr>
            <p:nvPr/>
          </p:nvSpPr>
          <p:spPr>
            <a:xfrm>
              <a:off x="8136431"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sp>
          <p:nvSpPr>
            <p:cNvPr id="17" name="Isosceles Triangle 16">
              <a:hlinkClick r:id="" action="ppaction://hlinkshowjump?jump=nextslide"/>
            </p:cNvPr>
            <p:cNvSpPr>
              <a:spLocks noChangeAspect="1"/>
            </p:cNvSpPr>
            <p:nvPr/>
          </p:nvSpPr>
          <p:spPr>
            <a:xfrm rot="5400000" flipH="1">
              <a:off x="8252374" y="5117516"/>
              <a:ext cx="195162" cy="168243"/>
            </a:xfrm>
            <a:prstGeom prst="triangle">
              <a:avLst/>
            </a:prstGeom>
            <a:solidFill>
              <a:schemeClr val="bg1"/>
            </a:solidFill>
            <a:ln>
              <a:noFill/>
            </a:ln>
            <a:effectLst>
              <a:outerShdw blurRad="50800" dist="38100" algn="l" rotWithShape="0">
                <a:srgbClr val="D3564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7274499" y="6324600"/>
            <a:ext cx="356640" cy="356640"/>
            <a:chOff x="6852170" y="5022563"/>
            <a:chExt cx="356640" cy="356640"/>
          </a:xfrm>
        </p:grpSpPr>
        <p:sp>
          <p:nvSpPr>
            <p:cNvPr id="19" name="Oval 18">
              <a:hlinkClick r:id="" action="ppaction://hlinkshowjump?jump=firstslide"/>
            </p:cNvPr>
            <p:cNvSpPr>
              <a:spLocks noChangeAspect="1"/>
            </p:cNvSpPr>
            <p:nvPr/>
          </p:nvSpPr>
          <p:spPr>
            <a:xfrm>
              <a:off x="6852170"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grpSp>
          <p:nvGrpSpPr>
            <p:cNvPr id="20" name="Group 19"/>
            <p:cNvGrpSpPr/>
            <p:nvPr/>
          </p:nvGrpSpPr>
          <p:grpSpPr>
            <a:xfrm>
              <a:off x="6920649" y="5087260"/>
              <a:ext cx="240202" cy="214123"/>
              <a:chOff x="7066773" y="5942997"/>
              <a:chExt cx="240202" cy="214123"/>
            </a:xfrm>
          </p:grpSpPr>
          <p:sp>
            <p:nvSpPr>
              <p:cNvPr id="21" name="Rectangle 20"/>
              <p:cNvSpPr/>
              <p:nvPr/>
            </p:nvSpPr>
            <p:spPr>
              <a:xfrm>
                <a:off x="7203307"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 action="ppaction://hlinkshowjump?jump=firstslide"/>
              </p:cNvPr>
              <p:cNvSpPr/>
              <p:nvPr/>
            </p:nvSpPr>
            <p:spPr>
              <a:xfrm>
                <a:off x="7100694"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hlinkClick r:id="rId3" action="ppaction://hlinksldjump"/>
              </p:cNvPr>
              <p:cNvSpPr/>
              <p:nvPr/>
            </p:nvSpPr>
            <p:spPr>
              <a:xfrm>
                <a:off x="7066773" y="5942997"/>
                <a:ext cx="240202" cy="112122"/>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24" name="Straight Connector 23"/>
          <p:cNvCxnSpPr/>
          <p:nvPr/>
        </p:nvCxnSpPr>
        <p:spPr>
          <a:xfrm>
            <a:off x="7813729" y="6325524"/>
            <a:ext cx="0" cy="3566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28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Custom Layout">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4699000" y="0"/>
            <a:ext cx="444500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D10BB0C2-0C7E-4864-8B9D-4B7B8548A421}" type="datetimeFigureOut">
              <a:rPr lang="en-US" smtClean="0"/>
              <a:pPr/>
              <a:t>16-Mar-24</a:t>
            </a:fld>
            <a:endParaRPr lang="en-US"/>
          </a:p>
        </p:txBody>
      </p:sp>
      <p:sp>
        <p:nvSpPr>
          <p:cNvPr id="4" name="Footer Placeholder 3"/>
          <p:cNvSpPr>
            <a:spLocks noGrp="1"/>
          </p:cNvSpPr>
          <p:nvPr>
            <p:ph type="ftr" sz="quarter" idx="11"/>
          </p:nvPr>
        </p:nvSpPr>
        <p:spPr/>
        <p:txBody>
          <a:bodyPr/>
          <a:lstStyle/>
          <a:p>
            <a:endParaRPr lang="en-US"/>
          </a:p>
        </p:txBody>
      </p:sp>
      <p:sp>
        <p:nvSpPr>
          <p:cNvPr id="8" name="Title 1"/>
          <p:cNvSpPr>
            <a:spLocks noGrp="1"/>
          </p:cNvSpPr>
          <p:nvPr>
            <p:ph type="title"/>
          </p:nvPr>
        </p:nvSpPr>
        <p:spPr>
          <a:xfrm>
            <a:off x="685800" y="0"/>
            <a:ext cx="7620000" cy="1143000"/>
          </a:xfrm>
        </p:spPr>
        <p:txBody>
          <a:bodyPr/>
          <a:lstStyle/>
          <a:p>
            <a:r>
              <a:rPr lang="en-US"/>
              <a:t>Click to edit Master title style</a:t>
            </a:r>
            <a:endParaRPr lang="en-US" dirty="0"/>
          </a:p>
        </p:txBody>
      </p:sp>
      <p:sp>
        <p:nvSpPr>
          <p:cNvPr id="9" name="Content Placeholder 2"/>
          <p:cNvSpPr>
            <a:spLocks noGrp="1"/>
          </p:cNvSpPr>
          <p:nvPr>
            <p:ph idx="1"/>
          </p:nvPr>
        </p:nvSpPr>
        <p:spPr>
          <a:xfrm>
            <a:off x="685800" y="1524000"/>
            <a:ext cx="7620000" cy="4373563"/>
          </a:xfrm>
        </p:spPr>
        <p:txBody>
          <a:bodyPr/>
          <a:lstStyle>
            <a:lvl1pPr>
              <a:defRPr sz="2200">
                <a:latin typeface="Segoe"/>
              </a:defRPr>
            </a:lvl1pPr>
            <a:lvl2pPr>
              <a:defRPr>
                <a:latin typeface="Segoe"/>
              </a:defRPr>
            </a:lvl2pPr>
            <a:lvl3pPr>
              <a:defRPr>
                <a:latin typeface="Segoe"/>
              </a:defRPr>
            </a:lvl3pPr>
            <a:lvl4pPr>
              <a:defRPr>
                <a:latin typeface="Segoe"/>
              </a:defRPr>
            </a:lvl4pPr>
            <a:lvl5pPr>
              <a:defRPr>
                <a:latin typeface="Sego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596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7" name="Title 1"/>
          <p:cNvSpPr>
            <a:spLocks noGrp="1"/>
          </p:cNvSpPr>
          <p:nvPr>
            <p:ph type="title"/>
          </p:nvPr>
        </p:nvSpPr>
        <p:spPr>
          <a:xfrm>
            <a:off x="685800" y="304800"/>
            <a:ext cx="7620000" cy="838200"/>
          </a:xfrm>
        </p:spPr>
        <p:txBody>
          <a:bodyPr/>
          <a:lstStyle/>
          <a:p>
            <a:r>
              <a:rPr lang="en-US"/>
              <a:t>Click to edit Master title style</a:t>
            </a:r>
            <a:endParaRPr lang="en-US" dirty="0"/>
          </a:p>
        </p:txBody>
      </p:sp>
      <p:pic>
        <p:nvPicPr>
          <p:cNvPr id="9"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096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2"/>
          <p:cNvSpPr>
            <a:spLocks noGrp="1"/>
          </p:cNvSpPr>
          <p:nvPr>
            <p:ph idx="1"/>
          </p:nvPr>
        </p:nvSpPr>
        <p:spPr>
          <a:xfrm>
            <a:off x="685800" y="1600200"/>
            <a:ext cx="7620000" cy="4373563"/>
          </a:xfrm>
        </p:spPr>
        <p:txBody>
          <a:bodyPr/>
          <a:lstStyle>
            <a:lvl1pPr>
              <a:defRPr sz="2200">
                <a:latin typeface="Segoe UI Light" pitchFamily="34" charset="0"/>
              </a:defRPr>
            </a:lvl1pPr>
            <a:lvl2pPr>
              <a:defRPr>
                <a:latin typeface="Segoe UI Light" pitchFamily="34" charset="0"/>
              </a:defRPr>
            </a:lvl2pPr>
            <a:lvl3pPr>
              <a:defRPr>
                <a:latin typeface="Segoe UI Light" pitchFamily="34" charset="0"/>
              </a:defRPr>
            </a:lvl3pPr>
            <a:lvl4pPr>
              <a:defRPr>
                <a:latin typeface="Segoe UI Light" pitchFamily="34" charset="0"/>
              </a:defRPr>
            </a:lvl4pPr>
            <a:lvl5pPr>
              <a:defRPr>
                <a:latin typeface="Segoe UI Light"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p:cNvGrpSpPr/>
          <p:nvPr/>
        </p:nvGrpSpPr>
        <p:grpSpPr>
          <a:xfrm>
            <a:off x="8558760" y="6325524"/>
            <a:ext cx="356640" cy="356640"/>
            <a:chOff x="8136431" y="5022563"/>
            <a:chExt cx="356640" cy="356640"/>
          </a:xfrm>
        </p:grpSpPr>
        <p:sp>
          <p:nvSpPr>
            <p:cNvPr id="6" name="Oval 5">
              <a:hlinkClick r:id="" action="ppaction://hlinkshowjump?jump=nextslide"/>
            </p:cNvPr>
            <p:cNvSpPr>
              <a:spLocks noChangeAspect="1"/>
            </p:cNvSpPr>
            <p:nvPr/>
          </p:nvSpPr>
          <p:spPr>
            <a:xfrm>
              <a:off x="8136431"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sp>
          <p:nvSpPr>
            <p:cNvPr id="8" name="Isosceles Triangle 7">
              <a:hlinkClick r:id="" action="ppaction://hlinkshowjump?jump=nextslide"/>
            </p:cNvPr>
            <p:cNvSpPr>
              <a:spLocks noChangeAspect="1"/>
            </p:cNvSpPr>
            <p:nvPr/>
          </p:nvSpPr>
          <p:spPr>
            <a:xfrm rot="5400000" flipH="1">
              <a:off x="8252374" y="5117516"/>
              <a:ext cx="195162" cy="168243"/>
            </a:xfrm>
            <a:prstGeom prst="triangle">
              <a:avLst/>
            </a:prstGeom>
            <a:solidFill>
              <a:schemeClr val="bg1"/>
            </a:solidFill>
            <a:ln>
              <a:noFill/>
            </a:ln>
            <a:effectLst>
              <a:outerShdw blurRad="50800" dist="38100" algn="l" rotWithShape="0">
                <a:srgbClr val="D3564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7274499" y="6324600"/>
            <a:ext cx="356640" cy="356640"/>
            <a:chOff x="6852170" y="5022563"/>
            <a:chExt cx="356640" cy="356640"/>
          </a:xfrm>
        </p:grpSpPr>
        <p:sp>
          <p:nvSpPr>
            <p:cNvPr id="14" name="Oval 13">
              <a:hlinkClick r:id="" action="ppaction://hlinkshowjump?jump=firstslide"/>
            </p:cNvPr>
            <p:cNvSpPr>
              <a:spLocks noChangeAspect="1"/>
            </p:cNvSpPr>
            <p:nvPr/>
          </p:nvSpPr>
          <p:spPr>
            <a:xfrm>
              <a:off x="6852170"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grpSp>
          <p:nvGrpSpPr>
            <p:cNvPr id="15" name="Group 14"/>
            <p:cNvGrpSpPr/>
            <p:nvPr/>
          </p:nvGrpSpPr>
          <p:grpSpPr>
            <a:xfrm>
              <a:off x="6920649" y="5087260"/>
              <a:ext cx="240202" cy="214123"/>
              <a:chOff x="7066773" y="5942997"/>
              <a:chExt cx="240202" cy="214123"/>
            </a:xfrm>
          </p:grpSpPr>
          <p:sp>
            <p:nvSpPr>
              <p:cNvPr id="16" name="Rectangle 15"/>
              <p:cNvSpPr/>
              <p:nvPr/>
            </p:nvSpPr>
            <p:spPr>
              <a:xfrm>
                <a:off x="7203307"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hlinkClick r:id="" action="ppaction://hlinkshowjump?jump=firstslide"/>
              </p:cNvPr>
              <p:cNvSpPr/>
              <p:nvPr/>
            </p:nvSpPr>
            <p:spPr>
              <a:xfrm>
                <a:off x="7100694" y="6055119"/>
                <a:ext cx="56276" cy="10200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hlinkClick r:id="rId3" action="ppaction://hlinksldjump"/>
              </p:cNvPr>
              <p:cNvSpPr/>
              <p:nvPr/>
            </p:nvSpPr>
            <p:spPr>
              <a:xfrm>
                <a:off x="7066773" y="5942997"/>
                <a:ext cx="240202" cy="112122"/>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9" name="Straight Connector 18"/>
          <p:cNvCxnSpPr/>
          <p:nvPr/>
        </p:nvCxnSpPr>
        <p:spPr>
          <a:xfrm>
            <a:off x="7813729" y="6325524"/>
            <a:ext cx="0" cy="3566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8005715" y="6324600"/>
            <a:ext cx="356640" cy="356640"/>
            <a:chOff x="7583386" y="5022563"/>
            <a:chExt cx="356640" cy="356640"/>
          </a:xfrm>
        </p:grpSpPr>
        <p:sp>
          <p:nvSpPr>
            <p:cNvPr id="21" name="Oval 20">
              <a:hlinkClick r:id="" action="ppaction://hlinkshowjump?jump=previousslide"/>
            </p:cNvPr>
            <p:cNvSpPr>
              <a:spLocks noChangeAspect="1"/>
            </p:cNvSpPr>
            <p:nvPr/>
          </p:nvSpPr>
          <p:spPr>
            <a:xfrm>
              <a:off x="7583386" y="5022563"/>
              <a:ext cx="356640" cy="356640"/>
            </a:xfrm>
            <a:prstGeom prst="ellipse">
              <a:avLst/>
            </a:prstGeom>
            <a:gradFill flip="none" rotWithShape="1">
              <a:gsLst>
                <a:gs pos="0">
                  <a:srgbClr val="FE5815"/>
                </a:gs>
                <a:gs pos="100000">
                  <a:srgbClr val="FFC000"/>
                </a:gs>
              </a:gsLst>
              <a:path path="circle">
                <a:fillToRect l="100000" t="100000"/>
              </a:path>
              <a:tileRect r="-100000" b="-100000"/>
            </a:gradFill>
            <a:ln w="12700">
              <a:solidFill>
                <a:srgbClr val="FF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lumMod val="65000"/>
                    <a:lumOff val="35000"/>
                  </a:schemeClr>
                </a:solidFill>
                <a:latin typeface="Segoe" pitchFamily="34" charset="0"/>
              </a:endParaRPr>
            </a:p>
          </p:txBody>
        </p:sp>
        <p:sp>
          <p:nvSpPr>
            <p:cNvPr id="22" name="Isosceles Triangle 21">
              <a:hlinkClick r:id="" action="ppaction://hlinkshowjump?jump=previousslide"/>
            </p:cNvPr>
            <p:cNvSpPr>
              <a:spLocks noChangeAspect="1"/>
            </p:cNvSpPr>
            <p:nvPr/>
          </p:nvSpPr>
          <p:spPr>
            <a:xfrm rot="16200000">
              <a:off x="7649634" y="5117516"/>
              <a:ext cx="195162" cy="168243"/>
            </a:xfrm>
            <a:prstGeom prst="triangle">
              <a:avLst/>
            </a:prstGeom>
            <a:solidFill>
              <a:schemeClr val="bg1"/>
            </a:solidFill>
            <a:ln>
              <a:noFill/>
            </a:ln>
            <a:effectLst>
              <a:outerShdw blurRad="50800" dist="38100" algn="l" rotWithShape="0">
                <a:srgbClr val="D35641">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620000"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668977" y="1600200"/>
            <a:ext cx="7620000" cy="4373563"/>
          </a:xfrm>
        </p:spPr>
        <p:txBody>
          <a:bodyPr/>
          <a:lstStyle>
            <a:lvl1pPr>
              <a:defRPr sz="2200">
                <a:latin typeface="Segoe UI Light" pitchFamily="34" charset="0"/>
              </a:defRPr>
            </a:lvl1pPr>
            <a:lvl2pPr>
              <a:defRPr>
                <a:latin typeface="Segoe UI Light" pitchFamily="34" charset="0"/>
              </a:defRPr>
            </a:lvl2pPr>
            <a:lvl3pPr>
              <a:defRPr>
                <a:latin typeface="Segoe UI Light" pitchFamily="34" charset="0"/>
              </a:defRPr>
            </a:lvl3pPr>
            <a:lvl4pPr>
              <a:defRPr>
                <a:latin typeface="Segoe UI Light" pitchFamily="34" charset="0"/>
              </a:defRPr>
            </a:lvl4pPr>
            <a:lvl5pPr>
              <a:defRPr>
                <a:latin typeface="Segoe UI Light"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7620000" cy="137128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D10BB0C2-0C7E-4864-8B9D-4B7B8548A421}" type="datetimeFigureOut">
              <a:rPr lang="en-US" smtClean="0"/>
              <a:pPr/>
              <a:t>16-Mar-24</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spcBef>
          <a:spcPct val="0"/>
        </a:spcBef>
        <a:buNone/>
        <a:defRPr sz="3200" kern="1200" cap="all" spc="-60" baseline="0">
          <a:solidFill>
            <a:schemeClr val="tx1">
              <a:lumMod val="65000"/>
              <a:lumOff val="35000"/>
            </a:schemeClr>
          </a:solidFill>
          <a:latin typeface="Segoe" pitchFamily="34" charset="0"/>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0" kern="1200">
          <a:solidFill>
            <a:schemeClr val="bg1">
              <a:lumMod val="50000"/>
            </a:schemeClr>
          </a:solidFill>
          <a:latin typeface="Segoe UI Light" pitchFamily="34" charset="0"/>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bg1">
              <a:lumMod val="50000"/>
            </a:schemeClr>
          </a:solidFill>
          <a:latin typeface="Segoe UI Light" pitchFamily="34" charset="0"/>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bg1">
              <a:lumMod val="50000"/>
            </a:schemeClr>
          </a:solidFill>
          <a:latin typeface="Segoe UI Light" pitchFamily="34" charset="0"/>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bg1">
              <a:lumMod val="50000"/>
            </a:schemeClr>
          </a:solidFill>
          <a:latin typeface="Segoe UI Light" pitchFamily="34" charset="0"/>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bg1">
              <a:lumMod val="50000"/>
            </a:schemeClr>
          </a:solidFill>
          <a:latin typeface="Segoe UI Light" pitchFamily="34" charset="0"/>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7.png"/><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765300"/>
            <a:ext cx="7543800" cy="2273300"/>
          </a:xfrm>
        </p:spPr>
        <p:txBody>
          <a:bodyPr/>
          <a:lstStyle/>
          <a:p>
            <a:pPr algn="ctr"/>
            <a:r>
              <a:rPr lang="en-US" sz="3600" dirty="0"/>
              <a:t>Cs 316: Algorithms </a:t>
            </a:r>
            <a:br>
              <a:rPr lang="en-US" sz="3600" dirty="0"/>
            </a:br>
            <a:r>
              <a:rPr lang="en-US" cap="none" dirty="0">
                <a:solidFill>
                  <a:srgbClr val="FF3300"/>
                </a:solidFill>
              </a:rPr>
              <a:t>Lecture 4</a:t>
            </a:r>
            <a:br>
              <a:rPr lang="en-US" cap="none" dirty="0">
                <a:solidFill>
                  <a:srgbClr val="FF3300"/>
                </a:solidFill>
              </a:rPr>
            </a:br>
            <a:r>
              <a:rPr lang="en-US" cap="none" dirty="0">
                <a:solidFill>
                  <a:srgbClr val="FF3300"/>
                </a:solidFill>
              </a:rPr>
              <a:t> </a:t>
            </a:r>
            <a:r>
              <a:rPr lang="en-US" cap="none" dirty="0"/>
              <a:t>Analysis Of Recursive Algorithms</a:t>
            </a:r>
            <a:endParaRPr lang="en-US" sz="3600" dirty="0"/>
          </a:p>
        </p:txBody>
      </p:sp>
      <p:sp>
        <p:nvSpPr>
          <p:cNvPr id="6" name="Subtitle 2"/>
          <p:cNvSpPr txBox="1">
            <a:spLocks/>
          </p:cNvSpPr>
          <p:nvPr/>
        </p:nvSpPr>
        <p:spPr>
          <a:xfrm>
            <a:off x="457200" y="4038600"/>
            <a:ext cx="7772400" cy="1752600"/>
          </a:xfrm>
          <a:prstGeom prst="rect">
            <a:avLst/>
          </a:prstGeom>
        </p:spPr>
        <p:txBody>
          <a:bodyPr vert="horz" lIns="91440" tIns="45720" rIns="91440" bIns="45720" rtlCol="0">
            <a:normAutofit fontScale="92500" lnSpcReduction="10000"/>
          </a:bodyPr>
          <a:lstStyle>
            <a:lvl1pPr marL="0" indent="0" algn="l" defTabSz="914400" rtl="0" eaLnBrk="1" latinLnBrk="0" hangingPunct="1">
              <a:spcBef>
                <a:spcPct val="20000"/>
              </a:spcBef>
              <a:spcAft>
                <a:spcPts val="600"/>
              </a:spcAft>
              <a:buFont typeface="Arial" pitchFamily="34" charset="0"/>
              <a:buNone/>
              <a:defRPr sz="2000" b="0" kern="1200" cap="all" spc="120" baseline="0">
                <a:solidFill>
                  <a:srgbClr val="FE5815"/>
                </a:solidFill>
                <a:latin typeface="Segoe" pitchFamily="34" charset="0"/>
                <a:ea typeface="+mn-ea"/>
                <a:cs typeface="+mn-cs"/>
              </a:defRPr>
            </a:lvl1pPr>
            <a:lvl2pPr marL="457200" indent="0" algn="ctr" defTabSz="914400" rtl="0" eaLnBrk="1" latinLnBrk="0" hangingPunct="1">
              <a:spcBef>
                <a:spcPct val="20000"/>
              </a:spcBef>
              <a:buClr>
                <a:schemeClr val="tx2"/>
              </a:buClr>
              <a:buFont typeface="Arial" pitchFamily="34" charset="0"/>
              <a:buNone/>
              <a:defRPr sz="2000" kern="1200">
                <a:solidFill>
                  <a:schemeClr val="tx1">
                    <a:tint val="75000"/>
                  </a:schemeClr>
                </a:solidFill>
                <a:latin typeface="Segoe UI Light" pitchFamily="34" charset="0"/>
                <a:ea typeface="+mn-ea"/>
                <a:cs typeface="+mn-cs"/>
              </a:defRPr>
            </a:lvl2pPr>
            <a:lvl3pPr marL="914400" indent="0" algn="ctr" defTabSz="914400" rtl="0" eaLnBrk="1" latinLnBrk="0" hangingPunct="1">
              <a:spcBef>
                <a:spcPct val="20000"/>
              </a:spcBef>
              <a:buClr>
                <a:schemeClr val="tx2"/>
              </a:buClr>
              <a:buFont typeface="Arial" pitchFamily="34" charset="0"/>
              <a:buNone/>
              <a:defRPr sz="1800" kern="1200">
                <a:solidFill>
                  <a:schemeClr val="tx1">
                    <a:tint val="75000"/>
                  </a:schemeClr>
                </a:solidFill>
                <a:latin typeface="Segoe UI Light" pitchFamily="34" charset="0"/>
                <a:ea typeface="+mn-ea"/>
                <a:cs typeface="+mn-cs"/>
              </a:defRPr>
            </a:lvl3pPr>
            <a:lvl4pPr marL="1371600" indent="0" algn="ctr" defTabSz="914400" rtl="0" eaLnBrk="1" latinLnBrk="0" hangingPunct="1">
              <a:spcBef>
                <a:spcPct val="20000"/>
              </a:spcBef>
              <a:buClr>
                <a:schemeClr val="tx2"/>
              </a:buClr>
              <a:buFont typeface="Arial" pitchFamily="34" charset="0"/>
              <a:buNone/>
              <a:defRPr sz="1800" kern="1200">
                <a:solidFill>
                  <a:schemeClr val="tx1">
                    <a:tint val="75000"/>
                  </a:schemeClr>
                </a:solidFill>
                <a:latin typeface="Segoe UI Light" pitchFamily="34" charset="0"/>
                <a:ea typeface="+mn-ea"/>
                <a:cs typeface="+mn-cs"/>
              </a:defRPr>
            </a:lvl4pPr>
            <a:lvl5pPr marL="1828800" indent="0" algn="ctr" defTabSz="914400" rtl="0" eaLnBrk="1" latinLnBrk="0" hangingPunct="1">
              <a:spcBef>
                <a:spcPct val="20000"/>
              </a:spcBef>
              <a:buClr>
                <a:schemeClr val="tx2"/>
              </a:buClr>
              <a:buFont typeface="Arial" pitchFamily="34" charset="0"/>
              <a:buNone/>
              <a:defRPr sz="1800" kern="1200" baseline="0">
                <a:solidFill>
                  <a:schemeClr val="tx1">
                    <a:tint val="75000"/>
                  </a:schemeClr>
                </a:solidFill>
                <a:latin typeface="Segoe UI Light" pitchFamily="34" charset="0"/>
                <a:ea typeface="+mn-ea"/>
                <a:cs typeface="+mn-cs"/>
              </a:defRPr>
            </a:lvl5pPr>
            <a:lvl6pPr marL="2286000" indent="0" algn="ctr" defTabSz="914400" rtl="0" eaLnBrk="1" latinLnBrk="0" hangingPunct="1">
              <a:spcBef>
                <a:spcPct val="20000"/>
              </a:spcBef>
              <a:buClr>
                <a:schemeClr val="tx2"/>
              </a:buClr>
              <a:buFont typeface="Arial"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tx2"/>
              </a:buClr>
              <a:buFont typeface="Arial"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tx2"/>
              </a:buClr>
              <a:buFont typeface="Arial"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tx2"/>
              </a:buClr>
              <a:buFont typeface="Arial" pitchFamily="34" charset="0"/>
              <a:buNone/>
              <a:defRPr sz="1600" kern="1200">
                <a:solidFill>
                  <a:schemeClr val="tx1">
                    <a:tint val="75000"/>
                  </a:schemeClr>
                </a:solidFill>
                <a:latin typeface="+mn-lt"/>
                <a:ea typeface="+mn-ea"/>
                <a:cs typeface="+mn-cs"/>
              </a:defRPr>
            </a:lvl9pPr>
          </a:lstStyle>
          <a:p>
            <a:pPr algn="ctr"/>
            <a:r>
              <a:rPr lang="en-US" cap="none">
                <a:solidFill>
                  <a:srgbClr val="FF0000"/>
                </a:solidFill>
              </a:rPr>
              <a:t>Prepared by: Assoc. Prof. Ensaf Hussein</a:t>
            </a:r>
          </a:p>
          <a:p>
            <a:pPr algn="ctr"/>
            <a:r>
              <a:rPr lang="en-US" cap="none">
                <a:solidFill>
                  <a:srgbClr val="0000CC"/>
                </a:solidFill>
              </a:rPr>
              <a:t>Presented by:</a:t>
            </a:r>
            <a:r>
              <a:rPr lang="en-US" cap="none">
                <a:solidFill>
                  <a:schemeClr val="tx1"/>
                </a:solidFill>
              </a:rPr>
              <a:t> </a:t>
            </a:r>
          </a:p>
          <a:p>
            <a:pPr algn="ctr"/>
            <a:r>
              <a:rPr lang="en-US" sz="2400" b="1" cap="none">
                <a:solidFill>
                  <a:schemeClr val="tx1"/>
                </a:solidFill>
              </a:rPr>
              <a:t>Assoc. Prof. Wessam El-Behaidy</a:t>
            </a:r>
          </a:p>
          <a:p>
            <a:pPr algn="ctr"/>
            <a:r>
              <a:rPr lang="en-US" sz="2400" b="1" cap="none">
                <a:solidFill>
                  <a:schemeClr val="tx1"/>
                </a:solidFill>
              </a:rPr>
              <a:t>Dr. Mohammed El-Said</a:t>
            </a:r>
            <a:endParaRPr lang="ar-EG" sz="2400" b="1" cap="none">
              <a:solidFill>
                <a:schemeClr val="tx1"/>
              </a:solidFill>
            </a:endParaRPr>
          </a:p>
          <a:p>
            <a:pPr algn="ctr"/>
            <a:endParaRPr lang="en-US" dirty="0"/>
          </a:p>
        </p:txBody>
      </p:sp>
    </p:spTree>
    <p:extLst>
      <p:ext uri="{BB962C8B-B14F-4D97-AF65-F5344CB8AC3E}">
        <p14:creationId xmlns:p14="http://schemas.microsoft.com/office/powerpoint/2010/main" val="109825882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F0"/>
                </a:solidFill>
              </a:rPr>
              <a:t>Outline</a:t>
            </a:r>
          </a:p>
        </p:txBody>
      </p:sp>
      <p:sp>
        <p:nvSpPr>
          <p:cNvPr id="3" name="Content Placeholder 2"/>
          <p:cNvSpPr>
            <a:spLocks noGrp="1"/>
          </p:cNvSpPr>
          <p:nvPr>
            <p:ph idx="1"/>
          </p:nvPr>
        </p:nvSpPr>
        <p:spPr/>
        <p:txBody>
          <a:bodyPr>
            <a:normAutofit/>
          </a:bodyPr>
          <a:lstStyle/>
          <a:p>
            <a:r>
              <a:rPr lang="en-US" dirty="0">
                <a:solidFill>
                  <a:schemeClr val="tx1">
                    <a:lumMod val="95000"/>
                    <a:lumOff val="5000"/>
                  </a:schemeClr>
                </a:solidFill>
              </a:rPr>
              <a:t>Analysis of recursive algorithms </a:t>
            </a:r>
          </a:p>
          <a:p>
            <a:pPr marL="800100" lvl="1" indent="-342900"/>
            <a:r>
              <a:rPr lang="en-US" strike="sngStrike" dirty="0">
                <a:solidFill>
                  <a:schemeClr val="tx1"/>
                </a:solidFill>
              </a:rPr>
              <a:t>Substitution </a:t>
            </a:r>
          </a:p>
          <a:p>
            <a:pPr marL="800100" lvl="1" indent="-342900"/>
            <a:r>
              <a:rPr lang="en-US" dirty="0">
                <a:solidFill>
                  <a:schemeClr val="tx1">
                    <a:lumMod val="95000"/>
                    <a:lumOff val="5000"/>
                  </a:schemeClr>
                </a:solidFill>
              </a:rPr>
              <a:t>Iteration Method – Iteration Tree</a:t>
            </a:r>
          </a:p>
          <a:p>
            <a:pPr marL="800100" lvl="1" indent="-342900"/>
            <a:r>
              <a:rPr lang="en-US" dirty="0">
                <a:solidFill>
                  <a:schemeClr val="bg1">
                    <a:lumMod val="65000"/>
                  </a:schemeClr>
                </a:solidFill>
              </a:rPr>
              <a:t>Master Method</a:t>
            </a:r>
          </a:p>
          <a:p>
            <a:r>
              <a:rPr lang="en-US" dirty="0">
                <a:solidFill>
                  <a:schemeClr val="bg1">
                    <a:lumMod val="65000"/>
                  </a:schemeClr>
                </a:solidFill>
              </a:rPr>
              <a:t>Recursive Algorithms </a:t>
            </a:r>
          </a:p>
          <a:p>
            <a:pPr lvl="1"/>
            <a:r>
              <a:rPr lang="en-US" dirty="0">
                <a:solidFill>
                  <a:schemeClr val="bg1">
                    <a:lumMod val="65000"/>
                  </a:schemeClr>
                </a:solidFill>
              </a:rPr>
              <a:t>Factorial </a:t>
            </a:r>
          </a:p>
          <a:p>
            <a:pPr lvl="1"/>
            <a:r>
              <a:rPr lang="en-US" dirty="0">
                <a:solidFill>
                  <a:schemeClr val="bg1">
                    <a:lumMod val="65000"/>
                  </a:schemeClr>
                </a:solidFill>
              </a:rPr>
              <a:t>Fibonacci Sequence</a:t>
            </a:r>
          </a:p>
          <a:p>
            <a:pPr lvl="1"/>
            <a:r>
              <a:rPr lang="en-US" dirty="0">
                <a:solidFill>
                  <a:schemeClr val="bg1">
                    <a:lumMod val="65000"/>
                  </a:schemeClr>
                </a:solidFill>
              </a:rPr>
              <a:t>Tower of Hanoi</a:t>
            </a:r>
          </a:p>
          <a:p>
            <a:endParaRPr lang="en-US" dirty="0">
              <a:solidFill>
                <a:schemeClr val="tx1">
                  <a:lumMod val="95000"/>
                  <a:lumOff val="5000"/>
                </a:schemeClr>
              </a:solidFill>
            </a:endParaRPr>
          </a:p>
        </p:txBody>
      </p:sp>
    </p:spTree>
    <p:extLst>
      <p:ext uri="{BB962C8B-B14F-4D97-AF65-F5344CB8AC3E}">
        <p14:creationId xmlns:p14="http://schemas.microsoft.com/office/powerpoint/2010/main" val="399110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chemeClr val="tx1"/>
                </a:solidFill>
              </a:rPr>
              <a:t>Analysis of Merge Sort</a:t>
            </a:r>
          </a:p>
        </p:txBody>
      </p:sp>
      <p:sp>
        <p:nvSpPr>
          <p:cNvPr id="5" name="Content Placeholder 2"/>
          <p:cNvSpPr>
            <a:spLocks noGrp="1"/>
          </p:cNvSpPr>
          <p:nvPr>
            <p:ph idx="1"/>
          </p:nvPr>
        </p:nvSpPr>
        <p:spPr>
          <a:xfrm>
            <a:off x="762000" y="1371600"/>
            <a:ext cx="6858000" cy="4648200"/>
          </a:xfrm>
          <a:effectLst>
            <a:outerShdw blurRad="50800" dist="762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oAutofit/>
          </a:bodyPr>
          <a:lstStyle/>
          <a:p>
            <a:r>
              <a:rPr lang="en-US" sz="2400" b="1" dirty="0">
                <a:solidFill>
                  <a:schemeClr val="tx1">
                    <a:lumMod val="95000"/>
                    <a:lumOff val="5000"/>
                  </a:schemeClr>
                </a:solidFill>
                <a:latin typeface="Segoe"/>
              </a:rPr>
              <a:t>ALGORITHM</a:t>
            </a:r>
            <a:r>
              <a:rPr lang="en-US" sz="2400" dirty="0">
                <a:solidFill>
                  <a:schemeClr val="tx1">
                    <a:lumMod val="95000"/>
                    <a:lumOff val="5000"/>
                  </a:schemeClr>
                </a:solidFill>
                <a:latin typeface="Segoe"/>
              </a:rPr>
              <a:t> </a:t>
            </a:r>
            <a:r>
              <a:rPr lang="en-US" sz="2400" dirty="0" err="1">
                <a:solidFill>
                  <a:schemeClr val="tx1">
                    <a:lumMod val="95000"/>
                    <a:lumOff val="5000"/>
                  </a:schemeClr>
                </a:solidFill>
                <a:latin typeface="Segoe"/>
              </a:rPr>
              <a:t>Mergesort</a:t>
            </a:r>
            <a:r>
              <a:rPr lang="en-US" sz="2400" dirty="0">
                <a:solidFill>
                  <a:schemeClr val="tx1">
                    <a:lumMod val="95000"/>
                    <a:lumOff val="5000"/>
                  </a:schemeClr>
                </a:solidFill>
                <a:latin typeface="Segoe"/>
              </a:rPr>
              <a:t>(A, p, r )</a:t>
            </a:r>
          </a:p>
          <a:p>
            <a:pPr>
              <a:lnSpc>
                <a:spcPct val="150000"/>
              </a:lnSpc>
            </a:pPr>
            <a:r>
              <a:rPr lang="en-US" sz="2400" dirty="0">
                <a:solidFill>
                  <a:schemeClr val="tx1">
                    <a:lumMod val="95000"/>
                    <a:lumOff val="5000"/>
                  </a:schemeClr>
                </a:solidFill>
                <a:latin typeface="Segoe"/>
              </a:rPr>
              <a:t>  IF </a:t>
            </a:r>
            <a:r>
              <a:rPr lang="en-US" sz="2400" i="1" dirty="0">
                <a:solidFill>
                  <a:schemeClr val="tx1">
                    <a:lumMod val="95000"/>
                    <a:lumOff val="5000"/>
                  </a:schemeClr>
                </a:solidFill>
                <a:latin typeface="Segoe"/>
              </a:rPr>
              <a:t>p</a:t>
            </a:r>
            <a:r>
              <a:rPr lang="en-US" sz="2400" dirty="0">
                <a:solidFill>
                  <a:schemeClr val="tx1">
                    <a:lumMod val="95000"/>
                    <a:lumOff val="5000"/>
                  </a:schemeClr>
                </a:solidFill>
                <a:latin typeface="Segoe"/>
              </a:rPr>
              <a:t> &lt; </a:t>
            </a:r>
            <a:r>
              <a:rPr lang="en-US" sz="2400" i="1" dirty="0">
                <a:solidFill>
                  <a:schemeClr val="tx1">
                    <a:lumMod val="95000"/>
                    <a:lumOff val="5000"/>
                  </a:schemeClr>
                </a:solidFill>
                <a:latin typeface="Segoe"/>
              </a:rPr>
              <a:t>r</a:t>
            </a:r>
            <a:r>
              <a:rPr lang="en-US" sz="2400" dirty="0">
                <a:solidFill>
                  <a:schemeClr val="tx1">
                    <a:lumMod val="95000"/>
                    <a:lumOff val="5000"/>
                  </a:schemeClr>
                </a:solidFill>
                <a:latin typeface="Segoe"/>
              </a:rPr>
              <a:t>                                    </a:t>
            </a:r>
            <a:br>
              <a:rPr lang="en-US" sz="2400" dirty="0">
                <a:solidFill>
                  <a:schemeClr val="tx1">
                    <a:lumMod val="95000"/>
                    <a:lumOff val="5000"/>
                  </a:schemeClr>
                </a:solidFill>
                <a:latin typeface="Segoe"/>
              </a:rPr>
            </a:br>
            <a:r>
              <a:rPr lang="en-US" sz="2400" dirty="0">
                <a:solidFill>
                  <a:schemeClr val="tx1">
                    <a:lumMod val="95000"/>
                    <a:lumOff val="5000"/>
                  </a:schemeClr>
                </a:solidFill>
                <a:latin typeface="Segoe"/>
              </a:rPr>
              <a:t> THEN </a:t>
            </a:r>
            <a:r>
              <a:rPr lang="en-US" sz="2400" i="1" dirty="0">
                <a:solidFill>
                  <a:schemeClr val="tx1">
                    <a:lumMod val="95000"/>
                    <a:lumOff val="5000"/>
                  </a:schemeClr>
                </a:solidFill>
                <a:latin typeface="Segoe"/>
              </a:rPr>
              <a:t>q</a:t>
            </a:r>
            <a:r>
              <a:rPr lang="en-US" sz="2400" dirty="0">
                <a:solidFill>
                  <a:schemeClr val="tx1">
                    <a:lumMod val="95000"/>
                    <a:lumOff val="5000"/>
                  </a:schemeClr>
                </a:solidFill>
                <a:latin typeface="Segoe"/>
              </a:rPr>
              <a:t> = FLOOR[(</a:t>
            </a:r>
            <a:r>
              <a:rPr lang="en-US" sz="2400" i="1" dirty="0">
                <a:solidFill>
                  <a:schemeClr val="tx1">
                    <a:lumMod val="95000"/>
                    <a:lumOff val="5000"/>
                  </a:schemeClr>
                </a:solidFill>
                <a:latin typeface="Segoe"/>
              </a:rPr>
              <a:t>p</a:t>
            </a:r>
            <a:r>
              <a:rPr lang="en-US" sz="2400" dirty="0">
                <a:solidFill>
                  <a:schemeClr val="tx1">
                    <a:lumMod val="95000"/>
                    <a:lumOff val="5000"/>
                  </a:schemeClr>
                </a:solidFill>
                <a:latin typeface="Segoe"/>
              </a:rPr>
              <a:t> + </a:t>
            </a:r>
            <a:r>
              <a:rPr lang="en-US" sz="2400" i="1" dirty="0">
                <a:solidFill>
                  <a:schemeClr val="tx1">
                    <a:lumMod val="95000"/>
                    <a:lumOff val="5000"/>
                  </a:schemeClr>
                </a:solidFill>
                <a:latin typeface="Segoe"/>
              </a:rPr>
              <a:t>r</a:t>
            </a:r>
            <a:r>
              <a:rPr lang="en-US" sz="2400" dirty="0">
                <a:solidFill>
                  <a:schemeClr val="tx1">
                    <a:lumMod val="95000"/>
                    <a:lumOff val="5000"/>
                  </a:schemeClr>
                </a:solidFill>
                <a:latin typeface="Segoe"/>
              </a:rPr>
              <a:t>)/2]       </a:t>
            </a:r>
          </a:p>
          <a:p>
            <a:pPr>
              <a:lnSpc>
                <a:spcPct val="150000"/>
              </a:lnSpc>
            </a:pPr>
            <a:r>
              <a:rPr lang="en-US" sz="2400" dirty="0">
                <a:solidFill>
                  <a:schemeClr val="tx1">
                    <a:lumMod val="95000"/>
                    <a:lumOff val="5000"/>
                  </a:schemeClr>
                </a:solidFill>
                <a:latin typeface="Segoe"/>
              </a:rPr>
              <a:t> </a:t>
            </a:r>
            <a:r>
              <a:rPr lang="en-US" sz="2400" dirty="0" err="1">
                <a:solidFill>
                  <a:schemeClr val="tx1">
                    <a:lumMod val="95000"/>
                    <a:lumOff val="5000"/>
                  </a:schemeClr>
                </a:solidFill>
                <a:latin typeface="Segoe"/>
              </a:rPr>
              <a:t>MERGE_Sort</a:t>
            </a:r>
            <a:r>
              <a:rPr lang="en-US" sz="2400" dirty="0">
                <a:solidFill>
                  <a:schemeClr val="tx1">
                    <a:lumMod val="95000"/>
                    <a:lumOff val="5000"/>
                  </a:schemeClr>
                </a:solidFill>
                <a:latin typeface="Segoe"/>
              </a:rPr>
              <a:t> (A, </a:t>
            </a:r>
            <a:r>
              <a:rPr lang="en-US" sz="2400" i="1" dirty="0">
                <a:solidFill>
                  <a:schemeClr val="tx1">
                    <a:lumMod val="95000"/>
                    <a:lumOff val="5000"/>
                  </a:schemeClr>
                </a:solidFill>
                <a:latin typeface="Segoe"/>
              </a:rPr>
              <a:t>p</a:t>
            </a:r>
            <a:r>
              <a:rPr lang="en-US" sz="2400" dirty="0">
                <a:solidFill>
                  <a:schemeClr val="tx1">
                    <a:lumMod val="95000"/>
                    <a:lumOff val="5000"/>
                  </a:schemeClr>
                </a:solidFill>
                <a:latin typeface="Segoe"/>
              </a:rPr>
              <a:t>, </a:t>
            </a:r>
            <a:r>
              <a:rPr lang="en-US" sz="2400" i="1" dirty="0">
                <a:solidFill>
                  <a:schemeClr val="tx1">
                    <a:lumMod val="95000"/>
                    <a:lumOff val="5000"/>
                  </a:schemeClr>
                </a:solidFill>
                <a:latin typeface="Segoe"/>
              </a:rPr>
              <a:t>q</a:t>
            </a:r>
            <a:r>
              <a:rPr lang="en-US" sz="2400" dirty="0">
                <a:solidFill>
                  <a:schemeClr val="tx1">
                    <a:lumMod val="95000"/>
                    <a:lumOff val="5000"/>
                  </a:schemeClr>
                </a:solidFill>
                <a:latin typeface="Segoe"/>
              </a:rPr>
              <a:t>)                  T(n/2)</a:t>
            </a:r>
          </a:p>
          <a:p>
            <a:pPr>
              <a:lnSpc>
                <a:spcPct val="150000"/>
              </a:lnSpc>
            </a:pPr>
            <a:r>
              <a:rPr lang="en-US" sz="2400" dirty="0">
                <a:solidFill>
                  <a:schemeClr val="tx1">
                    <a:lumMod val="95000"/>
                    <a:lumOff val="5000"/>
                  </a:schemeClr>
                </a:solidFill>
                <a:latin typeface="Segoe"/>
              </a:rPr>
              <a:t> </a:t>
            </a:r>
            <a:r>
              <a:rPr lang="en-US" sz="2400" dirty="0" err="1">
                <a:solidFill>
                  <a:schemeClr val="tx1">
                    <a:lumMod val="95000"/>
                    <a:lumOff val="5000"/>
                  </a:schemeClr>
                </a:solidFill>
                <a:latin typeface="Segoe"/>
              </a:rPr>
              <a:t>MERGE_Sort</a:t>
            </a:r>
            <a:r>
              <a:rPr lang="en-US" sz="2400" dirty="0">
                <a:solidFill>
                  <a:schemeClr val="tx1">
                    <a:lumMod val="95000"/>
                    <a:lumOff val="5000"/>
                  </a:schemeClr>
                </a:solidFill>
                <a:latin typeface="Segoe"/>
              </a:rPr>
              <a:t> (A, </a:t>
            </a:r>
            <a:r>
              <a:rPr lang="en-US" sz="2400" i="1" dirty="0">
                <a:solidFill>
                  <a:schemeClr val="tx1">
                    <a:lumMod val="95000"/>
                    <a:lumOff val="5000"/>
                  </a:schemeClr>
                </a:solidFill>
                <a:latin typeface="Segoe"/>
              </a:rPr>
              <a:t>q</a:t>
            </a:r>
            <a:r>
              <a:rPr lang="en-US" sz="2400" dirty="0">
                <a:solidFill>
                  <a:schemeClr val="tx1">
                    <a:lumMod val="95000"/>
                    <a:lumOff val="5000"/>
                  </a:schemeClr>
                </a:solidFill>
                <a:latin typeface="Segoe"/>
              </a:rPr>
              <a:t> + 1, </a:t>
            </a:r>
            <a:r>
              <a:rPr lang="en-US" sz="2400" i="1" dirty="0">
                <a:solidFill>
                  <a:schemeClr val="tx1">
                    <a:lumMod val="95000"/>
                    <a:lumOff val="5000"/>
                  </a:schemeClr>
                </a:solidFill>
                <a:latin typeface="Segoe"/>
              </a:rPr>
              <a:t>r</a:t>
            </a:r>
            <a:r>
              <a:rPr lang="en-US" sz="2400" dirty="0">
                <a:solidFill>
                  <a:schemeClr val="tx1">
                    <a:lumMod val="95000"/>
                    <a:lumOff val="5000"/>
                  </a:schemeClr>
                </a:solidFill>
                <a:latin typeface="Segoe"/>
              </a:rPr>
              <a:t>)             T(n/2) </a:t>
            </a:r>
          </a:p>
          <a:p>
            <a:pPr>
              <a:lnSpc>
                <a:spcPct val="150000"/>
              </a:lnSpc>
            </a:pPr>
            <a:r>
              <a:rPr lang="en-US" sz="2400" dirty="0">
                <a:solidFill>
                  <a:schemeClr val="tx1">
                    <a:lumMod val="95000"/>
                    <a:lumOff val="5000"/>
                  </a:schemeClr>
                </a:solidFill>
                <a:latin typeface="Segoe"/>
              </a:rPr>
              <a:t> MERGE (A, </a:t>
            </a:r>
            <a:r>
              <a:rPr lang="en-US" sz="2400" i="1" dirty="0">
                <a:solidFill>
                  <a:schemeClr val="tx1">
                    <a:lumMod val="95000"/>
                    <a:lumOff val="5000"/>
                  </a:schemeClr>
                </a:solidFill>
                <a:latin typeface="Segoe"/>
              </a:rPr>
              <a:t>p</a:t>
            </a:r>
            <a:r>
              <a:rPr lang="en-US" sz="2400" dirty="0">
                <a:solidFill>
                  <a:schemeClr val="tx1">
                    <a:lumMod val="95000"/>
                    <a:lumOff val="5000"/>
                  </a:schemeClr>
                </a:solidFill>
                <a:latin typeface="Segoe"/>
              </a:rPr>
              <a:t>, </a:t>
            </a:r>
            <a:r>
              <a:rPr lang="en-US" sz="2400" i="1" dirty="0">
                <a:solidFill>
                  <a:schemeClr val="tx1">
                    <a:lumMod val="95000"/>
                    <a:lumOff val="5000"/>
                  </a:schemeClr>
                </a:solidFill>
                <a:latin typeface="Segoe"/>
              </a:rPr>
              <a:t>q</a:t>
            </a:r>
            <a:r>
              <a:rPr lang="en-US" sz="2400" dirty="0">
                <a:solidFill>
                  <a:schemeClr val="tx1">
                    <a:lumMod val="95000"/>
                    <a:lumOff val="5000"/>
                  </a:schemeClr>
                </a:solidFill>
                <a:latin typeface="Segoe"/>
              </a:rPr>
              <a:t>, </a:t>
            </a:r>
            <a:r>
              <a:rPr lang="en-US" sz="2400" i="1" dirty="0">
                <a:solidFill>
                  <a:schemeClr val="tx1">
                    <a:lumMod val="95000"/>
                    <a:lumOff val="5000"/>
                  </a:schemeClr>
                </a:solidFill>
                <a:latin typeface="Segoe"/>
              </a:rPr>
              <a:t>r</a:t>
            </a:r>
            <a:r>
              <a:rPr lang="en-US" sz="2400" dirty="0">
                <a:solidFill>
                  <a:schemeClr val="tx1">
                    <a:lumMod val="95000"/>
                    <a:lumOff val="5000"/>
                  </a:schemeClr>
                </a:solidFill>
                <a:latin typeface="Segoe"/>
              </a:rPr>
              <a:t>)                       θ(n)</a:t>
            </a:r>
          </a:p>
          <a:p>
            <a:pPr>
              <a:lnSpc>
                <a:spcPct val="150000"/>
              </a:lnSpc>
            </a:pPr>
            <a:r>
              <a:rPr lang="en-US" sz="2400" dirty="0">
                <a:solidFill>
                  <a:schemeClr val="tx1">
                    <a:lumMod val="95000"/>
                    <a:lumOff val="5000"/>
                  </a:schemeClr>
                </a:solidFill>
                <a:latin typeface="Segoe"/>
              </a:rPr>
              <a:t>				T(n) =	2T(n/2) + θ(n)</a:t>
            </a:r>
          </a:p>
          <a:p>
            <a:pPr>
              <a:lnSpc>
                <a:spcPct val="150000"/>
              </a:lnSpc>
            </a:pPr>
            <a:endParaRPr lang="en-US" sz="2400" dirty="0">
              <a:solidFill>
                <a:schemeClr val="tx1">
                  <a:lumMod val="95000"/>
                  <a:lumOff val="5000"/>
                </a:schemeClr>
              </a:solidFill>
              <a:latin typeface="Segoe"/>
            </a:endParaRPr>
          </a:p>
        </p:txBody>
      </p:sp>
      <p:cxnSp>
        <p:nvCxnSpPr>
          <p:cNvPr id="7" name="Straight Connector 6"/>
          <p:cNvCxnSpPr/>
          <p:nvPr/>
        </p:nvCxnSpPr>
        <p:spPr>
          <a:xfrm>
            <a:off x="5029200" y="5257800"/>
            <a:ext cx="1905000" cy="0"/>
          </a:xfrm>
          <a:prstGeom prst="line">
            <a:avLst/>
          </a:prstGeom>
        </p:spPr>
        <p:style>
          <a:lnRef idx="2">
            <a:schemeClr val="dk1"/>
          </a:lnRef>
          <a:fillRef idx="0">
            <a:schemeClr val="dk1"/>
          </a:fillRef>
          <a:effectRef idx="1">
            <a:schemeClr val="dk1"/>
          </a:effectRef>
          <a:fontRef idx="minor">
            <a:schemeClr val="tx1"/>
          </a:fontRef>
        </p:style>
      </p:cxnSp>
      <p:sp>
        <p:nvSpPr>
          <p:cNvPr id="3" name="Rectangle 2"/>
          <p:cNvSpPr/>
          <p:nvPr/>
        </p:nvSpPr>
        <p:spPr>
          <a:xfrm>
            <a:off x="5382977" y="6248400"/>
            <a:ext cx="2237023" cy="369332"/>
          </a:xfrm>
          <a:prstGeom prst="rect">
            <a:avLst/>
          </a:prstGeom>
        </p:spPr>
        <p:txBody>
          <a:bodyPr wrap="none">
            <a:spAutoFit/>
          </a:bodyPr>
          <a:lstStyle/>
          <a:p>
            <a:r>
              <a:rPr lang="en-US" altLang="en-US" b="1" dirty="0">
                <a:solidFill>
                  <a:srgbClr val="0070C0"/>
                </a:solidFill>
                <a:effectLst>
                  <a:outerShdw blurRad="38100" dist="38100" dir="2700000" algn="tl">
                    <a:srgbClr val="000000">
                      <a:alpha val="43137"/>
                    </a:srgbClr>
                  </a:outerShdw>
                </a:effectLst>
              </a:rPr>
              <a:t>recurrence relation</a:t>
            </a:r>
            <a:endParaRPr lang="en-US" dirty="0"/>
          </a:p>
        </p:txBody>
      </p:sp>
      <p:cxnSp>
        <p:nvCxnSpPr>
          <p:cNvPr id="6" name="Straight Arrow Connector 5"/>
          <p:cNvCxnSpPr/>
          <p:nvPr/>
        </p:nvCxnSpPr>
        <p:spPr>
          <a:xfrm flipH="1" flipV="1">
            <a:off x="6477000" y="5791200"/>
            <a:ext cx="609600" cy="424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270704" y="6139866"/>
            <a:ext cx="2055371" cy="769441"/>
          </a:xfrm>
          <a:prstGeom prst="rect">
            <a:avLst/>
          </a:prstGeom>
        </p:spPr>
        <p:txBody>
          <a:bodyPr wrap="none">
            <a:spAutoFit/>
          </a:bodyPr>
          <a:lstStyle/>
          <a:p>
            <a:r>
              <a:rPr lang="el-GR" sz="4400" dirty="0"/>
              <a:t>Θ</a:t>
            </a:r>
            <a:r>
              <a:rPr lang="en-US" sz="4400" dirty="0"/>
              <a:t>(</a:t>
            </a:r>
            <a:r>
              <a:rPr lang="en-US" sz="4400" dirty="0" err="1"/>
              <a:t>nlgn</a:t>
            </a:r>
            <a:r>
              <a:rPr lang="en-US" sz="4400" dirty="0"/>
              <a:t>)</a:t>
            </a:r>
          </a:p>
        </p:txBody>
      </p:sp>
      <p:sp>
        <p:nvSpPr>
          <p:cNvPr id="9" name="Right Arrow 8"/>
          <p:cNvSpPr/>
          <p:nvPr/>
        </p:nvSpPr>
        <p:spPr>
          <a:xfrm>
            <a:off x="2445028" y="6424355"/>
            <a:ext cx="685800" cy="2653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5382977" y="4322801"/>
            <a:ext cx="3603916" cy="1468399"/>
            <a:chOff x="5382977" y="4322801"/>
            <a:chExt cx="3603916" cy="1468399"/>
          </a:xfrm>
        </p:grpSpPr>
        <p:sp>
          <p:nvSpPr>
            <p:cNvPr id="4" name="Rectangle 3"/>
            <p:cNvSpPr/>
            <p:nvPr/>
          </p:nvSpPr>
          <p:spPr>
            <a:xfrm>
              <a:off x="5382977" y="5410200"/>
              <a:ext cx="1094023"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05600" y="5410200"/>
              <a:ext cx="685801"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flipH="1">
              <a:off x="6184445" y="4662099"/>
              <a:ext cx="717778" cy="7319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6797743" y="4322801"/>
              <a:ext cx="1949316" cy="369332"/>
            </a:xfrm>
            <a:prstGeom prst="rect">
              <a:avLst/>
            </a:prstGeom>
            <a:noFill/>
          </p:spPr>
          <p:txBody>
            <a:bodyPr wrap="none" rtlCol="0">
              <a:spAutoFit/>
            </a:bodyPr>
            <a:lstStyle/>
            <a:p>
              <a:r>
                <a:rPr lang="en-US" b="1" dirty="0"/>
                <a:t>Time of Division</a:t>
              </a:r>
            </a:p>
          </p:txBody>
        </p:sp>
        <p:sp>
          <p:nvSpPr>
            <p:cNvPr id="14" name="TextBox 13"/>
            <p:cNvSpPr txBox="1"/>
            <p:nvPr/>
          </p:nvSpPr>
          <p:spPr>
            <a:xfrm>
              <a:off x="6987884" y="4741902"/>
              <a:ext cx="1999009" cy="369332"/>
            </a:xfrm>
            <a:prstGeom prst="rect">
              <a:avLst/>
            </a:prstGeom>
            <a:noFill/>
          </p:spPr>
          <p:txBody>
            <a:bodyPr wrap="none" rtlCol="0">
              <a:spAutoFit/>
            </a:bodyPr>
            <a:lstStyle/>
            <a:p>
              <a:r>
                <a:rPr lang="en-US" b="1" dirty="0"/>
                <a:t>Time of Conquer</a:t>
              </a:r>
            </a:p>
          </p:txBody>
        </p:sp>
        <p:cxnSp>
          <p:nvCxnSpPr>
            <p:cNvPr id="15" name="Straight Arrow Connector 14"/>
            <p:cNvCxnSpPr>
              <a:endCxn id="10" idx="0"/>
            </p:cNvCxnSpPr>
            <p:nvPr/>
          </p:nvCxnSpPr>
          <p:spPr>
            <a:xfrm flipH="1">
              <a:off x="7048501" y="5051166"/>
              <a:ext cx="266699" cy="3590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53446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4294967295"/>
          </p:nvPr>
        </p:nvSpPr>
        <p:spPr>
          <a:xfrm>
            <a:off x="8389608" y="6401455"/>
            <a:ext cx="2133600" cy="323850"/>
          </a:xfrm>
          <a:prstGeom prst="rect">
            <a:avLst/>
          </a:prstGeom>
          <a:noFill/>
        </p:spPr>
        <p:txBody>
          <a:bodyPr/>
          <a:lstStyle/>
          <a:p>
            <a:fld id="{6729DF28-4A68-499D-9581-7E7ED77D0E75}" type="slidenum">
              <a:rPr lang="en-US"/>
              <a:pPr/>
              <a:t>4</a:t>
            </a:fld>
            <a:endParaRPr lang="en-US"/>
          </a:p>
        </p:txBody>
      </p:sp>
      <p:sp>
        <p:nvSpPr>
          <p:cNvPr id="18435" name="Rectangle 2"/>
          <p:cNvSpPr>
            <a:spLocks noGrp="1" noChangeArrowheads="1"/>
          </p:cNvSpPr>
          <p:nvPr>
            <p:ph type="title"/>
          </p:nvPr>
        </p:nvSpPr>
        <p:spPr>
          <a:xfrm>
            <a:off x="457200" y="0"/>
            <a:ext cx="7924800" cy="838200"/>
          </a:xfrm>
        </p:spPr>
        <p:txBody>
          <a:bodyPr>
            <a:noAutofit/>
          </a:bodyPr>
          <a:lstStyle/>
          <a:p>
            <a:r>
              <a:rPr lang="en-US" b="1" dirty="0">
                <a:solidFill>
                  <a:schemeClr val="tx1"/>
                </a:solidFill>
                <a:effectLst>
                  <a:outerShdw blurRad="38100" dist="38100" dir="2700000" algn="tl">
                    <a:srgbClr val="000000">
                      <a:alpha val="43137"/>
                    </a:srgbClr>
                  </a:outerShdw>
                </a:effectLst>
              </a:rPr>
              <a:t>BINARY-SEARCH: Recurrence</a:t>
            </a:r>
          </a:p>
        </p:txBody>
      </p:sp>
      <p:sp>
        <p:nvSpPr>
          <p:cNvPr id="18436" name="Rectangle 3"/>
          <p:cNvSpPr>
            <a:spLocks noGrp="1" noChangeArrowheads="1"/>
          </p:cNvSpPr>
          <p:nvPr>
            <p:ph type="body" idx="1"/>
          </p:nvPr>
        </p:nvSpPr>
        <p:spPr>
          <a:xfrm>
            <a:off x="141288" y="927100"/>
            <a:ext cx="8229600" cy="5397500"/>
          </a:xfrm>
        </p:spPr>
        <p:txBody>
          <a:bodyPr>
            <a:noAutofit/>
          </a:bodyPr>
          <a:lstStyle/>
          <a:p>
            <a:pPr marL="533400" indent="-533400" eaLnBrk="1" hangingPunct="1">
              <a:lnSpc>
                <a:spcPct val="80000"/>
              </a:lnSpc>
              <a:buFontTx/>
              <a:buNone/>
            </a:pPr>
            <a:r>
              <a:rPr lang="en-US" sz="2800" dirty="0">
                <a:solidFill>
                  <a:schemeClr val="tx1"/>
                </a:solidFill>
                <a:latin typeface="+mn-lt"/>
                <a:sym typeface="Symbol" pitchFamily="18" charset="2"/>
              </a:rPr>
              <a:t>BINARY-SEARCH (A, lo, hi, x)</a:t>
            </a:r>
          </a:p>
          <a:p>
            <a:pPr marL="533400" indent="-533400" eaLnBrk="1" hangingPunct="1">
              <a:lnSpc>
                <a:spcPct val="80000"/>
              </a:lnSpc>
              <a:buFontTx/>
              <a:buNone/>
            </a:pP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if</a:t>
            </a:r>
            <a:r>
              <a:rPr lang="en-US" sz="2800" dirty="0">
                <a:solidFill>
                  <a:schemeClr val="tx1"/>
                </a:solidFill>
                <a:latin typeface="+mn-lt"/>
                <a:sym typeface="Symbol" pitchFamily="18" charset="2"/>
              </a:rPr>
              <a:t> (lo &gt; hi)</a:t>
            </a:r>
          </a:p>
          <a:p>
            <a:pPr marL="533400" indent="-533400" eaLnBrk="1" hangingPunct="1">
              <a:lnSpc>
                <a:spcPct val="80000"/>
              </a:lnSpc>
              <a:buFontTx/>
              <a:buNone/>
            </a:pP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return</a:t>
            </a: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FALSE</a:t>
            </a:r>
          </a:p>
          <a:p>
            <a:pPr marL="533400" indent="-533400" eaLnBrk="1" hangingPunct="1">
              <a:lnSpc>
                <a:spcPct val="80000"/>
              </a:lnSpc>
              <a:buFontTx/>
              <a:buNone/>
            </a:pPr>
            <a:r>
              <a:rPr lang="en-US" sz="2800" dirty="0">
                <a:solidFill>
                  <a:schemeClr val="tx1"/>
                </a:solidFill>
                <a:latin typeface="+mn-lt"/>
                <a:sym typeface="Symbol" pitchFamily="18" charset="2"/>
              </a:rPr>
              <a:t>	mid  (</a:t>
            </a:r>
            <a:r>
              <a:rPr lang="en-US" sz="2800" dirty="0" err="1">
                <a:solidFill>
                  <a:schemeClr val="tx1"/>
                </a:solidFill>
                <a:latin typeface="+mn-lt"/>
                <a:sym typeface="Symbol" pitchFamily="18" charset="2"/>
              </a:rPr>
              <a:t>lo+hi</a:t>
            </a:r>
            <a:r>
              <a:rPr lang="en-US" sz="2800" dirty="0">
                <a:solidFill>
                  <a:schemeClr val="tx1"/>
                </a:solidFill>
                <a:latin typeface="+mn-lt"/>
                <a:sym typeface="Symbol" pitchFamily="18" charset="2"/>
              </a:rPr>
              <a:t>)/2</a:t>
            </a:r>
          </a:p>
          <a:p>
            <a:pPr marL="533400" indent="-533400" eaLnBrk="1" hangingPunct="1">
              <a:lnSpc>
                <a:spcPct val="80000"/>
              </a:lnSpc>
              <a:buFontTx/>
              <a:buNone/>
            </a:pP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if</a:t>
            </a:r>
            <a:r>
              <a:rPr lang="en-US" sz="2800" dirty="0">
                <a:solidFill>
                  <a:schemeClr val="tx1"/>
                </a:solidFill>
                <a:latin typeface="+mn-lt"/>
                <a:sym typeface="Symbol" pitchFamily="18" charset="2"/>
              </a:rPr>
              <a:t> x = A[mid]</a:t>
            </a:r>
          </a:p>
          <a:p>
            <a:pPr marL="533400" indent="-533400" eaLnBrk="1" hangingPunct="1">
              <a:lnSpc>
                <a:spcPct val="80000"/>
              </a:lnSpc>
              <a:buFontTx/>
              <a:buNone/>
            </a:pPr>
            <a:r>
              <a:rPr lang="en-US" sz="2800" dirty="0">
                <a:solidFill>
                  <a:schemeClr val="tx1"/>
                </a:solidFill>
                <a:latin typeface="+mn-lt"/>
                <a:sym typeface="Symbol" pitchFamily="18" charset="2"/>
              </a:rPr>
              <a:t>		return </a:t>
            </a:r>
            <a:r>
              <a:rPr lang="en-US" sz="2800" b="1" dirty="0">
                <a:solidFill>
                  <a:schemeClr val="tx1"/>
                </a:solidFill>
                <a:latin typeface="+mn-lt"/>
                <a:sym typeface="Symbol" pitchFamily="18" charset="2"/>
              </a:rPr>
              <a:t>TRUE</a:t>
            </a:r>
          </a:p>
          <a:p>
            <a:pPr marL="533400" indent="-533400" eaLnBrk="1" hangingPunct="1">
              <a:lnSpc>
                <a:spcPct val="80000"/>
              </a:lnSpc>
              <a:buFontTx/>
              <a:buNone/>
            </a:pP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if</a:t>
            </a:r>
            <a:r>
              <a:rPr lang="en-US" sz="2800" dirty="0">
                <a:solidFill>
                  <a:schemeClr val="tx1"/>
                </a:solidFill>
                <a:latin typeface="+mn-lt"/>
                <a:sym typeface="Symbol" pitchFamily="18" charset="2"/>
              </a:rPr>
              <a:t> ( x &lt; A[mid] )</a:t>
            </a:r>
          </a:p>
          <a:p>
            <a:pPr marL="533400" indent="-533400" eaLnBrk="1" hangingPunct="1">
              <a:lnSpc>
                <a:spcPct val="80000"/>
              </a:lnSpc>
              <a:buFontTx/>
              <a:buNone/>
            </a:pPr>
            <a:r>
              <a:rPr lang="en-US" sz="2800" dirty="0">
                <a:solidFill>
                  <a:schemeClr val="tx1"/>
                </a:solidFill>
                <a:latin typeface="+mn-lt"/>
                <a:sym typeface="Symbol" pitchFamily="18" charset="2"/>
              </a:rPr>
              <a:t>		BINARY-SEARCH (A, lo, mid-1, x)</a:t>
            </a:r>
          </a:p>
          <a:p>
            <a:pPr marL="533400" indent="-533400" eaLnBrk="1" hangingPunct="1">
              <a:lnSpc>
                <a:spcPct val="80000"/>
              </a:lnSpc>
              <a:buFontTx/>
              <a:buNone/>
            </a:pPr>
            <a:r>
              <a:rPr lang="en-US" sz="2800" dirty="0">
                <a:solidFill>
                  <a:schemeClr val="tx1"/>
                </a:solidFill>
                <a:latin typeface="+mn-lt"/>
                <a:sym typeface="Symbol" pitchFamily="18" charset="2"/>
              </a:rPr>
              <a:t>	</a:t>
            </a:r>
            <a:r>
              <a:rPr lang="en-US" sz="2800" b="1" dirty="0">
                <a:solidFill>
                  <a:schemeClr val="tx1"/>
                </a:solidFill>
                <a:latin typeface="+mn-lt"/>
                <a:sym typeface="Symbol" pitchFamily="18" charset="2"/>
              </a:rPr>
              <a:t>if</a:t>
            </a:r>
            <a:r>
              <a:rPr lang="en-US" sz="2800" dirty="0">
                <a:solidFill>
                  <a:schemeClr val="tx1"/>
                </a:solidFill>
                <a:latin typeface="+mn-lt"/>
                <a:sym typeface="Symbol" pitchFamily="18" charset="2"/>
              </a:rPr>
              <a:t> ( x &gt; A[mid] )</a:t>
            </a:r>
          </a:p>
          <a:p>
            <a:pPr marL="533400" indent="-533400" eaLnBrk="1" hangingPunct="1">
              <a:lnSpc>
                <a:spcPct val="80000"/>
              </a:lnSpc>
              <a:buFontTx/>
              <a:buNone/>
            </a:pPr>
            <a:r>
              <a:rPr lang="en-US" sz="2800" dirty="0">
                <a:solidFill>
                  <a:schemeClr val="tx1"/>
                </a:solidFill>
                <a:latin typeface="+mn-lt"/>
                <a:sym typeface="Symbol" pitchFamily="18" charset="2"/>
              </a:rPr>
              <a:t> 		BINARY-SEARCH (A, mid+1, hi, x)</a:t>
            </a:r>
          </a:p>
          <a:p>
            <a:pPr marL="533400" indent="-533400" eaLnBrk="1" hangingPunct="1">
              <a:lnSpc>
                <a:spcPct val="150000"/>
              </a:lnSpc>
            </a:pPr>
            <a:r>
              <a:rPr lang="en-US" sz="3600" b="1" dirty="0">
                <a:solidFill>
                  <a:srgbClr val="C00000"/>
                </a:solidFill>
                <a:effectLst>
                  <a:outerShdw blurRad="38100" dist="38100" dir="2700000" algn="tl">
                    <a:srgbClr val="000000">
                      <a:alpha val="43137"/>
                    </a:srgbClr>
                  </a:outerShdw>
                </a:effectLst>
                <a:latin typeface="+mn-lt"/>
              </a:rPr>
              <a:t>T(n) = c +  T( n / 2 )</a:t>
            </a:r>
          </a:p>
        </p:txBody>
      </p:sp>
      <p:sp>
        <p:nvSpPr>
          <p:cNvPr id="224260" name="Line 4"/>
          <p:cNvSpPr>
            <a:spLocks noChangeShapeType="1"/>
          </p:cNvSpPr>
          <p:nvPr/>
        </p:nvSpPr>
        <p:spPr bwMode="auto">
          <a:xfrm flipH="1">
            <a:off x="3987800" y="2667000"/>
            <a:ext cx="1795463"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p>
        </p:txBody>
      </p:sp>
      <p:sp>
        <p:nvSpPr>
          <p:cNvPr id="224261" name="Text Box 5"/>
          <p:cNvSpPr txBox="1">
            <a:spLocks noChangeArrowheads="1"/>
          </p:cNvSpPr>
          <p:nvPr/>
        </p:nvSpPr>
        <p:spPr bwMode="auto">
          <a:xfrm>
            <a:off x="5922963" y="2362200"/>
            <a:ext cx="3017173" cy="523220"/>
          </a:xfrm>
          <a:prstGeom prst="rect">
            <a:avLst/>
          </a:prstGeom>
          <a:noFill/>
          <a:ln w="9525">
            <a:noFill/>
            <a:miter lim="800000"/>
            <a:headEnd/>
            <a:tailEnd/>
          </a:ln>
        </p:spPr>
        <p:txBody>
          <a:bodyPr wrap="none">
            <a:spAutoFit/>
          </a:bodyPr>
          <a:lstStyle/>
          <a:p>
            <a:r>
              <a:rPr lang="en-US" sz="2800" b="1" dirty="0">
                <a:solidFill>
                  <a:srgbClr val="0070C0"/>
                </a:solidFill>
              </a:rPr>
              <a:t>constant time: c</a:t>
            </a:r>
            <a:r>
              <a:rPr lang="en-US" sz="2800" b="1" baseline="-25000" dirty="0">
                <a:solidFill>
                  <a:srgbClr val="0070C0"/>
                </a:solidFill>
              </a:rPr>
              <a:t>2</a:t>
            </a:r>
            <a:endParaRPr lang="en-US" sz="2800" b="1" dirty="0">
              <a:solidFill>
                <a:srgbClr val="0070C0"/>
              </a:solidFill>
            </a:endParaRPr>
          </a:p>
        </p:txBody>
      </p:sp>
      <p:sp>
        <p:nvSpPr>
          <p:cNvPr id="224262" name="Text Box 6"/>
          <p:cNvSpPr txBox="1">
            <a:spLocks noChangeArrowheads="1"/>
          </p:cNvSpPr>
          <p:nvPr/>
        </p:nvSpPr>
        <p:spPr bwMode="auto">
          <a:xfrm>
            <a:off x="6681788" y="4151293"/>
            <a:ext cx="2767012" cy="954107"/>
          </a:xfrm>
          <a:prstGeom prst="rect">
            <a:avLst/>
          </a:prstGeom>
          <a:noFill/>
          <a:ln w="9525">
            <a:noFill/>
            <a:miter lim="800000"/>
            <a:headEnd/>
            <a:tailEnd/>
          </a:ln>
        </p:spPr>
        <p:txBody>
          <a:bodyPr>
            <a:spAutoFit/>
          </a:bodyPr>
          <a:lstStyle/>
          <a:p>
            <a:r>
              <a:rPr lang="en-US" sz="2800" b="1" dirty="0">
                <a:solidFill>
                  <a:srgbClr val="0070C0"/>
                </a:solidFill>
              </a:rPr>
              <a:t>same problem of size n/2</a:t>
            </a:r>
          </a:p>
        </p:txBody>
      </p:sp>
      <p:sp>
        <p:nvSpPr>
          <p:cNvPr id="224263" name="Text Box 7"/>
          <p:cNvSpPr txBox="1">
            <a:spLocks noChangeArrowheads="1"/>
          </p:cNvSpPr>
          <p:nvPr/>
        </p:nvSpPr>
        <p:spPr bwMode="auto">
          <a:xfrm>
            <a:off x="6586538" y="5334000"/>
            <a:ext cx="2786062" cy="954107"/>
          </a:xfrm>
          <a:prstGeom prst="rect">
            <a:avLst/>
          </a:prstGeom>
          <a:noFill/>
          <a:ln w="9525">
            <a:noFill/>
            <a:miter lim="800000"/>
            <a:headEnd/>
            <a:tailEnd/>
          </a:ln>
        </p:spPr>
        <p:txBody>
          <a:bodyPr>
            <a:spAutoFit/>
          </a:bodyPr>
          <a:lstStyle/>
          <a:p>
            <a:r>
              <a:rPr lang="en-US" sz="2800" b="1" dirty="0">
                <a:solidFill>
                  <a:srgbClr val="0070C0"/>
                </a:solidFill>
              </a:rPr>
              <a:t>same problem of size n/2</a:t>
            </a:r>
          </a:p>
        </p:txBody>
      </p:sp>
      <p:sp>
        <p:nvSpPr>
          <p:cNvPr id="224264" name="Line 8"/>
          <p:cNvSpPr>
            <a:spLocks noChangeShapeType="1"/>
          </p:cNvSpPr>
          <p:nvPr/>
        </p:nvSpPr>
        <p:spPr bwMode="auto">
          <a:xfrm flipH="1">
            <a:off x="3983038" y="2154238"/>
            <a:ext cx="1793875"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p>
        </p:txBody>
      </p:sp>
      <p:sp>
        <p:nvSpPr>
          <p:cNvPr id="224265" name="Text Box 9"/>
          <p:cNvSpPr txBox="1">
            <a:spLocks noChangeArrowheads="1"/>
          </p:cNvSpPr>
          <p:nvPr/>
        </p:nvSpPr>
        <p:spPr bwMode="auto">
          <a:xfrm>
            <a:off x="5867400" y="1828800"/>
            <a:ext cx="3017173" cy="523220"/>
          </a:xfrm>
          <a:prstGeom prst="rect">
            <a:avLst/>
          </a:prstGeom>
          <a:noFill/>
          <a:ln w="9525">
            <a:noFill/>
            <a:miter lim="800000"/>
            <a:headEnd/>
            <a:tailEnd/>
          </a:ln>
        </p:spPr>
        <p:txBody>
          <a:bodyPr wrap="none">
            <a:spAutoFit/>
          </a:bodyPr>
          <a:lstStyle/>
          <a:p>
            <a:r>
              <a:rPr lang="en-US" sz="2800" b="1" dirty="0">
                <a:solidFill>
                  <a:srgbClr val="0070C0"/>
                </a:solidFill>
              </a:rPr>
              <a:t>constant time: c</a:t>
            </a:r>
            <a:r>
              <a:rPr lang="en-US" sz="2800" b="1" baseline="-25000" dirty="0">
                <a:solidFill>
                  <a:srgbClr val="0070C0"/>
                </a:solidFill>
              </a:rPr>
              <a:t>1</a:t>
            </a:r>
            <a:endParaRPr lang="en-US" sz="2800" b="1" dirty="0">
              <a:solidFill>
                <a:srgbClr val="0070C0"/>
              </a:solidFill>
            </a:endParaRPr>
          </a:p>
        </p:txBody>
      </p:sp>
      <p:sp>
        <p:nvSpPr>
          <p:cNvPr id="224266" name="Line 10"/>
          <p:cNvSpPr>
            <a:spLocks noChangeShapeType="1"/>
          </p:cNvSpPr>
          <p:nvPr/>
        </p:nvSpPr>
        <p:spPr bwMode="auto">
          <a:xfrm flipH="1">
            <a:off x="4114799" y="3581400"/>
            <a:ext cx="1662113"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p>
        </p:txBody>
      </p:sp>
      <p:sp>
        <p:nvSpPr>
          <p:cNvPr id="224267" name="Text Box 11"/>
          <p:cNvSpPr txBox="1">
            <a:spLocks noChangeArrowheads="1"/>
          </p:cNvSpPr>
          <p:nvPr/>
        </p:nvSpPr>
        <p:spPr bwMode="auto">
          <a:xfrm>
            <a:off x="5916613" y="3352800"/>
            <a:ext cx="3017173" cy="523220"/>
          </a:xfrm>
          <a:prstGeom prst="rect">
            <a:avLst/>
          </a:prstGeom>
          <a:noFill/>
          <a:ln w="9525">
            <a:noFill/>
            <a:miter lim="800000"/>
            <a:headEnd/>
            <a:tailEnd/>
          </a:ln>
        </p:spPr>
        <p:txBody>
          <a:bodyPr wrap="none">
            <a:spAutoFit/>
          </a:bodyPr>
          <a:lstStyle/>
          <a:p>
            <a:r>
              <a:rPr lang="en-US" sz="2800" b="1" dirty="0">
                <a:solidFill>
                  <a:srgbClr val="0070C0"/>
                </a:solidFill>
              </a:rPr>
              <a:t>constant time: c</a:t>
            </a:r>
            <a:r>
              <a:rPr lang="en-US" sz="2800" b="1" baseline="-25000" dirty="0">
                <a:solidFill>
                  <a:srgbClr val="0070C0"/>
                </a:solidFill>
              </a:rPr>
              <a:t>3</a:t>
            </a:r>
            <a:endParaRPr lang="en-US" sz="2800" b="1" dirty="0">
              <a:solidFill>
                <a:srgbClr val="0070C0"/>
              </a:solidFill>
            </a:endParaRPr>
          </a:p>
        </p:txBody>
      </p:sp>
      <p:sp>
        <p:nvSpPr>
          <p:cNvPr id="224268" name="Line 12"/>
          <p:cNvSpPr>
            <a:spLocks noChangeShapeType="1"/>
          </p:cNvSpPr>
          <p:nvPr/>
        </p:nvSpPr>
        <p:spPr bwMode="auto">
          <a:xfrm flipH="1">
            <a:off x="6265863" y="4648200"/>
            <a:ext cx="363537"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p>
        </p:txBody>
      </p:sp>
      <p:sp>
        <p:nvSpPr>
          <p:cNvPr id="224269" name="Line 13"/>
          <p:cNvSpPr>
            <a:spLocks noChangeShapeType="1"/>
          </p:cNvSpPr>
          <p:nvPr/>
        </p:nvSpPr>
        <p:spPr bwMode="auto">
          <a:xfrm flipH="1">
            <a:off x="6265863" y="5715000"/>
            <a:ext cx="363537"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p>
        </p:txBody>
      </p:sp>
      <p:sp>
        <p:nvSpPr>
          <p:cNvPr id="16" name="Rounded Rectangle 15"/>
          <p:cNvSpPr/>
          <p:nvPr/>
        </p:nvSpPr>
        <p:spPr>
          <a:xfrm>
            <a:off x="685800" y="3962400"/>
            <a:ext cx="2514600" cy="381000"/>
          </a:xfrm>
          <a:prstGeom prst="roundRect">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solidFill>
                <a:schemeClr val="tx1"/>
              </a:solidFill>
            </a:endParaRPr>
          </a:p>
        </p:txBody>
      </p:sp>
      <p:sp>
        <p:nvSpPr>
          <p:cNvPr id="17" name="Rounded Rectangle 16"/>
          <p:cNvSpPr/>
          <p:nvPr/>
        </p:nvSpPr>
        <p:spPr>
          <a:xfrm>
            <a:off x="685800" y="4953000"/>
            <a:ext cx="2514600" cy="381000"/>
          </a:xfrm>
          <a:prstGeom prst="roundRect">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ar-EG">
              <a:solidFill>
                <a:schemeClr val="tx1"/>
              </a:solidFill>
            </a:endParaRPr>
          </a:p>
        </p:txBody>
      </p:sp>
      <p:cxnSp>
        <p:nvCxnSpPr>
          <p:cNvPr id="19" name="Straight Connector 18"/>
          <p:cNvCxnSpPr/>
          <p:nvPr/>
        </p:nvCxnSpPr>
        <p:spPr>
          <a:xfrm>
            <a:off x="1143000" y="4800600"/>
            <a:ext cx="50292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0" name="Straight Connector 19"/>
          <p:cNvCxnSpPr/>
          <p:nvPr/>
        </p:nvCxnSpPr>
        <p:spPr>
          <a:xfrm>
            <a:off x="1143000" y="5867400"/>
            <a:ext cx="50292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2" name="Rectangle 1"/>
          <p:cNvSpPr/>
          <p:nvPr/>
        </p:nvSpPr>
        <p:spPr>
          <a:xfrm>
            <a:off x="5397676" y="6155780"/>
            <a:ext cx="1736373" cy="769441"/>
          </a:xfrm>
          <a:prstGeom prst="rect">
            <a:avLst/>
          </a:prstGeom>
        </p:spPr>
        <p:txBody>
          <a:bodyPr wrap="none">
            <a:spAutoFit/>
          </a:bodyPr>
          <a:lstStyle/>
          <a:p>
            <a:r>
              <a:rPr lang="el-GR" sz="4400" dirty="0"/>
              <a:t>Θ</a:t>
            </a:r>
            <a:r>
              <a:rPr lang="en-US" sz="4400" dirty="0"/>
              <a:t>(</a:t>
            </a:r>
            <a:r>
              <a:rPr lang="en-US" sz="4400" dirty="0" err="1"/>
              <a:t>lgn</a:t>
            </a:r>
            <a:r>
              <a:rPr lang="en-US" sz="4400" dirty="0"/>
              <a:t>)</a:t>
            </a:r>
          </a:p>
        </p:txBody>
      </p:sp>
      <p:sp>
        <p:nvSpPr>
          <p:cNvPr id="3" name="Right Arrow 2"/>
          <p:cNvSpPr/>
          <p:nvPr/>
        </p:nvSpPr>
        <p:spPr>
          <a:xfrm>
            <a:off x="4572000" y="6440269"/>
            <a:ext cx="685800" cy="2653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78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Slide Number Placeholder 4"/>
          <p:cNvSpPr>
            <a:spLocks noGrp="1"/>
          </p:cNvSpPr>
          <p:nvPr>
            <p:ph type="sldNum" sz="quarter" idx="4294967295"/>
          </p:nvPr>
        </p:nvSpPr>
        <p:spPr>
          <a:xfrm>
            <a:off x="6553200" y="6397625"/>
            <a:ext cx="2133600" cy="323850"/>
          </a:xfrm>
          <a:prstGeom prst="rect">
            <a:avLst/>
          </a:prstGeom>
          <a:noFill/>
        </p:spPr>
        <p:txBody>
          <a:bodyPr/>
          <a:lstStyle/>
          <a:p>
            <a:fld id="{D9ED0D99-329D-49E9-902C-F653C4CBBD14}" type="slidenum">
              <a:rPr lang="en-US"/>
              <a:pPr/>
              <a:t>5</a:t>
            </a:fld>
            <a:endParaRPr lang="en-US"/>
          </a:p>
        </p:txBody>
      </p:sp>
      <p:sp>
        <p:nvSpPr>
          <p:cNvPr id="13315" name="Rectangle 2"/>
          <p:cNvSpPr>
            <a:spLocks noGrp="1" noChangeArrowheads="1"/>
          </p:cNvSpPr>
          <p:nvPr>
            <p:ph type="title"/>
          </p:nvPr>
        </p:nvSpPr>
        <p:spPr>
          <a:xfrm>
            <a:off x="457200" y="0"/>
            <a:ext cx="7620000" cy="838200"/>
          </a:xfrm>
        </p:spPr>
        <p:txBody>
          <a:bodyPr/>
          <a:lstStyle/>
          <a:p>
            <a:pPr eaLnBrk="1" hangingPunct="1"/>
            <a:r>
              <a:rPr lang="en-US" b="1" dirty="0">
                <a:solidFill>
                  <a:schemeClr val="tx1"/>
                </a:solidFill>
                <a:effectLst>
                  <a:outerShdw blurRad="38100" dist="38100" dir="2700000" algn="tl">
                    <a:srgbClr val="000000">
                      <a:alpha val="43137"/>
                    </a:srgbClr>
                  </a:outerShdw>
                </a:effectLst>
              </a:rPr>
              <a:t>Recurrences </a:t>
            </a:r>
          </a:p>
        </p:txBody>
      </p:sp>
      <p:sp>
        <p:nvSpPr>
          <p:cNvPr id="13316" name="Rectangle 3"/>
          <p:cNvSpPr>
            <a:spLocks noGrp="1" noChangeArrowheads="1"/>
          </p:cNvSpPr>
          <p:nvPr>
            <p:ph type="body" idx="1"/>
          </p:nvPr>
        </p:nvSpPr>
        <p:spPr>
          <a:xfrm>
            <a:off x="762000" y="1066800"/>
            <a:ext cx="7467600" cy="5140325"/>
          </a:xfrm>
        </p:spPr>
        <p:txBody>
          <a:bodyPr>
            <a:noAutofit/>
          </a:bodyPr>
          <a:lstStyle/>
          <a:p>
            <a:pPr eaLnBrk="1" hangingPunct="1">
              <a:spcBef>
                <a:spcPts val="1200"/>
              </a:spcBef>
              <a:spcAft>
                <a:spcPts val="1200"/>
              </a:spcAft>
            </a:pPr>
            <a:r>
              <a:rPr lang="en-US" sz="2800" dirty="0">
                <a:solidFill>
                  <a:schemeClr val="tx1"/>
                </a:solidFill>
                <a:latin typeface="+mn-lt"/>
              </a:rPr>
              <a:t>An equation that </a:t>
            </a:r>
            <a:r>
              <a:rPr lang="en-US" sz="2800" b="1" i="1" u="sng" dirty="0">
                <a:solidFill>
                  <a:schemeClr val="tx1"/>
                </a:solidFill>
                <a:latin typeface="+mn-lt"/>
              </a:rPr>
              <a:t>describes a function in terms of its value on smaller inputs</a:t>
            </a:r>
            <a:r>
              <a:rPr lang="en-US" sz="2800" dirty="0">
                <a:solidFill>
                  <a:schemeClr val="tx1"/>
                </a:solidFill>
                <a:latin typeface="+mn-lt"/>
              </a:rPr>
              <a:t>.</a:t>
            </a:r>
          </a:p>
          <a:p>
            <a:pPr algn="ctr" eaLnBrk="1" hangingPunct="1">
              <a:spcBef>
                <a:spcPts val="1200"/>
              </a:spcBef>
              <a:spcAft>
                <a:spcPts val="1200"/>
              </a:spcAft>
              <a:buFontTx/>
              <a:buNone/>
            </a:pPr>
            <a:r>
              <a:rPr lang="en-US" sz="2800" b="1" i="1" dirty="0">
                <a:solidFill>
                  <a:srgbClr val="C00000"/>
                </a:solidFill>
                <a:latin typeface="+mn-lt"/>
              </a:rPr>
              <a:t>T(n) = T(n-1) + n</a:t>
            </a:r>
          </a:p>
          <a:p>
            <a:pPr eaLnBrk="1" hangingPunct="1">
              <a:spcBef>
                <a:spcPts val="1200"/>
              </a:spcBef>
              <a:spcAft>
                <a:spcPts val="1200"/>
              </a:spcAft>
            </a:pPr>
            <a:r>
              <a:rPr lang="en-US" sz="2800" dirty="0">
                <a:solidFill>
                  <a:schemeClr val="tx1"/>
                </a:solidFill>
                <a:latin typeface="+mn-lt"/>
              </a:rPr>
              <a:t>Recurrences arise when an algorithm contains </a:t>
            </a:r>
            <a:r>
              <a:rPr lang="en-US" sz="2800" b="1" dirty="0">
                <a:solidFill>
                  <a:srgbClr val="0070C0"/>
                </a:solidFill>
                <a:latin typeface="+mn-lt"/>
              </a:rPr>
              <a:t>recursive calls </a:t>
            </a:r>
            <a:r>
              <a:rPr lang="en-US" sz="2800" dirty="0">
                <a:solidFill>
                  <a:schemeClr val="tx1"/>
                </a:solidFill>
                <a:latin typeface="+mn-lt"/>
              </a:rPr>
              <a:t>to itself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 Complexity for Recursive algorithms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7147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467600" cy="1066800"/>
          </a:xfrm>
        </p:spPr>
        <p:txBody>
          <a:bodyPr>
            <a:normAutofit/>
          </a:bodyPr>
          <a:lstStyle/>
          <a:p>
            <a:r>
              <a:rPr lang="en-US" b="1" dirty="0">
                <a:solidFill>
                  <a:schemeClr val="tx1"/>
                </a:solidFill>
                <a:effectLst>
                  <a:outerShdw blurRad="38100" dist="38100" dir="2700000" algn="tl">
                    <a:srgbClr val="000000">
                      <a:alpha val="43137"/>
                    </a:srgbClr>
                  </a:outerShdw>
                </a:effectLst>
              </a:rPr>
              <a:t>General Plan for Analysis of recursive algorithms</a:t>
            </a:r>
          </a:p>
        </p:txBody>
      </p:sp>
      <p:sp>
        <p:nvSpPr>
          <p:cNvPr id="3" name="Content Placeholder 2"/>
          <p:cNvSpPr>
            <a:spLocks noGrp="1"/>
          </p:cNvSpPr>
          <p:nvPr>
            <p:ph idx="1"/>
          </p:nvPr>
        </p:nvSpPr>
        <p:spPr>
          <a:xfrm>
            <a:off x="381000" y="1219200"/>
            <a:ext cx="8458200" cy="5257800"/>
          </a:xfrm>
        </p:spPr>
        <p:txBody>
          <a:bodyPr>
            <a:noAutofit/>
          </a:bodyPr>
          <a:lstStyle/>
          <a:p>
            <a:pPr marL="342900" indent="-342900">
              <a:buFont typeface="Wingdings" pitchFamily="2" charset="2"/>
              <a:buChar char="Ø"/>
            </a:pPr>
            <a:r>
              <a:rPr lang="en-US" sz="2800" dirty="0">
                <a:solidFill>
                  <a:schemeClr val="tx1">
                    <a:lumMod val="95000"/>
                    <a:lumOff val="5000"/>
                  </a:schemeClr>
                </a:solidFill>
                <a:latin typeface="+mn-lt"/>
              </a:rPr>
              <a:t>Decide on a parameter indicating an </a:t>
            </a:r>
            <a:r>
              <a:rPr lang="en-US" sz="2800" b="1" dirty="0">
                <a:solidFill>
                  <a:schemeClr val="tx1">
                    <a:lumMod val="95000"/>
                    <a:lumOff val="5000"/>
                  </a:schemeClr>
                </a:solidFill>
                <a:latin typeface="+mn-lt"/>
              </a:rPr>
              <a:t>input’s size</a:t>
            </a:r>
          </a:p>
          <a:p>
            <a:pPr marL="342900" indent="-342900">
              <a:buFont typeface="Wingdings" pitchFamily="2" charset="2"/>
              <a:buChar char="Ø"/>
            </a:pPr>
            <a:r>
              <a:rPr lang="en-US" sz="2800" dirty="0">
                <a:solidFill>
                  <a:schemeClr val="tx1">
                    <a:lumMod val="95000"/>
                    <a:lumOff val="5000"/>
                  </a:schemeClr>
                </a:solidFill>
                <a:latin typeface="+mn-lt"/>
              </a:rPr>
              <a:t>Identify the </a:t>
            </a:r>
            <a:r>
              <a:rPr lang="en-US" sz="2800" b="1" dirty="0">
                <a:solidFill>
                  <a:schemeClr val="tx1">
                    <a:lumMod val="95000"/>
                    <a:lumOff val="5000"/>
                  </a:schemeClr>
                </a:solidFill>
                <a:latin typeface="+mn-lt"/>
              </a:rPr>
              <a:t>basic operation</a:t>
            </a:r>
          </a:p>
          <a:p>
            <a:pPr marL="342900" indent="-342900">
              <a:lnSpc>
                <a:spcPct val="80000"/>
              </a:lnSpc>
              <a:buFont typeface="Wingdings" pitchFamily="2" charset="2"/>
              <a:buChar char="Ø"/>
              <a:defRPr/>
            </a:pPr>
            <a:r>
              <a:rPr lang="en-US" altLang="en-US" sz="2800" dirty="0">
                <a:solidFill>
                  <a:schemeClr val="tx1">
                    <a:lumMod val="95000"/>
                    <a:lumOff val="5000"/>
                  </a:schemeClr>
                </a:solidFill>
                <a:latin typeface="+mn-lt"/>
              </a:rPr>
              <a:t>Check whether the number of times the basic operation is executed may vary on different inputs of the same size.  (If it may, the worst, average, and best cases must be investigated separately.)</a:t>
            </a:r>
          </a:p>
          <a:p>
            <a:pPr marL="342900" indent="-342900">
              <a:lnSpc>
                <a:spcPct val="80000"/>
              </a:lnSpc>
              <a:buFont typeface="Wingdings" pitchFamily="2" charset="2"/>
              <a:buChar char="Ø"/>
              <a:defRPr/>
            </a:pPr>
            <a:r>
              <a:rPr lang="en-US" altLang="en-US" sz="2800" dirty="0">
                <a:solidFill>
                  <a:schemeClr val="tx1">
                    <a:lumMod val="95000"/>
                    <a:lumOff val="5000"/>
                  </a:schemeClr>
                </a:solidFill>
                <a:latin typeface="+mn-lt"/>
              </a:rPr>
              <a:t>Set up </a:t>
            </a:r>
            <a:r>
              <a:rPr lang="en-US" altLang="en-US" sz="2800" b="1" dirty="0">
                <a:solidFill>
                  <a:srgbClr val="0070C0"/>
                </a:solidFill>
                <a:effectLst>
                  <a:outerShdw blurRad="38100" dist="38100" dir="2700000" algn="tl">
                    <a:srgbClr val="000000">
                      <a:alpha val="43137"/>
                    </a:srgbClr>
                  </a:outerShdw>
                </a:effectLst>
                <a:latin typeface="+mn-lt"/>
              </a:rPr>
              <a:t>a recurrence relation </a:t>
            </a:r>
            <a:r>
              <a:rPr lang="en-US" altLang="en-US" sz="2800" dirty="0">
                <a:solidFill>
                  <a:schemeClr val="tx1">
                    <a:lumMod val="95000"/>
                    <a:lumOff val="5000"/>
                  </a:schemeClr>
                </a:solidFill>
                <a:latin typeface="+mn-lt"/>
              </a:rPr>
              <a:t>with an appropriate initial condition expressing the number of times the basic operation is executed.</a:t>
            </a:r>
          </a:p>
          <a:p>
            <a:pPr marL="342900" indent="-342900">
              <a:lnSpc>
                <a:spcPct val="80000"/>
              </a:lnSpc>
              <a:buFont typeface="Wingdings" pitchFamily="2" charset="2"/>
              <a:buChar char="Ø"/>
              <a:defRPr/>
            </a:pPr>
            <a:r>
              <a:rPr lang="en-US" altLang="en-US" sz="2800" dirty="0">
                <a:solidFill>
                  <a:schemeClr val="tx1">
                    <a:lumMod val="95000"/>
                    <a:lumOff val="5000"/>
                  </a:schemeClr>
                </a:solidFill>
                <a:latin typeface="+mn-lt"/>
              </a:rPr>
              <a:t>Solve the recurrence (or, at the very least, establish its solution’s order of growth).</a:t>
            </a:r>
          </a:p>
        </p:txBody>
      </p:sp>
    </p:spTree>
    <p:extLst>
      <p:ext uri="{BB962C8B-B14F-4D97-AF65-F5344CB8AC3E}">
        <p14:creationId xmlns:p14="http://schemas.microsoft.com/office/powerpoint/2010/main" val="47586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Slide Number Placeholder 4"/>
          <p:cNvSpPr>
            <a:spLocks noGrp="1"/>
          </p:cNvSpPr>
          <p:nvPr>
            <p:ph type="sldNum" sz="quarter" idx="4294967295"/>
          </p:nvPr>
        </p:nvSpPr>
        <p:spPr>
          <a:xfrm>
            <a:off x="6553200" y="6397625"/>
            <a:ext cx="2133600" cy="323850"/>
          </a:xfrm>
          <a:prstGeom prst="rect">
            <a:avLst/>
          </a:prstGeom>
          <a:noFill/>
        </p:spPr>
        <p:txBody>
          <a:bodyPr/>
          <a:lstStyle/>
          <a:p>
            <a:fld id="{B58E5972-E080-46F7-A7C5-0E73DC64CAE5}" type="slidenum">
              <a:rPr lang="en-US"/>
              <a:pPr/>
              <a:t>8</a:t>
            </a:fld>
            <a:endParaRPr lang="en-US"/>
          </a:p>
        </p:txBody>
      </p:sp>
      <p:sp>
        <p:nvSpPr>
          <p:cNvPr id="19459" name="Rectangle 2"/>
          <p:cNvSpPr>
            <a:spLocks noGrp="1" noChangeArrowheads="1"/>
          </p:cNvSpPr>
          <p:nvPr>
            <p:ph type="title"/>
          </p:nvPr>
        </p:nvSpPr>
        <p:spPr>
          <a:xfrm>
            <a:off x="381000" y="304800"/>
            <a:ext cx="8382000" cy="838200"/>
          </a:xfrm>
        </p:spPr>
        <p:txBody>
          <a:bodyPr vert="horz" lIns="91440" tIns="45720" rIns="91440" bIns="45720" rtlCol="0" anchor="b">
            <a:noAutofit/>
          </a:bodyPr>
          <a:lstStyle/>
          <a:p>
            <a:r>
              <a:rPr lang="en-US" b="1" dirty="0">
                <a:solidFill>
                  <a:schemeClr val="tx1"/>
                </a:solidFill>
                <a:effectLst>
                  <a:outerShdw blurRad="38100" dist="38100" dir="2700000" algn="tl">
                    <a:srgbClr val="000000">
                      <a:alpha val="43137"/>
                    </a:srgbClr>
                  </a:outerShdw>
                </a:effectLst>
              </a:rPr>
              <a:t>Methods for Solving Recurrences</a:t>
            </a:r>
          </a:p>
        </p:txBody>
      </p:sp>
      <p:sp>
        <p:nvSpPr>
          <p:cNvPr id="19460" name="Rectangle 3"/>
          <p:cNvSpPr>
            <a:spLocks noGrp="1" noChangeArrowheads="1"/>
          </p:cNvSpPr>
          <p:nvPr>
            <p:ph type="body" idx="1"/>
          </p:nvPr>
        </p:nvSpPr>
        <p:spPr/>
        <p:txBody>
          <a:bodyPr>
            <a:noAutofit/>
          </a:bodyPr>
          <a:lstStyle/>
          <a:p>
            <a:pPr eaLnBrk="1" hangingPunct="1">
              <a:lnSpc>
                <a:spcPct val="200000"/>
              </a:lnSpc>
            </a:pPr>
            <a:r>
              <a:rPr lang="en-US" sz="2800" dirty="0">
                <a:solidFill>
                  <a:schemeClr val="tx1"/>
                </a:solidFill>
                <a:latin typeface="Segoe UI" pitchFamily="34" charset="0"/>
                <a:ea typeface="Segoe UI" pitchFamily="34" charset="0"/>
                <a:cs typeface="Segoe UI" pitchFamily="34" charset="0"/>
              </a:rPr>
              <a:t>Iteration method</a:t>
            </a:r>
          </a:p>
          <a:p>
            <a:pPr eaLnBrk="1" hangingPunct="1">
              <a:lnSpc>
                <a:spcPct val="200000"/>
              </a:lnSpc>
            </a:pPr>
            <a:r>
              <a:rPr lang="en-US" sz="2800">
                <a:solidFill>
                  <a:schemeClr val="tx1"/>
                </a:solidFill>
                <a:latin typeface="Segoe UI" pitchFamily="34" charset="0"/>
                <a:ea typeface="Segoe UI" pitchFamily="34" charset="0"/>
                <a:cs typeface="Segoe UI" pitchFamily="34" charset="0"/>
              </a:rPr>
              <a:t>Recursion </a:t>
            </a:r>
            <a:r>
              <a:rPr lang="en-US" sz="2800" dirty="0">
                <a:solidFill>
                  <a:schemeClr val="tx1"/>
                </a:solidFill>
                <a:latin typeface="Segoe UI" pitchFamily="34" charset="0"/>
                <a:ea typeface="Segoe UI" pitchFamily="34" charset="0"/>
                <a:cs typeface="Segoe UI" pitchFamily="34" charset="0"/>
              </a:rPr>
              <a:t>tree method</a:t>
            </a:r>
          </a:p>
          <a:p>
            <a:pPr eaLnBrk="1" hangingPunct="1">
              <a:lnSpc>
                <a:spcPct val="200000"/>
              </a:lnSpc>
            </a:pPr>
            <a:r>
              <a:rPr lang="en-US" sz="2800" dirty="0">
                <a:solidFill>
                  <a:schemeClr val="tx1"/>
                </a:solidFill>
                <a:latin typeface="Segoe UI" pitchFamily="34" charset="0"/>
                <a:ea typeface="Segoe UI" pitchFamily="34" charset="0"/>
                <a:cs typeface="Segoe UI" pitchFamily="34" charset="0"/>
              </a:rPr>
              <a:t>Master method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31838"/>
          </a:xfrm>
        </p:spPr>
        <p:txBody>
          <a:bodyPr/>
          <a:lstStyle/>
          <a:p>
            <a:pPr eaLnBrk="1" fontAlgn="auto" hangingPunct="1">
              <a:spcAft>
                <a:spcPts val="0"/>
              </a:spcAft>
              <a:defRPr/>
            </a:pPr>
            <a:r>
              <a:rPr lang="en-US" dirty="0">
                <a:solidFill>
                  <a:srgbClr val="00B0F0"/>
                </a:solidFill>
              </a:rPr>
              <a:t>1. Iteration Method</a:t>
            </a:r>
          </a:p>
        </p:txBody>
      </p:sp>
      <p:sp>
        <p:nvSpPr>
          <p:cNvPr id="18435" name="Content Placeholder 2"/>
          <p:cNvSpPr>
            <a:spLocks noGrp="1"/>
          </p:cNvSpPr>
          <p:nvPr>
            <p:ph sz="quarter" idx="1"/>
          </p:nvPr>
        </p:nvSpPr>
        <p:spPr>
          <a:xfrm>
            <a:off x="457200" y="1447800"/>
            <a:ext cx="8153400" cy="5257800"/>
          </a:xfrm>
        </p:spPr>
        <p:txBody>
          <a:bodyPr>
            <a:noAutofit/>
          </a:bodyPr>
          <a:lstStyle/>
          <a:p>
            <a:pPr marL="0" indent="0" eaLnBrk="1" hangingPunct="1">
              <a:buFont typeface="Wingdings" pitchFamily="2" charset="2"/>
              <a:buNone/>
              <a:defRPr/>
            </a:pPr>
            <a:r>
              <a:rPr lang="en-US" sz="2800" dirty="0">
                <a:solidFill>
                  <a:schemeClr val="tx1">
                    <a:lumMod val="95000"/>
                    <a:lumOff val="5000"/>
                  </a:schemeClr>
                </a:solidFill>
                <a:latin typeface="Segoe"/>
              </a:rPr>
              <a:t>The basic idea is to:</a:t>
            </a:r>
          </a:p>
          <a:p>
            <a:pPr marL="457200" indent="-457200" eaLnBrk="1" hangingPunct="1">
              <a:buFontTx/>
              <a:buChar char="-"/>
              <a:defRPr/>
            </a:pPr>
            <a:r>
              <a:rPr lang="en-US" sz="2800" dirty="0">
                <a:solidFill>
                  <a:schemeClr val="tx1">
                    <a:lumMod val="95000"/>
                    <a:lumOff val="5000"/>
                  </a:schemeClr>
                </a:solidFill>
                <a:latin typeface="Segoe"/>
              </a:rPr>
              <a:t>expand the recurrence and </a:t>
            </a:r>
          </a:p>
          <a:p>
            <a:pPr marL="457200" indent="-457200" eaLnBrk="1" hangingPunct="1">
              <a:buFontTx/>
              <a:buChar char="-"/>
              <a:defRPr/>
            </a:pPr>
            <a:r>
              <a:rPr lang="en-US" sz="2800" dirty="0">
                <a:solidFill>
                  <a:schemeClr val="tx1">
                    <a:lumMod val="95000"/>
                    <a:lumOff val="5000"/>
                  </a:schemeClr>
                </a:solidFill>
                <a:latin typeface="Segoe"/>
              </a:rPr>
              <a:t>express it as a summation of terms dependent only on n and the initial conditions.</a:t>
            </a:r>
          </a:p>
        </p:txBody>
      </p:sp>
      <p:sp>
        <p:nvSpPr>
          <p:cNvPr id="18436" name="Slide Number Placeholder 3"/>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09801A1-12E2-42FA-9BCE-F87C684A7955}" type="slidenum">
              <a:rPr lang="en-US" sz="1400" smtClean="0">
                <a:solidFill>
                  <a:srgbClr val="FFFFFF"/>
                </a:solidFill>
              </a:rPr>
              <a:pPr eaLnBrk="1" hangingPunct="1"/>
              <a:t>9</a:t>
            </a:fld>
            <a:endParaRPr lang="en-US" sz="1400">
              <a:solidFill>
                <a:srgbClr val="FFFFFF"/>
              </a:solidFill>
            </a:endParaRPr>
          </a:p>
        </p:txBody>
      </p:sp>
    </p:spTree>
    <p:extLst>
      <p:ext uri="{BB962C8B-B14F-4D97-AF65-F5344CB8AC3E}">
        <p14:creationId xmlns:p14="http://schemas.microsoft.com/office/powerpoint/2010/main" val="1532716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Slide Number Placeholder 4"/>
          <p:cNvSpPr>
            <a:spLocks noGrp="1"/>
          </p:cNvSpPr>
          <p:nvPr>
            <p:ph type="sldNum" sz="quarter" idx="4294967295"/>
          </p:nvPr>
        </p:nvSpPr>
        <p:spPr>
          <a:xfrm>
            <a:off x="8610600" y="6444259"/>
            <a:ext cx="2133600" cy="323850"/>
          </a:xfrm>
          <a:prstGeom prst="rect">
            <a:avLst/>
          </a:prstGeom>
          <a:noFill/>
        </p:spPr>
        <p:txBody>
          <a:bodyPr/>
          <a:lstStyle/>
          <a:p>
            <a:fld id="{C69B3743-2032-4B22-9A92-1BB66D355EA0}" type="slidenum">
              <a:rPr lang="en-US"/>
              <a:pPr/>
              <a:t>10</a:t>
            </a:fld>
            <a:endParaRPr lang="en-US"/>
          </a:p>
        </p:txBody>
      </p:sp>
      <p:sp>
        <p:nvSpPr>
          <p:cNvPr id="21507" name="Rectangle 2"/>
          <p:cNvSpPr>
            <a:spLocks noGrp="1" noChangeArrowheads="1"/>
          </p:cNvSpPr>
          <p:nvPr>
            <p:ph type="title"/>
          </p:nvPr>
        </p:nvSpPr>
        <p:spPr>
          <a:xfrm>
            <a:off x="685800" y="304800"/>
            <a:ext cx="8153400" cy="838200"/>
          </a:xfrm>
        </p:spPr>
        <p:txBody>
          <a:bodyPr>
            <a:normAutofit fontScale="90000"/>
          </a:bodyPr>
          <a:lstStyle/>
          <a:p>
            <a:r>
              <a:rPr lang="en-US" dirty="0">
                <a:solidFill>
                  <a:srgbClr val="FF0000"/>
                </a:solidFill>
              </a:rPr>
              <a:t>Example(1): Binary search recurrence</a:t>
            </a:r>
            <a:endParaRPr lang="en-US" dirty="0"/>
          </a:p>
        </p:txBody>
      </p:sp>
      <p:sp>
        <p:nvSpPr>
          <p:cNvPr id="228355" name="Rectangle 3"/>
          <p:cNvSpPr>
            <a:spLocks noGrp="1" noChangeArrowheads="1"/>
          </p:cNvSpPr>
          <p:nvPr>
            <p:ph type="body" idx="1"/>
          </p:nvPr>
        </p:nvSpPr>
        <p:spPr>
          <a:xfrm>
            <a:off x="668977" y="2027237"/>
            <a:ext cx="7620000" cy="4373563"/>
          </a:xfrm>
        </p:spPr>
        <p:txBody>
          <a:bodyPr>
            <a:noAutofit/>
          </a:bodyPr>
          <a:lstStyle/>
          <a:p>
            <a:pPr eaLnBrk="1" hangingPunct="1">
              <a:lnSpc>
                <a:spcPct val="130000"/>
              </a:lnSpc>
              <a:buFontTx/>
              <a:buNone/>
            </a:pPr>
            <a:r>
              <a:rPr lang="en-US" sz="2800" b="1" dirty="0">
                <a:solidFill>
                  <a:schemeClr val="tx1"/>
                </a:solidFill>
                <a:latin typeface="+mn-lt"/>
              </a:rPr>
              <a:t>T(n) 	= c + T(n/2)</a:t>
            </a:r>
            <a:endParaRPr lang="en-US" sz="2800" dirty="0">
              <a:solidFill>
                <a:schemeClr val="tx1"/>
              </a:solidFill>
              <a:latin typeface="+mn-lt"/>
            </a:endParaRPr>
          </a:p>
          <a:p>
            <a:pPr eaLnBrk="1" hangingPunct="1">
              <a:buFontTx/>
              <a:buNone/>
            </a:pPr>
            <a:r>
              <a:rPr lang="en-US" sz="2800" dirty="0">
                <a:solidFill>
                  <a:schemeClr val="tx1"/>
                </a:solidFill>
                <a:latin typeface="+mn-lt"/>
              </a:rPr>
              <a:t>	 = c + c + T(n/4)		</a:t>
            </a:r>
          </a:p>
          <a:p>
            <a:r>
              <a:rPr lang="en-US" sz="2800" dirty="0">
                <a:solidFill>
                  <a:schemeClr val="tx1"/>
                </a:solidFill>
                <a:latin typeface="+mn-lt"/>
              </a:rPr>
              <a:t>	 = c + c + c + T(n/8) = </a:t>
            </a:r>
            <a:r>
              <a:rPr lang="en-US" sz="2800" b="1" dirty="0">
                <a:solidFill>
                  <a:schemeClr val="tx1"/>
                </a:solidFill>
                <a:latin typeface="+mn-lt"/>
              </a:rPr>
              <a:t>3c + T(n/2</a:t>
            </a:r>
            <a:r>
              <a:rPr lang="en-US" sz="2800" b="1" baseline="30000" dirty="0">
                <a:solidFill>
                  <a:schemeClr val="tx1"/>
                </a:solidFill>
                <a:latin typeface="+mn-lt"/>
              </a:rPr>
              <a:t>3</a:t>
            </a:r>
            <a:r>
              <a:rPr lang="en-US" sz="2800" b="1" dirty="0">
                <a:solidFill>
                  <a:schemeClr val="tx1"/>
                </a:solidFill>
                <a:latin typeface="+mn-lt"/>
              </a:rPr>
              <a:t>)</a:t>
            </a:r>
          </a:p>
          <a:p>
            <a:r>
              <a:rPr lang="en-US" sz="2800" dirty="0">
                <a:solidFill>
                  <a:schemeClr val="tx1"/>
                </a:solidFill>
                <a:latin typeface="+mn-lt"/>
              </a:rPr>
              <a:t>	  . . .</a:t>
            </a:r>
          </a:p>
          <a:p>
            <a:pPr eaLnBrk="1" hangingPunct="1">
              <a:buFontTx/>
              <a:buNone/>
            </a:pPr>
            <a:r>
              <a:rPr lang="en-US" sz="2800" dirty="0">
                <a:solidFill>
                  <a:schemeClr val="tx1"/>
                </a:solidFill>
                <a:latin typeface="+mn-lt"/>
              </a:rPr>
              <a:t>   T(n) = k c + T(n/2</a:t>
            </a:r>
            <a:r>
              <a:rPr lang="en-US" sz="2800" baseline="30000" dirty="0">
                <a:solidFill>
                  <a:schemeClr val="tx1"/>
                </a:solidFill>
                <a:latin typeface="+mn-lt"/>
              </a:rPr>
              <a:t>k</a:t>
            </a:r>
            <a:r>
              <a:rPr lang="en-US" sz="2800" dirty="0">
                <a:solidFill>
                  <a:schemeClr val="tx1"/>
                </a:solidFill>
                <a:latin typeface="+mn-lt"/>
              </a:rPr>
              <a:t>)</a:t>
            </a:r>
          </a:p>
          <a:p>
            <a:pPr eaLnBrk="1" hangingPunct="1">
              <a:buFontTx/>
              <a:buNone/>
            </a:pPr>
            <a:endParaRPr lang="en-US" sz="2800" dirty="0">
              <a:solidFill>
                <a:schemeClr val="tx1"/>
              </a:solidFill>
              <a:latin typeface="+mn-lt"/>
            </a:endParaRPr>
          </a:p>
          <a:p>
            <a:pPr eaLnBrk="1" hangingPunct="1">
              <a:buFontTx/>
              <a:buNone/>
            </a:pPr>
            <a:r>
              <a:rPr lang="en-US" sz="2800" dirty="0">
                <a:solidFill>
                  <a:schemeClr val="tx1"/>
                </a:solidFill>
                <a:latin typeface="+mn-lt"/>
              </a:rPr>
              <a:t>	 = c log</a:t>
            </a:r>
            <a:r>
              <a:rPr lang="en-US" sz="2800" baseline="-25000" dirty="0">
                <a:solidFill>
                  <a:schemeClr val="tx1"/>
                </a:solidFill>
                <a:latin typeface="+mn-lt"/>
              </a:rPr>
              <a:t>2</a:t>
            </a:r>
            <a:r>
              <a:rPr lang="en-US" sz="2800" dirty="0">
                <a:solidFill>
                  <a:schemeClr val="tx1"/>
                </a:solidFill>
                <a:latin typeface="+mn-lt"/>
              </a:rPr>
              <a:t>n + T(1)</a:t>
            </a:r>
          </a:p>
          <a:p>
            <a:pPr eaLnBrk="1" hangingPunct="1">
              <a:buFontTx/>
              <a:buNone/>
            </a:pPr>
            <a:r>
              <a:rPr lang="en-US" sz="2800" dirty="0">
                <a:solidFill>
                  <a:schemeClr val="tx1"/>
                </a:solidFill>
                <a:latin typeface="+mn-lt"/>
              </a:rPr>
              <a:t>    </a:t>
            </a:r>
            <a:r>
              <a:rPr lang="en-US" sz="2800" b="1" dirty="0">
                <a:solidFill>
                  <a:srgbClr val="C00000"/>
                </a:solidFill>
                <a:latin typeface="+mn-lt"/>
              </a:rPr>
              <a:t>T(n)= </a:t>
            </a:r>
            <a:r>
              <a:rPr lang="el-GR" sz="2800" b="1" dirty="0">
                <a:solidFill>
                  <a:srgbClr val="C00000"/>
                </a:solidFill>
                <a:latin typeface="+mn-lt"/>
              </a:rPr>
              <a:t>Θ</a:t>
            </a:r>
            <a:r>
              <a:rPr lang="en-US" sz="2800" b="1" dirty="0">
                <a:solidFill>
                  <a:srgbClr val="C00000"/>
                </a:solidFill>
                <a:latin typeface="+mn-lt"/>
              </a:rPr>
              <a:t>(</a:t>
            </a:r>
            <a:r>
              <a:rPr lang="en-US" sz="2800" b="1" dirty="0" err="1">
                <a:solidFill>
                  <a:srgbClr val="C00000"/>
                </a:solidFill>
                <a:latin typeface="+mn-lt"/>
              </a:rPr>
              <a:t>lgn</a:t>
            </a:r>
            <a:r>
              <a:rPr lang="en-US" sz="2800" b="1" dirty="0">
                <a:solidFill>
                  <a:srgbClr val="C00000"/>
                </a:solidFill>
                <a:latin typeface="+mn-lt"/>
              </a:rPr>
              <a:t>)</a:t>
            </a:r>
            <a:endParaRPr lang="el-GR" sz="2800" b="1" dirty="0">
              <a:solidFill>
                <a:srgbClr val="C00000"/>
              </a:solidFill>
              <a:latin typeface="+mn-lt"/>
            </a:endParaRPr>
          </a:p>
        </p:txBody>
      </p:sp>
      <p:sp>
        <p:nvSpPr>
          <p:cNvPr id="228358" name="Rectangle 6"/>
          <p:cNvSpPr>
            <a:spLocks noChangeArrowheads="1"/>
          </p:cNvSpPr>
          <p:nvPr/>
        </p:nvSpPr>
        <p:spPr bwMode="auto">
          <a:xfrm>
            <a:off x="5029200" y="2117724"/>
            <a:ext cx="3319462" cy="519113"/>
          </a:xfrm>
          <a:prstGeom prst="rect">
            <a:avLst/>
          </a:prstGeom>
          <a:noFill/>
          <a:ln w="9525">
            <a:noFill/>
            <a:miter lim="800000"/>
            <a:headEnd/>
            <a:tailEnd/>
          </a:ln>
        </p:spPr>
        <p:txBody>
          <a:bodyPr wrap="none">
            <a:spAutoFit/>
          </a:bodyPr>
          <a:lstStyle/>
          <a:p>
            <a:r>
              <a:rPr lang="en-US" sz="2800" dirty="0">
                <a:solidFill>
                  <a:srgbClr val="0070C0"/>
                </a:solidFill>
                <a:latin typeface="Comic Sans MS" pitchFamily="66" charset="0"/>
              </a:rPr>
              <a:t>T(n/2) = c + T(n/4)</a:t>
            </a:r>
          </a:p>
        </p:txBody>
      </p:sp>
      <p:sp>
        <p:nvSpPr>
          <p:cNvPr id="228359" name="Rectangle 7"/>
          <p:cNvSpPr>
            <a:spLocks noChangeArrowheads="1"/>
          </p:cNvSpPr>
          <p:nvPr/>
        </p:nvSpPr>
        <p:spPr bwMode="auto">
          <a:xfrm>
            <a:off x="5105400" y="2713037"/>
            <a:ext cx="3319462" cy="519112"/>
          </a:xfrm>
          <a:prstGeom prst="rect">
            <a:avLst/>
          </a:prstGeom>
          <a:noFill/>
          <a:ln w="9525">
            <a:noFill/>
            <a:miter lim="800000"/>
            <a:headEnd/>
            <a:tailEnd/>
          </a:ln>
        </p:spPr>
        <p:txBody>
          <a:bodyPr wrap="none">
            <a:spAutoFit/>
          </a:bodyPr>
          <a:lstStyle/>
          <a:p>
            <a:r>
              <a:rPr lang="en-US" sz="2800" dirty="0">
                <a:solidFill>
                  <a:srgbClr val="0070C0"/>
                </a:solidFill>
                <a:latin typeface="Comic Sans MS" pitchFamily="66" charset="0"/>
              </a:rPr>
              <a:t>T(n/4) = c + T(n/8)</a:t>
            </a:r>
          </a:p>
        </p:txBody>
      </p:sp>
      <p:sp>
        <p:nvSpPr>
          <p:cNvPr id="9" name="Rectangle 7"/>
          <p:cNvSpPr>
            <a:spLocks noChangeArrowheads="1"/>
          </p:cNvSpPr>
          <p:nvPr/>
        </p:nvSpPr>
        <p:spPr bwMode="auto">
          <a:xfrm>
            <a:off x="5029200" y="4541837"/>
            <a:ext cx="4038600" cy="1384995"/>
          </a:xfrm>
          <a:prstGeom prst="rect">
            <a:avLst/>
          </a:prstGeom>
          <a:noFill/>
          <a:ln w="9525">
            <a:noFill/>
            <a:miter lim="800000"/>
            <a:headEnd/>
            <a:tailEnd/>
          </a:ln>
        </p:spPr>
        <p:txBody>
          <a:bodyPr wrap="square">
            <a:spAutoFit/>
          </a:bodyPr>
          <a:lstStyle/>
          <a:p>
            <a:r>
              <a:rPr lang="en-US" sz="2800" dirty="0">
                <a:solidFill>
                  <a:srgbClr val="0070C0"/>
                </a:solidFill>
                <a:latin typeface="Comic Sans MS" pitchFamily="66" charset="0"/>
              </a:rPr>
              <a:t>When T(n/2</a:t>
            </a:r>
            <a:r>
              <a:rPr lang="en-US" sz="2800" baseline="30000" dirty="0">
                <a:solidFill>
                  <a:srgbClr val="0070C0"/>
                </a:solidFill>
                <a:latin typeface="Comic Sans MS" pitchFamily="66" charset="0"/>
              </a:rPr>
              <a:t>k</a:t>
            </a:r>
            <a:r>
              <a:rPr lang="en-US" sz="2800" dirty="0">
                <a:solidFill>
                  <a:srgbClr val="0070C0"/>
                </a:solidFill>
                <a:latin typeface="Comic Sans MS" pitchFamily="66" charset="0"/>
              </a:rPr>
              <a:t>)=T(1) ? when n = 2</a:t>
            </a:r>
            <a:r>
              <a:rPr lang="en-US" sz="2800" baseline="30000" dirty="0">
                <a:solidFill>
                  <a:srgbClr val="0070C0"/>
                </a:solidFill>
                <a:latin typeface="Comic Sans MS" pitchFamily="66" charset="0"/>
              </a:rPr>
              <a:t>k</a:t>
            </a:r>
          </a:p>
          <a:p>
            <a:r>
              <a:rPr lang="en-US" sz="2800" dirty="0">
                <a:solidFill>
                  <a:srgbClr val="0070C0"/>
                </a:solidFill>
                <a:latin typeface="Comic Sans MS" pitchFamily="66" charset="0"/>
                <a:sym typeface="Wingdings" pitchFamily="2" charset="2"/>
              </a:rPr>
              <a:t></a:t>
            </a:r>
            <a:r>
              <a:rPr lang="en-US" sz="2800" dirty="0">
                <a:solidFill>
                  <a:srgbClr val="0070C0"/>
                </a:solidFill>
                <a:latin typeface="Comic Sans MS" pitchFamily="66" charset="0"/>
              </a:rPr>
              <a:t>k = log</a:t>
            </a:r>
            <a:r>
              <a:rPr lang="en-US" sz="2800" baseline="-25000" dirty="0">
                <a:solidFill>
                  <a:srgbClr val="0070C0"/>
                </a:solidFill>
                <a:latin typeface="Comic Sans MS" pitchFamily="66" charset="0"/>
              </a:rPr>
              <a:t>2</a:t>
            </a:r>
            <a:r>
              <a:rPr lang="en-US" sz="2800" dirty="0">
                <a:solidFill>
                  <a:srgbClr val="0070C0"/>
                </a:solidFill>
                <a:latin typeface="Comic Sans MS" pitchFamily="66" charset="0"/>
              </a:rPr>
              <a:t>n</a:t>
            </a:r>
          </a:p>
        </p:txBody>
      </p:sp>
      <p:sp>
        <p:nvSpPr>
          <p:cNvPr id="10" name="Rectangle 9"/>
          <p:cNvSpPr/>
          <p:nvPr/>
        </p:nvSpPr>
        <p:spPr>
          <a:xfrm>
            <a:off x="4953000" y="3322637"/>
            <a:ext cx="2590800" cy="76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 name="Rectangle 1"/>
          <p:cNvSpPr/>
          <p:nvPr/>
        </p:nvSpPr>
        <p:spPr>
          <a:xfrm>
            <a:off x="724744" y="1433200"/>
            <a:ext cx="6220870" cy="461665"/>
          </a:xfrm>
          <a:prstGeom prst="rect">
            <a:avLst/>
          </a:prstGeom>
        </p:spPr>
        <p:txBody>
          <a:bodyPr wrap="none">
            <a:spAutoFit/>
          </a:bodyPr>
          <a:lstStyle/>
          <a:p>
            <a:pPr>
              <a:defRPr/>
            </a:pPr>
            <a:r>
              <a:rPr lang="en-US" sz="2400" dirty="0">
                <a:solidFill>
                  <a:schemeClr val="tx1">
                    <a:lumMod val="95000"/>
                    <a:lumOff val="5000"/>
                  </a:schemeClr>
                </a:solidFill>
                <a:latin typeface="Segoe"/>
              </a:rPr>
              <a:t>Consider T(n) = c + T(n/2), and   T(1) = </a:t>
            </a:r>
            <a:r>
              <a:rPr lang="el-GR" sz="2400" dirty="0">
                <a:solidFill>
                  <a:schemeClr val="tx1">
                    <a:lumMod val="95000"/>
                    <a:lumOff val="5000"/>
                  </a:schemeClr>
                </a:solidFill>
              </a:rPr>
              <a:t>θ</a:t>
            </a:r>
            <a:r>
              <a:rPr lang="en-US" sz="2400" dirty="0">
                <a:solidFill>
                  <a:schemeClr val="tx1">
                    <a:lumMod val="95000"/>
                    <a:lumOff val="5000"/>
                  </a:schemeClr>
                </a:solidFill>
                <a:latin typeface="Segoe"/>
              </a:rPr>
              <a:t>(1).</a:t>
            </a:r>
          </a:p>
        </p:txBody>
      </p:sp>
      <p:sp>
        <p:nvSpPr>
          <p:cNvPr id="12" name="Rectangle 11"/>
          <p:cNvSpPr/>
          <p:nvPr/>
        </p:nvSpPr>
        <p:spPr>
          <a:xfrm>
            <a:off x="4953000" y="6072545"/>
            <a:ext cx="2908168" cy="707886"/>
          </a:xfrm>
          <a:prstGeom prst="rect">
            <a:avLst/>
          </a:prstGeom>
          <a:ln>
            <a:solidFill>
              <a:schemeClr val="accent1"/>
            </a:solidFill>
          </a:ln>
        </p:spPr>
        <p:txBody>
          <a:bodyPr wrap="none">
            <a:spAutoFit/>
          </a:bodyPr>
          <a:lstStyle/>
          <a:p>
            <a:r>
              <a:rPr lang="en-US" sz="4000" dirty="0">
                <a:solidFill>
                  <a:srgbClr val="0070C0"/>
                </a:solidFill>
                <a:latin typeface="Comic Sans MS" pitchFamily="66" charset="0"/>
              </a:rPr>
              <a:t>log</a:t>
            </a:r>
            <a:r>
              <a:rPr lang="en-US" sz="4000" baseline="-25000" dirty="0">
                <a:solidFill>
                  <a:srgbClr val="0070C0"/>
                </a:solidFill>
                <a:latin typeface="Comic Sans MS" pitchFamily="66" charset="0"/>
              </a:rPr>
              <a:t>2</a:t>
            </a:r>
            <a:r>
              <a:rPr lang="en-US" sz="4000" dirty="0">
                <a:solidFill>
                  <a:srgbClr val="0070C0"/>
                </a:solidFill>
                <a:latin typeface="Comic Sans MS" pitchFamily="66" charset="0"/>
              </a:rPr>
              <a:t>n</a:t>
            </a:r>
            <a:r>
              <a:rPr lang="en-US" sz="4000" dirty="0"/>
              <a:t>      </a:t>
            </a:r>
            <a:r>
              <a:rPr lang="en-US" sz="4000" dirty="0" err="1"/>
              <a:t>lgn</a:t>
            </a:r>
            <a:endParaRPr lang="en-US" sz="4000" dirty="0"/>
          </a:p>
        </p:txBody>
      </p:sp>
      <p:sp>
        <p:nvSpPr>
          <p:cNvPr id="13" name="Right Arrow 12"/>
          <p:cNvSpPr/>
          <p:nvPr/>
        </p:nvSpPr>
        <p:spPr>
          <a:xfrm>
            <a:off x="6324600" y="6400800"/>
            <a:ext cx="685800" cy="2653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914400" y="4541837"/>
            <a:ext cx="3335977" cy="487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3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83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35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0" nodeType="clickEffect">
                                  <p:stCondLst>
                                    <p:cond delay="0"/>
                                  </p:stCondLst>
                                  <p:childTnLst>
                                    <p:animEffect transition="out" filter="blinds(horizontal)">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28355">
                                            <p:txEl>
                                              <p:pRg st="3" end="3"/>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28355">
                                            <p:txEl>
                                              <p:pRg st="4" end="4"/>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28355">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28355">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9" grpId="0"/>
      <p:bldP spid="9" grpId="0" uiExpand="1" build="allAtOnce"/>
      <p:bldP spid="10" grpId="0" animBg="1"/>
      <p:bldP spid="12" grpId="0" animBg="1"/>
      <p:bldP spid="13"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31838"/>
          </a:xfrm>
        </p:spPr>
        <p:txBody>
          <a:bodyPr/>
          <a:lstStyle/>
          <a:p>
            <a:pPr>
              <a:defRPr/>
            </a:pPr>
            <a:r>
              <a:rPr lang="en-US" dirty="0">
                <a:solidFill>
                  <a:srgbClr val="FF0000"/>
                </a:solidFill>
              </a:rPr>
              <a:t>Example(2):</a:t>
            </a:r>
            <a:endParaRPr lang="en-US" dirty="0">
              <a:solidFill>
                <a:srgbClr val="00B0F0"/>
              </a:solidFill>
            </a:endParaRPr>
          </a:p>
        </p:txBody>
      </p:sp>
      <p:sp>
        <p:nvSpPr>
          <p:cNvPr id="18435" name="Content Placeholder 2"/>
          <p:cNvSpPr>
            <a:spLocks noGrp="1"/>
          </p:cNvSpPr>
          <p:nvPr>
            <p:ph sz="quarter" idx="1"/>
          </p:nvPr>
        </p:nvSpPr>
        <p:spPr>
          <a:xfrm>
            <a:off x="457200" y="917575"/>
            <a:ext cx="8153400" cy="5788025"/>
          </a:xfrm>
        </p:spPr>
        <p:txBody>
          <a:bodyPr>
            <a:noAutofit/>
          </a:bodyPr>
          <a:lstStyle/>
          <a:p>
            <a:pPr marL="0" indent="0" eaLnBrk="1" hangingPunct="1">
              <a:buFont typeface="Wingdings" pitchFamily="2" charset="2"/>
              <a:buNone/>
              <a:defRPr/>
            </a:pPr>
            <a:r>
              <a:rPr lang="en-US" sz="2800" dirty="0">
                <a:solidFill>
                  <a:schemeClr val="tx1">
                    <a:lumMod val="95000"/>
                    <a:lumOff val="5000"/>
                  </a:schemeClr>
                </a:solidFill>
                <a:latin typeface="Segoe"/>
              </a:rPr>
              <a:t>Consider the recurrence </a:t>
            </a:r>
          </a:p>
          <a:p>
            <a:pPr marL="0" indent="0" eaLnBrk="1" hangingPunct="1">
              <a:buFont typeface="Wingdings" pitchFamily="2" charset="2"/>
              <a:buNone/>
              <a:defRPr/>
            </a:pPr>
            <a:r>
              <a:rPr lang="en-US" sz="2800" dirty="0">
                <a:solidFill>
                  <a:schemeClr val="tx1">
                    <a:lumMod val="95000"/>
                    <a:lumOff val="5000"/>
                  </a:schemeClr>
                </a:solidFill>
                <a:latin typeface="Segoe"/>
              </a:rPr>
              <a:t>T(n) = T(n-1) +1 , and   T(1) = </a:t>
            </a:r>
            <a:r>
              <a:rPr lang="el-GR" sz="2800" dirty="0">
                <a:solidFill>
                  <a:schemeClr val="tx1">
                    <a:lumMod val="95000"/>
                    <a:lumOff val="5000"/>
                  </a:schemeClr>
                </a:solidFill>
              </a:rPr>
              <a:t>θ</a:t>
            </a:r>
            <a:r>
              <a:rPr lang="en-US" sz="2800" dirty="0">
                <a:solidFill>
                  <a:schemeClr val="tx1">
                    <a:lumMod val="95000"/>
                    <a:lumOff val="5000"/>
                  </a:schemeClr>
                </a:solidFill>
                <a:latin typeface="Segoe"/>
              </a:rPr>
              <a:t>(1).</a:t>
            </a:r>
          </a:p>
          <a:p>
            <a:pPr marL="0" indent="0" eaLnBrk="1" hangingPunct="1">
              <a:buFont typeface="Wingdings" pitchFamily="2" charset="2"/>
              <a:buNone/>
              <a:defRPr/>
            </a:pPr>
            <a:r>
              <a:rPr lang="en-US" sz="2800" dirty="0">
                <a:solidFill>
                  <a:srgbClr val="FF0000"/>
                </a:solidFill>
                <a:latin typeface="Segoe"/>
              </a:rPr>
              <a:t>Solution:</a:t>
            </a:r>
          </a:p>
          <a:p>
            <a:pPr marL="0" indent="0" eaLnBrk="1" hangingPunct="1">
              <a:buFont typeface="Wingdings" pitchFamily="2" charset="2"/>
              <a:buNone/>
              <a:defRPr/>
            </a:pPr>
            <a:r>
              <a:rPr lang="en-US" sz="2800" dirty="0">
                <a:solidFill>
                  <a:schemeClr val="tx1">
                    <a:lumMod val="95000"/>
                    <a:lumOff val="5000"/>
                  </a:schemeClr>
                </a:solidFill>
                <a:latin typeface="Segoe"/>
              </a:rPr>
              <a:t>Expanding the above terms</a:t>
            </a:r>
          </a:p>
          <a:p>
            <a:pPr>
              <a:defRPr/>
            </a:pPr>
            <a:r>
              <a:rPr lang="en-US" sz="2800" dirty="0">
                <a:solidFill>
                  <a:schemeClr val="tx1">
                    <a:lumMod val="95000"/>
                    <a:lumOff val="5000"/>
                  </a:schemeClr>
                </a:solidFill>
                <a:latin typeface="Segoe"/>
              </a:rPr>
              <a:t>T(n) = T(n-1) +1 			T(n-1) = T(n-2) + 1 thus,</a:t>
            </a:r>
          </a:p>
          <a:p>
            <a:pPr marL="0" indent="0" eaLnBrk="1" hangingPunct="1">
              <a:buFont typeface="Wingdings" pitchFamily="2" charset="2"/>
              <a:buNone/>
              <a:defRPr/>
            </a:pPr>
            <a:r>
              <a:rPr lang="en-US" sz="2800" dirty="0">
                <a:solidFill>
                  <a:schemeClr val="tx1">
                    <a:lumMod val="95000"/>
                    <a:lumOff val="5000"/>
                  </a:schemeClr>
                </a:solidFill>
                <a:latin typeface="Segoe"/>
              </a:rPr>
              <a:t>T(n) = (T(n-2)+1) +1 =T(n-2) + 2</a:t>
            </a:r>
          </a:p>
          <a:p>
            <a:pPr>
              <a:defRPr/>
            </a:pPr>
            <a:r>
              <a:rPr lang="en-US" sz="2800" dirty="0">
                <a:solidFill>
                  <a:schemeClr val="tx1">
                    <a:lumMod val="95000"/>
                    <a:lumOff val="5000"/>
                  </a:schemeClr>
                </a:solidFill>
                <a:latin typeface="Segoe"/>
              </a:rPr>
              <a:t>					</a:t>
            </a:r>
            <a:r>
              <a:rPr lang="en-US" sz="2800" dirty="0">
                <a:solidFill>
                  <a:schemeClr val="tx1"/>
                </a:solidFill>
                <a:latin typeface="Segoe UI" pitchFamily="34" charset="0"/>
                <a:ea typeface="Segoe UI" pitchFamily="34" charset="0"/>
                <a:cs typeface="Segoe UI" pitchFamily="34" charset="0"/>
              </a:rPr>
              <a:t>T(n-2) = T(n-3) + 1. thus,</a:t>
            </a:r>
          </a:p>
          <a:p>
            <a:pPr marL="0" indent="0" eaLnBrk="1" hangingPunct="1">
              <a:buFont typeface="Wingdings" pitchFamily="2" charset="2"/>
              <a:buNone/>
              <a:defRPr/>
            </a:pPr>
            <a:endParaRPr lang="en-US" sz="2800" dirty="0">
              <a:solidFill>
                <a:schemeClr val="tx1">
                  <a:lumMod val="95000"/>
                  <a:lumOff val="5000"/>
                </a:schemeClr>
              </a:solidFill>
              <a:latin typeface="Segoe"/>
            </a:endParaRPr>
          </a:p>
        </p:txBody>
      </p:sp>
      <p:sp>
        <p:nvSpPr>
          <p:cNvPr id="18436" name="Slide Number Placeholder 3"/>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09801A1-12E2-42FA-9BCE-F87C684A7955}" type="slidenum">
              <a:rPr lang="en-US" sz="1400" smtClean="0">
                <a:solidFill>
                  <a:srgbClr val="FFFFFF"/>
                </a:solidFill>
              </a:rPr>
              <a:pPr eaLnBrk="1" hangingPunct="1"/>
              <a:t>11</a:t>
            </a:fld>
            <a:endParaRPr lang="en-US" sz="1400">
              <a:solidFill>
                <a:srgbClr val="FFFFFF"/>
              </a:solidFill>
            </a:endParaRPr>
          </a:p>
        </p:txBody>
      </p:sp>
    </p:spTree>
    <p:extLst>
      <p:ext uri="{BB962C8B-B14F-4D97-AF65-F5344CB8AC3E}">
        <p14:creationId xmlns:p14="http://schemas.microsoft.com/office/powerpoint/2010/main" val="194671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8435">
                                            <p:txEl>
                                              <p:pRg st="3" end="3"/>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Content Placeholder 2"/>
          <p:cNvSpPr>
            <a:spLocks noGrp="1"/>
          </p:cNvSpPr>
          <p:nvPr>
            <p:ph sz="quarter" idx="1"/>
          </p:nvPr>
        </p:nvSpPr>
        <p:spPr>
          <a:xfrm>
            <a:off x="457200" y="1069975"/>
            <a:ext cx="8382000" cy="5788025"/>
          </a:xfrm>
        </p:spPr>
        <p:txBody>
          <a:bodyPr>
            <a:noAutofit/>
          </a:bodyPr>
          <a:lstStyle/>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T(n) = (T(n-3) +1) + 2 = T(n-3) + 3.</a:t>
            </a:r>
          </a:p>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					T(n-3) = T(n-4) + 1. thus,</a:t>
            </a:r>
          </a:p>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T(n) = T(n-4) +4 .</a:t>
            </a:r>
          </a:p>
          <a:p>
            <a:pPr marL="0" indent="0" eaLnBrk="1" hangingPunct="1">
              <a:buFont typeface="Wingdings" pitchFamily="2" charset="2"/>
              <a:buNone/>
            </a:pPr>
            <a:r>
              <a:rPr lang="en-US" sz="3600" b="1" dirty="0">
                <a:solidFill>
                  <a:schemeClr val="tx1"/>
                </a:solidFill>
                <a:latin typeface="Segoe UI" pitchFamily="34" charset="0"/>
                <a:ea typeface="Segoe UI" pitchFamily="34" charset="0"/>
                <a:cs typeface="Segoe UI" pitchFamily="34" charset="0"/>
              </a:rPr>
              <a:t>. . .</a:t>
            </a:r>
            <a:endParaRPr lang="en-US" sz="2800" dirty="0">
              <a:solidFill>
                <a:schemeClr val="tx1"/>
              </a:solidFill>
              <a:latin typeface="Segoe UI" pitchFamily="34" charset="0"/>
              <a:ea typeface="Segoe UI" pitchFamily="34" charset="0"/>
              <a:cs typeface="Segoe UI" pitchFamily="34" charset="0"/>
            </a:endParaRPr>
          </a:p>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T(n) = T(n-k) + k.</a:t>
            </a:r>
          </a:p>
          <a:p>
            <a:r>
              <a:rPr lang="en-US" sz="2800" dirty="0">
                <a:solidFill>
                  <a:schemeClr val="tx1"/>
                </a:solidFill>
                <a:latin typeface="Segoe UI" pitchFamily="34" charset="0"/>
                <a:ea typeface="Segoe UI" pitchFamily="34" charset="0"/>
                <a:cs typeface="Segoe UI" pitchFamily="34" charset="0"/>
                <a:sym typeface="Wingdings" panose="05000000000000000000" pitchFamily="2" charset="2"/>
              </a:rPr>
              <a:t></a:t>
            </a:r>
            <a:r>
              <a:rPr lang="en-US" sz="2800" dirty="0">
                <a:solidFill>
                  <a:schemeClr val="tx1"/>
                </a:solidFill>
                <a:latin typeface="Segoe UI" pitchFamily="34" charset="0"/>
                <a:ea typeface="Segoe UI" pitchFamily="34" charset="0"/>
                <a:cs typeface="Segoe UI" pitchFamily="34" charset="0"/>
              </a:rPr>
              <a:t>	T(n-k)= T(1)= </a:t>
            </a:r>
            <a:r>
              <a:rPr lang="el-GR" sz="2800" dirty="0">
                <a:solidFill>
                  <a:schemeClr val="tx1"/>
                </a:solidFill>
                <a:latin typeface="Segoe UI" pitchFamily="34" charset="0"/>
                <a:ea typeface="Segoe UI" pitchFamily="34" charset="0"/>
                <a:cs typeface="Segoe UI" pitchFamily="34" charset="0"/>
              </a:rPr>
              <a:t>θ</a:t>
            </a:r>
            <a:r>
              <a:rPr lang="en-US" sz="2800" dirty="0">
                <a:solidFill>
                  <a:schemeClr val="tx1"/>
                </a:solidFill>
                <a:latin typeface="Segoe UI" pitchFamily="34" charset="0"/>
                <a:ea typeface="Segoe UI" pitchFamily="34" charset="0"/>
                <a:cs typeface="Segoe UI" pitchFamily="34" charset="0"/>
              </a:rPr>
              <a:t>(1), when k =n-1</a:t>
            </a:r>
          </a:p>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Thus,	T(n)=</a:t>
            </a:r>
            <a:r>
              <a:rPr lang="el-GR" sz="2800" dirty="0">
                <a:solidFill>
                  <a:schemeClr val="tx1"/>
                </a:solidFill>
                <a:latin typeface="Segoe UI" pitchFamily="34" charset="0"/>
                <a:ea typeface="Segoe UI" pitchFamily="34" charset="0"/>
                <a:cs typeface="Segoe UI" pitchFamily="34" charset="0"/>
              </a:rPr>
              <a:t>θ</a:t>
            </a:r>
            <a:r>
              <a:rPr lang="en-US" sz="2800" dirty="0">
                <a:solidFill>
                  <a:schemeClr val="tx1"/>
                </a:solidFill>
                <a:latin typeface="Segoe UI" pitchFamily="34" charset="0"/>
                <a:ea typeface="Segoe UI" pitchFamily="34" charset="0"/>
                <a:cs typeface="Segoe UI" pitchFamily="34" charset="0"/>
              </a:rPr>
              <a:t>(1)+(n-1)=</a:t>
            </a:r>
            <a:r>
              <a:rPr lang="el-GR" sz="2800" dirty="0">
                <a:solidFill>
                  <a:schemeClr val="tx1"/>
                </a:solidFill>
                <a:latin typeface="Segoe UI" pitchFamily="34" charset="0"/>
                <a:ea typeface="Segoe UI" pitchFamily="34" charset="0"/>
                <a:cs typeface="Segoe UI" pitchFamily="34" charset="0"/>
              </a:rPr>
              <a:t>θ</a:t>
            </a:r>
            <a:r>
              <a:rPr lang="en-US" sz="2800" dirty="0">
                <a:solidFill>
                  <a:schemeClr val="tx1"/>
                </a:solidFill>
                <a:latin typeface="Segoe UI" pitchFamily="34" charset="0"/>
                <a:ea typeface="Segoe UI" pitchFamily="34" charset="0"/>
                <a:cs typeface="Segoe UI" pitchFamily="34" charset="0"/>
              </a:rPr>
              <a:t>(n)</a:t>
            </a:r>
          </a:p>
          <a:p>
            <a:pPr marL="0" indent="0" eaLnBrk="1" hangingPunct="1">
              <a:buFont typeface="Wingdings" pitchFamily="2" charset="2"/>
              <a:buNone/>
            </a:pPr>
            <a:r>
              <a:rPr lang="en-US" sz="2800" dirty="0">
                <a:solidFill>
                  <a:schemeClr val="tx1"/>
                </a:solidFill>
                <a:latin typeface="Segoe UI" pitchFamily="34" charset="0"/>
                <a:ea typeface="Segoe UI" pitchFamily="34" charset="0"/>
                <a:cs typeface="Segoe UI" pitchFamily="34" charset="0"/>
              </a:rPr>
              <a:t>Hence,	</a:t>
            </a:r>
            <a:r>
              <a:rPr lang="en-US" sz="2800" b="1" dirty="0">
                <a:solidFill>
                  <a:srgbClr val="C00000"/>
                </a:solidFill>
                <a:latin typeface="Segoe UI" pitchFamily="34" charset="0"/>
                <a:ea typeface="Segoe UI" pitchFamily="34" charset="0"/>
                <a:cs typeface="Segoe UI" pitchFamily="34" charset="0"/>
              </a:rPr>
              <a:t>T(n)=</a:t>
            </a:r>
            <a:r>
              <a:rPr lang="el-GR" sz="2800" b="1" dirty="0">
                <a:solidFill>
                  <a:srgbClr val="C00000"/>
                </a:solidFill>
                <a:latin typeface="Segoe UI" pitchFamily="34" charset="0"/>
                <a:ea typeface="Segoe UI" pitchFamily="34" charset="0"/>
                <a:cs typeface="Segoe UI" pitchFamily="34" charset="0"/>
              </a:rPr>
              <a:t>θ</a:t>
            </a:r>
            <a:r>
              <a:rPr lang="en-US" sz="2800" b="1" dirty="0">
                <a:solidFill>
                  <a:srgbClr val="C00000"/>
                </a:solidFill>
                <a:latin typeface="Segoe UI" pitchFamily="34" charset="0"/>
                <a:ea typeface="Segoe UI" pitchFamily="34" charset="0"/>
                <a:cs typeface="Segoe UI" pitchFamily="34" charset="0"/>
              </a:rPr>
              <a:t>(n)</a:t>
            </a:r>
          </a:p>
        </p:txBody>
      </p:sp>
      <p:sp>
        <p:nvSpPr>
          <p:cNvPr id="19459" name="Slide Number Placeholder 3"/>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C0CACEB-D652-48BC-A69E-7672F26CDE83}" type="slidenum">
              <a:rPr lang="en-US" sz="1400" smtClean="0">
                <a:solidFill>
                  <a:srgbClr val="FFFFFF"/>
                </a:solidFill>
              </a:rPr>
              <a:pPr eaLnBrk="1" hangingPunct="1"/>
              <a:t>12</a:t>
            </a:fld>
            <a:endParaRPr lang="en-US" sz="1400">
              <a:solidFill>
                <a:srgbClr val="FFFFFF"/>
              </a:solidFill>
            </a:endParaRPr>
          </a:p>
        </p:txBody>
      </p:sp>
      <p:sp>
        <p:nvSpPr>
          <p:cNvPr id="4" name="Title 1"/>
          <p:cNvSpPr>
            <a:spLocks noGrp="1"/>
          </p:cNvSpPr>
          <p:nvPr>
            <p:ph type="title"/>
          </p:nvPr>
        </p:nvSpPr>
        <p:spPr>
          <a:xfrm>
            <a:off x="457200" y="152400"/>
            <a:ext cx="7467600" cy="731838"/>
          </a:xfrm>
        </p:spPr>
        <p:txBody>
          <a:bodyPr/>
          <a:lstStyle/>
          <a:p>
            <a:pPr>
              <a:defRPr/>
            </a:pPr>
            <a:r>
              <a:rPr lang="en-US" dirty="0">
                <a:solidFill>
                  <a:srgbClr val="FF0000"/>
                </a:solidFill>
              </a:rPr>
              <a:t>Example(2):</a:t>
            </a:r>
            <a:endParaRPr lang="en-US" dirty="0">
              <a:solidFill>
                <a:srgbClr val="00B0F0"/>
              </a:solidFill>
            </a:endParaRPr>
          </a:p>
        </p:txBody>
      </p:sp>
      <p:sp>
        <p:nvSpPr>
          <p:cNvPr id="5" name="Rectangle 4"/>
          <p:cNvSpPr/>
          <p:nvPr/>
        </p:nvSpPr>
        <p:spPr>
          <a:xfrm>
            <a:off x="457200" y="4038600"/>
            <a:ext cx="3335977" cy="487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242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45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45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458">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5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7620000" cy="838200"/>
          </a:xfrm>
        </p:spPr>
        <p:txBody>
          <a:bodyPr>
            <a:normAutofit/>
          </a:bodyPr>
          <a:lstStyle/>
          <a:p>
            <a:r>
              <a:rPr lang="en-US" sz="2800" dirty="0">
                <a:solidFill>
                  <a:srgbClr val="FF0000"/>
                </a:solidFill>
              </a:rPr>
              <a:t>Example(3)</a:t>
            </a:r>
          </a:p>
        </p:txBody>
      </p:sp>
      <p:graphicFrame>
        <p:nvGraphicFramePr>
          <p:cNvPr id="4" name="Object 3"/>
          <p:cNvGraphicFramePr>
            <a:graphicFrameLocks noChangeAspect="1"/>
          </p:cNvGraphicFramePr>
          <p:nvPr>
            <p:extLst>
              <p:ext uri="{D42A27DB-BD31-4B8C-83A1-F6EECF244321}">
                <p14:modId xmlns:p14="http://schemas.microsoft.com/office/powerpoint/2010/main" val="1871505165"/>
              </p:ext>
            </p:extLst>
          </p:nvPr>
        </p:nvGraphicFramePr>
        <p:xfrm>
          <a:off x="609600" y="922242"/>
          <a:ext cx="7985642" cy="5707158"/>
        </p:xfrm>
        <a:graphic>
          <a:graphicData uri="http://schemas.openxmlformats.org/presentationml/2006/ole">
            <mc:AlternateContent xmlns:mc="http://schemas.openxmlformats.org/markup-compatibility/2006">
              <mc:Choice xmlns:v="urn:schemas-microsoft-com:vml" Requires="v">
                <p:oleObj name="Equation" r:id="rId2" imgW="3822700" imgH="2730500" progId="">
                  <p:embed/>
                </p:oleObj>
              </mc:Choice>
              <mc:Fallback>
                <p:oleObj name="Equation" r:id="rId2" imgW="3822700" imgH="2730500" progId="">
                  <p:embed/>
                  <p:pic>
                    <p:nvPicPr>
                      <p:cNvPr id="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922242"/>
                        <a:ext cx="7985642" cy="5707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a:xfrm>
            <a:off x="1295400" y="1676400"/>
            <a:ext cx="62484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 name="Rectangle 5"/>
          <p:cNvSpPr/>
          <p:nvPr/>
        </p:nvSpPr>
        <p:spPr>
          <a:xfrm>
            <a:off x="1447800" y="2362200"/>
            <a:ext cx="7086600" cy="76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7" name="Rectangle 6"/>
          <p:cNvSpPr/>
          <p:nvPr/>
        </p:nvSpPr>
        <p:spPr>
          <a:xfrm>
            <a:off x="1600200" y="3124200"/>
            <a:ext cx="66294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5" name="Rectangle 6"/>
          <p:cNvSpPr>
            <a:spLocks noChangeArrowheads="1"/>
          </p:cNvSpPr>
          <p:nvPr/>
        </p:nvSpPr>
        <p:spPr bwMode="auto">
          <a:xfrm>
            <a:off x="5975172" y="966786"/>
            <a:ext cx="2940228" cy="400110"/>
          </a:xfrm>
          <a:prstGeom prst="rect">
            <a:avLst/>
          </a:prstGeom>
          <a:noFill/>
          <a:ln w="9525">
            <a:noFill/>
            <a:miter lim="800000"/>
            <a:headEnd/>
            <a:tailEnd/>
          </a:ln>
        </p:spPr>
        <p:txBody>
          <a:bodyPr wrap="none">
            <a:spAutoFit/>
          </a:bodyPr>
          <a:lstStyle/>
          <a:p>
            <a:r>
              <a:rPr lang="en-US" sz="2000" dirty="0">
                <a:solidFill>
                  <a:srgbClr val="0070C0"/>
                </a:solidFill>
                <a:latin typeface="Comic Sans MS" pitchFamily="66" charset="0"/>
              </a:rPr>
              <a:t>T(n/4) = n/4 +3T(n/16)</a:t>
            </a:r>
          </a:p>
        </p:txBody>
      </p:sp>
      <p:sp>
        <p:nvSpPr>
          <p:cNvPr id="19" name="Rectangle 6"/>
          <p:cNvSpPr>
            <a:spLocks noChangeArrowheads="1"/>
          </p:cNvSpPr>
          <p:nvPr/>
        </p:nvSpPr>
        <p:spPr bwMode="auto">
          <a:xfrm>
            <a:off x="6051372" y="1676400"/>
            <a:ext cx="3212739" cy="400110"/>
          </a:xfrm>
          <a:prstGeom prst="rect">
            <a:avLst/>
          </a:prstGeom>
          <a:noFill/>
          <a:ln w="9525">
            <a:noFill/>
            <a:miter lim="800000"/>
            <a:headEnd/>
            <a:tailEnd/>
          </a:ln>
        </p:spPr>
        <p:txBody>
          <a:bodyPr wrap="none">
            <a:spAutoFit/>
          </a:bodyPr>
          <a:lstStyle/>
          <a:p>
            <a:r>
              <a:rPr lang="en-US" sz="2000" dirty="0">
                <a:solidFill>
                  <a:srgbClr val="0070C0"/>
                </a:solidFill>
                <a:latin typeface="Comic Sans MS" pitchFamily="66" charset="0"/>
              </a:rPr>
              <a:t>T(n/16) = n/16 +3T(n/64)</a:t>
            </a:r>
          </a:p>
        </p:txBody>
      </p:sp>
      <p:sp>
        <p:nvSpPr>
          <p:cNvPr id="3" name="Rectangle 2"/>
          <p:cNvSpPr/>
          <p:nvPr/>
        </p:nvSpPr>
        <p:spPr>
          <a:xfrm>
            <a:off x="457200" y="3200400"/>
            <a:ext cx="83820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056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7620000" cy="838200"/>
          </a:xfrm>
        </p:spPr>
        <p:txBody>
          <a:bodyPr>
            <a:normAutofit/>
          </a:bodyPr>
          <a:lstStyle/>
          <a:p>
            <a:r>
              <a:rPr lang="en-US" sz="2800" dirty="0">
                <a:solidFill>
                  <a:srgbClr val="FF0000"/>
                </a:solidFill>
              </a:rPr>
              <a:t>Example(3)</a:t>
            </a:r>
          </a:p>
        </p:txBody>
      </p:sp>
      <p:graphicFrame>
        <p:nvGraphicFramePr>
          <p:cNvPr id="4" name="Object 3"/>
          <p:cNvGraphicFramePr>
            <a:graphicFrameLocks noChangeAspect="1"/>
          </p:cNvGraphicFramePr>
          <p:nvPr>
            <p:extLst>
              <p:ext uri="{D42A27DB-BD31-4B8C-83A1-F6EECF244321}">
                <p14:modId xmlns:p14="http://schemas.microsoft.com/office/powerpoint/2010/main" val="1147611677"/>
              </p:ext>
            </p:extLst>
          </p:nvPr>
        </p:nvGraphicFramePr>
        <p:xfrm>
          <a:off x="609600" y="922242"/>
          <a:ext cx="7985642" cy="5707158"/>
        </p:xfrm>
        <a:graphic>
          <a:graphicData uri="http://schemas.openxmlformats.org/presentationml/2006/ole">
            <mc:AlternateContent xmlns:mc="http://schemas.openxmlformats.org/markup-compatibility/2006">
              <mc:Choice xmlns:v="urn:schemas-microsoft-com:vml" Requires="v">
                <p:oleObj name="Equation" r:id="rId3" imgW="3822700" imgH="2730500" progId="">
                  <p:embed/>
                </p:oleObj>
              </mc:Choice>
              <mc:Fallback>
                <p:oleObj name="Equation" r:id="rId3" imgW="3822700" imgH="2730500" progId="">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922242"/>
                        <a:ext cx="7985642" cy="5707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ular Callout 7"/>
          <p:cNvSpPr/>
          <p:nvPr/>
        </p:nvSpPr>
        <p:spPr>
          <a:xfrm>
            <a:off x="609600" y="762000"/>
            <a:ext cx="7239000" cy="2057400"/>
          </a:xfrm>
          <a:prstGeom prst="wedgeRectCallout">
            <a:avLst>
              <a:gd name="adj1" fmla="val 30713"/>
              <a:gd name="adj2" fmla="val 70945"/>
            </a:avLst>
          </a:prstGeom>
        </p:spPr>
        <p:style>
          <a:lnRef idx="2">
            <a:schemeClr val="dk1">
              <a:shade val="50000"/>
            </a:schemeClr>
          </a:lnRef>
          <a:fillRef idx="1">
            <a:schemeClr val="dk1"/>
          </a:fillRef>
          <a:effectRef idx="0">
            <a:schemeClr val="dk1"/>
          </a:effectRef>
          <a:fontRef idx="minor">
            <a:schemeClr val="lt1"/>
          </a:fontRef>
        </p:style>
        <p:txBody>
          <a:bodyPr rtlCol="1" anchor="t" anchorCtr="0"/>
          <a:lstStyle/>
          <a:p>
            <a:r>
              <a:rPr lang="en-US" sz="2800" dirty="0"/>
              <a:t>n+3n/4+3</a:t>
            </a:r>
            <a:r>
              <a:rPr lang="en-US" sz="2800" baseline="30000" dirty="0"/>
              <a:t>2</a:t>
            </a:r>
            <a:r>
              <a:rPr lang="en-US" sz="2800" dirty="0"/>
              <a:t>n/4</a:t>
            </a:r>
            <a:r>
              <a:rPr lang="en-US" sz="2800" baseline="30000" dirty="0"/>
              <a:t>2</a:t>
            </a:r>
            <a:r>
              <a:rPr lang="en-US" sz="2800" dirty="0"/>
              <a:t>+3</a:t>
            </a:r>
            <a:r>
              <a:rPr lang="en-US" sz="2800" baseline="30000" dirty="0"/>
              <a:t>3</a:t>
            </a:r>
            <a:r>
              <a:rPr lang="en-US" sz="2800" dirty="0"/>
              <a:t>n/4</a:t>
            </a:r>
            <a:r>
              <a:rPr lang="en-US" sz="2800" baseline="30000" dirty="0"/>
              <a:t>3</a:t>
            </a:r>
            <a:r>
              <a:rPr lang="en-US" sz="2800" dirty="0"/>
              <a:t>+3</a:t>
            </a:r>
            <a:r>
              <a:rPr lang="en-US" sz="2800" baseline="30000" dirty="0"/>
              <a:t>4</a:t>
            </a:r>
            <a:r>
              <a:rPr lang="en-US" sz="2800" b="1" u="sng" dirty="0"/>
              <a:t>T(n/4</a:t>
            </a:r>
            <a:r>
              <a:rPr lang="en-US" sz="2800" b="1" u="sng" baseline="30000" dirty="0"/>
              <a:t>4</a:t>
            </a:r>
            <a:r>
              <a:rPr lang="en-US" sz="2800" b="1" u="sng" dirty="0"/>
              <a:t>)</a:t>
            </a:r>
          </a:p>
          <a:p>
            <a:r>
              <a:rPr lang="en-US" sz="2800" dirty="0"/>
              <a:t>n+3n/4+3</a:t>
            </a:r>
            <a:r>
              <a:rPr lang="en-US" sz="2800" baseline="30000" dirty="0"/>
              <a:t>2</a:t>
            </a:r>
            <a:r>
              <a:rPr lang="en-US" sz="2800" dirty="0"/>
              <a:t>n/4</a:t>
            </a:r>
            <a:r>
              <a:rPr lang="en-US" sz="2800" baseline="30000" dirty="0"/>
              <a:t>2</a:t>
            </a:r>
            <a:r>
              <a:rPr lang="en-US" sz="2800" dirty="0"/>
              <a:t>+3</a:t>
            </a:r>
            <a:r>
              <a:rPr lang="en-US" sz="2800" baseline="30000" dirty="0"/>
              <a:t>3</a:t>
            </a:r>
            <a:r>
              <a:rPr lang="en-US" sz="2800" dirty="0"/>
              <a:t>n/4</a:t>
            </a:r>
            <a:r>
              <a:rPr lang="en-US" sz="2800" baseline="30000" dirty="0"/>
              <a:t>3</a:t>
            </a:r>
            <a:r>
              <a:rPr lang="en-US" sz="2800" dirty="0"/>
              <a:t>+……+3</a:t>
            </a:r>
            <a:r>
              <a:rPr lang="en-US" sz="2800" baseline="30000" dirty="0"/>
              <a:t>k</a:t>
            </a:r>
            <a:r>
              <a:rPr lang="en-US" sz="2800" b="1" u="sng" dirty="0"/>
              <a:t>T(n/4</a:t>
            </a:r>
            <a:r>
              <a:rPr lang="en-US" sz="2800" b="1" u="sng" baseline="30000" dirty="0"/>
              <a:t>k</a:t>
            </a:r>
            <a:r>
              <a:rPr lang="en-US" sz="2800" b="1" u="sng" dirty="0"/>
              <a:t>)</a:t>
            </a:r>
          </a:p>
          <a:p>
            <a:r>
              <a:rPr lang="en-US" sz="2800" b="1" dirty="0">
                <a:effectLst>
                  <a:outerShdw blurRad="38100" dist="38100" dir="2700000" algn="tl">
                    <a:srgbClr val="000000">
                      <a:alpha val="43137"/>
                    </a:srgbClr>
                  </a:outerShdw>
                </a:effectLst>
              </a:rPr>
              <a:t>T(n/4</a:t>
            </a:r>
            <a:r>
              <a:rPr lang="en-US" sz="2800" b="1" baseline="30000" dirty="0">
                <a:effectLst>
                  <a:outerShdw blurRad="38100" dist="38100" dir="2700000" algn="tl">
                    <a:srgbClr val="000000">
                      <a:alpha val="43137"/>
                    </a:srgbClr>
                  </a:outerShdw>
                </a:effectLst>
              </a:rPr>
              <a:t>k</a:t>
            </a:r>
            <a:r>
              <a:rPr lang="en-US" sz="2800" b="1" dirty="0">
                <a:effectLst>
                  <a:outerShdw blurRad="38100" dist="38100" dir="2700000" algn="tl">
                    <a:srgbClr val="000000">
                      <a:alpha val="43137"/>
                    </a:srgbClr>
                  </a:outerShdw>
                </a:effectLst>
              </a:rPr>
              <a:t>)</a:t>
            </a:r>
            <a:r>
              <a:rPr lang="en-US" sz="2800" dirty="0"/>
              <a:t> will be </a:t>
            </a:r>
            <a:r>
              <a:rPr lang="en-US" sz="2800" b="1" dirty="0"/>
              <a:t>T(1)</a:t>
            </a:r>
            <a:r>
              <a:rPr lang="en-US" sz="2800" dirty="0"/>
              <a:t> </a:t>
            </a:r>
            <a:r>
              <a:rPr lang="en-US" sz="2800" dirty="0">
                <a:solidFill>
                  <a:srgbClr val="FFFF00"/>
                </a:solidFill>
              </a:rPr>
              <a:t>By taking n = 4</a:t>
            </a:r>
            <a:r>
              <a:rPr lang="en-US" sz="2800" baseline="30000" dirty="0">
                <a:solidFill>
                  <a:srgbClr val="FFFF00"/>
                </a:solidFill>
              </a:rPr>
              <a:t>k </a:t>
            </a:r>
            <a:endParaRPr lang="en-US" sz="2800" dirty="0"/>
          </a:p>
          <a:p>
            <a:pPr>
              <a:buFont typeface="Wingdings" pitchFamily="2" charset="2"/>
              <a:buChar char="è"/>
            </a:pPr>
            <a:r>
              <a:rPr lang="en-US" sz="2800" dirty="0">
                <a:sym typeface="Wingdings" pitchFamily="2" charset="2"/>
              </a:rPr>
              <a:t>k = log</a:t>
            </a:r>
            <a:r>
              <a:rPr lang="en-US" sz="2800" baseline="-25000" dirty="0">
                <a:sym typeface="Wingdings" pitchFamily="2" charset="2"/>
              </a:rPr>
              <a:t>4</a:t>
            </a:r>
            <a:r>
              <a:rPr lang="en-US" sz="2800" dirty="0">
                <a:sym typeface="Wingdings" pitchFamily="2" charset="2"/>
              </a:rPr>
              <a:t>n</a:t>
            </a:r>
            <a:endParaRPr lang="ar-EG" sz="2800" dirty="0"/>
          </a:p>
        </p:txBody>
      </p:sp>
      <p:sp>
        <p:nvSpPr>
          <p:cNvPr id="9" name="Rectangle 8"/>
          <p:cNvSpPr/>
          <p:nvPr/>
        </p:nvSpPr>
        <p:spPr>
          <a:xfrm>
            <a:off x="457200" y="3733800"/>
            <a:ext cx="81534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cxnSp>
        <p:nvCxnSpPr>
          <p:cNvPr id="11" name="Straight Arrow Connector 10"/>
          <p:cNvCxnSpPr/>
          <p:nvPr/>
        </p:nvCxnSpPr>
        <p:spPr>
          <a:xfrm flipH="1">
            <a:off x="5715000" y="4191000"/>
            <a:ext cx="2057400" cy="457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Rectangle 11"/>
          <p:cNvSpPr/>
          <p:nvPr/>
        </p:nvSpPr>
        <p:spPr>
          <a:xfrm>
            <a:off x="4191000" y="4724400"/>
            <a:ext cx="45720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cxnSp>
        <p:nvCxnSpPr>
          <p:cNvPr id="13" name="Straight Arrow Connector 12"/>
          <p:cNvCxnSpPr/>
          <p:nvPr/>
        </p:nvCxnSpPr>
        <p:spPr>
          <a:xfrm flipH="1">
            <a:off x="4114800" y="4267200"/>
            <a:ext cx="762000" cy="3048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Connector 15"/>
          <p:cNvCxnSpPr/>
          <p:nvPr/>
        </p:nvCxnSpPr>
        <p:spPr>
          <a:xfrm>
            <a:off x="2209800" y="4267200"/>
            <a:ext cx="4267200" cy="0"/>
          </a:xfrm>
          <a:prstGeom prst="line">
            <a:avLst/>
          </a:prstGeom>
          <a:ln>
            <a:tailEnd type="arrow"/>
          </a:ln>
        </p:spPr>
        <p:style>
          <a:lnRef idx="3">
            <a:schemeClr val="accent2"/>
          </a:lnRef>
          <a:fillRef idx="0">
            <a:schemeClr val="accent2"/>
          </a:fillRef>
          <a:effectRef idx="2">
            <a:schemeClr val="accent2"/>
          </a:effectRef>
          <a:fontRef idx="minor">
            <a:schemeClr val="tx1"/>
          </a:fontRef>
        </p:style>
      </p:cxnSp>
      <p:sp>
        <p:nvSpPr>
          <p:cNvPr id="17" name="Rectangle 16"/>
          <p:cNvSpPr/>
          <p:nvPr/>
        </p:nvSpPr>
        <p:spPr>
          <a:xfrm>
            <a:off x="1676400" y="4267200"/>
            <a:ext cx="25908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8" name="Rectangle 17"/>
          <p:cNvSpPr/>
          <p:nvPr/>
        </p:nvSpPr>
        <p:spPr>
          <a:xfrm>
            <a:off x="990600" y="5638800"/>
            <a:ext cx="50292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3" name="Rectangle 2"/>
          <p:cNvSpPr/>
          <p:nvPr/>
        </p:nvSpPr>
        <p:spPr>
          <a:xfrm>
            <a:off x="7286512" y="4697454"/>
            <a:ext cx="1720151" cy="56034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nSpc>
                <a:spcPct val="200000"/>
              </a:lnSpc>
            </a:pPr>
            <a:r>
              <a:rPr lang="en-US" dirty="0">
                <a:latin typeface="Cambria Math" pitchFamily="18" charset="0"/>
                <a:ea typeface="Cambria Math" pitchFamily="18" charset="0"/>
              </a:rPr>
              <a:t>a </a:t>
            </a:r>
            <a:r>
              <a:rPr lang="en-US" baseline="30000" dirty="0" err="1">
                <a:latin typeface="Cambria Math" pitchFamily="18" charset="0"/>
                <a:ea typeface="Cambria Math" pitchFamily="18" charset="0"/>
              </a:rPr>
              <a:t>log</a:t>
            </a:r>
            <a:r>
              <a:rPr lang="en-US" baseline="5000" dirty="0" err="1">
                <a:latin typeface="Cambria Math" pitchFamily="18" charset="0"/>
                <a:ea typeface="Cambria Math" pitchFamily="18" charset="0"/>
              </a:rPr>
              <a:t>b</a:t>
            </a:r>
            <a:r>
              <a:rPr lang="en-US" baseline="30000" dirty="0">
                <a:latin typeface="Cambria Math" pitchFamily="18" charset="0"/>
                <a:ea typeface="Cambria Math" pitchFamily="18" charset="0"/>
              </a:rPr>
              <a:t> m </a:t>
            </a:r>
            <a:r>
              <a:rPr lang="en-US" dirty="0">
                <a:latin typeface="Cambria Math" pitchFamily="18" charset="0"/>
                <a:ea typeface="Cambria Math" pitchFamily="18" charset="0"/>
              </a:rPr>
              <a:t> = m</a:t>
            </a:r>
            <a:r>
              <a:rPr lang="en-US" baseline="30000" dirty="0">
                <a:latin typeface="Cambria Math" pitchFamily="18" charset="0"/>
                <a:ea typeface="Cambria Math" pitchFamily="18" charset="0"/>
              </a:rPr>
              <a:t> </a:t>
            </a:r>
            <a:r>
              <a:rPr lang="en-US" baseline="30000" dirty="0" err="1">
                <a:latin typeface="Cambria Math" pitchFamily="18" charset="0"/>
                <a:ea typeface="Cambria Math" pitchFamily="18" charset="0"/>
              </a:rPr>
              <a:t>log</a:t>
            </a:r>
            <a:r>
              <a:rPr lang="en-US" baseline="5000" dirty="0" err="1">
                <a:latin typeface="Cambria Math" pitchFamily="18" charset="0"/>
                <a:ea typeface="Cambria Math" pitchFamily="18" charset="0"/>
              </a:rPr>
              <a:t>b</a:t>
            </a:r>
            <a:r>
              <a:rPr lang="en-US" baseline="30000" dirty="0">
                <a:latin typeface="Cambria Math" pitchFamily="18" charset="0"/>
                <a:ea typeface="Cambria Math" pitchFamily="18" charset="0"/>
              </a:rPr>
              <a:t> a</a:t>
            </a:r>
          </a:p>
        </p:txBody>
      </p:sp>
      <p:sp>
        <p:nvSpPr>
          <p:cNvPr id="19" name="Rectangle 18"/>
          <p:cNvSpPr/>
          <p:nvPr/>
        </p:nvSpPr>
        <p:spPr>
          <a:xfrm>
            <a:off x="7369524" y="1510527"/>
            <a:ext cx="1210268" cy="56034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lnSpc>
                <a:spcPct val="200000"/>
              </a:lnSpc>
            </a:pPr>
            <a:r>
              <a:rPr lang="en-US" dirty="0" err="1">
                <a:latin typeface="Cambria Math" pitchFamily="18" charset="0"/>
                <a:ea typeface="Cambria Math" pitchFamily="18" charset="0"/>
              </a:rPr>
              <a:t>log</a:t>
            </a:r>
            <a:r>
              <a:rPr lang="en-US" baseline="-25000" dirty="0" err="1">
                <a:latin typeface="Cambria Math" pitchFamily="18" charset="0"/>
                <a:ea typeface="Cambria Math" pitchFamily="18" charset="0"/>
              </a:rPr>
              <a:t>a</a:t>
            </a:r>
            <a:r>
              <a:rPr lang="en-US" dirty="0">
                <a:latin typeface="Cambria Math" pitchFamily="18" charset="0"/>
                <a:ea typeface="Cambria Math" pitchFamily="18" charset="0"/>
              </a:rPr>
              <a:t> a</a:t>
            </a:r>
            <a:r>
              <a:rPr lang="en-US" baseline="30000" dirty="0">
                <a:latin typeface="Cambria Math" pitchFamily="18" charset="0"/>
                <a:ea typeface="Cambria Math" pitchFamily="18" charset="0"/>
              </a:rPr>
              <a:t>n</a:t>
            </a:r>
            <a:r>
              <a:rPr lang="en-US" dirty="0">
                <a:latin typeface="Cambria Math" pitchFamily="18" charset="0"/>
                <a:ea typeface="Cambria Math" pitchFamily="18" charset="0"/>
              </a:rPr>
              <a:t> = n</a:t>
            </a:r>
            <a:endParaRPr lang="en-US" baseline="30000" dirty="0">
              <a:latin typeface="Cambria Math" pitchFamily="18" charset="0"/>
              <a:ea typeface="Cambria Math" pitchFamily="18" charset="0"/>
            </a:endParaRPr>
          </a:p>
        </p:txBody>
      </p:sp>
      <mc:AlternateContent xmlns:mc="http://schemas.openxmlformats.org/markup-compatibility/2006" xmlns:a14="http://schemas.microsoft.com/office/drawing/2010/main">
        <mc:Choice Requires="a14">
          <p:sp>
            <p:nvSpPr>
              <p:cNvPr id="10" name="Rectangle 9"/>
              <p:cNvSpPr/>
              <p:nvPr/>
            </p:nvSpPr>
            <p:spPr>
              <a:xfrm>
                <a:off x="6653876" y="6006327"/>
                <a:ext cx="2522294" cy="847861"/>
              </a:xfrm>
              <a:prstGeom prst="rect">
                <a:avLst/>
              </a:prstGeom>
              <a:ln>
                <a:solidFill>
                  <a:srgbClr val="00B0F0"/>
                </a:solidFill>
              </a:ln>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i="1" smtClean="0">
                              <a:solidFill>
                                <a:schemeClr val="tx1">
                                  <a:lumMod val="95000"/>
                                  <a:lumOff val="5000"/>
                                </a:schemeClr>
                              </a:solidFill>
                              <a:latin typeface="Cambria Math" panose="02040503050406030204" pitchFamily="18" charset="0"/>
                              <a:ea typeface="Cambria Math" pitchFamily="18" charset="0"/>
                            </a:rPr>
                          </m:ctrlPr>
                        </m:naryPr>
                        <m:sub>
                          <m:r>
                            <m:rPr>
                              <m:brk m:alnAt="23"/>
                            </m:rPr>
                            <a:rPr lang="en-US" i="1">
                              <a:solidFill>
                                <a:schemeClr val="tx1">
                                  <a:lumMod val="95000"/>
                                  <a:lumOff val="5000"/>
                                </a:schemeClr>
                              </a:solidFill>
                              <a:latin typeface="Cambria Math" pitchFamily="18" charset="0"/>
                              <a:ea typeface="Cambria Math" pitchFamily="18" charset="0"/>
                            </a:rPr>
                            <m:t>𝑖</m:t>
                          </m:r>
                          <m:r>
                            <a:rPr lang="en-US" i="1">
                              <a:solidFill>
                                <a:schemeClr val="tx1">
                                  <a:lumMod val="95000"/>
                                  <a:lumOff val="5000"/>
                                </a:schemeClr>
                              </a:solidFill>
                              <a:latin typeface="Cambria Math" panose="02040503050406030204" pitchFamily="18" charset="0"/>
                              <a:ea typeface="Cambria Math" pitchFamily="18" charset="0"/>
                            </a:rPr>
                            <m:t>=</m:t>
                          </m:r>
                          <m:r>
                            <a:rPr lang="en-US" i="1">
                              <a:solidFill>
                                <a:schemeClr val="tx1">
                                  <a:lumMod val="95000"/>
                                  <a:lumOff val="5000"/>
                                </a:schemeClr>
                              </a:solidFill>
                              <a:latin typeface="Cambria Math" panose="02040503050406030204" pitchFamily="18" charset="0"/>
                              <a:ea typeface="Cambria Math" pitchFamily="18" charset="0"/>
                            </a:rPr>
                            <m:t>0</m:t>
                          </m:r>
                        </m:sub>
                        <m:sup>
                          <m:r>
                            <a:rPr lang="en-US" i="1" smtClean="0">
                              <a:solidFill>
                                <a:schemeClr val="tx1">
                                  <a:lumMod val="95000"/>
                                  <a:lumOff val="5000"/>
                                </a:schemeClr>
                              </a:solidFill>
                              <a:latin typeface="Cambria Math" panose="02040503050406030204" pitchFamily="18" charset="0"/>
                              <a:ea typeface="Cambria Math" panose="02040503050406030204" pitchFamily="18" charset="0"/>
                            </a:rPr>
                            <m:t>∞</m:t>
                          </m:r>
                        </m:sup>
                        <m:e>
                          <m:sSup>
                            <m:sSupPr>
                              <m:ctrlPr>
                                <a:rPr lang="en-US" i="1">
                                  <a:solidFill>
                                    <a:schemeClr val="tx1">
                                      <a:lumMod val="95000"/>
                                      <a:lumOff val="5000"/>
                                    </a:schemeClr>
                                  </a:solidFill>
                                  <a:latin typeface="Cambria Math" panose="02040503050406030204" pitchFamily="18" charset="0"/>
                                  <a:ea typeface="Cambria Math" pitchFamily="18" charset="0"/>
                                </a:rPr>
                              </m:ctrlPr>
                            </m:sSupPr>
                            <m:e>
                              <m:r>
                                <a:rPr lang="en-US" b="0" i="1" smtClean="0">
                                  <a:solidFill>
                                    <a:schemeClr val="tx1">
                                      <a:lumMod val="95000"/>
                                      <a:lumOff val="5000"/>
                                    </a:schemeClr>
                                  </a:solidFill>
                                  <a:latin typeface="Cambria Math" panose="02040503050406030204" pitchFamily="18" charset="0"/>
                                  <a:ea typeface="Cambria Math" pitchFamily="18" charset="0"/>
                                </a:rPr>
                                <m:t>𝑎𝑟</m:t>
                              </m:r>
                            </m:e>
                            <m:sup>
                              <m:r>
                                <a:rPr lang="en-US" i="1">
                                  <a:solidFill>
                                    <a:schemeClr val="tx1">
                                      <a:lumMod val="95000"/>
                                      <a:lumOff val="5000"/>
                                    </a:schemeClr>
                                  </a:solidFill>
                                  <a:latin typeface="Cambria Math" panose="02040503050406030204" pitchFamily="18" charset="0"/>
                                  <a:ea typeface="Cambria Math" pitchFamily="18" charset="0"/>
                                </a:rPr>
                                <m:t>𝑖</m:t>
                              </m:r>
                            </m:sup>
                          </m:sSup>
                        </m:e>
                      </m:nary>
                      <m:r>
                        <a:rPr lang="en-US" i="1">
                          <a:solidFill>
                            <a:schemeClr val="tx1">
                              <a:lumMod val="95000"/>
                              <a:lumOff val="5000"/>
                            </a:schemeClr>
                          </a:solidFill>
                          <a:latin typeface="Cambria Math" pitchFamily="18" charset="0"/>
                          <a:ea typeface="Cambria Math" pitchFamily="18" charset="0"/>
                        </a:rPr>
                        <m:t>=</m:t>
                      </m:r>
                      <m:f>
                        <m:fPr>
                          <m:ctrlPr>
                            <a:rPr lang="en-US" i="1">
                              <a:solidFill>
                                <a:schemeClr val="tx1">
                                  <a:lumMod val="95000"/>
                                  <a:lumOff val="5000"/>
                                </a:schemeClr>
                              </a:solidFill>
                              <a:latin typeface="Cambria Math" panose="02040503050406030204" pitchFamily="18" charset="0"/>
                              <a:ea typeface="Cambria Math" pitchFamily="18" charset="0"/>
                            </a:rPr>
                          </m:ctrlPr>
                        </m:fPr>
                        <m:num>
                          <m:r>
                            <a:rPr lang="en-US" b="0" i="1" smtClean="0">
                              <a:solidFill>
                                <a:schemeClr val="tx1">
                                  <a:lumMod val="95000"/>
                                  <a:lumOff val="5000"/>
                                </a:schemeClr>
                              </a:solidFill>
                              <a:latin typeface="Cambria Math" panose="02040503050406030204" pitchFamily="18" charset="0"/>
                              <a:ea typeface="Cambria Math" pitchFamily="18" charset="0"/>
                            </a:rPr>
                            <m:t>𝑎</m:t>
                          </m:r>
                        </m:num>
                        <m:den>
                          <m:r>
                            <a:rPr lang="en-US" b="0" i="1" smtClean="0">
                              <a:solidFill>
                                <a:schemeClr val="tx1">
                                  <a:lumMod val="95000"/>
                                  <a:lumOff val="5000"/>
                                </a:schemeClr>
                              </a:solidFill>
                              <a:latin typeface="Cambria Math" panose="02040503050406030204" pitchFamily="18" charset="0"/>
                              <a:ea typeface="Cambria Math" pitchFamily="18" charset="0"/>
                            </a:rPr>
                            <m:t>1</m:t>
                          </m:r>
                          <m:r>
                            <a:rPr lang="en-US" b="0" i="1" smtClean="0">
                              <a:solidFill>
                                <a:schemeClr val="tx1">
                                  <a:lumMod val="95000"/>
                                  <a:lumOff val="5000"/>
                                </a:schemeClr>
                              </a:solidFill>
                              <a:latin typeface="Cambria Math" panose="02040503050406030204" pitchFamily="18" charset="0"/>
                              <a:ea typeface="Cambria Math" pitchFamily="18" charset="0"/>
                            </a:rPr>
                            <m:t>−</m:t>
                          </m:r>
                          <m:r>
                            <a:rPr lang="en-US" b="0" i="1" smtClean="0">
                              <a:solidFill>
                                <a:schemeClr val="tx1">
                                  <a:lumMod val="95000"/>
                                  <a:lumOff val="5000"/>
                                </a:schemeClr>
                              </a:solidFill>
                              <a:latin typeface="Cambria Math" panose="02040503050406030204" pitchFamily="18" charset="0"/>
                              <a:ea typeface="Cambria Math" pitchFamily="18" charset="0"/>
                            </a:rPr>
                            <m:t>𝑟</m:t>
                          </m:r>
                        </m:den>
                      </m:f>
                      <m:r>
                        <a:rPr lang="en-US" i="1">
                          <a:solidFill>
                            <a:schemeClr val="tx1">
                              <a:lumMod val="95000"/>
                              <a:lumOff val="5000"/>
                            </a:schemeClr>
                          </a:solidFill>
                          <a:latin typeface="Cambria Math" pitchFamily="18" charset="0"/>
                          <a:ea typeface="Cambria Math" pitchFamily="18" charset="0"/>
                        </a:rPr>
                        <m:t>(</m:t>
                      </m:r>
                      <m:r>
                        <a:rPr lang="en-US" b="0" i="1" smtClean="0">
                          <a:solidFill>
                            <a:schemeClr val="tx1">
                              <a:lumMod val="95000"/>
                              <a:lumOff val="5000"/>
                            </a:schemeClr>
                          </a:solidFill>
                          <a:latin typeface="Cambria Math" panose="02040503050406030204" pitchFamily="18" charset="0"/>
                          <a:ea typeface="Cambria Math" panose="02040503050406030204" pitchFamily="18" charset="0"/>
                        </a:rPr>
                        <m:t>𝑟</m:t>
                      </m:r>
                      <m:r>
                        <a:rPr lang="en-US" i="1" smtClean="0">
                          <a:solidFill>
                            <a:schemeClr val="tx1">
                              <a:lumMod val="95000"/>
                              <a:lumOff val="5000"/>
                            </a:schemeClr>
                          </a:solidFill>
                          <a:latin typeface="Cambria Math" panose="02040503050406030204" pitchFamily="18" charset="0"/>
                          <a:ea typeface="Cambria Math" pitchFamily="18" charset="0"/>
                        </a:rPr>
                        <m:t>&lt;</m:t>
                      </m:r>
                      <m:r>
                        <a:rPr lang="en-US" i="1">
                          <a:solidFill>
                            <a:schemeClr val="tx1">
                              <a:lumMod val="95000"/>
                              <a:lumOff val="5000"/>
                            </a:schemeClr>
                          </a:solidFill>
                          <a:latin typeface="Cambria Math" pitchFamily="18" charset="0"/>
                          <a:ea typeface="Cambria Math" pitchFamily="18" charset="0"/>
                        </a:rPr>
                        <m:t>1</m:t>
                      </m:r>
                      <m:r>
                        <a:rPr lang="en-US" i="1">
                          <a:solidFill>
                            <a:schemeClr val="tx1">
                              <a:lumMod val="95000"/>
                              <a:lumOff val="5000"/>
                            </a:schemeClr>
                          </a:solidFill>
                          <a:latin typeface="Cambria Math" pitchFamily="18" charset="0"/>
                          <a:ea typeface="Cambria Math" pitchFamily="18" charset="0"/>
                        </a:rPr>
                        <m:t>)</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6653876" y="6006327"/>
                <a:ext cx="2522294" cy="847861"/>
              </a:xfrm>
              <a:prstGeom prst="rect">
                <a:avLst/>
              </a:prstGeom>
              <a:blipFill>
                <a:blip r:embed="rId6"/>
                <a:stretch>
                  <a:fillRect/>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7269386" y="5396727"/>
                <a:ext cx="1579278" cy="369332"/>
              </a:xfrm>
              <a:prstGeom prst="rect">
                <a:avLst/>
              </a:prstGeom>
              <a:ln>
                <a:solidFill>
                  <a:srgbClr val="00B0F0"/>
                </a:solidFill>
              </a:ln>
            </p:spPr>
            <p:txBody>
              <a:bodyPr wrap="none">
                <a:spAutoFit/>
              </a:bodyPr>
              <a:lstStyle/>
              <a:p>
                <a14:m>
                  <m:oMath xmlns:m="http://schemas.openxmlformats.org/officeDocument/2006/math">
                    <m:r>
                      <m:rPr>
                        <m:nor/>
                      </m:rPr>
                      <a:rPr lang="en-US" baseline="30000" dirty="0">
                        <a:latin typeface="Cambria Math" pitchFamily="18" charset="0"/>
                        <a:ea typeface="Cambria Math" pitchFamily="18" charset="0"/>
                      </a:rPr>
                      <m:t>log</m:t>
                    </m:r>
                    <m:r>
                      <m:rPr>
                        <m:nor/>
                      </m:rPr>
                      <a:rPr lang="en-US" b="0" i="0" baseline="5000" dirty="0" smtClean="0">
                        <a:latin typeface="Cambria Math" pitchFamily="18" charset="0"/>
                        <a:ea typeface="Cambria Math" pitchFamily="18" charset="0"/>
                      </a:rPr>
                      <m:t>4</m:t>
                    </m:r>
                    <m:r>
                      <m:rPr>
                        <m:nor/>
                      </m:rPr>
                      <a:rPr lang="en-US" baseline="30000" dirty="0">
                        <a:latin typeface="Cambria Math" pitchFamily="18" charset="0"/>
                        <a:ea typeface="Cambria Math" pitchFamily="18" charset="0"/>
                      </a:rPr>
                      <m:t> </m:t>
                    </m:r>
                    <m:r>
                      <m:rPr>
                        <m:nor/>
                      </m:rPr>
                      <a:rPr lang="en-US" b="0" i="0" baseline="30000" dirty="0" smtClean="0">
                        <a:latin typeface="Cambria Math" pitchFamily="18" charset="0"/>
                        <a:ea typeface="Cambria Math" pitchFamily="18" charset="0"/>
                      </a:rPr>
                      <m:t>3</m:t>
                    </m:r>
                  </m:oMath>
                </a14:m>
                <a:r>
                  <a:rPr lang="en-US" dirty="0"/>
                  <a:t> =0.79 &lt;1</a:t>
                </a:r>
              </a:p>
            </p:txBody>
          </p:sp>
        </mc:Choice>
        <mc:Fallback xmlns="">
          <p:sp>
            <p:nvSpPr>
              <p:cNvPr id="20" name="Rectangle 19"/>
              <p:cNvSpPr>
                <a:spLocks noRot="1" noChangeAspect="1" noMove="1" noResize="1" noEditPoints="1" noAdjustHandles="1" noChangeArrowheads="1" noChangeShapeType="1" noTextEdit="1"/>
              </p:cNvSpPr>
              <p:nvPr/>
            </p:nvSpPr>
            <p:spPr>
              <a:xfrm>
                <a:off x="7269386" y="5396727"/>
                <a:ext cx="1579278" cy="369332"/>
              </a:xfrm>
              <a:prstGeom prst="rect">
                <a:avLst/>
              </a:prstGeom>
              <a:blipFill>
                <a:blip r:embed="rId7"/>
                <a:stretch>
                  <a:fillRect t="-4762" r="-1527" b="-23810"/>
                </a:stretch>
              </a:blipFill>
              <a:ln>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197090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circle(out)">
                                      <p:cBhvr>
                                        <p:cTn id="7" dur="1000"/>
                                        <p:tgtEl>
                                          <p:spTgt spid="8">
                                            <p:bg/>
                                          </p:spTgt>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par>
                          <p:cTn id="34" fill="hold">
                            <p:stCondLst>
                              <p:cond delay="0"/>
                            </p:stCondLst>
                            <p:childTnLst>
                              <p:par>
                                <p:cTn id="35" presetID="3" presetClass="exit" presetSubtype="10" fill="hold" grpId="0" nodeType="afterEffect">
                                  <p:stCondLst>
                                    <p:cond delay="0"/>
                                  </p:stCondLst>
                                  <p:childTnLst>
                                    <p:animEffect transition="out" filter="blinds(horizontal)">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par>
                          <p:cTn id="48" fill="hold">
                            <p:stCondLst>
                              <p:cond delay="0"/>
                            </p:stCondLst>
                            <p:childTnLst>
                              <p:par>
                                <p:cTn id="49" presetID="3" presetClass="exit" presetSubtype="10" fill="hold" grpId="0" nodeType="afterEffect">
                                  <p:stCondLst>
                                    <p:cond delay="0"/>
                                  </p:stCondLst>
                                  <p:childTnLst>
                                    <p:animEffect transition="out" filter="blinds(horizontal)">
                                      <p:cBhvr>
                                        <p:cTn id="50" dur="500"/>
                                        <p:tgtEl>
                                          <p:spTgt spid="17"/>
                                        </p:tgtEl>
                                      </p:cBhvr>
                                    </p:animEffect>
                                    <p:set>
                                      <p:cBhvr>
                                        <p:cTn id="51" dur="1" fill="hold">
                                          <p:stCondLst>
                                            <p:cond delay="499"/>
                                          </p:stCondLst>
                                        </p:cTn>
                                        <p:tgtEl>
                                          <p:spTgt spid="17"/>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xit" presetSubtype="10" fill="hold" grpId="0" nodeType="clickEffect">
                                  <p:stCondLst>
                                    <p:cond delay="0"/>
                                  </p:stCondLst>
                                  <p:childTnLst>
                                    <p:animEffect transition="out" filter="blinds(horizontal)">
                                      <p:cBhvr>
                                        <p:cTn id="57" dur="500"/>
                                        <p:tgtEl>
                                          <p:spTgt spid="18"/>
                                        </p:tgtEl>
                                      </p:cBhvr>
                                    </p:animEffect>
                                    <p:set>
                                      <p:cBhvr>
                                        <p:cTn id="58"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animBg="1"/>
      <p:bldP spid="9" grpId="0" animBg="1"/>
      <p:bldP spid="12" grpId="0" animBg="1"/>
      <p:bldP spid="17" grpId="0" animBg="1"/>
      <p:bldP spid="18" grpId="0" animBg="1"/>
      <p:bldP spid="3" grpId="0" animBg="1"/>
      <p:bldP spid="19" grpId="0" animBg="1"/>
      <p:bldP spid="10"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57200" y="258763"/>
            <a:ext cx="7467600" cy="655637"/>
          </a:xfrm>
        </p:spPr>
        <p:txBody>
          <a:bodyPr/>
          <a:lstStyle/>
          <a:p>
            <a:pPr eaLnBrk="1" fontAlgn="auto" hangingPunct="1">
              <a:spcAft>
                <a:spcPts val="0"/>
              </a:spcAft>
              <a:defRPr/>
            </a:pPr>
            <a:r>
              <a:rPr lang="en-US" dirty="0">
                <a:solidFill>
                  <a:srgbClr val="00B0F0"/>
                </a:solidFill>
              </a:rPr>
              <a:t>2. The Recursion-tree Method</a:t>
            </a:r>
          </a:p>
        </p:txBody>
      </p:sp>
      <p:sp>
        <p:nvSpPr>
          <p:cNvPr id="12292" name="Rectangle 3"/>
          <p:cNvSpPr>
            <a:spLocks noGrp="1" noChangeArrowheads="1"/>
          </p:cNvSpPr>
          <p:nvPr>
            <p:ph sz="quarter" idx="1"/>
          </p:nvPr>
        </p:nvSpPr>
        <p:spPr>
          <a:xfrm>
            <a:off x="457200" y="1066800"/>
            <a:ext cx="8382000" cy="5334000"/>
          </a:xfrm>
        </p:spPr>
        <p:txBody>
          <a:bodyPr>
            <a:noAutofit/>
          </a:bodyPr>
          <a:lstStyle/>
          <a:p>
            <a:pPr eaLnBrk="1" fontAlgn="auto" hangingPunct="1">
              <a:lnSpc>
                <a:spcPct val="90000"/>
              </a:lnSpc>
              <a:spcAft>
                <a:spcPts val="0"/>
              </a:spcAft>
              <a:defRPr/>
            </a:pPr>
            <a:r>
              <a:rPr lang="en-US" sz="2800" dirty="0">
                <a:solidFill>
                  <a:schemeClr val="tx1">
                    <a:lumMod val="95000"/>
                    <a:lumOff val="5000"/>
                  </a:schemeClr>
                </a:solidFill>
                <a:latin typeface="Segoe UI" pitchFamily="34" charset="0"/>
                <a:ea typeface="Segoe UI" pitchFamily="34" charset="0"/>
                <a:cs typeface="Segoe UI" pitchFamily="34" charset="0"/>
              </a:rPr>
              <a:t>Is a pictorial representation of an iteration method which is in the form of a tree, where at each level nodes are expanded.</a:t>
            </a:r>
          </a:p>
          <a:p>
            <a:pPr eaLnBrk="1" fontAlgn="auto" hangingPunct="1">
              <a:lnSpc>
                <a:spcPct val="90000"/>
              </a:lnSpc>
              <a:spcAft>
                <a:spcPts val="0"/>
              </a:spcAft>
              <a:defRPr/>
            </a:pPr>
            <a:endParaRPr lang="en-US" sz="1200" dirty="0">
              <a:solidFill>
                <a:schemeClr val="tx1">
                  <a:lumMod val="95000"/>
                  <a:lumOff val="5000"/>
                </a:schemeClr>
              </a:solidFill>
              <a:latin typeface="Segoe UI" pitchFamily="34" charset="0"/>
              <a:ea typeface="Segoe UI" pitchFamily="34" charset="0"/>
              <a:cs typeface="Segoe UI" pitchFamily="34" charset="0"/>
            </a:endParaRPr>
          </a:p>
          <a:p>
            <a:pPr eaLnBrk="1" fontAlgn="auto" hangingPunct="1">
              <a:lnSpc>
                <a:spcPct val="90000"/>
              </a:lnSpc>
              <a:spcAft>
                <a:spcPts val="0"/>
              </a:spcAft>
              <a:defRPr/>
            </a:pPr>
            <a:r>
              <a:rPr lang="en-US" sz="2800" dirty="0">
                <a:solidFill>
                  <a:srgbClr val="FF0000"/>
                </a:solidFill>
                <a:latin typeface="Segoe UI" pitchFamily="34" charset="0"/>
                <a:ea typeface="Segoe UI" pitchFamily="34" charset="0"/>
                <a:cs typeface="Segoe UI" pitchFamily="34" charset="0"/>
              </a:rPr>
              <a:t>Idea:</a:t>
            </a:r>
          </a:p>
          <a:p>
            <a:pPr marL="365760" lvl="1" indent="0" eaLnBrk="1" fontAlgn="auto" hangingPunct="1">
              <a:lnSpc>
                <a:spcPct val="90000"/>
              </a:lnSpc>
              <a:spcAft>
                <a:spcPts val="0"/>
              </a:spcAft>
              <a:buNone/>
              <a:defRPr/>
            </a:pPr>
            <a:r>
              <a:rPr lang="en-US" sz="2800" dirty="0">
                <a:solidFill>
                  <a:schemeClr val="tx1">
                    <a:lumMod val="95000"/>
                    <a:lumOff val="5000"/>
                  </a:schemeClr>
                </a:solidFill>
                <a:latin typeface="Segoe UI" pitchFamily="34" charset="0"/>
                <a:ea typeface="Segoe UI" pitchFamily="34" charset="0"/>
                <a:cs typeface="Segoe UI" pitchFamily="34" charset="0"/>
              </a:rPr>
              <a:t>Each node represents the cost of a single sub-problem.</a:t>
            </a:r>
          </a:p>
          <a:p>
            <a:pPr marL="365760" lvl="1" indent="0" eaLnBrk="1" fontAlgn="auto" hangingPunct="1">
              <a:lnSpc>
                <a:spcPct val="90000"/>
              </a:lnSpc>
              <a:spcAft>
                <a:spcPts val="0"/>
              </a:spcAft>
              <a:buNone/>
              <a:defRPr/>
            </a:pPr>
            <a:r>
              <a:rPr lang="en-US" sz="2800" dirty="0">
                <a:solidFill>
                  <a:schemeClr val="tx1">
                    <a:lumMod val="95000"/>
                    <a:lumOff val="5000"/>
                  </a:schemeClr>
                </a:solidFill>
                <a:latin typeface="Segoe UI" pitchFamily="34" charset="0"/>
                <a:ea typeface="Segoe UI" pitchFamily="34" charset="0"/>
                <a:cs typeface="Segoe UI" pitchFamily="34" charset="0"/>
              </a:rPr>
              <a:t>Sum up the costs with each level to get level cost.</a:t>
            </a:r>
          </a:p>
          <a:p>
            <a:pPr marL="365760" lvl="1" indent="0" eaLnBrk="1" fontAlgn="auto" hangingPunct="1">
              <a:lnSpc>
                <a:spcPct val="90000"/>
              </a:lnSpc>
              <a:spcAft>
                <a:spcPts val="0"/>
              </a:spcAft>
              <a:buNone/>
              <a:defRPr/>
            </a:pPr>
            <a:r>
              <a:rPr lang="en-US" sz="2800" dirty="0">
                <a:solidFill>
                  <a:schemeClr val="tx1">
                    <a:lumMod val="95000"/>
                    <a:lumOff val="5000"/>
                  </a:schemeClr>
                </a:solidFill>
                <a:latin typeface="Segoe UI" pitchFamily="34" charset="0"/>
                <a:ea typeface="Segoe UI" pitchFamily="34" charset="0"/>
                <a:cs typeface="Segoe UI" pitchFamily="34" charset="0"/>
              </a:rPr>
              <a:t>Sum up all the level costs to get total cost.</a:t>
            </a:r>
          </a:p>
          <a:p>
            <a:pPr marL="365760" lvl="1" indent="0" eaLnBrk="1" fontAlgn="auto" hangingPunct="1">
              <a:lnSpc>
                <a:spcPct val="90000"/>
              </a:lnSpc>
              <a:spcAft>
                <a:spcPts val="0"/>
              </a:spcAft>
              <a:buNone/>
              <a:defRPr/>
            </a:pPr>
            <a:endParaRPr lang="en-US" sz="1200" dirty="0">
              <a:solidFill>
                <a:schemeClr val="tx1">
                  <a:lumMod val="95000"/>
                  <a:lumOff val="5000"/>
                </a:schemeClr>
              </a:solidFill>
              <a:latin typeface="Segoe UI" pitchFamily="34" charset="0"/>
              <a:ea typeface="Segoe UI" pitchFamily="34" charset="0"/>
              <a:cs typeface="Segoe UI" pitchFamily="34" charset="0"/>
            </a:endParaRPr>
          </a:p>
          <a:p>
            <a:pPr eaLnBrk="1" fontAlgn="auto" hangingPunct="1">
              <a:lnSpc>
                <a:spcPct val="90000"/>
              </a:lnSpc>
              <a:spcAft>
                <a:spcPts val="0"/>
              </a:spcAft>
              <a:defRPr/>
            </a:pPr>
            <a:r>
              <a:rPr lang="en-US" sz="2800" dirty="0">
                <a:solidFill>
                  <a:schemeClr val="tx1">
                    <a:lumMod val="95000"/>
                    <a:lumOff val="5000"/>
                  </a:schemeClr>
                </a:solidFill>
                <a:latin typeface="Segoe UI" pitchFamily="34" charset="0"/>
                <a:ea typeface="Segoe UI" pitchFamily="34" charset="0"/>
                <a:cs typeface="Segoe UI" pitchFamily="34" charset="0"/>
              </a:rPr>
              <a:t>Particularly suitable for divide-and-conquer recurrence.</a:t>
            </a:r>
          </a:p>
          <a:p>
            <a:pPr eaLnBrk="1" fontAlgn="auto" hangingPunct="1">
              <a:lnSpc>
                <a:spcPct val="90000"/>
              </a:lnSpc>
              <a:spcAft>
                <a:spcPts val="0"/>
              </a:spcAft>
              <a:defRPr/>
            </a:pPr>
            <a:endParaRPr lang="en-US" sz="1200" dirty="0">
              <a:solidFill>
                <a:schemeClr val="tx1">
                  <a:lumMod val="95000"/>
                  <a:lumOff val="5000"/>
                </a:schemeClr>
              </a:solidFill>
              <a:latin typeface="Segoe UI" pitchFamily="34" charset="0"/>
              <a:ea typeface="Segoe UI" pitchFamily="34" charset="0"/>
              <a:cs typeface="Segoe UI" pitchFamily="34" charset="0"/>
            </a:endParaRPr>
          </a:p>
          <a:p>
            <a:pPr eaLnBrk="1" fontAlgn="auto" hangingPunct="1">
              <a:lnSpc>
                <a:spcPct val="90000"/>
              </a:lnSpc>
              <a:spcAft>
                <a:spcPts val="0"/>
              </a:spcAft>
              <a:defRPr/>
            </a:pPr>
            <a:r>
              <a:rPr lang="en-US" sz="2800" dirty="0">
                <a:solidFill>
                  <a:schemeClr val="tx1">
                    <a:lumMod val="95000"/>
                    <a:lumOff val="5000"/>
                  </a:schemeClr>
                </a:solidFill>
                <a:latin typeface="Segoe UI" pitchFamily="34" charset="0"/>
                <a:ea typeface="Segoe UI" pitchFamily="34" charset="0"/>
                <a:cs typeface="Segoe UI" pitchFamily="34" charset="0"/>
              </a:rPr>
              <a:t>Best used to generate a good guess.</a:t>
            </a:r>
          </a:p>
        </p:txBody>
      </p:sp>
      <p:sp>
        <p:nvSpPr>
          <p:cNvPr id="20484" name="Slide Number Placeholder 5"/>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A327AFA-4CFB-42BE-A737-C6F816EBFD3F}" type="slidenum">
              <a:rPr lang="en-US" sz="1400" smtClean="0"/>
              <a:pPr eaLnBrk="1" hangingPunct="1"/>
              <a:t>15</a:t>
            </a:fld>
            <a:endParaRPr lang="en-US" sz="1400"/>
          </a:p>
        </p:txBody>
      </p:sp>
    </p:spTree>
    <p:extLst>
      <p:ext uri="{BB962C8B-B14F-4D97-AF65-F5344CB8AC3E}">
        <p14:creationId xmlns:p14="http://schemas.microsoft.com/office/powerpoint/2010/main" val="1323749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3"/>
            <a:ext cx="7467600" cy="655637"/>
          </a:xfrm>
        </p:spPr>
        <p:txBody>
          <a:bodyPr/>
          <a:lstStyle/>
          <a:p>
            <a:pPr>
              <a:defRPr/>
            </a:pPr>
            <a:r>
              <a:rPr lang="en-US" sz="2800" dirty="0">
                <a:solidFill>
                  <a:srgbClr val="FF0000"/>
                </a:solidFill>
              </a:rPr>
              <a:t>Recursion Tree for </a:t>
            </a:r>
            <a:r>
              <a:rPr lang="en-US" sz="2800" i="1" dirty="0">
                <a:solidFill>
                  <a:srgbClr val="0070C0"/>
                </a:solidFill>
              </a:rPr>
              <a:t>T</a:t>
            </a:r>
            <a:r>
              <a:rPr lang="en-US" sz="2800" dirty="0">
                <a:solidFill>
                  <a:srgbClr val="0070C0"/>
                </a:solidFill>
              </a:rPr>
              <a:t>(</a:t>
            </a:r>
            <a:r>
              <a:rPr lang="en-US" sz="2800" i="1" dirty="0">
                <a:solidFill>
                  <a:srgbClr val="0070C0"/>
                </a:solidFill>
              </a:rPr>
              <a:t>n</a:t>
            </a:r>
            <a:r>
              <a:rPr lang="en-US" sz="2800" dirty="0">
                <a:solidFill>
                  <a:srgbClr val="0070C0"/>
                </a:solidFill>
              </a:rPr>
              <a:t>)=3</a:t>
            </a:r>
            <a:r>
              <a:rPr lang="en-US" sz="2800" i="1" dirty="0">
                <a:solidFill>
                  <a:srgbClr val="0070C0"/>
                </a:solidFill>
              </a:rPr>
              <a:t>T</a:t>
            </a:r>
            <a:r>
              <a:rPr lang="en-US" sz="2800" dirty="0">
                <a:solidFill>
                  <a:srgbClr val="0070C0"/>
                </a:solidFill>
              </a:rPr>
              <a:t>(</a:t>
            </a:r>
            <a:r>
              <a:rPr lang="en-US" sz="2800" i="1" dirty="0">
                <a:solidFill>
                  <a:srgbClr val="0070C0"/>
                </a:solidFill>
              </a:rPr>
              <a:t>n </a:t>
            </a:r>
            <a:r>
              <a:rPr lang="en-US" sz="2800" dirty="0">
                <a:solidFill>
                  <a:srgbClr val="0070C0"/>
                </a:solidFill>
              </a:rPr>
              <a:t>/3)+</a:t>
            </a:r>
            <a:r>
              <a:rPr lang="en-US" sz="2800" dirty="0">
                <a:solidFill>
                  <a:srgbClr val="0070C0"/>
                </a:solidFill>
                <a:sym typeface="Symbol" pitchFamily="18" charset="2"/>
              </a:rPr>
              <a:t></a:t>
            </a:r>
            <a:r>
              <a:rPr lang="en-US" sz="2800" dirty="0">
                <a:solidFill>
                  <a:srgbClr val="0070C0"/>
                </a:solidFill>
              </a:rPr>
              <a:t>(</a:t>
            </a:r>
            <a:r>
              <a:rPr lang="en-US" sz="2800" i="1" dirty="0">
                <a:solidFill>
                  <a:srgbClr val="0070C0"/>
                </a:solidFill>
              </a:rPr>
              <a:t>n</a:t>
            </a:r>
            <a:r>
              <a:rPr lang="en-US" sz="2800" dirty="0">
                <a:solidFill>
                  <a:srgbClr val="0070C0"/>
                </a:solidFill>
              </a:rPr>
              <a:t>)</a:t>
            </a:r>
          </a:p>
        </p:txBody>
      </p:sp>
      <p:grpSp>
        <p:nvGrpSpPr>
          <p:cNvPr id="21508" name="Group 176"/>
          <p:cNvGrpSpPr>
            <a:grpSpLocks/>
          </p:cNvGrpSpPr>
          <p:nvPr/>
        </p:nvGrpSpPr>
        <p:grpSpPr bwMode="auto">
          <a:xfrm>
            <a:off x="304800" y="1066800"/>
            <a:ext cx="4572000" cy="1600200"/>
            <a:chOff x="244475" y="949325"/>
            <a:chExt cx="2950578" cy="1148199"/>
          </a:xfrm>
        </p:grpSpPr>
        <p:sp>
          <p:nvSpPr>
            <p:cNvPr id="21510" name="Text Box 4"/>
            <p:cNvSpPr txBox="1">
              <a:spLocks noChangeArrowheads="1"/>
            </p:cNvSpPr>
            <p:nvPr/>
          </p:nvSpPr>
          <p:spPr bwMode="auto">
            <a:xfrm>
              <a:off x="244475" y="949325"/>
              <a:ext cx="862013" cy="4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a:t>T</a:t>
              </a:r>
              <a:r>
                <a:rPr lang="en-US" sz="2800"/>
                <a:t>(</a:t>
              </a:r>
              <a:r>
                <a:rPr lang="en-US" sz="2800" i="1"/>
                <a:t>n</a:t>
              </a:r>
              <a:r>
                <a:rPr lang="en-US" sz="2800"/>
                <a:t>)</a:t>
              </a:r>
            </a:p>
          </p:txBody>
        </p:sp>
        <p:sp>
          <p:nvSpPr>
            <p:cNvPr id="21512" name="Text Box 6"/>
            <p:cNvSpPr txBox="1">
              <a:spLocks noChangeArrowheads="1"/>
            </p:cNvSpPr>
            <p:nvPr/>
          </p:nvSpPr>
          <p:spPr bwMode="auto">
            <a:xfrm>
              <a:off x="1916469" y="949325"/>
              <a:ext cx="387240" cy="4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dirty="0" err="1"/>
                <a:t>cn</a:t>
              </a:r>
              <a:endParaRPr lang="en-US" sz="2800" baseline="30000" dirty="0"/>
            </a:p>
          </p:txBody>
        </p:sp>
        <p:sp>
          <p:nvSpPr>
            <p:cNvPr id="21513" name="Text Box 7"/>
            <p:cNvSpPr txBox="1">
              <a:spLocks noChangeArrowheads="1"/>
            </p:cNvSpPr>
            <p:nvPr/>
          </p:nvSpPr>
          <p:spPr bwMode="auto">
            <a:xfrm>
              <a:off x="1158875" y="1631950"/>
              <a:ext cx="816978" cy="4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a:t>T</a:t>
              </a:r>
              <a:r>
                <a:rPr lang="en-US" sz="2800"/>
                <a:t>(</a:t>
              </a:r>
              <a:r>
                <a:rPr lang="en-US" sz="2800" i="1"/>
                <a:t>n</a:t>
              </a:r>
              <a:r>
                <a:rPr lang="en-US" sz="2800"/>
                <a:t>/3)</a:t>
              </a:r>
            </a:p>
          </p:txBody>
        </p:sp>
        <p:sp>
          <p:nvSpPr>
            <p:cNvPr id="21514" name="Text Box 8"/>
            <p:cNvSpPr txBox="1">
              <a:spLocks noChangeArrowheads="1"/>
            </p:cNvSpPr>
            <p:nvPr/>
          </p:nvSpPr>
          <p:spPr bwMode="auto">
            <a:xfrm>
              <a:off x="1768475" y="1635125"/>
              <a:ext cx="816978" cy="4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a:t>T</a:t>
              </a:r>
              <a:r>
                <a:rPr lang="en-US" sz="2800"/>
                <a:t>(</a:t>
              </a:r>
              <a:r>
                <a:rPr lang="en-US" sz="2800" i="1"/>
                <a:t>n</a:t>
              </a:r>
              <a:r>
                <a:rPr lang="en-US" sz="2800"/>
                <a:t>/3)</a:t>
              </a:r>
            </a:p>
          </p:txBody>
        </p:sp>
        <p:sp>
          <p:nvSpPr>
            <p:cNvPr id="21515" name="Text Box 9"/>
            <p:cNvSpPr txBox="1">
              <a:spLocks noChangeArrowheads="1"/>
            </p:cNvSpPr>
            <p:nvPr/>
          </p:nvSpPr>
          <p:spPr bwMode="auto">
            <a:xfrm>
              <a:off x="2378075" y="1635125"/>
              <a:ext cx="816978" cy="4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a:t>T</a:t>
              </a:r>
              <a:r>
                <a:rPr lang="en-US" sz="2800"/>
                <a:t>(</a:t>
              </a:r>
              <a:r>
                <a:rPr lang="en-US" sz="2800" i="1"/>
                <a:t>n</a:t>
              </a:r>
              <a:r>
                <a:rPr lang="en-US" sz="2800"/>
                <a:t>/3)</a:t>
              </a:r>
            </a:p>
          </p:txBody>
        </p:sp>
        <p:sp>
          <p:nvSpPr>
            <p:cNvPr id="21516" name="Line 11"/>
            <p:cNvSpPr>
              <a:spLocks noChangeShapeType="1"/>
            </p:cNvSpPr>
            <p:nvPr/>
          </p:nvSpPr>
          <p:spPr bwMode="auto">
            <a:xfrm flipH="1">
              <a:off x="1616075" y="1330325"/>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800"/>
            </a:p>
          </p:txBody>
        </p:sp>
        <p:sp>
          <p:nvSpPr>
            <p:cNvPr id="21517" name="Line 12"/>
            <p:cNvSpPr>
              <a:spLocks noChangeShapeType="1"/>
            </p:cNvSpPr>
            <p:nvPr/>
          </p:nvSpPr>
          <p:spPr bwMode="auto">
            <a:xfrm>
              <a:off x="2073275" y="1330325"/>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800"/>
            </a:p>
          </p:txBody>
        </p:sp>
        <p:sp>
          <p:nvSpPr>
            <p:cNvPr id="21518" name="Line 13"/>
            <p:cNvSpPr>
              <a:spLocks noChangeShapeType="1"/>
            </p:cNvSpPr>
            <p:nvPr/>
          </p:nvSpPr>
          <p:spPr bwMode="auto">
            <a:xfrm>
              <a:off x="2225675" y="1254125"/>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800"/>
            </a:p>
          </p:txBody>
        </p:sp>
        <p:cxnSp>
          <p:nvCxnSpPr>
            <p:cNvPr id="175" name="Straight Arrow Connector 174"/>
            <p:cNvCxnSpPr/>
            <p:nvPr/>
          </p:nvCxnSpPr>
          <p:spPr>
            <a:xfrm flipV="1">
              <a:off x="947707" y="1179406"/>
              <a:ext cx="881023" cy="15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1509" name="TextBox 177"/>
          <p:cNvSpPr txBox="1">
            <a:spLocks noChangeArrowheads="1"/>
          </p:cNvSpPr>
          <p:nvPr/>
        </p:nvSpPr>
        <p:spPr bwMode="auto">
          <a:xfrm>
            <a:off x="5065713" y="1447800"/>
            <a:ext cx="373211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dirty="0"/>
              <a:t>T(n) = 3T(n/3) + </a:t>
            </a:r>
            <a:r>
              <a:rPr lang="en-US" sz="2800" dirty="0" err="1"/>
              <a:t>cn</a:t>
            </a:r>
            <a:endParaRPr lang="en-US" sz="2800" dirty="0"/>
          </a:p>
          <a:p>
            <a:pPr eaLnBrk="1" hangingPunct="1"/>
            <a:r>
              <a:rPr lang="en-US" sz="2800" dirty="0"/>
              <a:t>T(n/3) = 3T(n/9)+c(n/3)</a:t>
            </a:r>
          </a:p>
          <a:p>
            <a:pPr eaLnBrk="1" hangingPunct="1"/>
            <a:r>
              <a:rPr lang="en-US" sz="2800" dirty="0"/>
              <a:t>T(n/9) =3T(n/27)+c(n/9)</a:t>
            </a:r>
          </a:p>
        </p:txBody>
      </p:sp>
      <p:grpSp>
        <p:nvGrpSpPr>
          <p:cNvPr id="44" name="Group 43"/>
          <p:cNvGrpSpPr/>
          <p:nvPr/>
        </p:nvGrpSpPr>
        <p:grpSpPr>
          <a:xfrm>
            <a:off x="533401" y="3352800"/>
            <a:ext cx="7918769" cy="2743200"/>
            <a:chOff x="533401" y="3200400"/>
            <a:chExt cx="7918769" cy="2743200"/>
          </a:xfrm>
        </p:grpSpPr>
        <p:grpSp>
          <p:nvGrpSpPr>
            <p:cNvPr id="21507" name="Group 52"/>
            <p:cNvGrpSpPr>
              <a:grpSpLocks/>
            </p:cNvGrpSpPr>
            <p:nvPr/>
          </p:nvGrpSpPr>
          <p:grpSpPr bwMode="auto">
            <a:xfrm>
              <a:off x="533401" y="3255336"/>
              <a:ext cx="7918769" cy="2688264"/>
              <a:chOff x="1948" y="672"/>
              <a:chExt cx="3867" cy="1234"/>
            </a:xfrm>
          </p:grpSpPr>
          <p:sp>
            <p:nvSpPr>
              <p:cNvPr id="21520" name="Text Box 15"/>
              <p:cNvSpPr txBox="1">
                <a:spLocks noChangeArrowheads="1"/>
              </p:cNvSpPr>
              <p:nvPr/>
            </p:nvSpPr>
            <p:spPr bwMode="auto">
              <a:xfrm>
                <a:off x="3696" y="672"/>
                <a:ext cx="24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cn</a:t>
                </a:r>
                <a:endParaRPr lang="en-US" sz="2600" baseline="30000"/>
              </a:p>
            </p:txBody>
          </p:sp>
          <p:sp>
            <p:nvSpPr>
              <p:cNvPr id="21521" name="Text Box 17"/>
              <p:cNvSpPr txBox="1">
                <a:spLocks noChangeArrowheads="1"/>
              </p:cNvSpPr>
              <p:nvPr/>
            </p:nvSpPr>
            <p:spPr bwMode="auto">
              <a:xfrm>
                <a:off x="2592" y="1152"/>
                <a:ext cx="47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c</a:t>
                </a:r>
                <a:r>
                  <a:rPr lang="en-US" sz="2600"/>
                  <a:t>(</a:t>
                </a:r>
                <a:r>
                  <a:rPr lang="en-US" sz="2600" i="1"/>
                  <a:t>n</a:t>
                </a:r>
                <a:r>
                  <a:rPr lang="en-US" sz="2600"/>
                  <a:t>/3)</a:t>
                </a:r>
                <a:endParaRPr lang="en-US" sz="2600" baseline="30000"/>
              </a:p>
            </p:txBody>
          </p:sp>
          <p:sp>
            <p:nvSpPr>
              <p:cNvPr id="21522" name="Text Box 20"/>
              <p:cNvSpPr txBox="1">
                <a:spLocks noChangeArrowheads="1"/>
              </p:cNvSpPr>
              <p:nvPr/>
            </p:nvSpPr>
            <p:spPr bwMode="auto">
              <a:xfrm>
                <a:off x="3696" y="1104"/>
                <a:ext cx="47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c</a:t>
                </a:r>
                <a:r>
                  <a:rPr lang="en-US" sz="2600"/>
                  <a:t>(</a:t>
                </a:r>
                <a:r>
                  <a:rPr lang="en-US" sz="2600" i="1"/>
                  <a:t>n</a:t>
                </a:r>
                <a:r>
                  <a:rPr lang="en-US" sz="2600"/>
                  <a:t>/3)</a:t>
                </a:r>
                <a:endParaRPr lang="en-US" sz="2600" baseline="30000"/>
              </a:p>
            </p:txBody>
          </p:sp>
          <p:sp>
            <p:nvSpPr>
              <p:cNvPr id="21523" name="Text Box 21"/>
              <p:cNvSpPr txBox="1">
                <a:spLocks noChangeArrowheads="1"/>
              </p:cNvSpPr>
              <p:nvPr/>
            </p:nvSpPr>
            <p:spPr bwMode="auto">
              <a:xfrm>
                <a:off x="4752" y="1104"/>
                <a:ext cx="47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dirty="0"/>
                  <a:t>c</a:t>
                </a:r>
                <a:r>
                  <a:rPr lang="en-US" sz="2600" dirty="0"/>
                  <a:t>(</a:t>
                </a:r>
                <a:r>
                  <a:rPr lang="en-US" sz="2600" i="1" dirty="0"/>
                  <a:t>n</a:t>
                </a:r>
                <a:r>
                  <a:rPr lang="en-US" sz="2600" dirty="0"/>
                  <a:t>/3)</a:t>
                </a:r>
                <a:endParaRPr lang="en-US" sz="2600" baseline="30000" dirty="0"/>
              </a:p>
            </p:txBody>
          </p:sp>
          <p:sp>
            <p:nvSpPr>
              <p:cNvPr id="21524" name="Text Box 29"/>
              <p:cNvSpPr txBox="1">
                <a:spLocks noChangeArrowheads="1"/>
              </p:cNvSpPr>
              <p:nvPr/>
            </p:nvSpPr>
            <p:spPr bwMode="auto">
              <a:xfrm>
                <a:off x="4512"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dirty="0"/>
                  <a:t>T</a:t>
                </a:r>
                <a:r>
                  <a:rPr lang="en-US" sz="2600" dirty="0"/>
                  <a:t>(</a:t>
                </a:r>
                <a:r>
                  <a:rPr lang="en-US" sz="2600" i="1" dirty="0"/>
                  <a:t>n</a:t>
                </a:r>
                <a:r>
                  <a:rPr lang="en-US" sz="2600" dirty="0"/>
                  <a:t>/9)</a:t>
                </a:r>
              </a:p>
            </p:txBody>
          </p:sp>
          <p:sp>
            <p:nvSpPr>
              <p:cNvPr id="21525" name="Text Box 30"/>
              <p:cNvSpPr txBox="1">
                <a:spLocks noChangeArrowheads="1"/>
              </p:cNvSpPr>
              <p:nvPr/>
            </p:nvSpPr>
            <p:spPr bwMode="auto">
              <a:xfrm>
                <a:off x="4896"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26" name="Text Box 31"/>
              <p:cNvSpPr txBox="1">
                <a:spLocks noChangeArrowheads="1"/>
              </p:cNvSpPr>
              <p:nvPr/>
            </p:nvSpPr>
            <p:spPr bwMode="auto">
              <a:xfrm>
                <a:off x="5309"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27" name="Text Box 32"/>
              <p:cNvSpPr txBox="1">
                <a:spLocks noChangeArrowheads="1"/>
              </p:cNvSpPr>
              <p:nvPr/>
            </p:nvSpPr>
            <p:spPr bwMode="auto">
              <a:xfrm>
                <a:off x="2832" y="1680"/>
                <a:ext cx="50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28" name="Text Box 33"/>
              <p:cNvSpPr txBox="1">
                <a:spLocks noChangeArrowheads="1"/>
              </p:cNvSpPr>
              <p:nvPr/>
            </p:nvSpPr>
            <p:spPr bwMode="auto">
              <a:xfrm>
                <a:off x="2400"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29" name="Text Box 34"/>
              <p:cNvSpPr txBox="1">
                <a:spLocks noChangeArrowheads="1"/>
              </p:cNvSpPr>
              <p:nvPr/>
            </p:nvSpPr>
            <p:spPr bwMode="auto">
              <a:xfrm>
                <a:off x="1948" y="1680"/>
                <a:ext cx="51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30" name="Text Box 35"/>
              <p:cNvSpPr txBox="1">
                <a:spLocks noChangeArrowheads="1"/>
              </p:cNvSpPr>
              <p:nvPr/>
            </p:nvSpPr>
            <p:spPr bwMode="auto">
              <a:xfrm>
                <a:off x="3264"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31" name="Text Box 36"/>
              <p:cNvSpPr txBox="1">
                <a:spLocks noChangeArrowheads="1"/>
              </p:cNvSpPr>
              <p:nvPr/>
            </p:nvSpPr>
            <p:spPr bwMode="auto">
              <a:xfrm>
                <a:off x="3648"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32" name="Text Box 37"/>
              <p:cNvSpPr txBox="1">
                <a:spLocks noChangeArrowheads="1"/>
              </p:cNvSpPr>
              <p:nvPr/>
            </p:nvSpPr>
            <p:spPr bwMode="auto">
              <a:xfrm>
                <a:off x="4032" y="1680"/>
                <a:ext cx="50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600" i="1"/>
                  <a:t>T</a:t>
                </a:r>
                <a:r>
                  <a:rPr lang="en-US" sz="2600"/>
                  <a:t>(</a:t>
                </a:r>
                <a:r>
                  <a:rPr lang="en-US" sz="2600" i="1"/>
                  <a:t>n</a:t>
                </a:r>
                <a:r>
                  <a:rPr lang="en-US" sz="2600"/>
                  <a:t>/9)</a:t>
                </a:r>
              </a:p>
            </p:txBody>
          </p:sp>
          <p:sp>
            <p:nvSpPr>
              <p:cNvPr id="21533" name="Line 38"/>
              <p:cNvSpPr>
                <a:spLocks noChangeShapeType="1"/>
              </p:cNvSpPr>
              <p:nvPr/>
            </p:nvSpPr>
            <p:spPr bwMode="auto">
              <a:xfrm flipH="1">
                <a:off x="2832" y="912"/>
                <a:ext cx="86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4" name="Line 39"/>
              <p:cNvSpPr>
                <a:spLocks noChangeShapeType="1"/>
              </p:cNvSpPr>
              <p:nvPr/>
            </p:nvSpPr>
            <p:spPr bwMode="auto">
              <a:xfrm>
                <a:off x="3840" y="9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5" name="Line 40"/>
              <p:cNvSpPr>
                <a:spLocks noChangeShapeType="1"/>
              </p:cNvSpPr>
              <p:nvPr/>
            </p:nvSpPr>
            <p:spPr bwMode="auto">
              <a:xfrm>
                <a:off x="3984" y="864"/>
                <a:ext cx="91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6" name="Line 41"/>
              <p:cNvSpPr>
                <a:spLocks noChangeShapeType="1"/>
              </p:cNvSpPr>
              <p:nvPr/>
            </p:nvSpPr>
            <p:spPr bwMode="auto">
              <a:xfrm flipH="1">
                <a:off x="2304" y="1344"/>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7" name="Line 42"/>
              <p:cNvSpPr>
                <a:spLocks noChangeShapeType="1"/>
              </p:cNvSpPr>
              <p:nvPr/>
            </p:nvSpPr>
            <p:spPr bwMode="auto">
              <a:xfrm flipH="1">
                <a:off x="2736" y="1344"/>
                <a:ext cx="4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8" name="Line 43"/>
              <p:cNvSpPr>
                <a:spLocks noChangeShapeType="1"/>
              </p:cNvSpPr>
              <p:nvPr/>
            </p:nvSpPr>
            <p:spPr bwMode="auto">
              <a:xfrm>
                <a:off x="2880" y="1344"/>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39" name="Line 44"/>
              <p:cNvSpPr>
                <a:spLocks noChangeShapeType="1"/>
              </p:cNvSpPr>
              <p:nvPr/>
            </p:nvSpPr>
            <p:spPr bwMode="auto">
              <a:xfrm flipH="1">
                <a:off x="3504" y="1296"/>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40" name="Line 45"/>
              <p:cNvSpPr>
                <a:spLocks noChangeShapeType="1"/>
              </p:cNvSpPr>
              <p:nvPr/>
            </p:nvSpPr>
            <p:spPr bwMode="auto">
              <a:xfrm>
                <a:off x="3888" y="13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41" name="Line 46"/>
              <p:cNvSpPr>
                <a:spLocks noChangeShapeType="1"/>
              </p:cNvSpPr>
              <p:nvPr/>
            </p:nvSpPr>
            <p:spPr bwMode="auto">
              <a:xfrm>
                <a:off x="3984" y="1344"/>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42" name="Line 47"/>
              <p:cNvSpPr>
                <a:spLocks noChangeShapeType="1"/>
              </p:cNvSpPr>
              <p:nvPr/>
            </p:nvSpPr>
            <p:spPr bwMode="auto">
              <a:xfrm flipH="1">
                <a:off x="4752" y="1344"/>
                <a:ext cx="192"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43" name="Line 48"/>
              <p:cNvSpPr>
                <a:spLocks noChangeShapeType="1"/>
              </p:cNvSpPr>
              <p:nvPr/>
            </p:nvSpPr>
            <p:spPr bwMode="auto">
              <a:xfrm>
                <a:off x="5040" y="1344"/>
                <a:ext cx="4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sp>
            <p:nvSpPr>
              <p:cNvPr id="21544" name="Line 49"/>
              <p:cNvSpPr>
                <a:spLocks noChangeShapeType="1"/>
              </p:cNvSpPr>
              <p:nvPr/>
            </p:nvSpPr>
            <p:spPr bwMode="auto">
              <a:xfrm>
                <a:off x="5136" y="1344"/>
                <a:ext cx="38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600"/>
              </a:p>
            </p:txBody>
          </p:sp>
        </p:grpSp>
        <p:sp>
          <p:nvSpPr>
            <p:cNvPr id="42" name="Text Box 4"/>
            <p:cNvSpPr txBox="1">
              <a:spLocks noChangeArrowheads="1"/>
            </p:cNvSpPr>
            <p:nvPr/>
          </p:nvSpPr>
          <p:spPr bwMode="auto">
            <a:xfrm>
              <a:off x="1524000" y="3200400"/>
              <a:ext cx="1335712" cy="644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i="1"/>
                <a:t>T</a:t>
              </a:r>
              <a:r>
                <a:rPr lang="en-US" sz="2800"/>
                <a:t>(</a:t>
              </a:r>
              <a:r>
                <a:rPr lang="en-US" sz="2800" i="1"/>
                <a:t>n</a:t>
              </a:r>
              <a:r>
                <a:rPr lang="en-US" sz="2800"/>
                <a:t>)</a:t>
              </a:r>
            </a:p>
          </p:txBody>
        </p:sp>
        <p:cxnSp>
          <p:nvCxnSpPr>
            <p:cNvPr id="43" name="Straight Arrow Connector 42"/>
            <p:cNvCxnSpPr/>
            <p:nvPr/>
          </p:nvCxnSpPr>
          <p:spPr bwMode="auto">
            <a:xfrm flipV="1">
              <a:off x="2613677" y="3521055"/>
              <a:ext cx="1365169" cy="22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659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 y="965200"/>
          <a:ext cx="8686801" cy="5613316"/>
        </p:xfrm>
        <a:graphic>
          <a:graphicData uri="http://schemas.openxmlformats.org/drawingml/2006/table">
            <a:tbl>
              <a:tblPr firstRow="1" bandRow="1">
                <a:tableStyleId>{2D5ABB26-0587-4C30-8999-92F81FD0307C}</a:tableStyleId>
              </a:tblPr>
              <a:tblGrid>
                <a:gridCol w="2553393">
                  <a:extLst>
                    <a:ext uri="{9D8B030D-6E8A-4147-A177-3AD203B41FA5}">
                      <a16:colId xmlns:a16="http://schemas.microsoft.com/office/drawing/2014/main" val="20000"/>
                    </a:ext>
                  </a:extLst>
                </a:gridCol>
                <a:gridCol w="2553393">
                  <a:extLst>
                    <a:ext uri="{9D8B030D-6E8A-4147-A177-3AD203B41FA5}">
                      <a16:colId xmlns:a16="http://schemas.microsoft.com/office/drawing/2014/main" val="20001"/>
                    </a:ext>
                  </a:extLst>
                </a:gridCol>
                <a:gridCol w="3580015">
                  <a:extLst>
                    <a:ext uri="{9D8B030D-6E8A-4147-A177-3AD203B41FA5}">
                      <a16:colId xmlns:a16="http://schemas.microsoft.com/office/drawing/2014/main" val="20002"/>
                    </a:ext>
                  </a:extLst>
                </a:gridCol>
              </a:tblGrid>
              <a:tr h="1188645">
                <a:tc>
                  <a:txBody>
                    <a:bodyPr/>
                    <a:lstStyle/>
                    <a:p>
                      <a:r>
                        <a:rPr lang="en-US" sz="1800" dirty="0"/>
                        <a:t>Level   # node</a:t>
                      </a:r>
                    </a:p>
                    <a:p>
                      <a:r>
                        <a:rPr lang="en-US" sz="1800" dirty="0"/>
                        <a:t>0        1</a:t>
                      </a:r>
                    </a:p>
                    <a:p>
                      <a:endParaRPr lang="en-US" sz="1800" dirty="0"/>
                    </a:p>
                    <a:p>
                      <a:pPr marL="342900" indent="-342900">
                        <a:buAutoNum type="arabicPlain"/>
                      </a:pPr>
                      <a:r>
                        <a:rPr lang="en-US" sz="1800" dirty="0"/>
                        <a:t>     3</a:t>
                      </a:r>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0"/>
                  </a:ext>
                </a:extLst>
              </a:tr>
              <a:tr h="1041334">
                <a:tc>
                  <a:txBody>
                    <a:bodyPr/>
                    <a:lstStyle/>
                    <a:p>
                      <a:endParaRPr lang="en-US" sz="1800" dirty="0"/>
                    </a:p>
                    <a:p>
                      <a:r>
                        <a:rPr lang="en-US" sz="1800" dirty="0"/>
                        <a:t>2        3</a:t>
                      </a:r>
                      <a:r>
                        <a:rPr lang="en-US" sz="1800" baseline="30000" dirty="0"/>
                        <a:t>2</a:t>
                      </a:r>
                    </a:p>
                  </a:txBody>
                  <a:tcPr marT="45717" marB="45717"/>
                </a:tc>
                <a:tc>
                  <a:txBody>
                    <a:bodyPr/>
                    <a:lstStyle/>
                    <a:p>
                      <a:endParaRPr lang="en-US" sz="1800"/>
                    </a:p>
                  </a:txBody>
                  <a:tcPr marT="45717" marB="45717"/>
                </a:tc>
                <a:tc>
                  <a:txBody>
                    <a:bodyPr/>
                    <a:lstStyle/>
                    <a:p>
                      <a:endParaRPr lang="en-US" sz="1800"/>
                    </a:p>
                  </a:txBody>
                  <a:tcPr marT="45717" marB="45717"/>
                </a:tc>
                <a:extLst>
                  <a:ext uri="{0D108BD9-81ED-4DB2-BD59-A6C34878D82A}">
                    <a16:rowId xmlns:a16="http://schemas.microsoft.com/office/drawing/2014/main" val="10001"/>
                  </a:ext>
                </a:extLst>
              </a:tr>
              <a:tr h="17372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        3</a:t>
                      </a:r>
                      <a:r>
                        <a:rPr lang="en-US" sz="1800" baseline="30000" dirty="0"/>
                        <a:t>i</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h      3</a:t>
                      </a:r>
                      <a:r>
                        <a:rPr lang="en-US" sz="1800" baseline="30000" dirty="0"/>
                        <a:t>h</a:t>
                      </a:r>
                    </a:p>
                    <a:p>
                      <a:r>
                        <a:rPr lang="en-US" sz="1800" dirty="0"/>
                        <a:t>  </a:t>
                      </a:r>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2"/>
                  </a:ext>
                </a:extLst>
              </a:tr>
              <a:tr h="1041334">
                <a:tc>
                  <a:txBody>
                    <a:bodyPr/>
                    <a:lstStyle/>
                    <a:p>
                      <a:endParaRPr lang="en-US" sz="1800" dirty="0"/>
                    </a:p>
                    <a:p>
                      <a:endParaRPr lang="en-US" sz="2800" dirty="0"/>
                    </a:p>
                    <a:p>
                      <a:r>
                        <a:rPr lang="en-US" sz="2800" dirty="0"/>
                        <a:t>T(n) = 3</a:t>
                      </a:r>
                      <a:r>
                        <a:rPr lang="en-US" sz="2800" baseline="30000" dirty="0"/>
                        <a:t>h</a:t>
                      </a:r>
                      <a:r>
                        <a:rPr lang="en-US" sz="2800" dirty="0"/>
                        <a:t>T(1) +</a:t>
                      </a:r>
                      <a:r>
                        <a:rPr lang="en-US" sz="2800" baseline="0" dirty="0"/>
                        <a:t> </a:t>
                      </a:r>
                    </a:p>
                    <a:p>
                      <a:r>
                        <a:rPr lang="en-US" sz="2800" dirty="0"/>
                        <a:t>        </a:t>
                      </a:r>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3"/>
                  </a:ext>
                </a:extLst>
              </a:tr>
            </a:tbl>
          </a:graphicData>
        </a:graphic>
      </p:graphicFrame>
      <p:sp>
        <p:nvSpPr>
          <p:cNvPr id="22543" name="Slide Number Placeholder 3"/>
          <p:cNvSpPr>
            <a:spLocks noGrp="1"/>
          </p:cNvSpPr>
          <p:nvPr>
            <p:ph type="sldNum" sz="quarter" idx="4294967295"/>
          </p:nvPr>
        </p:nvSpPr>
        <p:spPr bwMode="auto">
          <a:xfrm>
            <a:off x="8129588" y="572770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257B575-A546-401C-990C-2E7410BF8146}" type="slidenum">
              <a:rPr lang="en-US" sz="1400" smtClean="0">
                <a:solidFill>
                  <a:srgbClr val="FFFFFF"/>
                </a:solidFill>
              </a:rPr>
              <a:pPr eaLnBrk="1" hangingPunct="1"/>
              <a:t>17</a:t>
            </a:fld>
            <a:endParaRPr lang="en-US" sz="1400">
              <a:solidFill>
                <a:srgbClr val="FFFFFF"/>
              </a:solidFill>
            </a:endParaRPr>
          </a:p>
        </p:txBody>
      </p:sp>
      <p:sp>
        <p:nvSpPr>
          <p:cNvPr id="22544" name="Slide Number Placeholder 3"/>
          <p:cNvSpPr txBox="1">
            <a:spLocks/>
          </p:cNvSpPr>
          <p:nvPr/>
        </p:nvSpPr>
        <p:spPr bwMode="auto">
          <a:xfrm>
            <a:off x="8129588" y="3375025"/>
            <a:ext cx="6096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fld id="{6DC01E36-69A7-44E0-88EF-D62ADF8C2F8D}" type="slidenum">
              <a:rPr lang="en-US" sz="1400" b="1">
                <a:solidFill>
                  <a:srgbClr val="FFFFFF"/>
                </a:solidFill>
              </a:rPr>
              <a:pPr algn="ctr" eaLnBrk="1" hangingPunct="1"/>
              <a:t>17</a:t>
            </a:fld>
            <a:endParaRPr lang="en-US" sz="1400" b="1">
              <a:solidFill>
                <a:srgbClr val="FFFFFF"/>
              </a:solidFill>
            </a:endParaRPr>
          </a:p>
        </p:txBody>
      </p:sp>
      <p:sp>
        <p:nvSpPr>
          <p:cNvPr id="22545" name="Text Box 54"/>
          <p:cNvSpPr txBox="1">
            <a:spLocks noChangeArrowheads="1"/>
          </p:cNvSpPr>
          <p:nvPr/>
        </p:nvSpPr>
        <p:spPr bwMode="auto">
          <a:xfrm>
            <a:off x="3825875" y="9937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i="1"/>
              <a:t>cn</a:t>
            </a:r>
            <a:endParaRPr lang="en-US" baseline="30000"/>
          </a:p>
        </p:txBody>
      </p:sp>
      <p:sp>
        <p:nvSpPr>
          <p:cNvPr id="22546" name="Text Box 55"/>
          <p:cNvSpPr txBox="1">
            <a:spLocks noChangeArrowheads="1"/>
          </p:cNvSpPr>
          <p:nvPr/>
        </p:nvSpPr>
        <p:spPr bwMode="auto">
          <a:xfrm>
            <a:off x="2073275" y="175577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a:t>c</a:t>
            </a:r>
            <a:r>
              <a:rPr lang="en-US" sz="1800"/>
              <a:t>(</a:t>
            </a:r>
            <a:r>
              <a:rPr lang="en-US" sz="1800" i="1"/>
              <a:t>n</a:t>
            </a:r>
            <a:r>
              <a:rPr lang="en-US" sz="1800"/>
              <a:t>/3)</a:t>
            </a:r>
            <a:endParaRPr lang="en-US" sz="1800" baseline="30000"/>
          </a:p>
        </p:txBody>
      </p:sp>
      <p:sp>
        <p:nvSpPr>
          <p:cNvPr id="22547" name="Text Box 56"/>
          <p:cNvSpPr txBox="1">
            <a:spLocks noChangeArrowheads="1"/>
          </p:cNvSpPr>
          <p:nvPr/>
        </p:nvSpPr>
        <p:spPr bwMode="auto">
          <a:xfrm>
            <a:off x="3825875" y="167957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a:t>c</a:t>
            </a:r>
            <a:r>
              <a:rPr lang="en-US" sz="1800"/>
              <a:t>(</a:t>
            </a:r>
            <a:r>
              <a:rPr lang="en-US" sz="1800" i="1"/>
              <a:t>n</a:t>
            </a:r>
            <a:r>
              <a:rPr lang="en-US" sz="1800"/>
              <a:t>/3)</a:t>
            </a:r>
            <a:endParaRPr lang="en-US" sz="1800" baseline="30000"/>
          </a:p>
        </p:txBody>
      </p:sp>
      <p:sp>
        <p:nvSpPr>
          <p:cNvPr id="22548" name="Text Box 57"/>
          <p:cNvSpPr txBox="1">
            <a:spLocks noChangeArrowheads="1"/>
          </p:cNvSpPr>
          <p:nvPr/>
        </p:nvSpPr>
        <p:spPr bwMode="auto">
          <a:xfrm>
            <a:off x="5502275" y="167957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a:t>c</a:t>
            </a:r>
            <a:r>
              <a:rPr lang="en-US" sz="1800"/>
              <a:t>(</a:t>
            </a:r>
            <a:r>
              <a:rPr lang="en-US" sz="1800" i="1"/>
              <a:t>n</a:t>
            </a:r>
            <a:r>
              <a:rPr lang="en-US" sz="1800"/>
              <a:t>/3)</a:t>
            </a:r>
            <a:endParaRPr lang="en-US" sz="1800" baseline="30000"/>
          </a:p>
        </p:txBody>
      </p:sp>
      <p:sp>
        <p:nvSpPr>
          <p:cNvPr id="22549" name="Text Box 58"/>
          <p:cNvSpPr txBox="1">
            <a:spLocks noChangeArrowheads="1"/>
          </p:cNvSpPr>
          <p:nvPr/>
        </p:nvSpPr>
        <p:spPr bwMode="auto">
          <a:xfrm>
            <a:off x="51212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0" name="Text Box 59"/>
          <p:cNvSpPr txBox="1">
            <a:spLocks noChangeArrowheads="1"/>
          </p:cNvSpPr>
          <p:nvPr/>
        </p:nvSpPr>
        <p:spPr bwMode="auto">
          <a:xfrm>
            <a:off x="57308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1" name="Text Box 60"/>
          <p:cNvSpPr txBox="1">
            <a:spLocks noChangeArrowheads="1"/>
          </p:cNvSpPr>
          <p:nvPr/>
        </p:nvSpPr>
        <p:spPr bwMode="auto">
          <a:xfrm>
            <a:off x="63404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2" name="Text Box 61"/>
          <p:cNvSpPr txBox="1">
            <a:spLocks noChangeArrowheads="1"/>
          </p:cNvSpPr>
          <p:nvPr/>
        </p:nvSpPr>
        <p:spPr bwMode="auto">
          <a:xfrm>
            <a:off x="2454275" y="2593975"/>
            <a:ext cx="795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3" name="Text Box 62"/>
          <p:cNvSpPr txBox="1">
            <a:spLocks noChangeArrowheads="1"/>
          </p:cNvSpPr>
          <p:nvPr/>
        </p:nvSpPr>
        <p:spPr bwMode="auto">
          <a:xfrm>
            <a:off x="17684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4" name="Text Box 63"/>
          <p:cNvSpPr txBox="1">
            <a:spLocks noChangeArrowheads="1"/>
          </p:cNvSpPr>
          <p:nvPr/>
        </p:nvSpPr>
        <p:spPr bwMode="auto">
          <a:xfrm>
            <a:off x="1082675" y="259397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5" name="Text Box 64"/>
          <p:cNvSpPr txBox="1">
            <a:spLocks noChangeArrowheads="1"/>
          </p:cNvSpPr>
          <p:nvPr/>
        </p:nvSpPr>
        <p:spPr bwMode="auto">
          <a:xfrm>
            <a:off x="31400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6" name="Text Box 65"/>
          <p:cNvSpPr txBox="1">
            <a:spLocks noChangeArrowheads="1"/>
          </p:cNvSpPr>
          <p:nvPr/>
        </p:nvSpPr>
        <p:spPr bwMode="auto">
          <a:xfrm>
            <a:off x="37496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7" name="Text Box 66"/>
          <p:cNvSpPr txBox="1">
            <a:spLocks noChangeArrowheads="1"/>
          </p:cNvSpPr>
          <p:nvPr/>
        </p:nvSpPr>
        <p:spPr bwMode="auto">
          <a:xfrm>
            <a:off x="4359275" y="25939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c</a:t>
            </a:r>
            <a:r>
              <a:rPr lang="en-US" sz="1400"/>
              <a:t>(</a:t>
            </a:r>
            <a:r>
              <a:rPr lang="en-US" sz="1400" i="1"/>
              <a:t>n</a:t>
            </a:r>
            <a:r>
              <a:rPr lang="en-US" sz="1400"/>
              <a:t>/9)</a:t>
            </a:r>
            <a:endParaRPr lang="en-US" sz="1400" baseline="30000"/>
          </a:p>
        </p:txBody>
      </p:sp>
      <p:sp>
        <p:nvSpPr>
          <p:cNvPr id="22558" name="Line 67"/>
          <p:cNvSpPr>
            <a:spLocks noChangeShapeType="1"/>
          </p:cNvSpPr>
          <p:nvPr/>
        </p:nvSpPr>
        <p:spPr bwMode="auto">
          <a:xfrm flipH="1">
            <a:off x="2454275" y="1374775"/>
            <a:ext cx="1371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9" name="Line 68"/>
          <p:cNvSpPr>
            <a:spLocks noChangeShapeType="1"/>
          </p:cNvSpPr>
          <p:nvPr/>
        </p:nvSpPr>
        <p:spPr bwMode="auto">
          <a:xfrm>
            <a:off x="4054475" y="1374775"/>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0" name="Line 69"/>
          <p:cNvSpPr>
            <a:spLocks noChangeShapeType="1"/>
          </p:cNvSpPr>
          <p:nvPr/>
        </p:nvSpPr>
        <p:spPr bwMode="auto">
          <a:xfrm>
            <a:off x="4283075" y="1298575"/>
            <a:ext cx="1447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1" name="Line 70"/>
          <p:cNvSpPr>
            <a:spLocks noChangeShapeType="1"/>
          </p:cNvSpPr>
          <p:nvPr/>
        </p:nvSpPr>
        <p:spPr bwMode="auto">
          <a:xfrm flipH="1">
            <a:off x="1616075" y="2060575"/>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2" name="Line 71"/>
          <p:cNvSpPr>
            <a:spLocks noChangeShapeType="1"/>
          </p:cNvSpPr>
          <p:nvPr/>
        </p:nvSpPr>
        <p:spPr bwMode="auto">
          <a:xfrm flipH="1">
            <a:off x="2301875" y="2060575"/>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3" name="Line 72"/>
          <p:cNvSpPr>
            <a:spLocks noChangeShapeType="1"/>
          </p:cNvSpPr>
          <p:nvPr/>
        </p:nvSpPr>
        <p:spPr bwMode="auto">
          <a:xfrm>
            <a:off x="2530475" y="2060575"/>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4" name="Line 73"/>
          <p:cNvSpPr>
            <a:spLocks noChangeShapeType="1"/>
          </p:cNvSpPr>
          <p:nvPr/>
        </p:nvSpPr>
        <p:spPr bwMode="auto">
          <a:xfrm flipH="1">
            <a:off x="3521075" y="1984375"/>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5" name="Line 74"/>
          <p:cNvSpPr>
            <a:spLocks noChangeShapeType="1"/>
          </p:cNvSpPr>
          <p:nvPr/>
        </p:nvSpPr>
        <p:spPr bwMode="auto">
          <a:xfrm>
            <a:off x="4130675" y="2060575"/>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6" name="Line 75"/>
          <p:cNvSpPr>
            <a:spLocks noChangeShapeType="1"/>
          </p:cNvSpPr>
          <p:nvPr/>
        </p:nvSpPr>
        <p:spPr bwMode="auto">
          <a:xfrm>
            <a:off x="4283075" y="2060575"/>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7" name="Line 76"/>
          <p:cNvSpPr>
            <a:spLocks noChangeShapeType="1"/>
          </p:cNvSpPr>
          <p:nvPr/>
        </p:nvSpPr>
        <p:spPr bwMode="auto">
          <a:xfrm flipH="1">
            <a:off x="5502275" y="2060575"/>
            <a:ext cx="304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8" name="Line 77"/>
          <p:cNvSpPr>
            <a:spLocks noChangeShapeType="1"/>
          </p:cNvSpPr>
          <p:nvPr/>
        </p:nvSpPr>
        <p:spPr bwMode="auto">
          <a:xfrm>
            <a:off x="5959475" y="2060575"/>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9" name="Line 78"/>
          <p:cNvSpPr>
            <a:spLocks noChangeShapeType="1"/>
          </p:cNvSpPr>
          <p:nvPr/>
        </p:nvSpPr>
        <p:spPr bwMode="auto">
          <a:xfrm>
            <a:off x="6111875" y="2060575"/>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0" name="Line 80"/>
          <p:cNvSpPr>
            <a:spLocks noChangeShapeType="1"/>
          </p:cNvSpPr>
          <p:nvPr/>
        </p:nvSpPr>
        <p:spPr bwMode="auto">
          <a:xfrm>
            <a:off x="4968875" y="1222375"/>
            <a:ext cx="28194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71" name="Text Box 81"/>
          <p:cNvSpPr txBox="1">
            <a:spLocks noChangeArrowheads="1"/>
          </p:cNvSpPr>
          <p:nvPr/>
        </p:nvSpPr>
        <p:spPr bwMode="auto">
          <a:xfrm>
            <a:off x="7902575" y="990600"/>
            <a:ext cx="403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err="1"/>
              <a:t>cn</a:t>
            </a:r>
            <a:endParaRPr lang="en-US" sz="1800" baseline="30000" dirty="0"/>
          </a:p>
        </p:txBody>
      </p:sp>
      <p:sp>
        <p:nvSpPr>
          <p:cNvPr id="22572" name="Line 82"/>
          <p:cNvSpPr>
            <a:spLocks noChangeShapeType="1"/>
          </p:cNvSpPr>
          <p:nvPr/>
        </p:nvSpPr>
        <p:spPr bwMode="auto">
          <a:xfrm>
            <a:off x="6416675" y="1831975"/>
            <a:ext cx="12954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73" name="Text Box 83"/>
          <p:cNvSpPr txBox="1">
            <a:spLocks noChangeArrowheads="1"/>
          </p:cNvSpPr>
          <p:nvPr/>
        </p:nvSpPr>
        <p:spPr bwMode="auto">
          <a:xfrm>
            <a:off x="7885113" y="1600200"/>
            <a:ext cx="696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3cn/3</a:t>
            </a:r>
            <a:endParaRPr lang="en-US" sz="1800" baseline="30000" dirty="0"/>
          </a:p>
        </p:txBody>
      </p:sp>
      <p:sp>
        <p:nvSpPr>
          <p:cNvPr id="22574" name="Line 85"/>
          <p:cNvSpPr>
            <a:spLocks noChangeShapeType="1"/>
          </p:cNvSpPr>
          <p:nvPr/>
        </p:nvSpPr>
        <p:spPr bwMode="auto">
          <a:xfrm>
            <a:off x="7102475" y="2670175"/>
            <a:ext cx="6096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75" name="Text Box 86"/>
          <p:cNvSpPr txBox="1">
            <a:spLocks noChangeArrowheads="1"/>
          </p:cNvSpPr>
          <p:nvPr/>
        </p:nvSpPr>
        <p:spPr bwMode="auto">
          <a:xfrm>
            <a:off x="7912100" y="2441575"/>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3</a:t>
            </a:r>
            <a:r>
              <a:rPr lang="en-US" sz="1800" baseline="30000" dirty="0"/>
              <a:t>2</a:t>
            </a:r>
            <a:r>
              <a:rPr lang="en-US" sz="1800" dirty="0"/>
              <a:t>cn/9</a:t>
            </a:r>
            <a:endParaRPr lang="en-US" sz="1800" baseline="30000" dirty="0"/>
          </a:p>
        </p:txBody>
      </p:sp>
      <p:sp>
        <p:nvSpPr>
          <p:cNvPr id="22576" name="Line 87"/>
          <p:cNvSpPr>
            <a:spLocks noChangeShapeType="1"/>
          </p:cNvSpPr>
          <p:nvPr/>
        </p:nvSpPr>
        <p:spPr bwMode="auto">
          <a:xfrm flipH="1">
            <a:off x="1082675" y="2898775"/>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7" name="Line 88"/>
          <p:cNvSpPr>
            <a:spLocks noChangeShapeType="1"/>
          </p:cNvSpPr>
          <p:nvPr/>
        </p:nvSpPr>
        <p:spPr bwMode="auto">
          <a:xfrm>
            <a:off x="1387475" y="28225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8" name="Line 89"/>
          <p:cNvSpPr>
            <a:spLocks noChangeShapeType="1"/>
          </p:cNvSpPr>
          <p:nvPr/>
        </p:nvSpPr>
        <p:spPr bwMode="auto">
          <a:xfrm>
            <a:off x="1539875" y="2822575"/>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79" name="Line 90"/>
          <p:cNvSpPr>
            <a:spLocks noChangeShapeType="1"/>
          </p:cNvSpPr>
          <p:nvPr/>
        </p:nvSpPr>
        <p:spPr bwMode="auto">
          <a:xfrm flipH="1">
            <a:off x="1920875" y="28987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0" name="Line 91"/>
          <p:cNvSpPr>
            <a:spLocks noChangeShapeType="1"/>
          </p:cNvSpPr>
          <p:nvPr/>
        </p:nvSpPr>
        <p:spPr bwMode="auto">
          <a:xfrm>
            <a:off x="2149475" y="28987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1" name="Line 92"/>
          <p:cNvSpPr>
            <a:spLocks noChangeShapeType="1"/>
          </p:cNvSpPr>
          <p:nvPr/>
        </p:nvSpPr>
        <p:spPr bwMode="auto">
          <a:xfrm>
            <a:off x="2301875" y="28987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2" name="Line 93"/>
          <p:cNvSpPr>
            <a:spLocks noChangeShapeType="1"/>
          </p:cNvSpPr>
          <p:nvPr/>
        </p:nvSpPr>
        <p:spPr bwMode="auto">
          <a:xfrm flipH="1">
            <a:off x="2606675" y="2822575"/>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3" name="Line 94"/>
          <p:cNvSpPr>
            <a:spLocks noChangeShapeType="1"/>
          </p:cNvSpPr>
          <p:nvPr/>
        </p:nvSpPr>
        <p:spPr bwMode="auto">
          <a:xfrm>
            <a:off x="2835275" y="28225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4" name="Line 95"/>
          <p:cNvSpPr>
            <a:spLocks noChangeShapeType="1"/>
          </p:cNvSpPr>
          <p:nvPr/>
        </p:nvSpPr>
        <p:spPr bwMode="auto">
          <a:xfrm>
            <a:off x="2911475" y="2822575"/>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5" name="Line 96"/>
          <p:cNvSpPr>
            <a:spLocks noChangeShapeType="1"/>
          </p:cNvSpPr>
          <p:nvPr/>
        </p:nvSpPr>
        <p:spPr bwMode="auto">
          <a:xfrm flipH="1">
            <a:off x="3292475" y="28987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6" name="Line 97"/>
          <p:cNvSpPr>
            <a:spLocks noChangeShapeType="1"/>
          </p:cNvSpPr>
          <p:nvPr/>
        </p:nvSpPr>
        <p:spPr bwMode="auto">
          <a:xfrm>
            <a:off x="3521075" y="28225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7" name="Line 98"/>
          <p:cNvSpPr>
            <a:spLocks noChangeShapeType="1"/>
          </p:cNvSpPr>
          <p:nvPr/>
        </p:nvSpPr>
        <p:spPr bwMode="auto">
          <a:xfrm>
            <a:off x="3673475" y="28987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8" name="Line 99"/>
          <p:cNvSpPr>
            <a:spLocks noChangeShapeType="1"/>
          </p:cNvSpPr>
          <p:nvPr/>
        </p:nvSpPr>
        <p:spPr bwMode="auto">
          <a:xfrm flipH="1">
            <a:off x="3978275" y="28987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9" name="Line 100"/>
          <p:cNvSpPr>
            <a:spLocks noChangeShapeType="1"/>
          </p:cNvSpPr>
          <p:nvPr/>
        </p:nvSpPr>
        <p:spPr bwMode="auto">
          <a:xfrm>
            <a:off x="4130675" y="28225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0" name="Line 101"/>
          <p:cNvSpPr>
            <a:spLocks noChangeShapeType="1"/>
          </p:cNvSpPr>
          <p:nvPr/>
        </p:nvSpPr>
        <p:spPr bwMode="auto">
          <a:xfrm>
            <a:off x="4206875" y="2898775"/>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1" name="Line 102"/>
          <p:cNvSpPr>
            <a:spLocks noChangeShapeType="1"/>
          </p:cNvSpPr>
          <p:nvPr/>
        </p:nvSpPr>
        <p:spPr bwMode="auto">
          <a:xfrm flipH="1">
            <a:off x="4511675" y="2822575"/>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2" name="Line 103"/>
          <p:cNvSpPr>
            <a:spLocks noChangeShapeType="1"/>
          </p:cNvSpPr>
          <p:nvPr/>
        </p:nvSpPr>
        <p:spPr bwMode="auto">
          <a:xfrm>
            <a:off x="4740275" y="28225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3" name="Line 104"/>
          <p:cNvSpPr>
            <a:spLocks noChangeShapeType="1"/>
          </p:cNvSpPr>
          <p:nvPr/>
        </p:nvSpPr>
        <p:spPr bwMode="auto">
          <a:xfrm>
            <a:off x="4892675" y="2822575"/>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4" name="Line 105"/>
          <p:cNvSpPr>
            <a:spLocks noChangeShapeType="1"/>
          </p:cNvSpPr>
          <p:nvPr/>
        </p:nvSpPr>
        <p:spPr bwMode="auto">
          <a:xfrm flipH="1">
            <a:off x="5273675" y="2822575"/>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5" name="Line 106"/>
          <p:cNvSpPr>
            <a:spLocks noChangeShapeType="1"/>
          </p:cNvSpPr>
          <p:nvPr/>
        </p:nvSpPr>
        <p:spPr bwMode="auto">
          <a:xfrm>
            <a:off x="5502275" y="28987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6" name="Line 107"/>
          <p:cNvSpPr>
            <a:spLocks noChangeShapeType="1"/>
          </p:cNvSpPr>
          <p:nvPr/>
        </p:nvSpPr>
        <p:spPr bwMode="auto">
          <a:xfrm>
            <a:off x="5578475" y="2822575"/>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7" name="Line 108"/>
          <p:cNvSpPr>
            <a:spLocks noChangeShapeType="1"/>
          </p:cNvSpPr>
          <p:nvPr/>
        </p:nvSpPr>
        <p:spPr bwMode="auto">
          <a:xfrm flipH="1">
            <a:off x="5883275" y="2898775"/>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8" name="Line 109"/>
          <p:cNvSpPr>
            <a:spLocks noChangeShapeType="1"/>
          </p:cNvSpPr>
          <p:nvPr/>
        </p:nvSpPr>
        <p:spPr bwMode="auto">
          <a:xfrm>
            <a:off x="6188075" y="28987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9" name="Line 110"/>
          <p:cNvSpPr>
            <a:spLocks noChangeShapeType="1"/>
          </p:cNvSpPr>
          <p:nvPr/>
        </p:nvSpPr>
        <p:spPr bwMode="auto">
          <a:xfrm>
            <a:off x="6264275" y="2898775"/>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0" name="Line 111"/>
          <p:cNvSpPr>
            <a:spLocks noChangeShapeType="1"/>
          </p:cNvSpPr>
          <p:nvPr/>
        </p:nvSpPr>
        <p:spPr bwMode="auto">
          <a:xfrm flipH="1">
            <a:off x="6569075" y="2822575"/>
            <a:ext cx="76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1" name="Line 112"/>
          <p:cNvSpPr>
            <a:spLocks noChangeShapeType="1"/>
          </p:cNvSpPr>
          <p:nvPr/>
        </p:nvSpPr>
        <p:spPr bwMode="auto">
          <a:xfrm>
            <a:off x="6797675" y="28225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2" name="Line 113"/>
          <p:cNvSpPr>
            <a:spLocks noChangeShapeType="1"/>
          </p:cNvSpPr>
          <p:nvPr/>
        </p:nvSpPr>
        <p:spPr bwMode="auto">
          <a:xfrm>
            <a:off x="6873875" y="282257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3" name="Line 114"/>
          <p:cNvSpPr>
            <a:spLocks noChangeShapeType="1"/>
          </p:cNvSpPr>
          <p:nvPr/>
        </p:nvSpPr>
        <p:spPr bwMode="auto">
          <a:xfrm>
            <a:off x="1082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4" name="Line 115"/>
          <p:cNvSpPr>
            <a:spLocks noChangeShapeType="1"/>
          </p:cNvSpPr>
          <p:nvPr/>
        </p:nvSpPr>
        <p:spPr bwMode="auto">
          <a:xfrm>
            <a:off x="5502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5" name="Line 116"/>
          <p:cNvSpPr>
            <a:spLocks noChangeShapeType="1"/>
          </p:cNvSpPr>
          <p:nvPr/>
        </p:nvSpPr>
        <p:spPr bwMode="auto">
          <a:xfrm>
            <a:off x="57308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6" name="Line 117"/>
          <p:cNvSpPr>
            <a:spLocks noChangeShapeType="1"/>
          </p:cNvSpPr>
          <p:nvPr/>
        </p:nvSpPr>
        <p:spPr bwMode="auto">
          <a:xfrm>
            <a:off x="5883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7" name="Line 118"/>
          <p:cNvSpPr>
            <a:spLocks noChangeShapeType="1"/>
          </p:cNvSpPr>
          <p:nvPr/>
        </p:nvSpPr>
        <p:spPr bwMode="auto">
          <a:xfrm>
            <a:off x="61880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8" name="Line 119"/>
          <p:cNvSpPr>
            <a:spLocks noChangeShapeType="1"/>
          </p:cNvSpPr>
          <p:nvPr/>
        </p:nvSpPr>
        <p:spPr bwMode="auto">
          <a:xfrm>
            <a:off x="6416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09" name="Line 120"/>
          <p:cNvSpPr>
            <a:spLocks noChangeShapeType="1"/>
          </p:cNvSpPr>
          <p:nvPr/>
        </p:nvSpPr>
        <p:spPr bwMode="auto">
          <a:xfrm>
            <a:off x="65690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0" name="Line 121"/>
          <p:cNvSpPr>
            <a:spLocks noChangeShapeType="1"/>
          </p:cNvSpPr>
          <p:nvPr/>
        </p:nvSpPr>
        <p:spPr bwMode="auto">
          <a:xfrm>
            <a:off x="6797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1" name="Line 122"/>
          <p:cNvSpPr>
            <a:spLocks noChangeShapeType="1"/>
          </p:cNvSpPr>
          <p:nvPr/>
        </p:nvSpPr>
        <p:spPr bwMode="auto">
          <a:xfrm>
            <a:off x="71024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2" name="Line 123"/>
          <p:cNvSpPr>
            <a:spLocks noChangeShapeType="1"/>
          </p:cNvSpPr>
          <p:nvPr/>
        </p:nvSpPr>
        <p:spPr bwMode="auto">
          <a:xfrm>
            <a:off x="3978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3" name="Line 124"/>
          <p:cNvSpPr>
            <a:spLocks noChangeShapeType="1"/>
          </p:cNvSpPr>
          <p:nvPr/>
        </p:nvSpPr>
        <p:spPr bwMode="auto">
          <a:xfrm>
            <a:off x="4130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4" name="Line 125"/>
          <p:cNvSpPr>
            <a:spLocks noChangeShapeType="1"/>
          </p:cNvSpPr>
          <p:nvPr/>
        </p:nvSpPr>
        <p:spPr bwMode="auto">
          <a:xfrm>
            <a:off x="4359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5" name="Line 126"/>
          <p:cNvSpPr>
            <a:spLocks noChangeShapeType="1"/>
          </p:cNvSpPr>
          <p:nvPr/>
        </p:nvSpPr>
        <p:spPr bwMode="auto">
          <a:xfrm>
            <a:off x="4511675" y="29749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6" name="Line 127"/>
          <p:cNvSpPr>
            <a:spLocks noChangeShapeType="1"/>
          </p:cNvSpPr>
          <p:nvPr/>
        </p:nvSpPr>
        <p:spPr bwMode="auto">
          <a:xfrm>
            <a:off x="4740275" y="29749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7" name="Line 128"/>
          <p:cNvSpPr>
            <a:spLocks noChangeShapeType="1"/>
          </p:cNvSpPr>
          <p:nvPr/>
        </p:nvSpPr>
        <p:spPr bwMode="auto">
          <a:xfrm>
            <a:off x="4968875" y="29749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8" name="Line 129"/>
          <p:cNvSpPr>
            <a:spLocks noChangeShapeType="1"/>
          </p:cNvSpPr>
          <p:nvPr/>
        </p:nvSpPr>
        <p:spPr bwMode="auto">
          <a:xfrm>
            <a:off x="5273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19" name="Line 130"/>
          <p:cNvSpPr>
            <a:spLocks noChangeShapeType="1"/>
          </p:cNvSpPr>
          <p:nvPr/>
        </p:nvSpPr>
        <p:spPr bwMode="auto">
          <a:xfrm>
            <a:off x="2606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0" name="Line 131"/>
          <p:cNvSpPr>
            <a:spLocks noChangeShapeType="1"/>
          </p:cNvSpPr>
          <p:nvPr/>
        </p:nvSpPr>
        <p:spPr bwMode="auto">
          <a:xfrm>
            <a:off x="2835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1" name="Line 132"/>
          <p:cNvSpPr>
            <a:spLocks noChangeShapeType="1"/>
          </p:cNvSpPr>
          <p:nvPr/>
        </p:nvSpPr>
        <p:spPr bwMode="auto">
          <a:xfrm>
            <a:off x="30638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2" name="Line 133"/>
          <p:cNvSpPr>
            <a:spLocks noChangeShapeType="1"/>
          </p:cNvSpPr>
          <p:nvPr/>
        </p:nvSpPr>
        <p:spPr bwMode="auto">
          <a:xfrm>
            <a:off x="32924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3" name="Line 134"/>
          <p:cNvSpPr>
            <a:spLocks noChangeShapeType="1"/>
          </p:cNvSpPr>
          <p:nvPr/>
        </p:nvSpPr>
        <p:spPr bwMode="auto">
          <a:xfrm>
            <a:off x="35210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4" name="Line 135"/>
          <p:cNvSpPr>
            <a:spLocks noChangeShapeType="1"/>
          </p:cNvSpPr>
          <p:nvPr/>
        </p:nvSpPr>
        <p:spPr bwMode="auto">
          <a:xfrm>
            <a:off x="37496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5" name="Line 136"/>
          <p:cNvSpPr>
            <a:spLocks noChangeShapeType="1"/>
          </p:cNvSpPr>
          <p:nvPr/>
        </p:nvSpPr>
        <p:spPr bwMode="auto">
          <a:xfrm>
            <a:off x="13874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6" name="Line 137"/>
          <p:cNvSpPr>
            <a:spLocks noChangeShapeType="1"/>
          </p:cNvSpPr>
          <p:nvPr/>
        </p:nvSpPr>
        <p:spPr bwMode="auto">
          <a:xfrm>
            <a:off x="16922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7" name="Line 138"/>
          <p:cNvSpPr>
            <a:spLocks noChangeShapeType="1"/>
          </p:cNvSpPr>
          <p:nvPr/>
        </p:nvSpPr>
        <p:spPr bwMode="auto">
          <a:xfrm>
            <a:off x="19208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8" name="Line 139"/>
          <p:cNvSpPr>
            <a:spLocks noChangeShapeType="1"/>
          </p:cNvSpPr>
          <p:nvPr/>
        </p:nvSpPr>
        <p:spPr bwMode="auto">
          <a:xfrm>
            <a:off x="2149475" y="29749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29" name="Line 140"/>
          <p:cNvSpPr>
            <a:spLocks noChangeShapeType="1"/>
          </p:cNvSpPr>
          <p:nvPr/>
        </p:nvSpPr>
        <p:spPr bwMode="auto">
          <a:xfrm>
            <a:off x="2378075" y="3051175"/>
            <a:ext cx="0" cy="1524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630" name="Group 2"/>
          <p:cNvGrpSpPr>
            <a:grpSpLocks/>
          </p:cNvGrpSpPr>
          <p:nvPr/>
        </p:nvGrpSpPr>
        <p:grpSpPr bwMode="auto">
          <a:xfrm>
            <a:off x="1066800" y="3235325"/>
            <a:ext cx="6019800" cy="1108075"/>
            <a:chOff x="1082675" y="3355975"/>
            <a:chExt cx="6019800" cy="228600"/>
          </a:xfrm>
        </p:grpSpPr>
        <p:sp>
          <p:nvSpPr>
            <p:cNvPr id="22648" name="Line 141"/>
            <p:cNvSpPr>
              <a:spLocks noChangeShapeType="1"/>
            </p:cNvSpPr>
            <p:nvPr/>
          </p:nvSpPr>
          <p:spPr bwMode="auto">
            <a:xfrm>
              <a:off x="1082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49" name="Line 142"/>
            <p:cNvSpPr>
              <a:spLocks noChangeShapeType="1"/>
            </p:cNvSpPr>
            <p:nvPr/>
          </p:nvSpPr>
          <p:spPr bwMode="auto">
            <a:xfrm>
              <a:off x="13874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0" name="Line 143"/>
            <p:cNvSpPr>
              <a:spLocks noChangeShapeType="1"/>
            </p:cNvSpPr>
            <p:nvPr/>
          </p:nvSpPr>
          <p:spPr bwMode="auto">
            <a:xfrm>
              <a:off x="1692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1" name="Line 144"/>
            <p:cNvSpPr>
              <a:spLocks noChangeShapeType="1"/>
            </p:cNvSpPr>
            <p:nvPr/>
          </p:nvSpPr>
          <p:spPr bwMode="auto">
            <a:xfrm>
              <a:off x="19208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2" name="Line 145"/>
            <p:cNvSpPr>
              <a:spLocks noChangeShapeType="1"/>
            </p:cNvSpPr>
            <p:nvPr/>
          </p:nvSpPr>
          <p:spPr bwMode="auto">
            <a:xfrm>
              <a:off x="21494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3" name="Line 146"/>
            <p:cNvSpPr>
              <a:spLocks noChangeShapeType="1"/>
            </p:cNvSpPr>
            <p:nvPr/>
          </p:nvSpPr>
          <p:spPr bwMode="auto">
            <a:xfrm>
              <a:off x="23780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4" name="Line 147"/>
            <p:cNvSpPr>
              <a:spLocks noChangeShapeType="1"/>
            </p:cNvSpPr>
            <p:nvPr/>
          </p:nvSpPr>
          <p:spPr bwMode="auto">
            <a:xfrm>
              <a:off x="2606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5" name="Line 148"/>
            <p:cNvSpPr>
              <a:spLocks noChangeShapeType="1"/>
            </p:cNvSpPr>
            <p:nvPr/>
          </p:nvSpPr>
          <p:spPr bwMode="auto">
            <a:xfrm>
              <a:off x="6797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6" name="Line 149"/>
            <p:cNvSpPr>
              <a:spLocks noChangeShapeType="1"/>
            </p:cNvSpPr>
            <p:nvPr/>
          </p:nvSpPr>
          <p:spPr bwMode="auto">
            <a:xfrm>
              <a:off x="71024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7" name="Line 151"/>
            <p:cNvSpPr>
              <a:spLocks noChangeShapeType="1"/>
            </p:cNvSpPr>
            <p:nvPr/>
          </p:nvSpPr>
          <p:spPr bwMode="auto">
            <a:xfrm>
              <a:off x="35210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8" name="Line 152"/>
            <p:cNvSpPr>
              <a:spLocks noChangeShapeType="1"/>
            </p:cNvSpPr>
            <p:nvPr/>
          </p:nvSpPr>
          <p:spPr bwMode="auto">
            <a:xfrm>
              <a:off x="32924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59" name="Line 153"/>
            <p:cNvSpPr>
              <a:spLocks noChangeShapeType="1"/>
            </p:cNvSpPr>
            <p:nvPr/>
          </p:nvSpPr>
          <p:spPr bwMode="auto">
            <a:xfrm>
              <a:off x="30638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0" name="Line 154"/>
            <p:cNvSpPr>
              <a:spLocks noChangeShapeType="1"/>
            </p:cNvSpPr>
            <p:nvPr/>
          </p:nvSpPr>
          <p:spPr bwMode="auto">
            <a:xfrm>
              <a:off x="2835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1" name="Line 155"/>
            <p:cNvSpPr>
              <a:spLocks noChangeShapeType="1"/>
            </p:cNvSpPr>
            <p:nvPr/>
          </p:nvSpPr>
          <p:spPr bwMode="auto">
            <a:xfrm>
              <a:off x="4359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2" name="Line 156"/>
            <p:cNvSpPr>
              <a:spLocks noChangeShapeType="1"/>
            </p:cNvSpPr>
            <p:nvPr/>
          </p:nvSpPr>
          <p:spPr bwMode="auto">
            <a:xfrm>
              <a:off x="4130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3" name="Line 157"/>
            <p:cNvSpPr>
              <a:spLocks noChangeShapeType="1"/>
            </p:cNvSpPr>
            <p:nvPr/>
          </p:nvSpPr>
          <p:spPr bwMode="auto">
            <a:xfrm>
              <a:off x="3978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4" name="Line 158"/>
            <p:cNvSpPr>
              <a:spLocks noChangeShapeType="1"/>
            </p:cNvSpPr>
            <p:nvPr/>
          </p:nvSpPr>
          <p:spPr bwMode="auto">
            <a:xfrm>
              <a:off x="3749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5" name="Line 159"/>
            <p:cNvSpPr>
              <a:spLocks noChangeShapeType="1"/>
            </p:cNvSpPr>
            <p:nvPr/>
          </p:nvSpPr>
          <p:spPr bwMode="auto">
            <a:xfrm>
              <a:off x="5502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6" name="Line 160"/>
            <p:cNvSpPr>
              <a:spLocks noChangeShapeType="1"/>
            </p:cNvSpPr>
            <p:nvPr/>
          </p:nvSpPr>
          <p:spPr bwMode="auto">
            <a:xfrm>
              <a:off x="5273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7" name="Line 161"/>
            <p:cNvSpPr>
              <a:spLocks noChangeShapeType="1"/>
            </p:cNvSpPr>
            <p:nvPr/>
          </p:nvSpPr>
          <p:spPr bwMode="auto">
            <a:xfrm>
              <a:off x="49688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8" name="Line 162"/>
            <p:cNvSpPr>
              <a:spLocks noChangeShapeType="1"/>
            </p:cNvSpPr>
            <p:nvPr/>
          </p:nvSpPr>
          <p:spPr bwMode="auto">
            <a:xfrm>
              <a:off x="47402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69" name="Line 163"/>
            <p:cNvSpPr>
              <a:spLocks noChangeShapeType="1"/>
            </p:cNvSpPr>
            <p:nvPr/>
          </p:nvSpPr>
          <p:spPr bwMode="auto">
            <a:xfrm>
              <a:off x="4511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70" name="Line 164"/>
            <p:cNvSpPr>
              <a:spLocks noChangeShapeType="1"/>
            </p:cNvSpPr>
            <p:nvPr/>
          </p:nvSpPr>
          <p:spPr bwMode="auto">
            <a:xfrm>
              <a:off x="57308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71" name="Line 165"/>
            <p:cNvSpPr>
              <a:spLocks noChangeShapeType="1"/>
            </p:cNvSpPr>
            <p:nvPr/>
          </p:nvSpPr>
          <p:spPr bwMode="auto">
            <a:xfrm>
              <a:off x="59594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72" name="Line 166"/>
            <p:cNvSpPr>
              <a:spLocks noChangeShapeType="1"/>
            </p:cNvSpPr>
            <p:nvPr/>
          </p:nvSpPr>
          <p:spPr bwMode="auto">
            <a:xfrm>
              <a:off x="61880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73" name="Line 167"/>
            <p:cNvSpPr>
              <a:spLocks noChangeShapeType="1"/>
            </p:cNvSpPr>
            <p:nvPr/>
          </p:nvSpPr>
          <p:spPr bwMode="auto">
            <a:xfrm>
              <a:off x="64166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74" name="Line 168"/>
            <p:cNvSpPr>
              <a:spLocks noChangeShapeType="1"/>
            </p:cNvSpPr>
            <p:nvPr/>
          </p:nvSpPr>
          <p:spPr bwMode="auto">
            <a:xfrm>
              <a:off x="6569075" y="3355975"/>
              <a:ext cx="0" cy="228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631" name="Line 176"/>
          <p:cNvSpPr>
            <a:spLocks noChangeShapeType="1"/>
          </p:cNvSpPr>
          <p:nvPr/>
        </p:nvSpPr>
        <p:spPr bwMode="auto">
          <a:xfrm>
            <a:off x="8229600" y="2898775"/>
            <a:ext cx="0" cy="4572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632" name="Group 3"/>
          <p:cNvGrpSpPr>
            <a:grpSpLocks/>
          </p:cNvGrpSpPr>
          <p:nvPr/>
        </p:nvGrpSpPr>
        <p:grpSpPr bwMode="auto">
          <a:xfrm>
            <a:off x="914400" y="4343400"/>
            <a:ext cx="6934200" cy="304800"/>
            <a:chOff x="854075" y="3584575"/>
            <a:chExt cx="6934200" cy="304800"/>
          </a:xfrm>
        </p:grpSpPr>
        <p:sp>
          <p:nvSpPr>
            <p:cNvPr id="22640" name="Text Box 169"/>
            <p:cNvSpPr txBox="1">
              <a:spLocks noChangeArrowheads="1"/>
            </p:cNvSpPr>
            <p:nvPr/>
          </p:nvSpPr>
          <p:spPr bwMode="auto">
            <a:xfrm>
              <a:off x="8540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1" name="Text Box 170"/>
            <p:cNvSpPr txBox="1">
              <a:spLocks noChangeArrowheads="1"/>
            </p:cNvSpPr>
            <p:nvPr/>
          </p:nvSpPr>
          <p:spPr bwMode="auto">
            <a:xfrm>
              <a:off x="11588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2" name="Text Box 171"/>
            <p:cNvSpPr txBox="1">
              <a:spLocks noChangeArrowheads="1"/>
            </p:cNvSpPr>
            <p:nvPr/>
          </p:nvSpPr>
          <p:spPr bwMode="auto">
            <a:xfrm>
              <a:off x="63404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3" name="Text Box 172"/>
            <p:cNvSpPr txBox="1">
              <a:spLocks noChangeArrowheads="1"/>
            </p:cNvSpPr>
            <p:nvPr/>
          </p:nvSpPr>
          <p:spPr bwMode="auto">
            <a:xfrm>
              <a:off x="14636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4" name="Text Box 173"/>
            <p:cNvSpPr txBox="1">
              <a:spLocks noChangeArrowheads="1"/>
            </p:cNvSpPr>
            <p:nvPr/>
          </p:nvSpPr>
          <p:spPr bwMode="auto">
            <a:xfrm>
              <a:off x="66452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5" name="Text Box 174"/>
            <p:cNvSpPr txBox="1">
              <a:spLocks noChangeArrowheads="1"/>
            </p:cNvSpPr>
            <p:nvPr/>
          </p:nvSpPr>
          <p:spPr bwMode="auto">
            <a:xfrm>
              <a:off x="69500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22646" name="Line 175"/>
            <p:cNvSpPr>
              <a:spLocks noChangeShapeType="1"/>
            </p:cNvSpPr>
            <p:nvPr/>
          </p:nvSpPr>
          <p:spPr bwMode="auto">
            <a:xfrm>
              <a:off x="2149475" y="3736975"/>
              <a:ext cx="4114800" cy="0"/>
            </a:xfrm>
            <a:prstGeom prst="line">
              <a:avLst/>
            </a:prstGeom>
            <a:noFill/>
            <a:ln w="9525">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47" name="Line 177"/>
            <p:cNvSpPr>
              <a:spLocks noChangeShapeType="1"/>
            </p:cNvSpPr>
            <p:nvPr/>
          </p:nvSpPr>
          <p:spPr bwMode="auto">
            <a:xfrm>
              <a:off x="7407275" y="3736975"/>
              <a:ext cx="3810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2634" name="Line 183"/>
          <p:cNvSpPr>
            <a:spLocks noChangeShapeType="1"/>
          </p:cNvSpPr>
          <p:nvPr/>
        </p:nvSpPr>
        <p:spPr bwMode="auto">
          <a:xfrm>
            <a:off x="7848600" y="4724400"/>
            <a:ext cx="1143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36" name="Line 176"/>
          <p:cNvSpPr>
            <a:spLocks noChangeShapeType="1"/>
          </p:cNvSpPr>
          <p:nvPr/>
        </p:nvSpPr>
        <p:spPr bwMode="auto">
          <a:xfrm>
            <a:off x="914400" y="2984500"/>
            <a:ext cx="0" cy="4572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37" name="Line 176"/>
          <p:cNvSpPr>
            <a:spLocks noChangeShapeType="1"/>
          </p:cNvSpPr>
          <p:nvPr/>
        </p:nvSpPr>
        <p:spPr bwMode="auto">
          <a:xfrm>
            <a:off x="304800" y="3024188"/>
            <a:ext cx="0" cy="4572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638" name="Text Box 86"/>
          <p:cNvSpPr txBox="1">
            <a:spLocks noChangeArrowheads="1"/>
          </p:cNvSpPr>
          <p:nvPr/>
        </p:nvSpPr>
        <p:spPr bwMode="auto">
          <a:xfrm>
            <a:off x="7902575" y="3352800"/>
            <a:ext cx="784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3</a:t>
            </a:r>
            <a:r>
              <a:rPr lang="en-US" sz="1800" baseline="30000" dirty="0"/>
              <a:t>i</a:t>
            </a:r>
            <a:r>
              <a:rPr lang="en-US" sz="1800" dirty="0"/>
              <a:t>cn/3</a:t>
            </a:r>
            <a:r>
              <a:rPr lang="en-US" sz="1800" baseline="30000" dirty="0"/>
              <a:t>i</a:t>
            </a:r>
          </a:p>
        </p:txBody>
      </p:sp>
      <p:sp>
        <p:nvSpPr>
          <p:cNvPr id="22639" name="Text Box 86"/>
          <p:cNvSpPr txBox="1">
            <a:spLocks noChangeArrowheads="1"/>
          </p:cNvSpPr>
          <p:nvPr/>
        </p:nvSpPr>
        <p:spPr bwMode="auto">
          <a:xfrm>
            <a:off x="7877175" y="4276725"/>
            <a:ext cx="823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a:t>3</a:t>
            </a:r>
            <a:r>
              <a:rPr lang="en-US" sz="1800" baseline="30000"/>
              <a:t>h </a:t>
            </a:r>
            <a:r>
              <a:rPr lang="en-US" sz="1800"/>
              <a:t>T(1)</a:t>
            </a:r>
            <a:endParaRPr lang="en-US" sz="1800" baseline="30000"/>
          </a:p>
        </p:txBody>
      </p:sp>
      <p:sp>
        <p:nvSpPr>
          <p:cNvPr id="135" name="Rectangle 134"/>
          <p:cNvSpPr/>
          <p:nvPr/>
        </p:nvSpPr>
        <p:spPr>
          <a:xfrm>
            <a:off x="7848600" y="990600"/>
            <a:ext cx="914400" cy="36576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36" name="Text Box 83"/>
          <p:cNvSpPr txBox="1">
            <a:spLocks noChangeArrowheads="1"/>
          </p:cNvSpPr>
          <p:nvPr/>
        </p:nvSpPr>
        <p:spPr bwMode="auto">
          <a:xfrm>
            <a:off x="7543800" y="545068"/>
            <a:ext cx="15270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t>Cost per level</a:t>
            </a:r>
            <a:endParaRPr lang="en-US" sz="1800" b="1" baseline="30000" dirty="0"/>
          </a:p>
        </p:txBody>
      </p:sp>
      <p:sp>
        <p:nvSpPr>
          <p:cNvPr id="138" name="Text Box 182"/>
          <p:cNvSpPr txBox="1">
            <a:spLocks noChangeArrowheads="1"/>
          </p:cNvSpPr>
          <p:nvPr/>
        </p:nvSpPr>
        <p:spPr bwMode="auto">
          <a:xfrm>
            <a:off x="7769855" y="4857690"/>
            <a:ext cx="12217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000" dirty="0"/>
              <a:t>Total T(n)</a:t>
            </a:r>
          </a:p>
        </p:txBody>
      </p:sp>
      <p:graphicFrame>
        <p:nvGraphicFramePr>
          <p:cNvPr id="31748" name="Object 4"/>
          <p:cNvGraphicFramePr>
            <a:graphicFrameLocks noChangeAspect="1"/>
          </p:cNvGraphicFramePr>
          <p:nvPr/>
        </p:nvGraphicFramePr>
        <p:xfrm>
          <a:off x="2438400" y="5334000"/>
          <a:ext cx="1752600" cy="1116239"/>
        </p:xfrm>
        <a:graphic>
          <a:graphicData uri="http://schemas.openxmlformats.org/presentationml/2006/ole">
            <mc:AlternateContent xmlns:mc="http://schemas.openxmlformats.org/markup-compatibility/2006">
              <mc:Choice xmlns:v="urn:schemas-microsoft-com:vml" Requires="v">
                <p:oleObj name="Equation" r:id="rId2" imgW="660240" imgH="431640" progId="Equation.3">
                  <p:embed/>
                </p:oleObj>
              </mc:Choice>
              <mc:Fallback>
                <p:oleObj name="Equation" r:id="rId2" imgW="660240" imgH="43164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5334000"/>
                        <a:ext cx="1752600" cy="1116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 name="Straight Arrow Connector 3"/>
          <p:cNvCxnSpPr>
            <a:endCxn id="22639" idx="2"/>
          </p:cNvCxnSpPr>
          <p:nvPr/>
        </p:nvCxnSpPr>
        <p:spPr>
          <a:xfrm flipV="1">
            <a:off x="7877175" y="4646613"/>
            <a:ext cx="411957" cy="1373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TextBox 139"/>
          <p:cNvSpPr txBox="1"/>
          <p:nvPr/>
        </p:nvSpPr>
        <p:spPr>
          <a:xfrm>
            <a:off x="6683240" y="6031468"/>
            <a:ext cx="2286908" cy="369332"/>
          </a:xfrm>
          <a:prstGeom prst="rect">
            <a:avLst/>
          </a:prstGeom>
          <a:noFill/>
          <a:ln>
            <a:solidFill>
              <a:srgbClr val="00B0F0"/>
            </a:solidFill>
          </a:ln>
        </p:spPr>
        <p:txBody>
          <a:bodyPr wrap="none" rtlCol="0">
            <a:spAutoFit/>
          </a:bodyPr>
          <a:lstStyle/>
          <a:p>
            <a:r>
              <a:rPr lang="en-US" b="1" dirty="0"/>
              <a:t>Note: T(1)= T(n/3</a:t>
            </a:r>
            <a:r>
              <a:rPr lang="en-US" b="1" baseline="30000" dirty="0"/>
              <a:t>h</a:t>
            </a:r>
            <a:r>
              <a:rPr lang="en-US" b="1" dirty="0"/>
              <a:t>)</a:t>
            </a:r>
          </a:p>
        </p:txBody>
      </p:sp>
    </p:spTree>
    <p:extLst>
      <p:ext uri="{BB962C8B-B14F-4D97-AF65-F5344CB8AC3E}">
        <p14:creationId xmlns:p14="http://schemas.microsoft.com/office/powerpoint/2010/main" val="78842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6" name="Slide Number Placeholder 3"/>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3675BA8-85EC-4099-B2EA-04CD5BC94AC2}" type="slidenum">
              <a:rPr lang="en-US" sz="1400" smtClean="0">
                <a:solidFill>
                  <a:srgbClr val="FFFFFF"/>
                </a:solidFill>
              </a:rPr>
              <a:pPr eaLnBrk="1" hangingPunct="1"/>
              <a:t>18</a:t>
            </a:fld>
            <a:endParaRPr lang="en-US" sz="1400">
              <a:solidFill>
                <a:srgbClr val="FFFFFF"/>
              </a:solidFill>
            </a:endParaRPr>
          </a:p>
        </p:txBody>
      </p:sp>
      <mc:AlternateContent xmlns:mc="http://schemas.openxmlformats.org/markup-compatibility/2006" xmlns:a14="http://schemas.microsoft.com/office/drawing/2010/main">
        <mc:Choice Requires="a14">
          <p:sp>
            <p:nvSpPr>
              <p:cNvPr id="2" name="TextBox 1"/>
              <p:cNvSpPr txBox="1"/>
              <p:nvPr/>
            </p:nvSpPr>
            <p:spPr>
              <a:xfrm>
                <a:off x="457200" y="685800"/>
                <a:ext cx="8153400" cy="5445978"/>
              </a:xfrm>
              <a:prstGeom prst="rect">
                <a:avLst/>
              </a:prstGeom>
              <a:noFill/>
            </p:spPr>
            <p:txBody>
              <a:bodyPr wrap="square" rtlCol="0">
                <a:spAutoFit/>
              </a:bodyPr>
              <a:lstStyle/>
              <a:p>
                <a:r>
                  <a:rPr lang="en-US" sz="2400" dirty="0">
                    <a:latin typeface="Segoe"/>
                  </a:rPr>
                  <a:t>Size of problem at leaves :</a:t>
                </a:r>
              </a:p>
              <a:p>
                <a:endParaRPr lang="en-US" sz="2400" dirty="0">
                  <a:latin typeface="Segoe"/>
                </a:endParaRPr>
              </a:p>
              <a:p>
                <a:r>
                  <a:rPr lang="en-US" sz="2400" dirty="0">
                    <a:latin typeface="Segoe"/>
                  </a:rPr>
                  <a:t>n/3</a:t>
                </a:r>
                <a:r>
                  <a:rPr lang="en-US" sz="2400" baseline="30000" dirty="0">
                    <a:latin typeface="Segoe"/>
                  </a:rPr>
                  <a:t>h </a:t>
                </a:r>
                <a:r>
                  <a:rPr lang="en-US" sz="2400" dirty="0">
                    <a:latin typeface="Segoe"/>
                  </a:rPr>
                  <a:t> = 1  → 3</a:t>
                </a:r>
                <a:r>
                  <a:rPr lang="en-US" sz="2400" baseline="30000" dirty="0">
                    <a:latin typeface="Segoe"/>
                  </a:rPr>
                  <a:t>h </a:t>
                </a:r>
                <a:r>
                  <a:rPr lang="en-US" sz="2400" dirty="0">
                    <a:latin typeface="Segoe"/>
                  </a:rPr>
                  <a:t> = n →  h =  log</a:t>
                </a:r>
                <a:r>
                  <a:rPr lang="en-US" sz="2400" baseline="-25000" dirty="0">
                    <a:latin typeface="Segoe"/>
                  </a:rPr>
                  <a:t>3</a:t>
                </a:r>
                <a:r>
                  <a:rPr lang="en-US" sz="2400" dirty="0">
                    <a:latin typeface="Segoe"/>
                  </a:rPr>
                  <a:t>n</a:t>
                </a:r>
              </a:p>
              <a:p>
                <a:endParaRPr lang="en-US" sz="2400" baseline="30000" dirty="0">
                  <a:latin typeface="Segoe"/>
                </a:endParaRPr>
              </a:p>
              <a:p>
                <a:r>
                  <a:rPr lang="en-US" sz="2400" dirty="0">
                    <a:latin typeface="Segoe"/>
                  </a:rPr>
                  <a:t>T(n) = 3</a:t>
                </a:r>
                <a:r>
                  <a:rPr lang="en-US" sz="2400" baseline="30000" dirty="0">
                    <a:latin typeface="Segoe"/>
                  </a:rPr>
                  <a:t>h </a:t>
                </a:r>
                <a:r>
                  <a:rPr lang="en-US" sz="2400" dirty="0">
                    <a:latin typeface="Segoe"/>
                  </a:rPr>
                  <a:t> * T(1) + </a:t>
                </a:r>
                <a14:m>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m:t>
                        </m:r>
                        <m:r>
                          <a:rPr lang="en-US" sz="2400" b="0" i="1" smtClean="0">
                            <a:latin typeface="Cambria Math"/>
                          </a:rPr>
                          <m:t>0</m:t>
                        </m:r>
                      </m:sub>
                      <m:sup>
                        <m:r>
                          <a:rPr lang="en-US" sz="2400" b="0" i="1" smtClean="0">
                            <a:latin typeface="Cambria Math"/>
                          </a:rPr>
                          <m:t>h</m:t>
                        </m:r>
                        <m:r>
                          <a:rPr lang="en-US" sz="2400" b="0" i="1" smtClean="0">
                            <a:latin typeface="Cambria Math"/>
                          </a:rPr>
                          <m:t>−</m:t>
                        </m:r>
                        <m:r>
                          <a:rPr lang="en-US" sz="2400" b="0" i="1" smtClean="0">
                            <a:latin typeface="Cambria Math"/>
                          </a:rPr>
                          <m:t>1</m:t>
                        </m:r>
                      </m:sup>
                      <m:e>
                        <m:r>
                          <a:rPr lang="en-US" sz="2400" b="0" i="1" smtClean="0">
                            <a:latin typeface="Cambria Math"/>
                          </a:rPr>
                          <m:t>𝑐𝑛</m:t>
                        </m:r>
                      </m:e>
                    </m:nary>
                  </m:oMath>
                </a14:m>
                <a:endParaRPr lang="en-US" sz="2400" baseline="30000" dirty="0">
                  <a:latin typeface="Segoe"/>
                </a:endParaRPr>
              </a:p>
              <a:p>
                <a:endParaRPr lang="en-US" sz="2400" baseline="30000" dirty="0">
                  <a:latin typeface="Segoe"/>
                </a:endParaRPr>
              </a:p>
              <a:p>
                <a:r>
                  <a:rPr lang="en-US" sz="2400" dirty="0">
                    <a:latin typeface="Segoe"/>
                  </a:rPr>
                  <a:t>T(n</a:t>
                </a:r>
                <a:r>
                  <a:rPr lang="en-US" sz="2400" baseline="30000" dirty="0">
                    <a:latin typeface="Segoe"/>
                  </a:rPr>
                  <a:t>)</a:t>
                </a:r>
                <a:r>
                  <a:rPr lang="en-US" sz="2400" dirty="0">
                    <a:latin typeface="Segoe"/>
                  </a:rPr>
                  <a:t> = 3</a:t>
                </a:r>
                <a:r>
                  <a:rPr lang="en-US" sz="2400" baseline="30000" dirty="0">
                    <a:latin typeface="Segoe"/>
                  </a:rPr>
                  <a:t>log</a:t>
                </a:r>
                <a:r>
                  <a:rPr lang="en-US" sz="2400" baseline="-2000" dirty="0">
                    <a:latin typeface="Segoe"/>
                  </a:rPr>
                  <a:t>3</a:t>
                </a:r>
                <a:r>
                  <a:rPr lang="en-US" sz="2400" baseline="30000" dirty="0">
                    <a:latin typeface="Segoe"/>
                  </a:rPr>
                  <a:t>n </a:t>
                </a:r>
                <a:r>
                  <a:rPr lang="en-US" sz="2400" dirty="0">
                    <a:latin typeface="Segoe"/>
                  </a:rPr>
                  <a:t> * T(1) +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a:rPr>
                          <m:t>𝑖</m:t>
                        </m:r>
                        <m:r>
                          <a:rPr lang="en-US" sz="2400" i="1">
                            <a:latin typeface="Cambria Math"/>
                          </a:rPr>
                          <m:t>=</m:t>
                        </m:r>
                        <m:r>
                          <a:rPr lang="en-US" sz="2400" i="1">
                            <a:latin typeface="Cambria Math"/>
                          </a:rPr>
                          <m:t>0</m:t>
                        </m:r>
                      </m:sub>
                      <m:sup>
                        <m:r>
                          <a:rPr lang="en-US" sz="2400" i="1">
                            <a:latin typeface="Cambria Math"/>
                          </a:rPr>
                          <m:t>h</m:t>
                        </m:r>
                        <m:r>
                          <a:rPr lang="en-US" sz="2400" i="1">
                            <a:latin typeface="Cambria Math"/>
                          </a:rPr>
                          <m:t>−</m:t>
                        </m:r>
                        <m:r>
                          <a:rPr lang="en-US" sz="2400" i="1">
                            <a:latin typeface="Cambria Math"/>
                          </a:rPr>
                          <m:t>1</m:t>
                        </m:r>
                      </m:sup>
                      <m:e>
                        <m:r>
                          <a:rPr lang="en-US" sz="2400" i="1">
                            <a:latin typeface="Cambria Math"/>
                          </a:rPr>
                          <m:t>𝑐𝑛</m:t>
                        </m:r>
                      </m:e>
                    </m:nary>
                  </m:oMath>
                </a14:m>
                <a:endParaRPr lang="en-US" sz="2400" baseline="30000" dirty="0">
                  <a:latin typeface="Segoe"/>
                </a:endParaRPr>
              </a:p>
              <a:p>
                <a:endParaRPr lang="en-US" sz="2400" baseline="30000" dirty="0">
                  <a:latin typeface="Segoe"/>
                </a:endParaRPr>
              </a:p>
              <a:p>
                <a:r>
                  <a:rPr lang="en-US" sz="2400" dirty="0">
                    <a:latin typeface="Segoe"/>
                  </a:rPr>
                  <a:t>T(n) = n T(1) + </a:t>
                </a:r>
                <a:r>
                  <a:rPr lang="en-US" sz="2400" dirty="0" err="1">
                    <a:latin typeface="Segoe"/>
                  </a:rPr>
                  <a:t>cn</a:t>
                </a:r>
                <a:r>
                  <a:rPr lang="en-US" sz="2400" dirty="0">
                    <a:latin typeface="Segoe"/>
                  </a:rPr>
                  <a:t>. h</a:t>
                </a:r>
              </a:p>
              <a:p>
                <a:endParaRPr lang="en-US" sz="2400" dirty="0">
                  <a:latin typeface="Segoe"/>
                </a:endParaRPr>
              </a:p>
              <a:p>
                <a:r>
                  <a:rPr lang="en-US" sz="2400" dirty="0">
                    <a:latin typeface="Segoe"/>
                  </a:rPr>
                  <a:t>T(n) = n T(1) + </a:t>
                </a:r>
                <a:r>
                  <a:rPr lang="en-US" sz="2400" dirty="0" err="1">
                    <a:latin typeface="Segoe"/>
                  </a:rPr>
                  <a:t>cn</a:t>
                </a:r>
                <a:r>
                  <a:rPr lang="en-US" sz="2400" dirty="0">
                    <a:latin typeface="Segoe"/>
                  </a:rPr>
                  <a:t> . log</a:t>
                </a:r>
                <a:r>
                  <a:rPr lang="en-US" sz="2400" baseline="-25000" dirty="0">
                    <a:latin typeface="Segoe"/>
                  </a:rPr>
                  <a:t>3</a:t>
                </a:r>
                <a:r>
                  <a:rPr lang="en-US" sz="2400" dirty="0">
                    <a:latin typeface="Segoe"/>
                  </a:rPr>
                  <a:t> n</a:t>
                </a:r>
              </a:p>
              <a:p>
                <a:endParaRPr lang="en-US" sz="2400" dirty="0">
                  <a:latin typeface="Segoe"/>
                </a:endParaRPr>
              </a:p>
              <a:p>
                <a:r>
                  <a:rPr lang="en-US" sz="2400" dirty="0">
                    <a:latin typeface="Segoe"/>
                  </a:rPr>
                  <a:t>T(n) = </a:t>
                </a:r>
                <a:r>
                  <a:rPr lang="el-GR" sz="2400" dirty="0"/>
                  <a:t>θ</a:t>
                </a:r>
                <a:r>
                  <a:rPr lang="en-US" sz="2400" dirty="0">
                    <a:latin typeface="Segoe"/>
                  </a:rPr>
                  <a:t>(n log n)</a:t>
                </a:r>
              </a:p>
              <a:p>
                <a:endParaRPr lang="en-US" sz="2400" baseline="30000" dirty="0">
                  <a:latin typeface="Segoe"/>
                </a:endParaRPr>
              </a:p>
              <a:p>
                <a:endParaRPr lang="en-US" sz="2400" baseline="30000" dirty="0">
                  <a:latin typeface="Segoe"/>
                </a:endParaRPr>
              </a:p>
              <a:p>
                <a:endParaRPr lang="en-US" sz="2400" dirty="0">
                  <a:latin typeface="Segoe"/>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57200" y="685800"/>
                <a:ext cx="8153400" cy="5445978"/>
              </a:xfrm>
              <a:prstGeom prst="rect">
                <a:avLst/>
              </a:prstGeom>
              <a:blipFill>
                <a:blip r:embed="rId2"/>
                <a:stretch>
                  <a:fillRect l="-1121" t="-784"/>
                </a:stretch>
              </a:blipFill>
            </p:spPr>
            <p:txBody>
              <a:bodyPr/>
              <a:lstStyle/>
              <a:p>
                <a:r>
                  <a:rPr lang="en-US">
                    <a:noFill/>
                  </a:rPr>
                  <a:t> </a:t>
                </a:r>
              </a:p>
            </p:txBody>
          </p:sp>
        </mc:Fallback>
      </mc:AlternateContent>
      <p:sp>
        <p:nvSpPr>
          <p:cNvPr id="4" name="Rectangle 3"/>
          <p:cNvSpPr/>
          <p:nvPr/>
        </p:nvSpPr>
        <p:spPr>
          <a:xfrm>
            <a:off x="457200" y="2057400"/>
            <a:ext cx="3962400" cy="487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497587" y="1447800"/>
            <a:ext cx="1622560" cy="369332"/>
          </a:xfrm>
          <a:prstGeom prst="rect">
            <a:avLst/>
          </a:prstGeom>
          <a:noFill/>
          <a:ln>
            <a:solidFill>
              <a:srgbClr val="00B0F0"/>
            </a:solidFill>
          </a:ln>
        </p:spPr>
        <p:txBody>
          <a:bodyPr wrap="none" rtlCol="0">
            <a:spAutoFit/>
          </a:bodyPr>
          <a:lstStyle/>
          <a:p>
            <a:r>
              <a:rPr lang="en-US" b="1" dirty="0"/>
              <a:t>T(1)= T(n/3</a:t>
            </a:r>
            <a:r>
              <a:rPr lang="en-US" b="1" baseline="30000" dirty="0"/>
              <a:t>h</a:t>
            </a:r>
            <a:r>
              <a:rPr lang="en-US" b="1" dirty="0"/>
              <a:t>)</a:t>
            </a:r>
          </a:p>
        </p:txBody>
      </p:sp>
    </p:spTree>
    <p:extLst>
      <p:ext uri="{BB962C8B-B14F-4D97-AF65-F5344CB8AC3E}">
        <p14:creationId xmlns:p14="http://schemas.microsoft.com/office/powerpoint/2010/main" val="3369342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3"/>
            <a:ext cx="7467600" cy="655637"/>
          </a:xfrm>
        </p:spPr>
        <p:txBody>
          <a:bodyPr/>
          <a:lstStyle/>
          <a:p>
            <a:pPr>
              <a:defRPr/>
            </a:pPr>
            <a:r>
              <a:rPr lang="en-US" sz="2800" dirty="0">
                <a:solidFill>
                  <a:srgbClr val="FF0000"/>
                </a:solidFill>
              </a:rPr>
              <a:t>Recursion Tree for </a:t>
            </a:r>
            <a:r>
              <a:rPr lang="en-US" sz="2800" i="1" dirty="0">
                <a:solidFill>
                  <a:srgbClr val="0070C0"/>
                </a:solidFill>
              </a:rPr>
              <a:t>T</a:t>
            </a:r>
            <a:r>
              <a:rPr lang="en-US" sz="2800" dirty="0">
                <a:solidFill>
                  <a:srgbClr val="0070C0"/>
                </a:solidFill>
              </a:rPr>
              <a:t>(</a:t>
            </a:r>
            <a:r>
              <a:rPr lang="en-US" sz="2800" i="1" dirty="0">
                <a:solidFill>
                  <a:srgbClr val="0070C0"/>
                </a:solidFill>
              </a:rPr>
              <a:t>n</a:t>
            </a:r>
            <a:r>
              <a:rPr lang="en-US" sz="2800" dirty="0">
                <a:solidFill>
                  <a:srgbClr val="0070C0"/>
                </a:solidFill>
              </a:rPr>
              <a:t>)=4</a:t>
            </a:r>
            <a:r>
              <a:rPr lang="en-US" sz="2800" i="1" dirty="0">
                <a:solidFill>
                  <a:srgbClr val="0070C0"/>
                </a:solidFill>
              </a:rPr>
              <a:t>T</a:t>
            </a:r>
            <a:r>
              <a:rPr lang="en-US" sz="2800" dirty="0">
                <a:solidFill>
                  <a:srgbClr val="0070C0"/>
                </a:solidFill>
              </a:rPr>
              <a:t>(</a:t>
            </a:r>
            <a:r>
              <a:rPr lang="en-US" sz="2800" i="1" dirty="0">
                <a:solidFill>
                  <a:srgbClr val="0070C0"/>
                </a:solidFill>
              </a:rPr>
              <a:t>n </a:t>
            </a:r>
            <a:r>
              <a:rPr lang="en-US" sz="2800" dirty="0">
                <a:solidFill>
                  <a:srgbClr val="0070C0"/>
                </a:solidFill>
              </a:rPr>
              <a:t>/2)+</a:t>
            </a:r>
            <a:r>
              <a:rPr lang="en-US" sz="2800" dirty="0">
                <a:solidFill>
                  <a:srgbClr val="0070C0"/>
                </a:solidFill>
                <a:sym typeface="Symbol" pitchFamily="18" charset="2"/>
              </a:rPr>
              <a:t></a:t>
            </a:r>
            <a:r>
              <a:rPr lang="en-US" sz="2800" dirty="0">
                <a:solidFill>
                  <a:srgbClr val="0070C0"/>
                </a:solidFill>
              </a:rPr>
              <a:t>(</a:t>
            </a:r>
            <a:r>
              <a:rPr lang="en-US" sz="2800" i="1" dirty="0">
                <a:solidFill>
                  <a:srgbClr val="0070C0"/>
                </a:solidFill>
              </a:rPr>
              <a:t>n</a:t>
            </a:r>
            <a:r>
              <a:rPr lang="en-US" sz="2800" dirty="0">
                <a:solidFill>
                  <a:srgbClr val="0070C0"/>
                </a:solidFill>
              </a:rPr>
              <a:t>)</a:t>
            </a:r>
          </a:p>
        </p:txBody>
      </p:sp>
      <p:sp>
        <p:nvSpPr>
          <p:cNvPr id="21520" name="Text Box 15"/>
          <p:cNvSpPr txBox="1">
            <a:spLocks noChangeArrowheads="1"/>
          </p:cNvSpPr>
          <p:nvPr/>
        </p:nvSpPr>
        <p:spPr bwMode="auto">
          <a:xfrm>
            <a:off x="3884613" y="3048000"/>
            <a:ext cx="474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i="1" dirty="0" err="1"/>
              <a:t>cn</a:t>
            </a:r>
            <a:endParaRPr lang="en-US" baseline="30000" dirty="0"/>
          </a:p>
        </p:txBody>
      </p:sp>
      <p:sp>
        <p:nvSpPr>
          <p:cNvPr id="21533" name="Line 38"/>
          <p:cNvSpPr>
            <a:spLocks noChangeShapeType="1"/>
          </p:cNvSpPr>
          <p:nvPr/>
        </p:nvSpPr>
        <p:spPr bwMode="auto">
          <a:xfrm flipH="1">
            <a:off x="1511449" y="3429000"/>
            <a:ext cx="2539556"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4" name="Line 39"/>
          <p:cNvSpPr>
            <a:spLocks noChangeShapeType="1"/>
          </p:cNvSpPr>
          <p:nvPr/>
        </p:nvSpPr>
        <p:spPr bwMode="auto">
          <a:xfrm>
            <a:off x="4149790" y="3509962"/>
            <a:ext cx="1457845" cy="6810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5" name="Line 40"/>
          <p:cNvSpPr>
            <a:spLocks noChangeShapeType="1"/>
          </p:cNvSpPr>
          <p:nvPr/>
        </p:nvSpPr>
        <p:spPr bwMode="auto">
          <a:xfrm>
            <a:off x="4149790" y="3429000"/>
            <a:ext cx="3736864"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508" name="Group 176"/>
          <p:cNvGrpSpPr>
            <a:grpSpLocks/>
          </p:cNvGrpSpPr>
          <p:nvPr/>
        </p:nvGrpSpPr>
        <p:grpSpPr bwMode="auto">
          <a:xfrm>
            <a:off x="838200" y="1066800"/>
            <a:ext cx="2908266" cy="1055451"/>
            <a:chOff x="244475" y="949325"/>
            <a:chExt cx="2908137" cy="1054961"/>
          </a:xfrm>
        </p:grpSpPr>
        <p:sp>
          <p:nvSpPr>
            <p:cNvPr id="21510" name="Text Box 4"/>
            <p:cNvSpPr txBox="1">
              <a:spLocks noChangeArrowheads="1"/>
            </p:cNvSpPr>
            <p:nvPr/>
          </p:nvSpPr>
          <p:spPr bwMode="auto">
            <a:xfrm>
              <a:off x="244475" y="949325"/>
              <a:ext cx="86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i="1"/>
                <a:t>T</a:t>
              </a:r>
              <a:r>
                <a:rPr lang="en-US"/>
                <a:t>(</a:t>
              </a:r>
              <a:r>
                <a:rPr lang="en-US" i="1"/>
                <a:t>n</a:t>
              </a:r>
              <a:r>
                <a:rPr lang="en-US"/>
                <a:t>)</a:t>
              </a:r>
            </a:p>
          </p:txBody>
        </p:sp>
        <p:sp>
          <p:nvSpPr>
            <p:cNvPr id="21512" name="Text Box 6"/>
            <p:cNvSpPr txBox="1">
              <a:spLocks noChangeArrowheads="1"/>
            </p:cNvSpPr>
            <p:nvPr/>
          </p:nvSpPr>
          <p:spPr bwMode="auto">
            <a:xfrm>
              <a:off x="1768475" y="949325"/>
              <a:ext cx="4748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i="1"/>
                <a:t>cn</a:t>
              </a:r>
              <a:endParaRPr lang="en-US" baseline="30000"/>
            </a:p>
          </p:txBody>
        </p:sp>
        <p:sp>
          <p:nvSpPr>
            <p:cNvPr id="21513" name="Text Box 7"/>
            <p:cNvSpPr txBox="1">
              <a:spLocks noChangeArrowheads="1"/>
            </p:cNvSpPr>
            <p:nvPr/>
          </p:nvSpPr>
          <p:spPr bwMode="auto">
            <a:xfrm>
              <a:off x="1158875" y="1631950"/>
              <a:ext cx="774537" cy="369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T</a:t>
              </a:r>
              <a:r>
                <a:rPr lang="en-US" sz="1800" dirty="0"/>
                <a:t>(</a:t>
              </a:r>
              <a:r>
                <a:rPr lang="en-US" sz="1800" i="1" dirty="0"/>
                <a:t>n</a:t>
              </a:r>
              <a:r>
                <a:rPr lang="en-US" sz="1800" dirty="0"/>
                <a:t>/2)</a:t>
              </a:r>
            </a:p>
          </p:txBody>
        </p:sp>
        <p:sp>
          <p:nvSpPr>
            <p:cNvPr id="21514" name="Text Box 8"/>
            <p:cNvSpPr txBox="1">
              <a:spLocks noChangeArrowheads="1"/>
            </p:cNvSpPr>
            <p:nvPr/>
          </p:nvSpPr>
          <p:spPr bwMode="auto">
            <a:xfrm>
              <a:off x="1768475" y="1635125"/>
              <a:ext cx="774537" cy="369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T</a:t>
              </a:r>
              <a:r>
                <a:rPr lang="en-US" sz="1800" dirty="0"/>
                <a:t>(</a:t>
              </a:r>
              <a:r>
                <a:rPr lang="en-US" sz="1800" i="1" dirty="0"/>
                <a:t>n</a:t>
              </a:r>
              <a:r>
                <a:rPr lang="en-US" sz="1800" dirty="0"/>
                <a:t>/2)</a:t>
              </a:r>
            </a:p>
          </p:txBody>
        </p:sp>
        <p:sp>
          <p:nvSpPr>
            <p:cNvPr id="21515" name="Text Box 9"/>
            <p:cNvSpPr txBox="1">
              <a:spLocks noChangeArrowheads="1"/>
            </p:cNvSpPr>
            <p:nvPr/>
          </p:nvSpPr>
          <p:spPr bwMode="auto">
            <a:xfrm>
              <a:off x="2378075" y="1635125"/>
              <a:ext cx="774537" cy="369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T</a:t>
              </a:r>
              <a:r>
                <a:rPr lang="en-US" sz="1800" dirty="0"/>
                <a:t>(</a:t>
              </a:r>
              <a:r>
                <a:rPr lang="en-US" sz="1800" i="1" dirty="0"/>
                <a:t>n</a:t>
              </a:r>
              <a:r>
                <a:rPr lang="en-US" sz="1800" dirty="0"/>
                <a:t>/2)</a:t>
              </a:r>
            </a:p>
          </p:txBody>
        </p:sp>
        <p:sp>
          <p:nvSpPr>
            <p:cNvPr id="21516" name="Line 11"/>
            <p:cNvSpPr>
              <a:spLocks noChangeShapeType="1"/>
            </p:cNvSpPr>
            <p:nvPr/>
          </p:nvSpPr>
          <p:spPr bwMode="auto">
            <a:xfrm flipH="1">
              <a:off x="1616075" y="1330325"/>
              <a:ext cx="304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7" name="Line 12"/>
            <p:cNvSpPr>
              <a:spLocks noChangeShapeType="1"/>
            </p:cNvSpPr>
            <p:nvPr/>
          </p:nvSpPr>
          <p:spPr bwMode="auto">
            <a:xfrm>
              <a:off x="2073275" y="1330325"/>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Line 13"/>
            <p:cNvSpPr>
              <a:spLocks noChangeShapeType="1"/>
            </p:cNvSpPr>
            <p:nvPr/>
          </p:nvSpPr>
          <p:spPr bwMode="auto">
            <a:xfrm>
              <a:off x="2225675" y="1254125"/>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175" name="Straight Arrow Connector 174"/>
            <p:cNvCxnSpPr/>
            <p:nvPr/>
          </p:nvCxnSpPr>
          <p:spPr>
            <a:xfrm flipV="1">
              <a:off x="947707" y="1179406"/>
              <a:ext cx="881023" cy="15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1509" name="TextBox 177"/>
          <p:cNvSpPr txBox="1">
            <a:spLocks noChangeArrowheads="1"/>
          </p:cNvSpPr>
          <p:nvPr/>
        </p:nvSpPr>
        <p:spPr bwMode="auto">
          <a:xfrm>
            <a:off x="5065713" y="1447800"/>
            <a:ext cx="364234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2800" dirty="0"/>
              <a:t>T(n) = 4T(n/2) + </a:t>
            </a:r>
            <a:r>
              <a:rPr lang="en-US" sz="2800" dirty="0" err="1"/>
              <a:t>cn</a:t>
            </a:r>
            <a:endParaRPr lang="en-US" sz="2800" dirty="0"/>
          </a:p>
          <a:p>
            <a:pPr eaLnBrk="1" hangingPunct="1"/>
            <a:r>
              <a:rPr lang="en-US" sz="2800" dirty="0"/>
              <a:t>T(n/2) = 4T(n/4)+c(n/2)</a:t>
            </a:r>
          </a:p>
          <a:p>
            <a:pPr eaLnBrk="1" hangingPunct="1"/>
            <a:r>
              <a:rPr lang="en-US" sz="2800" dirty="0"/>
              <a:t>T(n/4) =4T(n/8)+c(n/4)</a:t>
            </a:r>
          </a:p>
        </p:txBody>
      </p:sp>
      <p:sp>
        <p:nvSpPr>
          <p:cNvPr id="42" name="Text Box 7"/>
          <p:cNvSpPr txBox="1">
            <a:spLocks noChangeArrowheads="1"/>
          </p:cNvSpPr>
          <p:nvPr/>
        </p:nvSpPr>
        <p:spPr bwMode="auto">
          <a:xfrm>
            <a:off x="1143000" y="1749565"/>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T</a:t>
            </a:r>
            <a:r>
              <a:rPr lang="en-US" sz="1800" dirty="0"/>
              <a:t>(</a:t>
            </a:r>
            <a:r>
              <a:rPr lang="en-US" sz="1800" i="1" dirty="0"/>
              <a:t>n</a:t>
            </a:r>
            <a:r>
              <a:rPr lang="en-US" sz="1800" dirty="0"/>
              <a:t>/2)</a:t>
            </a:r>
          </a:p>
        </p:txBody>
      </p:sp>
      <p:sp>
        <p:nvSpPr>
          <p:cNvPr id="43" name="Line 11"/>
          <p:cNvSpPr>
            <a:spLocks noChangeShapeType="1"/>
          </p:cNvSpPr>
          <p:nvPr/>
        </p:nvSpPr>
        <p:spPr bwMode="auto">
          <a:xfrm flipH="1">
            <a:off x="1511449" y="1371742"/>
            <a:ext cx="957114" cy="4572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2"/>
          <p:cNvGrpSpPr/>
          <p:nvPr/>
        </p:nvGrpSpPr>
        <p:grpSpPr>
          <a:xfrm>
            <a:off x="43570" y="4191000"/>
            <a:ext cx="2394830" cy="1145977"/>
            <a:chOff x="381000" y="4191000"/>
            <a:chExt cx="2776537" cy="1145977"/>
          </a:xfrm>
        </p:grpSpPr>
        <p:sp>
          <p:nvSpPr>
            <p:cNvPr id="21521" name="Text Box 17"/>
            <p:cNvSpPr txBox="1">
              <a:spLocks noChangeArrowheads="1"/>
            </p:cNvSpPr>
            <p:nvPr/>
          </p:nvSpPr>
          <p:spPr bwMode="auto">
            <a:xfrm>
              <a:off x="1403350" y="4191000"/>
              <a:ext cx="736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c</a:t>
              </a:r>
              <a:r>
                <a:rPr lang="en-US" sz="1800" dirty="0"/>
                <a:t>(</a:t>
              </a:r>
              <a:r>
                <a:rPr lang="en-US" sz="1800" i="1" dirty="0"/>
                <a:t>n</a:t>
              </a:r>
              <a:r>
                <a:rPr lang="en-US" sz="1800" dirty="0"/>
                <a:t>/2)</a:t>
              </a:r>
              <a:endParaRPr lang="en-US" sz="1800" baseline="30000" dirty="0"/>
            </a:p>
          </p:txBody>
        </p:sp>
        <p:sp>
          <p:nvSpPr>
            <p:cNvPr id="21527" name="Text Box 32"/>
            <p:cNvSpPr txBox="1">
              <a:spLocks noChangeArrowheads="1"/>
            </p:cNvSpPr>
            <p:nvPr/>
          </p:nvSpPr>
          <p:spPr bwMode="auto">
            <a:xfrm>
              <a:off x="178435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21528" name="Text Box 33"/>
            <p:cNvSpPr txBox="1">
              <a:spLocks noChangeArrowheads="1"/>
            </p:cNvSpPr>
            <p:nvPr/>
          </p:nvSpPr>
          <p:spPr bwMode="auto">
            <a:xfrm>
              <a:off x="1098550" y="5029200"/>
              <a:ext cx="64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21529" name="Text Box 34"/>
            <p:cNvSpPr txBox="1">
              <a:spLocks noChangeArrowheads="1"/>
            </p:cNvSpPr>
            <p:nvPr/>
          </p:nvSpPr>
          <p:spPr bwMode="auto">
            <a:xfrm>
              <a:off x="381000" y="5029200"/>
              <a:ext cx="8239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21536"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7"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8"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Text Box 32"/>
            <p:cNvSpPr txBox="1">
              <a:spLocks noChangeArrowheads="1"/>
            </p:cNvSpPr>
            <p:nvPr/>
          </p:nvSpPr>
          <p:spPr bwMode="auto">
            <a:xfrm>
              <a:off x="236220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52"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4" name="Group 83"/>
          <p:cNvGrpSpPr/>
          <p:nvPr/>
        </p:nvGrpSpPr>
        <p:grpSpPr>
          <a:xfrm>
            <a:off x="2253369" y="4191000"/>
            <a:ext cx="2394830" cy="1145977"/>
            <a:chOff x="381000" y="4191000"/>
            <a:chExt cx="2776537" cy="1145977"/>
          </a:xfrm>
        </p:grpSpPr>
        <p:sp>
          <p:nvSpPr>
            <p:cNvPr id="85" name="Text Box 17"/>
            <p:cNvSpPr txBox="1">
              <a:spLocks noChangeArrowheads="1"/>
            </p:cNvSpPr>
            <p:nvPr/>
          </p:nvSpPr>
          <p:spPr bwMode="auto">
            <a:xfrm>
              <a:off x="1403350" y="4191000"/>
              <a:ext cx="736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c</a:t>
              </a:r>
              <a:r>
                <a:rPr lang="en-US" sz="1800" dirty="0"/>
                <a:t>(</a:t>
              </a:r>
              <a:r>
                <a:rPr lang="en-US" sz="1800" i="1" dirty="0"/>
                <a:t>n</a:t>
              </a:r>
              <a:r>
                <a:rPr lang="en-US" sz="1800" dirty="0"/>
                <a:t>/2)</a:t>
              </a:r>
              <a:endParaRPr lang="en-US" sz="1800" baseline="30000" dirty="0"/>
            </a:p>
          </p:txBody>
        </p:sp>
        <p:sp>
          <p:nvSpPr>
            <p:cNvPr id="86" name="Text Box 32"/>
            <p:cNvSpPr txBox="1">
              <a:spLocks noChangeArrowheads="1"/>
            </p:cNvSpPr>
            <p:nvPr/>
          </p:nvSpPr>
          <p:spPr bwMode="auto">
            <a:xfrm>
              <a:off x="178435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87" name="Text Box 33"/>
            <p:cNvSpPr txBox="1">
              <a:spLocks noChangeArrowheads="1"/>
            </p:cNvSpPr>
            <p:nvPr/>
          </p:nvSpPr>
          <p:spPr bwMode="auto">
            <a:xfrm>
              <a:off x="1098550" y="5029200"/>
              <a:ext cx="64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88" name="Text Box 34"/>
            <p:cNvSpPr txBox="1">
              <a:spLocks noChangeArrowheads="1"/>
            </p:cNvSpPr>
            <p:nvPr/>
          </p:nvSpPr>
          <p:spPr bwMode="auto">
            <a:xfrm>
              <a:off x="381000" y="5029200"/>
              <a:ext cx="8239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89"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Text Box 32"/>
            <p:cNvSpPr txBox="1">
              <a:spLocks noChangeArrowheads="1"/>
            </p:cNvSpPr>
            <p:nvPr/>
          </p:nvSpPr>
          <p:spPr bwMode="auto">
            <a:xfrm>
              <a:off x="236220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93"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4" name="Group 93"/>
          <p:cNvGrpSpPr/>
          <p:nvPr/>
        </p:nvGrpSpPr>
        <p:grpSpPr>
          <a:xfrm>
            <a:off x="4495799" y="4191000"/>
            <a:ext cx="2394830" cy="1145977"/>
            <a:chOff x="381000" y="4191000"/>
            <a:chExt cx="2776537" cy="1145977"/>
          </a:xfrm>
        </p:grpSpPr>
        <p:sp>
          <p:nvSpPr>
            <p:cNvPr id="95" name="Text Box 17"/>
            <p:cNvSpPr txBox="1">
              <a:spLocks noChangeArrowheads="1"/>
            </p:cNvSpPr>
            <p:nvPr/>
          </p:nvSpPr>
          <p:spPr bwMode="auto">
            <a:xfrm>
              <a:off x="1403350" y="4191000"/>
              <a:ext cx="736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c</a:t>
              </a:r>
              <a:r>
                <a:rPr lang="en-US" sz="1800" dirty="0"/>
                <a:t>(</a:t>
              </a:r>
              <a:r>
                <a:rPr lang="en-US" sz="1800" i="1" dirty="0"/>
                <a:t>n</a:t>
              </a:r>
              <a:r>
                <a:rPr lang="en-US" sz="1800" dirty="0"/>
                <a:t>/2)</a:t>
              </a:r>
              <a:endParaRPr lang="en-US" sz="1800" baseline="30000" dirty="0"/>
            </a:p>
          </p:txBody>
        </p:sp>
        <p:sp>
          <p:nvSpPr>
            <p:cNvPr id="96" name="Text Box 32"/>
            <p:cNvSpPr txBox="1">
              <a:spLocks noChangeArrowheads="1"/>
            </p:cNvSpPr>
            <p:nvPr/>
          </p:nvSpPr>
          <p:spPr bwMode="auto">
            <a:xfrm>
              <a:off x="178435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97" name="Text Box 33"/>
            <p:cNvSpPr txBox="1">
              <a:spLocks noChangeArrowheads="1"/>
            </p:cNvSpPr>
            <p:nvPr/>
          </p:nvSpPr>
          <p:spPr bwMode="auto">
            <a:xfrm>
              <a:off x="1098550" y="5029200"/>
              <a:ext cx="64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98" name="Text Box 34"/>
            <p:cNvSpPr txBox="1">
              <a:spLocks noChangeArrowheads="1"/>
            </p:cNvSpPr>
            <p:nvPr/>
          </p:nvSpPr>
          <p:spPr bwMode="auto">
            <a:xfrm>
              <a:off x="381000" y="5029200"/>
              <a:ext cx="8239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99"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Text Box 32"/>
            <p:cNvSpPr txBox="1">
              <a:spLocks noChangeArrowheads="1"/>
            </p:cNvSpPr>
            <p:nvPr/>
          </p:nvSpPr>
          <p:spPr bwMode="auto">
            <a:xfrm>
              <a:off x="236220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103"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 name="Group 103"/>
          <p:cNvGrpSpPr/>
          <p:nvPr/>
        </p:nvGrpSpPr>
        <p:grpSpPr>
          <a:xfrm>
            <a:off x="6676231" y="4188023"/>
            <a:ext cx="2394830" cy="1145977"/>
            <a:chOff x="381000" y="4191000"/>
            <a:chExt cx="2776537" cy="1145977"/>
          </a:xfrm>
        </p:grpSpPr>
        <p:sp>
          <p:nvSpPr>
            <p:cNvPr id="105" name="Text Box 17"/>
            <p:cNvSpPr txBox="1">
              <a:spLocks noChangeArrowheads="1"/>
            </p:cNvSpPr>
            <p:nvPr/>
          </p:nvSpPr>
          <p:spPr bwMode="auto">
            <a:xfrm>
              <a:off x="1403350" y="4191000"/>
              <a:ext cx="736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a:t>c</a:t>
              </a:r>
              <a:r>
                <a:rPr lang="en-US" sz="1800" dirty="0"/>
                <a:t>(</a:t>
              </a:r>
              <a:r>
                <a:rPr lang="en-US" sz="1800" i="1" dirty="0"/>
                <a:t>n</a:t>
              </a:r>
              <a:r>
                <a:rPr lang="en-US" sz="1800" dirty="0"/>
                <a:t>/2)</a:t>
              </a:r>
              <a:endParaRPr lang="en-US" sz="1800" baseline="30000" dirty="0"/>
            </a:p>
          </p:txBody>
        </p:sp>
        <p:sp>
          <p:nvSpPr>
            <p:cNvPr id="106" name="Text Box 32"/>
            <p:cNvSpPr txBox="1">
              <a:spLocks noChangeArrowheads="1"/>
            </p:cNvSpPr>
            <p:nvPr/>
          </p:nvSpPr>
          <p:spPr bwMode="auto">
            <a:xfrm>
              <a:off x="178435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107" name="Text Box 33"/>
            <p:cNvSpPr txBox="1">
              <a:spLocks noChangeArrowheads="1"/>
            </p:cNvSpPr>
            <p:nvPr/>
          </p:nvSpPr>
          <p:spPr bwMode="auto">
            <a:xfrm>
              <a:off x="1098550" y="5029200"/>
              <a:ext cx="64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108" name="Text Box 34"/>
            <p:cNvSpPr txBox="1">
              <a:spLocks noChangeArrowheads="1"/>
            </p:cNvSpPr>
            <p:nvPr/>
          </p:nvSpPr>
          <p:spPr bwMode="auto">
            <a:xfrm>
              <a:off x="381000" y="5029200"/>
              <a:ext cx="8239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109"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Text Box 32"/>
            <p:cNvSpPr txBox="1">
              <a:spLocks noChangeArrowheads="1"/>
            </p:cNvSpPr>
            <p:nvPr/>
          </p:nvSpPr>
          <p:spPr bwMode="auto">
            <a:xfrm>
              <a:off x="2362200" y="5029200"/>
              <a:ext cx="795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T</a:t>
              </a:r>
              <a:r>
                <a:rPr lang="en-US" sz="1400" dirty="0"/>
                <a:t>(</a:t>
              </a:r>
              <a:r>
                <a:rPr lang="en-US" sz="1400" i="1" dirty="0"/>
                <a:t>n</a:t>
              </a:r>
              <a:r>
                <a:rPr lang="en-US" sz="1400" dirty="0"/>
                <a:t>/4)</a:t>
              </a:r>
            </a:p>
          </p:txBody>
        </p:sp>
        <p:sp>
          <p:nvSpPr>
            <p:cNvPr id="113"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4" name="Line 39"/>
          <p:cNvSpPr>
            <a:spLocks noChangeShapeType="1"/>
          </p:cNvSpPr>
          <p:nvPr/>
        </p:nvSpPr>
        <p:spPr bwMode="auto">
          <a:xfrm flipH="1">
            <a:off x="3463792" y="3496108"/>
            <a:ext cx="590031"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30671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9" name="Group 48"/>
          <p:cNvGrpSpPr/>
          <p:nvPr/>
        </p:nvGrpSpPr>
        <p:grpSpPr>
          <a:xfrm>
            <a:off x="638938" y="228601"/>
            <a:ext cx="7514462" cy="2836398"/>
            <a:chOff x="43570" y="3048000"/>
            <a:chExt cx="9027491" cy="2182499"/>
          </a:xfrm>
        </p:grpSpPr>
        <p:sp>
          <p:nvSpPr>
            <p:cNvPr id="4" name="Text Box 15"/>
            <p:cNvSpPr txBox="1">
              <a:spLocks noChangeArrowheads="1"/>
            </p:cNvSpPr>
            <p:nvPr/>
          </p:nvSpPr>
          <p:spPr bwMode="auto">
            <a:xfrm>
              <a:off x="3884613" y="3048000"/>
              <a:ext cx="483752" cy="2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err="1"/>
                <a:t>cn</a:t>
              </a:r>
              <a:endParaRPr lang="en-US" sz="1800" baseline="30000" dirty="0"/>
            </a:p>
          </p:txBody>
        </p:sp>
        <p:sp>
          <p:nvSpPr>
            <p:cNvPr id="5" name="Line 38"/>
            <p:cNvSpPr>
              <a:spLocks noChangeShapeType="1"/>
            </p:cNvSpPr>
            <p:nvPr/>
          </p:nvSpPr>
          <p:spPr bwMode="auto">
            <a:xfrm flipH="1">
              <a:off x="1511449" y="3429000"/>
              <a:ext cx="2539556"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6" name="Line 39"/>
            <p:cNvSpPr>
              <a:spLocks noChangeShapeType="1"/>
            </p:cNvSpPr>
            <p:nvPr/>
          </p:nvSpPr>
          <p:spPr bwMode="auto">
            <a:xfrm>
              <a:off x="4149790" y="3509962"/>
              <a:ext cx="1457845" cy="6810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7" name="Line 40"/>
            <p:cNvSpPr>
              <a:spLocks noChangeShapeType="1"/>
            </p:cNvSpPr>
            <p:nvPr/>
          </p:nvSpPr>
          <p:spPr bwMode="auto">
            <a:xfrm>
              <a:off x="4149790" y="3429000"/>
              <a:ext cx="3736864"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nvGrpSpPr>
            <p:cNvPr id="8" name="Group 7"/>
            <p:cNvGrpSpPr/>
            <p:nvPr/>
          </p:nvGrpSpPr>
          <p:grpSpPr>
            <a:xfrm>
              <a:off x="43570" y="4191000"/>
              <a:ext cx="2394830" cy="1039499"/>
              <a:chOff x="381000" y="4191000"/>
              <a:chExt cx="2776537" cy="1039499"/>
            </a:xfrm>
          </p:grpSpPr>
          <p:sp>
            <p:nvSpPr>
              <p:cNvPr id="9" name="Text Box 17"/>
              <p:cNvSpPr txBox="1">
                <a:spLocks noChangeArrowheads="1"/>
              </p:cNvSpPr>
              <p:nvPr/>
            </p:nvSpPr>
            <p:spPr bwMode="auto">
              <a:xfrm>
                <a:off x="1403351" y="4191000"/>
                <a:ext cx="853342" cy="23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c</a:t>
                </a:r>
                <a:r>
                  <a:rPr lang="en-US" sz="1400" dirty="0"/>
                  <a:t>(</a:t>
                </a:r>
                <a:r>
                  <a:rPr lang="en-US" sz="1400" i="1" dirty="0"/>
                  <a:t>n</a:t>
                </a:r>
                <a:r>
                  <a:rPr lang="en-US" sz="1400" dirty="0"/>
                  <a:t>/2)</a:t>
                </a:r>
                <a:endParaRPr lang="en-US" sz="1400" baseline="30000" dirty="0"/>
              </a:p>
            </p:txBody>
          </p:sp>
          <p:sp>
            <p:nvSpPr>
              <p:cNvPr id="10" name="Text Box 32"/>
              <p:cNvSpPr txBox="1">
                <a:spLocks noChangeArrowheads="1"/>
              </p:cNvSpPr>
              <p:nvPr/>
            </p:nvSpPr>
            <p:spPr bwMode="auto">
              <a:xfrm>
                <a:off x="178434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11" name="Text Box 33"/>
              <p:cNvSpPr txBox="1">
                <a:spLocks noChangeArrowheads="1"/>
              </p:cNvSpPr>
              <p:nvPr/>
            </p:nvSpPr>
            <p:spPr bwMode="auto">
              <a:xfrm>
                <a:off x="1098549" y="5029200"/>
                <a:ext cx="768499"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dirty="0"/>
                  <a:t>C(</a:t>
                </a:r>
                <a:r>
                  <a:rPr lang="en-US" sz="1100" i="1" dirty="0"/>
                  <a:t>n</a:t>
                </a:r>
                <a:r>
                  <a:rPr lang="en-US" sz="1100" dirty="0"/>
                  <a:t>/4)</a:t>
                </a:r>
              </a:p>
            </p:txBody>
          </p:sp>
          <p:sp>
            <p:nvSpPr>
              <p:cNvPr id="12" name="Text Box 34"/>
              <p:cNvSpPr txBox="1">
                <a:spLocks noChangeArrowheads="1"/>
              </p:cNvSpPr>
              <p:nvPr/>
            </p:nvSpPr>
            <p:spPr bwMode="auto">
              <a:xfrm>
                <a:off x="381000" y="5029200"/>
                <a:ext cx="823911"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13"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14"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15"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16" name="Text Box 32"/>
              <p:cNvSpPr txBox="1">
                <a:spLocks noChangeArrowheads="1"/>
              </p:cNvSpPr>
              <p:nvPr/>
            </p:nvSpPr>
            <p:spPr bwMode="auto">
              <a:xfrm>
                <a:off x="236219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17"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grpSp>
          <p:nvGrpSpPr>
            <p:cNvPr id="18" name="Group 17"/>
            <p:cNvGrpSpPr/>
            <p:nvPr/>
          </p:nvGrpSpPr>
          <p:grpSpPr>
            <a:xfrm>
              <a:off x="2253369" y="4191000"/>
              <a:ext cx="2394830" cy="1039499"/>
              <a:chOff x="381000" y="4191000"/>
              <a:chExt cx="2776537" cy="1039499"/>
            </a:xfrm>
          </p:grpSpPr>
          <p:sp>
            <p:nvSpPr>
              <p:cNvPr id="19" name="Text Box 17"/>
              <p:cNvSpPr txBox="1">
                <a:spLocks noChangeArrowheads="1"/>
              </p:cNvSpPr>
              <p:nvPr/>
            </p:nvSpPr>
            <p:spPr bwMode="auto">
              <a:xfrm>
                <a:off x="1403351" y="4191000"/>
                <a:ext cx="853342" cy="23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c</a:t>
                </a:r>
                <a:r>
                  <a:rPr lang="en-US" sz="1400" dirty="0"/>
                  <a:t>(</a:t>
                </a:r>
                <a:r>
                  <a:rPr lang="en-US" sz="1400" i="1" dirty="0"/>
                  <a:t>n</a:t>
                </a:r>
                <a:r>
                  <a:rPr lang="en-US" sz="1400" dirty="0"/>
                  <a:t>/2)</a:t>
                </a:r>
                <a:endParaRPr lang="en-US" sz="1400" baseline="30000" dirty="0"/>
              </a:p>
            </p:txBody>
          </p:sp>
          <p:sp>
            <p:nvSpPr>
              <p:cNvPr id="20" name="Text Box 32"/>
              <p:cNvSpPr txBox="1">
                <a:spLocks noChangeArrowheads="1"/>
              </p:cNvSpPr>
              <p:nvPr/>
            </p:nvSpPr>
            <p:spPr bwMode="auto">
              <a:xfrm>
                <a:off x="178434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21" name="Text Box 33"/>
              <p:cNvSpPr txBox="1">
                <a:spLocks noChangeArrowheads="1"/>
              </p:cNvSpPr>
              <p:nvPr/>
            </p:nvSpPr>
            <p:spPr bwMode="auto">
              <a:xfrm>
                <a:off x="1098549" y="5029200"/>
                <a:ext cx="768499"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22" name="Text Box 34"/>
              <p:cNvSpPr txBox="1">
                <a:spLocks noChangeArrowheads="1"/>
              </p:cNvSpPr>
              <p:nvPr/>
            </p:nvSpPr>
            <p:spPr bwMode="auto">
              <a:xfrm>
                <a:off x="381000" y="5029200"/>
                <a:ext cx="823911"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23"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24"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25"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26" name="Text Box 32"/>
              <p:cNvSpPr txBox="1">
                <a:spLocks noChangeArrowheads="1"/>
              </p:cNvSpPr>
              <p:nvPr/>
            </p:nvSpPr>
            <p:spPr bwMode="auto">
              <a:xfrm>
                <a:off x="236219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27"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grpSp>
          <p:nvGrpSpPr>
            <p:cNvPr id="28" name="Group 27"/>
            <p:cNvGrpSpPr/>
            <p:nvPr/>
          </p:nvGrpSpPr>
          <p:grpSpPr>
            <a:xfrm>
              <a:off x="4495799" y="4191000"/>
              <a:ext cx="2394830" cy="1039499"/>
              <a:chOff x="381000" y="4191000"/>
              <a:chExt cx="2776537" cy="1039499"/>
            </a:xfrm>
          </p:grpSpPr>
          <p:sp>
            <p:nvSpPr>
              <p:cNvPr id="29" name="Text Box 17"/>
              <p:cNvSpPr txBox="1">
                <a:spLocks noChangeArrowheads="1"/>
              </p:cNvSpPr>
              <p:nvPr/>
            </p:nvSpPr>
            <p:spPr bwMode="auto">
              <a:xfrm>
                <a:off x="1403351" y="4191000"/>
                <a:ext cx="853342" cy="23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c</a:t>
                </a:r>
                <a:r>
                  <a:rPr lang="en-US" sz="1400" dirty="0"/>
                  <a:t>(</a:t>
                </a:r>
                <a:r>
                  <a:rPr lang="en-US" sz="1400" i="1" dirty="0"/>
                  <a:t>n</a:t>
                </a:r>
                <a:r>
                  <a:rPr lang="en-US" sz="1400" dirty="0"/>
                  <a:t>/2)</a:t>
                </a:r>
                <a:endParaRPr lang="en-US" sz="1400" baseline="30000" dirty="0"/>
              </a:p>
            </p:txBody>
          </p:sp>
          <p:sp>
            <p:nvSpPr>
              <p:cNvPr id="30" name="Text Box 32"/>
              <p:cNvSpPr txBox="1">
                <a:spLocks noChangeArrowheads="1"/>
              </p:cNvSpPr>
              <p:nvPr/>
            </p:nvSpPr>
            <p:spPr bwMode="auto">
              <a:xfrm>
                <a:off x="178434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31" name="Text Box 33"/>
              <p:cNvSpPr txBox="1">
                <a:spLocks noChangeArrowheads="1"/>
              </p:cNvSpPr>
              <p:nvPr/>
            </p:nvSpPr>
            <p:spPr bwMode="auto">
              <a:xfrm>
                <a:off x="1098549" y="5029200"/>
                <a:ext cx="768499"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32" name="Text Box 34"/>
              <p:cNvSpPr txBox="1">
                <a:spLocks noChangeArrowheads="1"/>
              </p:cNvSpPr>
              <p:nvPr/>
            </p:nvSpPr>
            <p:spPr bwMode="auto">
              <a:xfrm>
                <a:off x="381000" y="5029200"/>
                <a:ext cx="823911"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33"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34"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35"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36" name="Text Box 32"/>
              <p:cNvSpPr txBox="1">
                <a:spLocks noChangeArrowheads="1"/>
              </p:cNvSpPr>
              <p:nvPr/>
            </p:nvSpPr>
            <p:spPr bwMode="auto">
              <a:xfrm>
                <a:off x="236219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37"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grpSp>
          <p:nvGrpSpPr>
            <p:cNvPr id="38" name="Group 37"/>
            <p:cNvGrpSpPr/>
            <p:nvPr/>
          </p:nvGrpSpPr>
          <p:grpSpPr>
            <a:xfrm>
              <a:off x="6676231" y="4188023"/>
              <a:ext cx="2394830" cy="1039499"/>
              <a:chOff x="381000" y="4191000"/>
              <a:chExt cx="2776537" cy="1039499"/>
            </a:xfrm>
          </p:grpSpPr>
          <p:sp>
            <p:nvSpPr>
              <p:cNvPr id="39" name="Text Box 17"/>
              <p:cNvSpPr txBox="1">
                <a:spLocks noChangeArrowheads="1"/>
              </p:cNvSpPr>
              <p:nvPr/>
            </p:nvSpPr>
            <p:spPr bwMode="auto">
              <a:xfrm>
                <a:off x="1403351" y="4191000"/>
                <a:ext cx="853342" cy="23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dirty="0"/>
                  <a:t>c</a:t>
                </a:r>
                <a:r>
                  <a:rPr lang="en-US" sz="1400" dirty="0"/>
                  <a:t>(</a:t>
                </a:r>
                <a:r>
                  <a:rPr lang="en-US" sz="1400" i="1" dirty="0"/>
                  <a:t>n</a:t>
                </a:r>
                <a:r>
                  <a:rPr lang="en-US" sz="1400" dirty="0"/>
                  <a:t>/2)</a:t>
                </a:r>
                <a:endParaRPr lang="en-US" sz="1400" baseline="30000" dirty="0"/>
              </a:p>
            </p:txBody>
          </p:sp>
          <p:sp>
            <p:nvSpPr>
              <p:cNvPr id="40" name="Text Box 32"/>
              <p:cNvSpPr txBox="1">
                <a:spLocks noChangeArrowheads="1"/>
              </p:cNvSpPr>
              <p:nvPr/>
            </p:nvSpPr>
            <p:spPr bwMode="auto">
              <a:xfrm>
                <a:off x="178434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41" name="Text Box 33"/>
              <p:cNvSpPr txBox="1">
                <a:spLocks noChangeArrowheads="1"/>
              </p:cNvSpPr>
              <p:nvPr/>
            </p:nvSpPr>
            <p:spPr bwMode="auto">
              <a:xfrm>
                <a:off x="1098549" y="5029200"/>
                <a:ext cx="768499"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42" name="Text Box 34"/>
              <p:cNvSpPr txBox="1">
                <a:spLocks noChangeArrowheads="1"/>
              </p:cNvSpPr>
              <p:nvPr/>
            </p:nvSpPr>
            <p:spPr bwMode="auto">
              <a:xfrm>
                <a:off x="381000" y="5029200"/>
                <a:ext cx="823911"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43" name="Line 41"/>
              <p:cNvSpPr>
                <a:spLocks noChangeShapeType="1"/>
              </p:cNvSpPr>
              <p:nvPr/>
            </p:nvSpPr>
            <p:spPr bwMode="auto">
              <a:xfrm flipH="1">
                <a:off x="946150" y="44958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44" name="Line 42"/>
              <p:cNvSpPr>
                <a:spLocks noChangeShapeType="1"/>
              </p:cNvSpPr>
              <p:nvPr/>
            </p:nvSpPr>
            <p:spPr bwMode="auto">
              <a:xfrm flipH="1">
                <a:off x="1631950" y="44958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45" name="Line 43"/>
              <p:cNvSpPr>
                <a:spLocks noChangeShapeType="1"/>
              </p:cNvSpPr>
              <p:nvPr/>
            </p:nvSpPr>
            <p:spPr bwMode="auto">
              <a:xfrm>
                <a:off x="1771650" y="4495800"/>
                <a:ext cx="3937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sp>
            <p:nvSpPr>
              <p:cNvPr id="46" name="Text Box 32"/>
              <p:cNvSpPr txBox="1">
                <a:spLocks noChangeArrowheads="1"/>
              </p:cNvSpPr>
              <p:nvPr/>
            </p:nvSpPr>
            <p:spPr bwMode="auto">
              <a:xfrm>
                <a:off x="2362199" y="5029200"/>
                <a:ext cx="795338" cy="20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100" i="1" dirty="0"/>
                  <a:t>C</a:t>
                </a:r>
                <a:r>
                  <a:rPr lang="en-US" sz="1100" dirty="0"/>
                  <a:t>(</a:t>
                </a:r>
                <a:r>
                  <a:rPr lang="en-US" sz="1100" i="1" dirty="0"/>
                  <a:t>n</a:t>
                </a:r>
                <a:r>
                  <a:rPr lang="en-US" sz="1100" dirty="0"/>
                  <a:t>/4)</a:t>
                </a:r>
              </a:p>
            </p:txBody>
          </p:sp>
          <p:sp>
            <p:nvSpPr>
              <p:cNvPr id="47" name="Line 43"/>
              <p:cNvSpPr>
                <a:spLocks noChangeShapeType="1"/>
              </p:cNvSpPr>
              <p:nvPr/>
            </p:nvSpPr>
            <p:spPr bwMode="auto">
              <a:xfrm>
                <a:off x="1917571" y="4495800"/>
                <a:ext cx="825629"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sp>
          <p:nvSpPr>
            <p:cNvPr id="48" name="Line 39"/>
            <p:cNvSpPr>
              <a:spLocks noChangeShapeType="1"/>
            </p:cNvSpPr>
            <p:nvPr/>
          </p:nvSpPr>
          <p:spPr bwMode="auto">
            <a:xfrm flipH="1">
              <a:off x="3463792" y="3496108"/>
              <a:ext cx="590031"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p>
          </p:txBody>
        </p:sp>
      </p:grpSp>
      <p:grpSp>
        <p:nvGrpSpPr>
          <p:cNvPr id="129" name="Group 128"/>
          <p:cNvGrpSpPr/>
          <p:nvPr/>
        </p:nvGrpSpPr>
        <p:grpSpPr>
          <a:xfrm>
            <a:off x="762000" y="3124200"/>
            <a:ext cx="7162800" cy="1108075"/>
            <a:chOff x="990600" y="3124200"/>
            <a:chExt cx="7162800" cy="1108075"/>
          </a:xfrm>
        </p:grpSpPr>
        <p:sp>
          <p:nvSpPr>
            <p:cNvPr id="54" name="Line 141"/>
            <p:cNvSpPr>
              <a:spLocks noChangeShapeType="1"/>
            </p:cNvSpPr>
            <p:nvPr/>
          </p:nvSpPr>
          <p:spPr bwMode="auto">
            <a:xfrm>
              <a:off x="2209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42"/>
            <p:cNvSpPr>
              <a:spLocks noChangeShapeType="1"/>
            </p:cNvSpPr>
            <p:nvPr/>
          </p:nvSpPr>
          <p:spPr bwMode="auto">
            <a:xfrm>
              <a:off x="2514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43"/>
            <p:cNvSpPr>
              <a:spLocks noChangeShapeType="1"/>
            </p:cNvSpPr>
            <p:nvPr/>
          </p:nvSpPr>
          <p:spPr bwMode="auto">
            <a:xfrm>
              <a:off x="2819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44"/>
            <p:cNvSpPr>
              <a:spLocks noChangeShapeType="1"/>
            </p:cNvSpPr>
            <p:nvPr/>
          </p:nvSpPr>
          <p:spPr bwMode="auto">
            <a:xfrm>
              <a:off x="2971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145"/>
            <p:cNvSpPr>
              <a:spLocks noChangeShapeType="1"/>
            </p:cNvSpPr>
            <p:nvPr/>
          </p:nvSpPr>
          <p:spPr bwMode="auto">
            <a:xfrm>
              <a:off x="3200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146"/>
            <p:cNvSpPr>
              <a:spLocks noChangeShapeType="1"/>
            </p:cNvSpPr>
            <p:nvPr/>
          </p:nvSpPr>
          <p:spPr bwMode="auto">
            <a:xfrm>
              <a:off x="34290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147"/>
            <p:cNvSpPr>
              <a:spLocks noChangeShapeType="1"/>
            </p:cNvSpPr>
            <p:nvPr/>
          </p:nvSpPr>
          <p:spPr bwMode="auto">
            <a:xfrm>
              <a:off x="3657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148"/>
            <p:cNvSpPr>
              <a:spLocks noChangeShapeType="1"/>
            </p:cNvSpPr>
            <p:nvPr/>
          </p:nvSpPr>
          <p:spPr bwMode="auto">
            <a:xfrm>
              <a:off x="7848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49"/>
            <p:cNvSpPr>
              <a:spLocks noChangeShapeType="1"/>
            </p:cNvSpPr>
            <p:nvPr/>
          </p:nvSpPr>
          <p:spPr bwMode="auto">
            <a:xfrm>
              <a:off x="8153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51"/>
            <p:cNvSpPr>
              <a:spLocks noChangeShapeType="1"/>
            </p:cNvSpPr>
            <p:nvPr/>
          </p:nvSpPr>
          <p:spPr bwMode="auto">
            <a:xfrm>
              <a:off x="45720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52"/>
            <p:cNvSpPr>
              <a:spLocks noChangeShapeType="1"/>
            </p:cNvSpPr>
            <p:nvPr/>
          </p:nvSpPr>
          <p:spPr bwMode="auto">
            <a:xfrm>
              <a:off x="4343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153"/>
            <p:cNvSpPr>
              <a:spLocks noChangeShapeType="1"/>
            </p:cNvSpPr>
            <p:nvPr/>
          </p:nvSpPr>
          <p:spPr bwMode="auto">
            <a:xfrm>
              <a:off x="4114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54"/>
            <p:cNvSpPr>
              <a:spLocks noChangeShapeType="1"/>
            </p:cNvSpPr>
            <p:nvPr/>
          </p:nvSpPr>
          <p:spPr bwMode="auto">
            <a:xfrm>
              <a:off x="3886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55"/>
            <p:cNvSpPr>
              <a:spLocks noChangeShapeType="1"/>
            </p:cNvSpPr>
            <p:nvPr/>
          </p:nvSpPr>
          <p:spPr bwMode="auto">
            <a:xfrm>
              <a:off x="5410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56"/>
            <p:cNvSpPr>
              <a:spLocks noChangeShapeType="1"/>
            </p:cNvSpPr>
            <p:nvPr/>
          </p:nvSpPr>
          <p:spPr bwMode="auto">
            <a:xfrm>
              <a:off x="5181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57"/>
            <p:cNvSpPr>
              <a:spLocks noChangeShapeType="1"/>
            </p:cNvSpPr>
            <p:nvPr/>
          </p:nvSpPr>
          <p:spPr bwMode="auto">
            <a:xfrm>
              <a:off x="5029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58"/>
            <p:cNvSpPr>
              <a:spLocks noChangeShapeType="1"/>
            </p:cNvSpPr>
            <p:nvPr/>
          </p:nvSpPr>
          <p:spPr bwMode="auto">
            <a:xfrm>
              <a:off x="4800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59"/>
            <p:cNvSpPr>
              <a:spLocks noChangeShapeType="1"/>
            </p:cNvSpPr>
            <p:nvPr/>
          </p:nvSpPr>
          <p:spPr bwMode="auto">
            <a:xfrm>
              <a:off x="6553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160"/>
            <p:cNvSpPr>
              <a:spLocks noChangeShapeType="1"/>
            </p:cNvSpPr>
            <p:nvPr/>
          </p:nvSpPr>
          <p:spPr bwMode="auto">
            <a:xfrm>
              <a:off x="6324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161"/>
            <p:cNvSpPr>
              <a:spLocks noChangeShapeType="1"/>
            </p:cNvSpPr>
            <p:nvPr/>
          </p:nvSpPr>
          <p:spPr bwMode="auto">
            <a:xfrm>
              <a:off x="6019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162"/>
            <p:cNvSpPr>
              <a:spLocks noChangeShapeType="1"/>
            </p:cNvSpPr>
            <p:nvPr/>
          </p:nvSpPr>
          <p:spPr bwMode="auto">
            <a:xfrm>
              <a:off x="5791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163"/>
            <p:cNvSpPr>
              <a:spLocks noChangeShapeType="1"/>
            </p:cNvSpPr>
            <p:nvPr/>
          </p:nvSpPr>
          <p:spPr bwMode="auto">
            <a:xfrm>
              <a:off x="5562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164"/>
            <p:cNvSpPr>
              <a:spLocks noChangeShapeType="1"/>
            </p:cNvSpPr>
            <p:nvPr/>
          </p:nvSpPr>
          <p:spPr bwMode="auto">
            <a:xfrm>
              <a:off x="6781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65"/>
            <p:cNvSpPr>
              <a:spLocks noChangeShapeType="1"/>
            </p:cNvSpPr>
            <p:nvPr/>
          </p:nvSpPr>
          <p:spPr bwMode="auto">
            <a:xfrm>
              <a:off x="7010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166"/>
            <p:cNvSpPr>
              <a:spLocks noChangeShapeType="1"/>
            </p:cNvSpPr>
            <p:nvPr/>
          </p:nvSpPr>
          <p:spPr bwMode="auto">
            <a:xfrm>
              <a:off x="72390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67"/>
            <p:cNvSpPr>
              <a:spLocks noChangeShapeType="1"/>
            </p:cNvSpPr>
            <p:nvPr/>
          </p:nvSpPr>
          <p:spPr bwMode="auto">
            <a:xfrm>
              <a:off x="7467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68"/>
            <p:cNvSpPr>
              <a:spLocks noChangeShapeType="1"/>
            </p:cNvSpPr>
            <p:nvPr/>
          </p:nvSpPr>
          <p:spPr bwMode="auto">
            <a:xfrm>
              <a:off x="76200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144"/>
            <p:cNvSpPr>
              <a:spLocks noChangeShapeType="1"/>
            </p:cNvSpPr>
            <p:nvPr/>
          </p:nvSpPr>
          <p:spPr bwMode="auto">
            <a:xfrm>
              <a:off x="9906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145"/>
            <p:cNvSpPr>
              <a:spLocks noChangeShapeType="1"/>
            </p:cNvSpPr>
            <p:nvPr/>
          </p:nvSpPr>
          <p:spPr bwMode="auto">
            <a:xfrm>
              <a:off x="12192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146"/>
            <p:cNvSpPr>
              <a:spLocks noChangeShapeType="1"/>
            </p:cNvSpPr>
            <p:nvPr/>
          </p:nvSpPr>
          <p:spPr bwMode="auto">
            <a:xfrm>
              <a:off x="14478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147"/>
            <p:cNvSpPr>
              <a:spLocks noChangeShapeType="1"/>
            </p:cNvSpPr>
            <p:nvPr/>
          </p:nvSpPr>
          <p:spPr bwMode="auto">
            <a:xfrm>
              <a:off x="16764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154"/>
            <p:cNvSpPr>
              <a:spLocks noChangeShapeType="1"/>
            </p:cNvSpPr>
            <p:nvPr/>
          </p:nvSpPr>
          <p:spPr bwMode="auto">
            <a:xfrm>
              <a:off x="1905000" y="3124200"/>
              <a:ext cx="0" cy="1108075"/>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aphicFrame>
        <p:nvGraphicFramePr>
          <p:cNvPr id="108" name="Table 107"/>
          <p:cNvGraphicFramePr>
            <a:graphicFrameLocks noGrp="1"/>
          </p:cNvGraphicFramePr>
          <p:nvPr>
            <p:extLst>
              <p:ext uri="{D42A27DB-BD31-4B8C-83A1-F6EECF244321}">
                <p14:modId xmlns:p14="http://schemas.microsoft.com/office/powerpoint/2010/main" val="1249392094"/>
              </p:ext>
            </p:extLst>
          </p:nvPr>
        </p:nvGraphicFramePr>
        <p:xfrm>
          <a:off x="0" y="238844"/>
          <a:ext cx="8686801" cy="5704756"/>
        </p:xfrm>
        <a:graphic>
          <a:graphicData uri="http://schemas.openxmlformats.org/drawingml/2006/table">
            <a:tbl>
              <a:tblPr firstRow="1" bandRow="1">
                <a:tableStyleId>{2D5ABB26-0587-4C30-8999-92F81FD0307C}</a:tableStyleId>
              </a:tblPr>
              <a:tblGrid>
                <a:gridCol w="2553393">
                  <a:extLst>
                    <a:ext uri="{9D8B030D-6E8A-4147-A177-3AD203B41FA5}">
                      <a16:colId xmlns:a16="http://schemas.microsoft.com/office/drawing/2014/main" val="20000"/>
                    </a:ext>
                  </a:extLst>
                </a:gridCol>
                <a:gridCol w="2553393">
                  <a:extLst>
                    <a:ext uri="{9D8B030D-6E8A-4147-A177-3AD203B41FA5}">
                      <a16:colId xmlns:a16="http://schemas.microsoft.com/office/drawing/2014/main" val="20001"/>
                    </a:ext>
                  </a:extLst>
                </a:gridCol>
                <a:gridCol w="3580015">
                  <a:extLst>
                    <a:ext uri="{9D8B030D-6E8A-4147-A177-3AD203B41FA5}">
                      <a16:colId xmlns:a16="http://schemas.microsoft.com/office/drawing/2014/main" val="20002"/>
                    </a:ext>
                  </a:extLst>
                </a:gridCol>
              </a:tblGrid>
              <a:tr h="1188645">
                <a:tc>
                  <a:txBody>
                    <a:bodyPr/>
                    <a:lstStyle/>
                    <a:p>
                      <a:r>
                        <a:rPr lang="en-US" sz="1800" dirty="0"/>
                        <a:t>Level   # node</a:t>
                      </a:r>
                    </a:p>
                    <a:p>
                      <a:r>
                        <a:rPr lang="en-US" sz="1800" dirty="0"/>
                        <a:t>0       1</a:t>
                      </a:r>
                    </a:p>
                    <a:p>
                      <a:endParaRPr lang="en-US" sz="1800" dirty="0"/>
                    </a:p>
                    <a:p>
                      <a:pPr marL="0" indent="0">
                        <a:buNone/>
                      </a:pPr>
                      <a:endParaRPr lang="en-US" sz="1800" dirty="0"/>
                    </a:p>
                    <a:p>
                      <a:pPr marL="0" indent="0">
                        <a:buNone/>
                      </a:pPr>
                      <a:r>
                        <a:rPr lang="en-US" sz="1800" dirty="0"/>
                        <a:t>  </a:t>
                      </a:r>
                    </a:p>
                    <a:p>
                      <a:pPr marL="342900" indent="-342900">
                        <a:buAutoNum type="arabicPlain"/>
                      </a:pPr>
                      <a:r>
                        <a:rPr lang="en-US" sz="1800" dirty="0"/>
                        <a:t> 4</a:t>
                      </a:r>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0"/>
                  </a:ext>
                </a:extLst>
              </a:tr>
              <a:tr h="1041334">
                <a:tc>
                  <a:txBody>
                    <a:bodyPr/>
                    <a:lstStyle/>
                    <a:p>
                      <a:endParaRPr lang="en-US" sz="1800" dirty="0"/>
                    </a:p>
                    <a:p>
                      <a:endParaRPr lang="en-US" sz="1800" dirty="0"/>
                    </a:p>
                    <a:p>
                      <a:endParaRPr lang="en-US" sz="1800" dirty="0"/>
                    </a:p>
                    <a:p>
                      <a:r>
                        <a:rPr lang="en-US" sz="1800" dirty="0"/>
                        <a:t>2    4</a:t>
                      </a:r>
                      <a:r>
                        <a:rPr lang="en-US" sz="1800" baseline="30000" dirty="0"/>
                        <a:t>2</a:t>
                      </a:r>
                    </a:p>
                  </a:txBody>
                  <a:tcPr marT="45717" marB="45717"/>
                </a:tc>
                <a:tc>
                  <a:txBody>
                    <a:bodyPr/>
                    <a:lstStyle/>
                    <a:p>
                      <a:endParaRPr lang="en-US" sz="1800"/>
                    </a:p>
                  </a:txBody>
                  <a:tcPr marT="45717" marB="45717"/>
                </a:tc>
                <a:tc>
                  <a:txBody>
                    <a:bodyPr/>
                    <a:lstStyle/>
                    <a:p>
                      <a:endParaRPr lang="en-US" sz="1800" dirty="0"/>
                    </a:p>
                  </a:txBody>
                  <a:tcPr marT="45717" marB="45717"/>
                </a:tc>
                <a:extLst>
                  <a:ext uri="{0D108BD9-81ED-4DB2-BD59-A6C34878D82A}">
                    <a16:rowId xmlns:a16="http://schemas.microsoft.com/office/drawing/2014/main" val="10001"/>
                  </a:ext>
                </a:extLst>
              </a:tr>
              <a:tr h="17372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     4</a:t>
                      </a:r>
                      <a:r>
                        <a:rPr lang="en-US" sz="1800" baseline="30000" dirty="0"/>
                        <a:t>i</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h    4</a:t>
                      </a:r>
                      <a:r>
                        <a:rPr lang="en-US" sz="1800" baseline="30000" dirty="0"/>
                        <a:t>h</a:t>
                      </a:r>
                    </a:p>
                    <a:p>
                      <a:r>
                        <a:rPr lang="en-US" sz="1800" dirty="0"/>
                        <a:t>  </a:t>
                      </a:r>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2"/>
                  </a:ext>
                </a:extLst>
              </a:tr>
              <a:tr h="1041334">
                <a:tc>
                  <a:txBody>
                    <a:bodyPr/>
                    <a:lstStyle/>
                    <a:p>
                      <a:endParaRPr lang="en-US" sz="1800" dirty="0"/>
                    </a:p>
                  </a:txBody>
                  <a:tcPr marT="45717" marB="45717"/>
                </a:tc>
                <a:tc>
                  <a:txBody>
                    <a:bodyPr/>
                    <a:lstStyle/>
                    <a:p>
                      <a:endParaRPr lang="en-US" sz="1800" dirty="0"/>
                    </a:p>
                  </a:txBody>
                  <a:tcPr marT="45717" marB="45717"/>
                </a:tc>
                <a:tc>
                  <a:txBody>
                    <a:bodyPr/>
                    <a:lstStyle/>
                    <a:p>
                      <a:endParaRPr lang="en-US" sz="1800" dirty="0"/>
                    </a:p>
                  </a:txBody>
                  <a:tcPr marT="45717" marB="45717"/>
                </a:tc>
                <a:extLst>
                  <a:ext uri="{0D108BD9-81ED-4DB2-BD59-A6C34878D82A}">
                    <a16:rowId xmlns:a16="http://schemas.microsoft.com/office/drawing/2014/main" val="10003"/>
                  </a:ext>
                </a:extLst>
              </a:tr>
            </a:tbl>
          </a:graphicData>
        </a:graphic>
      </p:graphicFrame>
      <p:sp>
        <p:nvSpPr>
          <p:cNvPr id="109" name="Line 80"/>
          <p:cNvSpPr>
            <a:spLocks noChangeShapeType="1"/>
          </p:cNvSpPr>
          <p:nvPr/>
        </p:nvSpPr>
        <p:spPr bwMode="auto">
          <a:xfrm>
            <a:off x="5632450" y="547687"/>
            <a:ext cx="28194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0" name="Text Box 81"/>
          <p:cNvSpPr txBox="1">
            <a:spLocks noChangeArrowheads="1"/>
          </p:cNvSpPr>
          <p:nvPr/>
        </p:nvSpPr>
        <p:spPr bwMode="auto">
          <a:xfrm>
            <a:off x="8686800" y="315912"/>
            <a:ext cx="403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i="1" dirty="0" err="1"/>
              <a:t>cn</a:t>
            </a:r>
            <a:endParaRPr lang="en-US" sz="1800" baseline="30000" dirty="0"/>
          </a:p>
        </p:txBody>
      </p:sp>
      <p:sp>
        <p:nvSpPr>
          <p:cNvPr id="111" name="Line 82"/>
          <p:cNvSpPr>
            <a:spLocks noChangeShapeType="1"/>
          </p:cNvSpPr>
          <p:nvPr/>
        </p:nvSpPr>
        <p:spPr bwMode="auto">
          <a:xfrm>
            <a:off x="7754686" y="1919287"/>
            <a:ext cx="620963"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 name="Text Box 83"/>
          <p:cNvSpPr txBox="1">
            <a:spLocks noChangeArrowheads="1"/>
          </p:cNvSpPr>
          <p:nvPr/>
        </p:nvSpPr>
        <p:spPr bwMode="auto">
          <a:xfrm>
            <a:off x="8447088" y="1687512"/>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4cn/2</a:t>
            </a:r>
            <a:endParaRPr lang="en-US" sz="1800" baseline="30000" dirty="0"/>
          </a:p>
        </p:txBody>
      </p:sp>
      <p:sp>
        <p:nvSpPr>
          <p:cNvPr id="113" name="Line 85"/>
          <p:cNvSpPr>
            <a:spLocks noChangeShapeType="1"/>
          </p:cNvSpPr>
          <p:nvPr/>
        </p:nvSpPr>
        <p:spPr bwMode="auto">
          <a:xfrm>
            <a:off x="8065166" y="2986087"/>
            <a:ext cx="310483"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4" name="Text Box 86"/>
          <p:cNvSpPr txBox="1">
            <a:spLocks noChangeArrowheads="1"/>
          </p:cNvSpPr>
          <p:nvPr/>
        </p:nvSpPr>
        <p:spPr bwMode="auto">
          <a:xfrm>
            <a:off x="8375650" y="2757487"/>
            <a:ext cx="774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4</a:t>
            </a:r>
            <a:r>
              <a:rPr lang="en-US" sz="1800" baseline="30000" dirty="0"/>
              <a:t>2</a:t>
            </a:r>
            <a:r>
              <a:rPr lang="en-US" sz="1800" dirty="0"/>
              <a:t>cn/4</a:t>
            </a:r>
            <a:endParaRPr lang="en-US" sz="1800" baseline="30000" dirty="0"/>
          </a:p>
        </p:txBody>
      </p:sp>
      <p:sp>
        <p:nvSpPr>
          <p:cNvPr id="115" name="Line 176"/>
          <p:cNvSpPr>
            <a:spLocks noChangeShapeType="1"/>
          </p:cNvSpPr>
          <p:nvPr/>
        </p:nvSpPr>
        <p:spPr bwMode="auto">
          <a:xfrm>
            <a:off x="8756650" y="3214687"/>
            <a:ext cx="0" cy="4572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6" name="Group 3"/>
          <p:cNvGrpSpPr>
            <a:grpSpLocks/>
          </p:cNvGrpSpPr>
          <p:nvPr/>
        </p:nvGrpSpPr>
        <p:grpSpPr bwMode="auto">
          <a:xfrm>
            <a:off x="838200" y="4267200"/>
            <a:ext cx="7382206" cy="304800"/>
            <a:chOff x="854075" y="3584575"/>
            <a:chExt cx="7382206" cy="304800"/>
          </a:xfrm>
        </p:grpSpPr>
        <p:sp>
          <p:nvSpPr>
            <p:cNvPr id="117" name="Text Box 169"/>
            <p:cNvSpPr txBox="1">
              <a:spLocks noChangeArrowheads="1"/>
            </p:cNvSpPr>
            <p:nvPr/>
          </p:nvSpPr>
          <p:spPr bwMode="auto">
            <a:xfrm>
              <a:off x="8540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18" name="Text Box 170"/>
            <p:cNvSpPr txBox="1">
              <a:spLocks noChangeArrowheads="1"/>
            </p:cNvSpPr>
            <p:nvPr/>
          </p:nvSpPr>
          <p:spPr bwMode="auto">
            <a:xfrm>
              <a:off x="11588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19" name="Text Box 171"/>
            <p:cNvSpPr txBox="1">
              <a:spLocks noChangeArrowheads="1"/>
            </p:cNvSpPr>
            <p:nvPr/>
          </p:nvSpPr>
          <p:spPr bwMode="auto">
            <a:xfrm>
              <a:off x="63404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20" name="Text Box 172"/>
            <p:cNvSpPr txBox="1">
              <a:spLocks noChangeArrowheads="1"/>
            </p:cNvSpPr>
            <p:nvPr/>
          </p:nvSpPr>
          <p:spPr bwMode="auto">
            <a:xfrm>
              <a:off x="14636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21" name="Text Box 173"/>
            <p:cNvSpPr txBox="1">
              <a:spLocks noChangeArrowheads="1"/>
            </p:cNvSpPr>
            <p:nvPr/>
          </p:nvSpPr>
          <p:spPr bwMode="auto">
            <a:xfrm>
              <a:off x="66452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22" name="Text Box 174"/>
            <p:cNvSpPr txBox="1">
              <a:spLocks noChangeArrowheads="1"/>
            </p:cNvSpPr>
            <p:nvPr/>
          </p:nvSpPr>
          <p:spPr bwMode="auto">
            <a:xfrm>
              <a:off x="6950075" y="3584575"/>
              <a:ext cx="488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400" i="1"/>
                <a:t>T</a:t>
              </a:r>
              <a:r>
                <a:rPr lang="en-US" sz="1400"/>
                <a:t>(1)</a:t>
              </a:r>
            </a:p>
          </p:txBody>
        </p:sp>
        <p:sp>
          <p:nvSpPr>
            <p:cNvPr id="123" name="Line 175"/>
            <p:cNvSpPr>
              <a:spLocks noChangeShapeType="1"/>
            </p:cNvSpPr>
            <p:nvPr/>
          </p:nvSpPr>
          <p:spPr bwMode="auto">
            <a:xfrm>
              <a:off x="2149475" y="3736975"/>
              <a:ext cx="4114800" cy="0"/>
            </a:xfrm>
            <a:prstGeom prst="line">
              <a:avLst/>
            </a:prstGeom>
            <a:noFill/>
            <a:ln w="9525">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4" name="Line 177"/>
            <p:cNvSpPr>
              <a:spLocks noChangeShapeType="1"/>
            </p:cNvSpPr>
            <p:nvPr/>
          </p:nvSpPr>
          <p:spPr bwMode="auto">
            <a:xfrm>
              <a:off x="7407274" y="3736975"/>
              <a:ext cx="829007"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27" name="Text Box 86"/>
          <p:cNvSpPr txBox="1">
            <a:spLocks noChangeArrowheads="1"/>
          </p:cNvSpPr>
          <p:nvPr/>
        </p:nvSpPr>
        <p:spPr bwMode="auto">
          <a:xfrm>
            <a:off x="7907085" y="3657600"/>
            <a:ext cx="13893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600" dirty="0"/>
              <a:t>4</a:t>
            </a:r>
            <a:r>
              <a:rPr lang="en-US" sz="1600" baseline="30000" dirty="0"/>
              <a:t>i</a:t>
            </a:r>
            <a:r>
              <a:rPr lang="en-US" sz="1600" dirty="0"/>
              <a:t>cn/2</a:t>
            </a:r>
            <a:r>
              <a:rPr lang="en-US" sz="1600" baseline="30000" dirty="0"/>
              <a:t>i  </a:t>
            </a:r>
            <a:r>
              <a:rPr lang="en-US" sz="1600" dirty="0"/>
              <a:t>= 2</a:t>
            </a:r>
            <a:r>
              <a:rPr lang="en-US" sz="1600" baseline="30000" dirty="0"/>
              <a:t>i</a:t>
            </a:r>
            <a:r>
              <a:rPr lang="en-US" sz="1600" dirty="0"/>
              <a:t>cn</a:t>
            </a:r>
          </a:p>
        </p:txBody>
      </p:sp>
      <p:sp>
        <p:nvSpPr>
          <p:cNvPr id="128" name="Text Box 86"/>
          <p:cNvSpPr txBox="1">
            <a:spLocks noChangeArrowheads="1"/>
          </p:cNvSpPr>
          <p:nvPr/>
        </p:nvSpPr>
        <p:spPr bwMode="auto">
          <a:xfrm>
            <a:off x="8229600" y="4200525"/>
            <a:ext cx="823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dirty="0"/>
              <a:t>4</a:t>
            </a:r>
            <a:r>
              <a:rPr lang="en-US" sz="1800" baseline="30000" dirty="0"/>
              <a:t>h </a:t>
            </a:r>
            <a:r>
              <a:rPr lang="en-US" sz="1800" dirty="0"/>
              <a:t>T(1)</a:t>
            </a:r>
            <a:endParaRPr lang="en-US" sz="1800" baseline="30000" dirty="0"/>
          </a:p>
        </p:txBody>
      </p:sp>
      <p:sp>
        <p:nvSpPr>
          <p:cNvPr id="100" name="TextBox 99"/>
          <p:cNvSpPr txBox="1"/>
          <p:nvPr/>
        </p:nvSpPr>
        <p:spPr>
          <a:xfrm>
            <a:off x="7441046" y="5002497"/>
            <a:ext cx="1622560" cy="369332"/>
          </a:xfrm>
          <a:prstGeom prst="rect">
            <a:avLst/>
          </a:prstGeom>
          <a:noFill/>
          <a:ln>
            <a:solidFill>
              <a:srgbClr val="00B0F0"/>
            </a:solidFill>
          </a:ln>
        </p:spPr>
        <p:txBody>
          <a:bodyPr wrap="none" rtlCol="0">
            <a:spAutoFit/>
          </a:bodyPr>
          <a:lstStyle/>
          <a:p>
            <a:r>
              <a:rPr lang="en-US" b="1" dirty="0"/>
              <a:t>T(1)= T(n/2</a:t>
            </a:r>
            <a:r>
              <a:rPr lang="en-US" b="1" baseline="30000" dirty="0"/>
              <a:t>h</a:t>
            </a:r>
            <a:r>
              <a:rPr lang="en-US" b="1" dirty="0"/>
              <a:t>)</a:t>
            </a:r>
          </a:p>
        </p:txBody>
      </p:sp>
      <mc:AlternateContent xmlns:mc="http://schemas.openxmlformats.org/markup-compatibility/2006" xmlns:a14="http://schemas.microsoft.com/office/drawing/2010/main">
        <mc:Choice Requires="a14">
          <p:sp>
            <p:nvSpPr>
              <p:cNvPr id="2" name="Rectangle 1"/>
              <p:cNvSpPr/>
              <p:nvPr/>
            </p:nvSpPr>
            <p:spPr>
              <a:xfrm>
                <a:off x="1184589" y="5601720"/>
                <a:ext cx="3160096" cy="488082"/>
              </a:xfrm>
              <a:prstGeom prst="rect">
                <a:avLst/>
              </a:prstGeom>
            </p:spPr>
            <p:txBody>
              <a:bodyPr wrap="none">
                <a:spAutoFit/>
              </a:bodyPr>
              <a:lstStyle/>
              <a:p>
                <a:pPr>
                  <a:lnSpc>
                    <a:spcPct val="150000"/>
                  </a:lnSpc>
                </a:pPr>
                <a:r>
                  <a:rPr lang="en-US" dirty="0">
                    <a:latin typeface="Segoe"/>
                  </a:rPr>
                  <a:t>T(n) = 4</a:t>
                </a:r>
                <a:r>
                  <a:rPr lang="en-US" baseline="30000" dirty="0">
                    <a:latin typeface="Segoe"/>
                  </a:rPr>
                  <a:t>h </a:t>
                </a:r>
                <a:r>
                  <a:rPr lang="en-US" dirty="0">
                    <a:latin typeface="Segoe"/>
                  </a:rPr>
                  <a:t> * T(1) +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a:rPr>
                          <m:t>𝑖</m:t>
                        </m:r>
                        <m:r>
                          <a:rPr lang="en-US" i="1">
                            <a:latin typeface="Cambria Math"/>
                          </a:rPr>
                          <m:t>=</m:t>
                        </m:r>
                        <m:r>
                          <a:rPr lang="en-US" i="1">
                            <a:latin typeface="Cambria Math"/>
                          </a:rPr>
                          <m:t>0</m:t>
                        </m:r>
                      </m:sub>
                      <m:sup>
                        <m:r>
                          <a:rPr lang="en-US" i="1">
                            <a:latin typeface="Cambria Math"/>
                          </a:rPr>
                          <m:t>h</m:t>
                        </m:r>
                        <m:r>
                          <a:rPr lang="en-US" i="1">
                            <a:latin typeface="Cambria Math"/>
                          </a:rPr>
                          <m:t>−</m:t>
                        </m:r>
                        <m:r>
                          <a:rPr lang="en-US" i="1">
                            <a:latin typeface="Cambria Math"/>
                          </a:rPr>
                          <m:t>1</m:t>
                        </m:r>
                      </m:sup>
                      <m:e>
                        <m:r>
                          <a:rPr lang="en-US" i="1">
                            <a:latin typeface="Cambria Math"/>
                          </a:rPr>
                          <m:t>2</m:t>
                        </m:r>
                        <m:r>
                          <a:rPr lang="en-US" i="1" baseline="30000">
                            <a:latin typeface="Cambria Math"/>
                          </a:rPr>
                          <m:t>𝑖</m:t>
                        </m:r>
                      </m:e>
                    </m:nary>
                    <m:r>
                      <a:rPr lang="en-US" i="1">
                        <a:latin typeface="Cambria Math"/>
                      </a:rPr>
                      <m:t> . </m:t>
                    </m:r>
                    <m:r>
                      <a:rPr lang="en-US" b="0" i="1" smtClean="0">
                        <a:latin typeface="Cambria Math" panose="02040503050406030204" pitchFamily="18" charset="0"/>
                      </a:rPr>
                      <m:t>𝑐</m:t>
                    </m:r>
                    <m:r>
                      <a:rPr lang="en-US" i="1">
                        <a:latin typeface="Cambria Math"/>
                      </a:rPr>
                      <m:t>𝑛</m:t>
                    </m:r>
                  </m:oMath>
                </a14:m>
                <a:endParaRPr lang="en-US" baseline="30000" dirty="0">
                  <a:latin typeface="Segoe"/>
                </a:endParaRPr>
              </a:p>
            </p:txBody>
          </p:sp>
        </mc:Choice>
        <mc:Fallback xmlns="">
          <p:sp>
            <p:nvSpPr>
              <p:cNvPr id="2" name="Rectangle 1"/>
              <p:cNvSpPr>
                <a:spLocks noRot="1" noChangeAspect="1" noMove="1" noResize="1" noEditPoints="1" noAdjustHandles="1" noChangeArrowheads="1" noChangeShapeType="1" noTextEdit="1"/>
              </p:cNvSpPr>
              <p:nvPr/>
            </p:nvSpPr>
            <p:spPr>
              <a:xfrm>
                <a:off x="1184589" y="5601720"/>
                <a:ext cx="3160096" cy="488082"/>
              </a:xfrm>
              <a:prstGeom prst="rect">
                <a:avLst/>
              </a:prstGeom>
              <a:blipFill>
                <a:blip r:embed="rId2"/>
                <a:stretch>
                  <a:fillRect l="-1541" t="-66250" b="-141250"/>
                </a:stretch>
              </a:blipFill>
            </p:spPr>
            <p:txBody>
              <a:bodyPr/>
              <a:lstStyle/>
              <a:p>
                <a:r>
                  <a:rPr lang="en-US">
                    <a:noFill/>
                  </a:rPr>
                  <a:t> </a:t>
                </a:r>
              </a:p>
            </p:txBody>
          </p:sp>
        </mc:Fallback>
      </mc:AlternateContent>
    </p:spTree>
    <p:extLst>
      <p:ext uri="{BB962C8B-B14F-4D97-AF65-F5344CB8AC3E}">
        <p14:creationId xmlns:p14="http://schemas.microsoft.com/office/powerpoint/2010/main" val="4053345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6" name="Slide Number Placeholder 3"/>
          <p:cNvSpPr>
            <a:spLocks noGrp="1"/>
          </p:cNvSpPr>
          <p:nvPr>
            <p:ph type="sldNum" sz="quarter" idx="4294967295"/>
          </p:nvPr>
        </p:nvSpPr>
        <p:spPr bwMode="auto">
          <a:xfrm>
            <a:off x="8129588" y="5734050"/>
            <a:ext cx="6096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3675BA8-85EC-4099-B2EA-04CD5BC94AC2}" type="slidenum">
              <a:rPr lang="en-US" sz="1400" smtClean="0">
                <a:solidFill>
                  <a:srgbClr val="FFFFFF"/>
                </a:solidFill>
              </a:rPr>
              <a:pPr eaLnBrk="1" hangingPunct="1"/>
              <a:t>21</a:t>
            </a:fld>
            <a:endParaRPr lang="en-US" sz="1400">
              <a:solidFill>
                <a:srgbClr val="FFFFFF"/>
              </a:solidFill>
            </a:endParaRPr>
          </a:p>
        </p:txBody>
      </p:sp>
      <mc:AlternateContent xmlns:mc="http://schemas.openxmlformats.org/markup-compatibility/2006" xmlns:a14="http://schemas.microsoft.com/office/drawing/2010/main">
        <mc:Choice Requires="a14">
          <p:sp>
            <p:nvSpPr>
              <p:cNvPr id="2" name="TextBox 1"/>
              <p:cNvSpPr txBox="1"/>
              <p:nvPr/>
            </p:nvSpPr>
            <p:spPr>
              <a:xfrm>
                <a:off x="110836" y="0"/>
                <a:ext cx="8956964" cy="6664260"/>
              </a:xfrm>
              <a:prstGeom prst="rect">
                <a:avLst/>
              </a:prstGeom>
              <a:noFill/>
            </p:spPr>
            <p:txBody>
              <a:bodyPr wrap="square" rtlCol="0">
                <a:spAutoFit/>
              </a:bodyPr>
              <a:lstStyle/>
              <a:p>
                <a:pPr>
                  <a:lnSpc>
                    <a:spcPct val="150000"/>
                  </a:lnSpc>
                </a:pPr>
                <a:r>
                  <a:rPr lang="en-US" sz="2400" dirty="0">
                    <a:latin typeface="Segoe"/>
                  </a:rPr>
                  <a:t>Size of problem at leaves :</a:t>
                </a:r>
              </a:p>
              <a:p>
                <a:pPr>
                  <a:lnSpc>
                    <a:spcPct val="150000"/>
                  </a:lnSpc>
                </a:pPr>
                <a:r>
                  <a:rPr lang="en-US" sz="2400" dirty="0">
                    <a:latin typeface="Segoe"/>
                  </a:rPr>
                  <a:t>T(n) = 4</a:t>
                </a:r>
                <a:r>
                  <a:rPr lang="en-US" sz="2400" baseline="30000" dirty="0">
                    <a:latin typeface="Segoe"/>
                  </a:rPr>
                  <a:t>h </a:t>
                </a:r>
                <a:r>
                  <a:rPr lang="en-US" sz="2400" dirty="0">
                    <a:latin typeface="Segoe"/>
                  </a:rPr>
                  <a:t> * T(1) + </a:t>
                </a:r>
                <a14:m>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a:rPr>
                          <m:t>𝑖</m:t>
                        </m:r>
                        <m:r>
                          <a:rPr lang="en-US" sz="2400" b="0" i="1" smtClean="0">
                            <a:latin typeface="Cambria Math"/>
                          </a:rPr>
                          <m:t>=</m:t>
                        </m:r>
                        <m:r>
                          <a:rPr lang="en-US" sz="2400" b="0" i="1" smtClean="0">
                            <a:latin typeface="Cambria Math"/>
                          </a:rPr>
                          <m:t>0</m:t>
                        </m:r>
                      </m:sub>
                      <m:sup>
                        <m:r>
                          <a:rPr lang="en-US" sz="2400" b="0" i="1" smtClean="0">
                            <a:latin typeface="Cambria Math"/>
                          </a:rPr>
                          <m:t>h</m:t>
                        </m:r>
                        <m:r>
                          <a:rPr lang="en-US" sz="2400" b="0" i="1" smtClean="0">
                            <a:latin typeface="Cambria Math"/>
                          </a:rPr>
                          <m:t>−</m:t>
                        </m:r>
                        <m:r>
                          <a:rPr lang="en-US" sz="2400" b="0" i="1" smtClean="0">
                            <a:latin typeface="Cambria Math"/>
                          </a:rPr>
                          <m:t>1</m:t>
                        </m:r>
                      </m:sup>
                      <m:e>
                        <m:r>
                          <a:rPr lang="en-US" sz="2400" b="0" i="1" smtClean="0">
                            <a:latin typeface="Cambria Math"/>
                          </a:rPr>
                          <m:t>2</m:t>
                        </m:r>
                        <m:r>
                          <a:rPr lang="en-US" sz="2400" b="0" i="1" baseline="30000" smtClean="0">
                            <a:latin typeface="Cambria Math"/>
                          </a:rPr>
                          <m:t>𝑖</m:t>
                        </m:r>
                      </m:e>
                    </m:nary>
                    <m:r>
                      <a:rPr lang="en-US" sz="2400" b="0" i="1" smtClean="0">
                        <a:latin typeface="Cambria Math"/>
                      </a:rPr>
                      <m:t> . </m:t>
                    </m:r>
                    <m:r>
                      <a:rPr lang="en-US" sz="2400" b="0" i="1" smtClean="0">
                        <a:latin typeface="Cambria Math" panose="02040503050406030204" pitchFamily="18" charset="0"/>
                      </a:rPr>
                      <m:t>𝑐</m:t>
                    </m:r>
                    <m:r>
                      <a:rPr lang="en-US" sz="2400" b="0" i="1" smtClean="0">
                        <a:latin typeface="Cambria Math"/>
                      </a:rPr>
                      <m:t>𝑛</m:t>
                    </m:r>
                  </m:oMath>
                </a14:m>
                <a:endParaRPr lang="en-US" sz="2400" baseline="30000" dirty="0">
                  <a:latin typeface="Segoe"/>
                </a:endParaRPr>
              </a:p>
              <a:p>
                <a:pPr>
                  <a:lnSpc>
                    <a:spcPct val="150000"/>
                  </a:lnSpc>
                </a:pPr>
                <a:r>
                  <a:rPr lang="en-US" sz="2400" dirty="0">
                    <a:solidFill>
                      <a:srgbClr val="00B0F0"/>
                    </a:solidFill>
                    <a:latin typeface="Segoe"/>
                  </a:rPr>
                  <a:t>n/2</a:t>
                </a:r>
                <a:r>
                  <a:rPr lang="en-US" sz="2400" baseline="30000" dirty="0">
                    <a:solidFill>
                      <a:srgbClr val="00B0F0"/>
                    </a:solidFill>
                    <a:latin typeface="Segoe"/>
                  </a:rPr>
                  <a:t>h </a:t>
                </a:r>
                <a:r>
                  <a:rPr lang="en-US" sz="2400" dirty="0">
                    <a:solidFill>
                      <a:srgbClr val="00B0F0"/>
                    </a:solidFill>
                    <a:latin typeface="Segoe"/>
                  </a:rPr>
                  <a:t> = 1  → 2</a:t>
                </a:r>
                <a:r>
                  <a:rPr lang="en-US" sz="2400" baseline="30000" dirty="0">
                    <a:solidFill>
                      <a:srgbClr val="00B0F0"/>
                    </a:solidFill>
                    <a:latin typeface="Segoe"/>
                  </a:rPr>
                  <a:t>h </a:t>
                </a:r>
                <a:r>
                  <a:rPr lang="en-US" sz="2400" dirty="0">
                    <a:solidFill>
                      <a:srgbClr val="00B0F0"/>
                    </a:solidFill>
                    <a:latin typeface="Segoe"/>
                  </a:rPr>
                  <a:t> = n →  h =  log</a:t>
                </a:r>
                <a:r>
                  <a:rPr lang="en-US" sz="2400" baseline="-25000" dirty="0">
                    <a:solidFill>
                      <a:srgbClr val="00B0F0"/>
                    </a:solidFill>
                    <a:latin typeface="Segoe"/>
                  </a:rPr>
                  <a:t>2</a:t>
                </a:r>
                <a:r>
                  <a:rPr lang="en-US" sz="2400" dirty="0">
                    <a:solidFill>
                      <a:srgbClr val="00B0F0"/>
                    </a:solidFill>
                    <a:latin typeface="Segoe"/>
                  </a:rPr>
                  <a:t>n</a:t>
                </a:r>
              </a:p>
              <a:p>
                <a:pPr>
                  <a:lnSpc>
                    <a:spcPct val="150000"/>
                  </a:lnSpc>
                </a:pPr>
                <a:r>
                  <a:rPr lang="en-US" sz="2400" dirty="0">
                    <a:latin typeface="Segoe"/>
                  </a:rPr>
                  <a:t>T(n</a:t>
                </a:r>
                <a:r>
                  <a:rPr lang="en-US" sz="2400" baseline="30000" dirty="0">
                    <a:latin typeface="Segoe"/>
                  </a:rPr>
                  <a:t>)</a:t>
                </a:r>
                <a:r>
                  <a:rPr lang="en-US" sz="2400" dirty="0">
                    <a:latin typeface="Segoe"/>
                  </a:rPr>
                  <a:t> = 4</a:t>
                </a:r>
                <a:r>
                  <a:rPr lang="en-US" sz="2400" baseline="30000" dirty="0">
                    <a:latin typeface="Segoe"/>
                  </a:rPr>
                  <a:t>log</a:t>
                </a:r>
                <a:r>
                  <a:rPr lang="en-US" sz="2400" baseline="-2000" dirty="0">
                    <a:latin typeface="Segoe"/>
                  </a:rPr>
                  <a:t>2</a:t>
                </a:r>
                <a:r>
                  <a:rPr lang="en-US" sz="2400" baseline="30000" dirty="0">
                    <a:latin typeface="Segoe"/>
                  </a:rPr>
                  <a:t>n </a:t>
                </a:r>
                <a:r>
                  <a:rPr lang="en-US" sz="2400" dirty="0">
                    <a:latin typeface="Segoe"/>
                  </a:rPr>
                  <a:t> * T(1) + </a:t>
                </a:r>
                <a:r>
                  <a:rPr lang="en-US" sz="2400" dirty="0" err="1">
                    <a:latin typeface="Segoe"/>
                  </a:rPr>
                  <a:t>cn</a:t>
                </a:r>
                <a:r>
                  <a:rPr lang="en-US" sz="2400" dirty="0">
                    <a:latin typeface="Segoe"/>
                  </a:rPr>
                  <a:t>.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a:rPr>
                          <m:t>𝑖</m:t>
                        </m:r>
                        <m:r>
                          <a:rPr lang="en-US" sz="2400" i="1">
                            <a:latin typeface="Cambria Math"/>
                          </a:rPr>
                          <m:t>=</m:t>
                        </m:r>
                        <m:r>
                          <a:rPr lang="en-US" sz="2400" i="1">
                            <a:latin typeface="Cambria Math"/>
                          </a:rPr>
                          <m:t>0</m:t>
                        </m:r>
                      </m:sub>
                      <m:sup>
                        <m:r>
                          <a:rPr lang="en-US" sz="2400" i="1">
                            <a:latin typeface="Cambria Math"/>
                          </a:rPr>
                          <m:t>h</m:t>
                        </m:r>
                        <m:r>
                          <a:rPr lang="en-US" sz="2400" i="1">
                            <a:latin typeface="Cambria Math"/>
                          </a:rPr>
                          <m:t>−</m:t>
                        </m:r>
                        <m:r>
                          <a:rPr lang="en-US" sz="2400" i="1">
                            <a:latin typeface="Cambria Math"/>
                          </a:rPr>
                          <m:t>1</m:t>
                        </m:r>
                      </m:sup>
                      <m:e>
                        <m:r>
                          <a:rPr lang="en-US" sz="2400" i="1">
                            <a:latin typeface="Cambria Math"/>
                          </a:rPr>
                          <m:t>2</m:t>
                        </m:r>
                        <m:r>
                          <a:rPr lang="en-US" sz="2400" i="1" baseline="30000">
                            <a:latin typeface="Cambria Math"/>
                          </a:rPr>
                          <m:t>𝑖</m:t>
                        </m:r>
                      </m:e>
                    </m:nary>
                  </m:oMath>
                </a14:m>
                <a:endParaRPr lang="en-US" sz="2400" baseline="30000" dirty="0">
                  <a:latin typeface="Segoe"/>
                </a:endParaRPr>
              </a:p>
              <a:p>
                <a:pPr>
                  <a:lnSpc>
                    <a:spcPct val="150000"/>
                  </a:lnSpc>
                </a:pPr>
                <a:r>
                  <a:rPr lang="en-US" sz="2400" dirty="0">
                    <a:solidFill>
                      <a:srgbClr val="00B0F0"/>
                    </a:solidFill>
                    <a:latin typeface="Segoe"/>
                  </a:rPr>
                  <a:t>4</a:t>
                </a:r>
                <a:r>
                  <a:rPr lang="en-US" sz="2400" baseline="30000" dirty="0">
                    <a:solidFill>
                      <a:srgbClr val="00B0F0"/>
                    </a:solidFill>
                    <a:latin typeface="Segoe"/>
                  </a:rPr>
                  <a:t>log</a:t>
                </a:r>
                <a:r>
                  <a:rPr lang="en-US" sz="2400" baseline="-2000" dirty="0">
                    <a:solidFill>
                      <a:srgbClr val="00B0F0"/>
                    </a:solidFill>
                    <a:latin typeface="Segoe"/>
                  </a:rPr>
                  <a:t>2</a:t>
                </a:r>
                <a:r>
                  <a:rPr lang="en-US" sz="2400" baseline="30000" dirty="0">
                    <a:solidFill>
                      <a:srgbClr val="00B0F0"/>
                    </a:solidFill>
                    <a:latin typeface="Segoe"/>
                  </a:rPr>
                  <a:t>n = </a:t>
                </a:r>
                <a:r>
                  <a:rPr lang="en-US" sz="2400" dirty="0">
                    <a:solidFill>
                      <a:srgbClr val="00B0F0"/>
                    </a:solidFill>
                    <a:latin typeface="Segoe"/>
                  </a:rPr>
                  <a:t>n</a:t>
                </a:r>
                <a:r>
                  <a:rPr lang="en-US" sz="2400" baseline="30000" dirty="0">
                    <a:solidFill>
                      <a:srgbClr val="00B0F0"/>
                    </a:solidFill>
                    <a:latin typeface="Segoe"/>
                  </a:rPr>
                  <a:t>log</a:t>
                </a:r>
                <a:r>
                  <a:rPr lang="en-US" sz="2400" baseline="-2000" dirty="0">
                    <a:solidFill>
                      <a:srgbClr val="00B0F0"/>
                    </a:solidFill>
                    <a:latin typeface="Segoe"/>
                  </a:rPr>
                  <a:t>2</a:t>
                </a:r>
                <a:r>
                  <a:rPr lang="en-US" sz="2400" baseline="30000" dirty="0">
                    <a:solidFill>
                      <a:srgbClr val="00B0F0"/>
                    </a:solidFill>
                    <a:latin typeface="Segoe"/>
                  </a:rPr>
                  <a:t>4 </a:t>
                </a:r>
                <a:r>
                  <a:rPr lang="en-US" sz="2400" dirty="0">
                    <a:solidFill>
                      <a:srgbClr val="00B0F0"/>
                    </a:solidFill>
                    <a:latin typeface="Segoe"/>
                  </a:rPr>
                  <a:t>= n</a:t>
                </a:r>
                <a:r>
                  <a:rPr lang="en-US" sz="2400" baseline="30000" dirty="0">
                    <a:solidFill>
                      <a:srgbClr val="00B0F0"/>
                    </a:solidFill>
                    <a:latin typeface="Segoe"/>
                  </a:rPr>
                  <a:t>2</a:t>
                </a:r>
              </a:p>
              <a:p>
                <a:pPr>
                  <a:lnSpc>
                    <a:spcPct val="150000"/>
                  </a:lnSpc>
                </a:pPr>
                <a:r>
                  <a:rPr lang="en-US" sz="2400" dirty="0">
                    <a:latin typeface="Segoe"/>
                  </a:rPr>
                  <a:t>T(n) = n</a:t>
                </a:r>
                <a:r>
                  <a:rPr lang="en-US" sz="2400" baseline="30000" dirty="0">
                    <a:latin typeface="Segoe"/>
                  </a:rPr>
                  <a:t>2</a:t>
                </a:r>
                <a:r>
                  <a:rPr lang="en-US" sz="2400" dirty="0">
                    <a:latin typeface="Segoe"/>
                  </a:rPr>
                  <a:t> T(1) + c n.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a:rPr>
                          <m:t>𝑖</m:t>
                        </m:r>
                        <m:r>
                          <a:rPr lang="en-US" sz="2400" i="1">
                            <a:latin typeface="Cambria Math"/>
                          </a:rPr>
                          <m:t>=</m:t>
                        </m:r>
                        <m:r>
                          <a:rPr lang="en-US" sz="2400" i="1">
                            <a:latin typeface="Cambria Math"/>
                          </a:rPr>
                          <m:t>0</m:t>
                        </m:r>
                      </m:sub>
                      <m:sup>
                        <m:r>
                          <a:rPr lang="en-US" sz="2400" i="1">
                            <a:latin typeface="Cambria Math"/>
                          </a:rPr>
                          <m:t>h</m:t>
                        </m:r>
                        <m:r>
                          <a:rPr lang="en-US" sz="2400" i="1">
                            <a:latin typeface="Cambria Math"/>
                          </a:rPr>
                          <m:t>−</m:t>
                        </m:r>
                        <m:r>
                          <a:rPr lang="en-US" sz="2400" i="1">
                            <a:latin typeface="Cambria Math"/>
                          </a:rPr>
                          <m:t>1</m:t>
                        </m:r>
                      </m:sup>
                      <m:e>
                        <m:r>
                          <a:rPr lang="en-US" sz="2400" i="1">
                            <a:latin typeface="Cambria Math"/>
                          </a:rPr>
                          <m:t>2</m:t>
                        </m:r>
                        <m:r>
                          <a:rPr lang="en-US" sz="2400" i="1" baseline="30000">
                            <a:latin typeface="Cambria Math"/>
                          </a:rPr>
                          <m:t>𝑖</m:t>
                        </m:r>
                      </m:e>
                    </m:nary>
                  </m:oMath>
                </a14:m>
                <a:endParaRPr lang="en-US" sz="2400" dirty="0">
                  <a:latin typeface="Segoe"/>
                </a:endParaRPr>
              </a:p>
              <a:p>
                <a:pPr>
                  <a:lnSpc>
                    <a:spcPct val="150000"/>
                  </a:lnSpc>
                </a:pPr>
                <a:r>
                  <a:rPr lang="en-US" sz="2400" dirty="0">
                    <a:latin typeface="Segoe"/>
                  </a:rPr>
                  <a:t>T(n) = n</a:t>
                </a:r>
                <a:r>
                  <a:rPr lang="en-US" sz="2400" baseline="30000" dirty="0">
                    <a:latin typeface="Segoe"/>
                  </a:rPr>
                  <a:t>2</a:t>
                </a:r>
                <a:r>
                  <a:rPr lang="en-US" sz="2400" dirty="0">
                    <a:latin typeface="Segoe"/>
                  </a:rPr>
                  <a:t> T(1) + </a:t>
                </a:r>
                <a:r>
                  <a:rPr lang="en-US" sz="2400" dirty="0" err="1">
                    <a:latin typeface="Segoe"/>
                  </a:rPr>
                  <a:t>cn</a:t>
                </a:r>
                <a:r>
                  <a:rPr lang="en-US" sz="2400" dirty="0">
                    <a:latin typeface="Segoe"/>
                  </a:rPr>
                  <a:t>. </a:t>
                </a:r>
                <a14:m>
                  <m:oMath xmlns:m="http://schemas.openxmlformats.org/officeDocument/2006/math">
                    <m:r>
                      <a:rPr lang="en-US" sz="2400" b="0" i="1" smtClean="0">
                        <a:latin typeface="Cambria Math"/>
                      </a:rPr>
                      <m:t>[</m:t>
                    </m:r>
                    <m:r>
                      <a:rPr lang="en-US" sz="2400" b="0" i="1" smtClean="0">
                        <a:latin typeface="Cambria Math"/>
                      </a:rPr>
                      <m:t>1</m:t>
                    </m:r>
                    <m:r>
                      <a:rPr lang="en-US" sz="2400" b="0" i="1" smtClean="0">
                        <a:latin typeface="Cambria Math"/>
                      </a:rPr>
                      <m:t>+</m:t>
                    </m:r>
                    <m:r>
                      <a:rPr lang="en-US" sz="2400" b="0" i="1" smtClean="0">
                        <a:latin typeface="Cambria Math"/>
                      </a:rPr>
                      <m:t>2</m:t>
                    </m:r>
                    <m:r>
                      <a:rPr lang="en-US" sz="2400" b="0" i="1" smtClean="0">
                        <a:latin typeface="Cambria Math"/>
                      </a:rPr>
                      <m:t>+</m:t>
                    </m:r>
                    <m:r>
                      <a:rPr lang="en-US" sz="2400" b="0" i="1" smtClean="0">
                        <a:latin typeface="Cambria Math"/>
                      </a:rPr>
                      <m:t>4</m:t>
                    </m:r>
                    <m:r>
                      <a:rPr lang="en-US" sz="2400" b="0" i="1" smtClean="0">
                        <a:latin typeface="Cambria Math"/>
                      </a:rPr>
                      <m:t>+</m:t>
                    </m:r>
                    <m:r>
                      <a:rPr lang="en-US" sz="2400" b="0" i="1" smtClean="0">
                        <a:latin typeface="Cambria Math"/>
                      </a:rPr>
                      <m:t>8</m:t>
                    </m:r>
                    <m:r>
                      <a:rPr lang="en-US" sz="2400" b="0" i="1" smtClean="0">
                        <a:latin typeface="Cambria Math"/>
                      </a:rPr>
                      <m:t>+</m:t>
                    </m:r>
                    <m:r>
                      <a:rPr lang="en-US" sz="2400" b="0" i="1" smtClean="0">
                        <a:latin typeface="Cambria Math"/>
                      </a:rPr>
                      <m:t>16</m:t>
                    </m:r>
                    <m:r>
                      <a:rPr lang="en-US" sz="2400" b="0" i="1" smtClean="0">
                        <a:latin typeface="Cambria Math"/>
                      </a:rPr>
                      <m:t>+…. </m:t>
                    </m:r>
                    <m:r>
                      <a:rPr lang="en-US" sz="2400" b="0" i="1" smtClean="0">
                        <a:latin typeface="Cambria Math"/>
                      </a:rPr>
                      <m:t>2</m:t>
                    </m:r>
                    <m:r>
                      <a:rPr lang="en-US" sz="2400" b="0" i="1" baseline="30000" smtClean="0">
                        <a:latin typeface="Cambria Math"/>
                      </a:rPr>
                      <m:t>h</m:t>
                    </m:r>
                    <m:r>
                      <a:rPr lang="en-US" sz="2400" b="0" i="1" baseline="30000" smtClean="0">
                        <a:latin typeface="Cambria Math"/>
                      </a:rPr>
                      <m:t>_</m:t>
                    </m:r>
                    <m:r>
                      <a:rPr lang="en-US" sz="2400" b="0" i="1" baseline="30000" smtClean="0">
                        <a:latin typeface="Cambria Math"/>
                      </a:rPr>
                      <m:t>1</m:t>
                    </m:r>
                    <m:r>
                      <a:rPr lang="en-US" sz="2400" b="0" i="1" baseline="30000" smtClean="0">
                        <a:latin typeface="Cambria Math"/>
                      </a:rPr>
                      <m:t>]</m:t>
                    </m:r>
                  </m:oMath>
                </a14:m>
                <a:endParaRPr lang="en-US" sz="2400" dirty="0">
                  <a:latin typeface="Segoe"/>
                </a:endParaRPr>
              </a:p>
              <a:p>
                <a:pPr>
                  <a:lnSpc>
                    <a:spcPct val="150000"/>
                  </a:lnSpc>
                </a:pPr>
                <a:r>
                  <a:rPr lang="en-US" sz="2400" dirty="0">
                    <a:solidFill>
                      <a:srgbClr val="00B0F0"/>
                    </a:solidFill>
                    <a:latin typeface="Segoe"/>
                  </a:rPr>
                  <a:t>Geometric series  s= a+ar+ar</a:t>
                </a:r>
                <a:r>
                  <a:rPr lang="en-US" sz="2400" baseline="30000" dirty="0">
                    <a:solidFill>
                      <a:srgbClr val="00B0F0"/>
                    </a:solidFill>
                    <a:latin typeface="Segoe"/>
                  </a:rPr>
                  <a:t>2</a:t>
                </a:r>
                <a:r>
                  <a:rPr lang="en-US" sz="2400" dirty="0">
                    <a:solidFill>
                      <a:srgbClr val="00B0F0"/>
                    </a:solidFill>
                    <a:latin typeface="Segoe"/>
                  </a:rPr>
                  <a:t>+…+ar</a:t>
                </a:r>
                <a:r>
                  <a:rPr lang="en-US" sz="2400" baseline="30000" dirty="0">
                    <a:solidFill>
                      <a:srgbClr val="00B0F0"/>
                    </a:solidFill>
                    <a:latin typeface="Segoe"/>
                  </a:rPr>
                  <a:t>k-1</a:t>
                </a:r>
                <a:r>
                  <a:rPr lang="en-US" sz="2400" dirty="0">
                    <a:solidFill>
                      <a:srgbClr val="00B0F0"/>
                    </a:solidFill>
                    <a:latin typeface="Segoe"/>
                  </a:rPr>
                  <a:t> = </a:t>
                </a:r>
                <a14:m>
                  <m:oMath xmlns:m="http://schemas.openxmlformats.org/officeDocument/2006/math">
                    <m:f>
                      <m:fPr>
                        <m:ctrlPr>
                          <a:rPr lang="en-US" sz="2400" i="1" smtClean="0">
                            <a:solidFill>
                              <a:srgbClr val="00B0F0"/>
                            </a:solidFill>
                            <a:latin typeface="Cambria Math" panose="02040503050406030204" pitchFamily="18" charset="0"/>
                          </a:rPr>
                        </m:ctrlPr>
                      </m:fPr>
                      <m:num>
                        <m:r>
                          <a:rPr lang="en-US" sz="2400" b="0" i="1" smtClean="0">
                            <a:solidFill>
                              <a:srgbClr val="00B0F0"/>
                            </a:solidFill>
                            <a:latin typeface="Cambria Math"/>
                          </a:rPr>
                          <m:t>𝑎</m:t>
                        </m:r>
                        <m:d>
                          <m:dPr>
                            <m:ctrlPr>
                              <a:rPr lang="en-US" sz="2400" b="0" i="1" smtClean="0">
                                <a:solidFill>
                                  <a:srgbClr val="00B0F0"/>
                                </a:solidFill>
                                <a:latin typeface="Cambria Math" panose="02040503050406030204" pitchFamily="18" charset="0"/>
                              </a:rPr>
                            </m:ctrlPr>
                          </m:dPr>
                          <m:e>
                            <m:r>
                              <a:rPr lang="en-US" sz="2400" b="0" i="1" smtClean="0">
                                <a:solidFill>
                                  <a:srgbClr val="00B0F0"/>
                                </a:solidFill>
                                <a:latin typeface="Cambria Math"/>
                              </a:rPr>
                              <m:t>𝑟</m:t>
                            </m:r>
                            <m:r>
                              <a:rPr lang="en-US" sz="2400" b="0" i="1" baseline="30000" smtClean="0">
                                <a:solidFill>
                                  <a:srgbClr val="00B0F0"/>
                                </a:solidFill>
                                <a:latin typeface="Cambria Math"/>
                              </a:rPr>
                              <m:t>𝑘</m:t>
                            </m:r>
                            <m:r>
                              <a:rPr lang="en-US" sz="2400" b="0" i="1" smtClean="0">
                                <a:solidFill>
                                  <a:srgbClr val="00B0F0"/>
                                </a:solidFill>
                                <a:latin typeface="Cambria Math"/>
                              </a:rPr>
                              <m:t> −</m:t>
                            </m:r>
                            <m:r>
                              <a:rPr lang="en-US" sz="2400" b="0" i="1" smtClean="0">
                                <a:solidFill>
                                  <a:srgbClr val="00B0F0"/>
                                </a:solidFill>
                                <a:latin typeface="Cambria Math"/>
                              </a:rPr>
                              <m:t>1</m:t>
                            </m:r>
                          </m:e>
                        </m:d>
                      </m:num>
                      <m:den>
                        <m:r>
                          <a:rPr lang="en-US" sz="2400" b="0" i="1" smtClean="0">
                            <a:solidFill>
                              <a:srgbClr val="00B0F0"/>
                            </a:solidFill>
                            <a:latin typeface="Cambria Math"/>
                          </a:rPr>
                          <m:t>(</m:t>
                        </m:r>
                        <m:r>
                          <a:rPr lang="en-US" sz="2400" b="0" i="1" smtClean="0">
                            <a:solidFill>
                              <a:srgbClr val="00B0F0"/>
                            </a:solidFill>
                            <a:latin typeface="Cambria Math"/>
                          </a:rPr>
                          <m:t>𝑟</m:t>
                        </m:r>
                        <m:r>
                          <a:rPr lang="en-US" sz="2400" b="0" i="1" smtClean="0">
                            <a:solidFill>
                              <a:srgbClr val="00B0F0"/>
                            </a:solidFill>
                            <a:latin typeface="Cambria Math"/>
                          </a:rPr>
                          <m:t>−</m:t>
                        </m:r>
                        <m:r>
                          <a:rPr lang="en-US" sz="2400" b="0" i="1" smtClean="0">
                            <a:solidFill>
                              <a:srgbClr val="00B0F0"/>
                            </a:solidFill>
                            <a:latin typeface="Cambria Math"/>
                          </a:rPr>
                          <m:t>1</m:t>
                        </m:r>
                        <m:r>
                          <a:rPr lang="en-US" sz="2400" b="0" i="1" smtClean="0">
                            <a:solidFill>
                              <a:srgbClr val="00B0F0"/>
                            </a:solidFill>
                            <a:latin typeface="Cambria Math"/>
                          </a:rPr>
                          <m:t>)</m:t>
                        </m:r>
                      </m:den>
                    </m:f>
                    <m:r>
                      <a:rPr lang="en-US" sz="2400" b="0" i="1" smtClean="0">
                        <a:solidFill>
                          <a:srgbClr val="00B0F0"/>
                        </a:solidFill>
                        <a:latin typeface="Cambria Math"/>
                      </a:rPr>
                      <m:t> </m:t>
                    </m:r>
                    <m:r>
                      <a:rPr lang="en-US" sz="2400" b="0" i="1" smtClean="0">
                        <a:solidFill>
                          <a:srgbClr val="00B0F0"/>
                        </a:solidFill>
                        <a:latin typeface="Cambria Math" panose="02040503050406030204" pitchFamily="18" charset="0"/>
                      </a:rPr>
                      <m:t>, </m:t>
                    </m:r>
                    <m:r>
                      <a:rPr lang="en-US" sz="2400" b="0" i="1" smtClean="0">
                        <a:solidFill>
                          <a:srgbClr val="00B0F0"/>
                        </a:solidFill>
                        <a:latin typeface="Cambria Math" panose="02040503050406030204" pitchFamily="18" charset="0"/>
                      </a:rPr>
                      <m:t>𝑟</m:t>
                    </m:r>
                    <m:r>
                      <a:rPr lang="en-US" sz="2400" b="0" i="1" smtClean="0">
                        <a:solidFill>
                          <a:srgbClr val="00B0F0"/>
                        </a:solidFill>
                        <a:latin typeface="Cambria Math" panose="02040503050406030204" pitchFamily="18" charset="0"/>
                        <a:ea typeface="Cambria Math" panose="02040503050406030204" pitchFamily="18" charset="0"/>
                      </a:rPr>
                      <m:t>≠</m:t>
                    </m:r>
                    <m:r>
                      <a:rPr lang="en-US" sz="2400" b="0" i="1" smtClean="0">
                        <a:solidFill>
                          <a:srgbClr val="00B0F0"/>
                        </a:solidFill>
                        <a:latin typeface="Cambria Math" panose="02040503050406030204" pitchFamily="18" charset="0"/>
                        <a:ea typeface="Cambria Math" panose="02040503050406030204" pitchFamily="18" charset="0"/>
                      </a:rPr>
                      <m:t>1</m:t>
                    </m:r>
                    <m:r>
                      <a:rPr lang="en-US" sz="2400" b="0" i="1" smtClean="0">
                        <a:solidFill>
                          <a:srgbClr val="00B0F0"/>
                        </a:solidFill>
                        <a:latin typeface="Cambria Math"/>
                      </a:rPr>
                      <m:t> </m:t>
                    </m:r>
                  </m:oMath>
                </a14:m>
                <a:r>
                  <a:rPr lang="en-US" sz="2400" dirty="0">
                    <a:latin typeface="Segoe"/>
                  </a:rPr>
                  <a:t> </a:t>
                </a:r>
              </a:p>
              <a:p>
                <a:pPr>
                  <a:lnSpc>
                    <a:spcPct val="150000"/>
                  </a:lnSpc>
                </a:pPr>
                <a:r>
                  <a:rPr lang="en-US" sz="2400" dirty="0">
                    <a:latin typeface="Segoe"/>
                  </a:rPr>
                  <a:t>1(2</a:t>
                </a:r>
                <a:r>
                  <a:rPr lang="en-US" sz="2400" baseline="30000" dirty="0">
                    <a:latin typeface="Segoe"/>
                  </a:rPr>
                  <a:t>h</a:t>
                </a:r>
                <a:r>
                  <a:rPr lang="en-US" sz="2400" dirty="0">
                    <a:latin typeface="Segoe"/>
                  </a:rPr>
                  <a:t> – 1) / (2-1) = 2</a:t>
                </a:r>
                <a:r>
                  <a:rPr lang="en-US" sz="2400" baseline="30000" dirty="0">
                    <a:latin typeface="Segoe"/>
                  </a:rPr>
                  <a:t>h</a:t>
                </a:r>
                <a:r>
                  <a:rPr lang="en-US" sz="2400" dirty="0">
                    <a:latin typeface="Segoe"/>
                  </a:rPr>
                  <a:t> – 1 = 2</a:t>
                </a:r>
                <a:r>
                  <a:rPr lang="en-US" sz="2400" baseline="30000" dirty="0">
                    <a:latin typeface="Segoe"/>
                  </a:rPr>
                  <a:t>log</a:t>
                </a:r>
                <a:r>
                  <a:rPr lang="en-US" sz="2400" baseline="-2000" dirty="0">
                    <a:latin typeface="Segoe"/>
                  </a:rPr>
                  <a:t>2</a:t>
                </a:r>
                <a:r>
                  <a:rPr lang="en-US" sz="2400" baseline="30000" dirty="0">
                    <a:latin typeface="Segoe"/>
                  </a:rPr>
                  <a:t>n</a:t>
                </a:r>
                <a:r>
                  <a:rPr lang="en-US" sz="2400" dirty="0">
                    <a:latin typeface="Segoe"/>
                  </a:rPr>
                  <a:t> – 1 = n – 1</a:t>
                </a:r>
              </a:p>
              <a:p>
                <a:pPr>
                  <a:lnSpc>
                    <a:spcPct val="150000"/>
                  </a:lnSpc>
                </a:pPr>
                <a:r>
                  <a:rPr lang="en-US" sz="2400" dirty="0">
                    <a:latin typeface="Segoe"/>
                  </a:rPr>
                  <a:t>T(n) = n</a:t>
                </a:r>
                <a:r>
                  <a:rPr lang="en-US" sz="2400" baseline="30000" dirty="0">
                    <a:latin typeface="Segoe"/>
                  </a:rPr>
                  <a:t>2</a:t>
                </a:r>
                <a:r>
                  <a:rPr lang="en-US" sz="2400" dirty="0">
                    <a:latin typeface="Segoe"/>
                  </a:rPr>
                  <a:t> + </a:t>
                </a:r>
                <a:r>
                  <a:rPr lang="en-US" sz="2400" dirty="0" err="1">
                    <a:latin typeface="Segoe"/>
                  </a:rPr>
                  <a:t>cn</a:t>
                </a:r>
                <a:r>
                  <a:rPr lang="en-US" sz="2400" dirty="0">
                    <a:latin typeface="Segoe"/>
                  </a:rPr>
                  <a:t>(n-1)</a:t>
                </a:r>
              </a:p>
              <a:p>
                <a:pPr>
                  <a:lnSpc>
                    <a:spcPct val="150000"/>
                  </a:lnSpc>
                </a:pPr>
                <a:r>
                  <a:rPr lang="en-US" sz="2400" dirty="0">
                    <a:latin typeface="Segoe"/>
                  </a:rPr>
                  <a:t>T(n) = </a:t>
                </a:r>
                <a:r>
                  <a:rPr lang="el-GR" sz="2400" dirty="0"/>
                  <a:t>θ</a:t>
                </a:r>
                <a:r>
                  <a:rPr lang="en-US" sz="2400" dirty="0">
                    <a:latin typeface="Segoe"/>
                  </a:rPr>
                  <a:t>(n</a:t>
                </a:r>
                <a:r>
                  <a:rPr lang="en-US" sz="2400" baseline="30000" dirty="0">
                    <a:latin typeface="Segoe"/>
                  </a:rPr>
                  <a:t>2</a:t>
                </a:r>
                <a:r>
                  <a:rPr lang="en-US" sz="2400" dirty="0">
                    <a:latin typeface="Segoe"/>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110836" y="0"/>
                <a:ext cx="8956964" cy="6664260"/>
              </a:xfrm>
              <a:prstGeom prst="rect">
                <a:avLst/>
              </a:prstGeom>
              <a:blipFill>
                <a:blip r:embed="rId2"/>
                <a:stretch>
                  <a:fillRect l="-1020" b="-183"/>
                </a:stretch>
              </a:blipFill>
            </p:spPr>
            <p:txBody>
              <a:bodyPr/>
              <a:lstStyle/>
              <a:p>
                <a:r>
                  <a:rPr lang="en-US">
                    <a:noFill/>
                  </a:rPr>
                  <a:t> </a:t>
                </a:r>
              </a:p>
            </p:txBody>
          </p:sp>
        </mc:Fallback>
      </mc:AlternateContent>
      <p:sp>
        <p:nvSpPr>
          <p:cNvPr id="4" name="Rectangle 3"/>
          <p:cNvSpPr/>
          <p:nvPr/>
        </p:nvSpPr>
        <p:spPr>
          <a:xfrm>
            <a:off x="110836" y="655637"/>
            <a:ext cx="4232564" cy="4873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10836" y="4191000"/>
            <a:ext cx="7661564"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853092" y="4311134"/>
            <a:ext cx="1172116" cy="369332"/>
          </a:xfrm>
          <a:prstGeom prst="rect">
            <a:avLst/>
          </a:prstGeom>
        </p:spPr>
        <p:txBody>
          <a:bodyPr wrap="none">
            <a:spAutoFit/>
          </a:bodyPr>
          <a:lstStyle/>
          <a:p>
            <a:r>
              <a:rPr lang="en-US" dirty="0">
                <a:latin typeface="Segoe"/>
              </a:rPr>
              <a:t>a=1, r = 2</a:t>
            </a:r>
            <a:endParaRPr lang="en-US" dirty="0"/>
          </a:p>
        </p:txBody>
      </p:sp>
    </p:spTree>
    <p:extLst>
      <p:ext uri="{BB962C8B-B14F-4D97-AF65-F5344CB8AC3E}">
        <p14:creationId xmlns:p14="http://schemas.microsoft.com/office/powerpoint/2010/main" val="73570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F0"/>
                </a:solidFill>
              </a:rPr>
              <a:t>References</a:t>
            </a:r>
          </a:p>
        </p:txBody>
      </p:sp>
      <p:sp>
        <p:nvSpPr>
          <p:cNvPr id="5" name="Content Placeholder 4"/>
          <p:cNvSpPr>
            <a:spLocks noGrp="1"/>
          </p:cNvSpPr>
          <p:nvPr>
            <p:ph idx="1"/>
          </p:nvPr>
        </p:nvSpPr>
        <p:spPr/>
        <p:txBody>
          <a:bodyPr/>
          <a:lstStyle/>
          <a:p>
            <a:r>
              <a:rPr lang="en-US" dirty="0">
                <a:solidFill>
                  <a:schemeClr val="tx1"/>
                </a:solidFill>
              </a:rPr>
              <a:t>Introduction to Algorithms, Second Edition by Thomas H. </a:t>
            </a:r>
            <a:r>
              <a:rPr lang="en-US" dirty="0" err="1">
                <a:solidFill>
                  <a:schemeClr val="tx1"/>
                </a:solidFill>
              </a:rPr>
              <a:t>Cormen</a:t>
            </a:r>
            <a:r>
              <a:rPr lang="en-US" dirty="0">
                <a:solidFill>
                  <a:schemeClr val="tx1"/>
                </a:solidFill>
              </a:rPr>
              <a:t>, Charles E. </a:t>
            </a:r>
            <a:r>
              <a:rPr lang="en-US" dirty="0" err="1">
                <a:solidFill>
                  <a:schemeClr val="tx1"/>
                </a:solidFill>
              </a:rPr>
              <a:t>Leiserson</a:t>
            </a:r>
            <a:r>
              <a:rPr lang="en-US" dirty="0">
                <a:solidFill>
                  <a:schemeClr val="tx1"/>
                </a:solidFill>
              </a:rPr>
              <a:t>, Ronald L. </a:t>
            </a:r>
            <a:r>
              <a:rPr lang="en-US" dirty="0" err="1">
                <a:solidFill>
                  <a:schemeClr val="tx1"/>
                </a:solidFill>
              </a:rPr>
              <a:t>Rivest</a:t>
            </a:r>
            <a:r>
              <a:rPr lang="en-US" dirty="0">
                <a:solidFill>
                  <a:schemeClr val="tx1"/>
                </a:solidFill>
              </a:rPr>
              <a:t> and Clifford Stein, The MIT Press © 2001 </a:t>
            </a:r>
          </a:p>
          <a:p>
            <a:r>
              <a:rPr lang="en-US" dirty="0">
                <a:solidFill>
                  <a:schemeClr val="tx1"/>
                </a:solidFill>
              </a:rPr>
              <a:t>Chapter 4.3</a:t>
            </a:r>
          </a:p>
        </p:txBody>
      </p:sp>
    </p:spTree>
    <p:extLst>
      <p:ext uri="{BB962C8B-B14F-4D97-AF65-F5344CB8AC3E}">
        <p14:creationId xmlns:p14="http://schemas.microsoft.com/office/powerpoint/2010/main" val="30312482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egooo">
      <a:majorFont>
        <a:latin typeface="Segoe UI Semibold"/>
        <a:ea typeface=""/>
        <a:cs typeface=""/>
      </a:majorFont>
      <a:minorFont>
        <a:latin typeface="Segoe UI"/>
        <a:ea typeface=""/>
        <a:cs typeface=""/>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0B7603DA286A41973ED08A6E95DDF1" ma:contentTypeVersion="14" ma:contentTypeDescription="Create a new document." ma:contentTypeScope="" ma:versionID="9dbda6c21f670f81b314fde63e299b67">
  <xsd:schema xmlns:xsd="http://www.w3.org/2001/XMLSchema" xmlns:xs="http://www.w3.org/2001/XMLSchema" xmlns:p="http://schemas.microsoft.com/office/2006/metadata/properties" xmlns:ns2="b59073bf-3226-4cc2-a862-685e8fd0a4b2" xmlns:ns3="77f424dc-c8a0-4eac-a0a6-0f28ce03e3e3" targetNamespace="http://schemas.microsoft.com/office/2006/metadata/properties" ma:root="true" ma:fieldsID="3c2f63c7967b26ca995ad52a8d891f55" ns2:_="" ns3:_="">
    <xsd:import namespace="b59073bf-3226-4cc2-a862-685e8fd0a4b2"/>
    <xsd:import namespace="77f424dc-c8a0-4eac-a0a6-0f28ce03e3e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9073bf-3226-4cc2-a862-685e8fd0a4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f14da48-c7bd-4fbb-b3d0-c28c7c6f1fa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f424dc-c8a0-4eac-a0a6-0f28ce03e3e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6a6a460-902d-4d5c-a475-b7e5fe6fe2a9}" ma:internalName="TaxCatchAll" ma:showField="CatchAllData" ma:web="77f424dc-c8a0-4eac-a0a6-0f28ce03e3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59073bf-3226-4cc2-a862-685e8fd0a4b2">
      <Terms xmlns="http://schemas.microsoft.com/office/infopath/2007/PartnerControls"/>
    </lcf76f155ced4ddcb4097134ff3c332f>
    <TaxCatchAll xmlns="77f424dc-c8a0-4eac-a0a6-0f28ce03e3e3" xsi:nil="true"/>
  </documentManagement>
</p:properties>
</file>

<file path=customXml/itemProps1.xml><?xml version="1.0" encoding="utf-8"?>
<ds:datastoreItem xmlns:ds="http://schemas.openxmlformats.org/officeDocument/2006/customXml" ds:itemID="{14675F17-89E9-45B4-825F-437ECA141251}"/>
</file>

<file path=customXml/itemProps2.xml><?xml version="1.0" encoding="utf-8"?>
<ds:datastoreItem xmlns:ds="http://schemas.openxmlformats.org/officeDocument/2006/customXml" ds:itemID="{C5B235BA-3C40-4E80-99E3-6C6C1566601F}"/>
</file>

<file path=customXml/itemProps3.xml><?xml version="1.0" encoding="utf-8"?>
<ds:datastoreItem xmlns:ds="http://schemas.openxmlformats.org/officeDocument/2006/customXml" ds:itemID="{3695A205-46A7-4294-8D59-B5864F0FE9D4}"/>
</file>

<file path=docProps/app.xml><?xml version="1.0" encoding="utf-8"?>
<Properties xmlns="http://schemas.openxmlformats.org/officeDocument/2006/extended-properties" xmlns:vt="http://schemas.openxmlformats.org/officeDocument/2006/docPropsVTypes">
  <Template>TS102129550</Template>
  <TotalTime>4723</TotalTime>
  <Words>2137</Words>
  <Application>Microsoft Office PowerPoint</Application>
  <PresentationFormat>On-screen Show (4:3)</PresentationFormat>
  <Paragraphs>308</Paragraphs>
  <Slides>22</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3" baseType="lpstr">
      <vt:lpstr>Arial</vt:lpstr>
      <vt:lpstr>Calibri</vt:lpstr>
      <vt:lpstr>Cambria Math</vt:lpstr>
      <vt:lpstr>Comic Sans MS</vt:lpstr>
      <vt:lpstr>Segoe</vt:lpstr>
      <vt:lpstr>Segoe UI</vt:lpstr>
      <vt:lpstr>Segoe UI Light</vt:lpstr>
      <vt:lpstr>Symbol</vt:lpstr>
      <vt:lpstr>Wingdings</vt:lpstr>
      <vt:lpstr>Essential</vt:lpstr>
      <vt:lpstr>Equation</vt:lpstr>
      <vt:lpstr>Cs 316: Algorithms  Lecture 4  Analysis Of Recursive Algorithms</vt:lpstr>
      <vt:lpstr>Outline</vt:lpstr>
      <vt:lpstr>Analysis of Merge Sort</vt:lpstr>
      <vt:lpstr>BINARY-SEARCH: Recurrence</vt:lpstr>
      <vt:lpstr>Recurrences </vt:lpstr>
      <vt:lpstr>Compute Complexity for Recursive algorithms</vt:lpstr>
      <vt:lpstr>General Plan for Analysis of recursive algorithms</vt:lpstr>
      <vt:lpstr>Methods for Solving Recurrences</vt:lpstr>
      <vt:lpstr>1. Iteration Method</vt:lpstr>
      <vt:lpstr>Example(1): Binary search recurrence</vt:lpstr>
      <vt:lpstr>Example(2):</vt:lpstr>
      <vt:lpstr>Example(2):</vt:lpstr>
      <vt:lpstr>Example(3)</vt:lpstr>
      <vt:lpstr>Example(3)</vt:lpstr>
      <vt:lpstr>2. The Recursion-tree Method</vt:lpstr>
      <vt:lpstr>Recursion Tree for T(n)=3T(n /3)+(n)</vt:lpstr>
      <vt:lpstr>PowerPoint Presentation</vt:lpstr>
      <vt:lpstr>PowerPoint Presentation</vt:lpstr>
      <vt:lpstr>Recursion Tree for T(n)=4T(n /2)+(n)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316: Algorithms  Lecture 3: Analysis Of Recursive Algorithms</dc:title>
  <dc:creator>EHM</dc:creator>
  <cp:lastModifiedBy>Mohammed El-Said</cp:lastModifiedBy>
  <cp:revision>184</cp:revision>
  <cp:lastPrinted>2014-03-25T22:04:12Z</cp:lastPrinted>
  <dcterms:created xsi:type="dcterms:W3CDTF">2014-03-25T07:04:50Z</dcterms:created>
  <dcterms:modified xsi:type="dcterms:W3CDTF">2024-03-16T14:49:07Z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0x010100350B7603DA286A41973ED08A6E95DDF1</vt:lpwstr>
  </property>
</Properties>
</file>