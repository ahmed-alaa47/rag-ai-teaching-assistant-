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7" r:id="rId2"/>
    <p:sldId id="258" r:id="rId3"/>
    <p:sldId id="400" r:id="rId4"/>
    <p:sldId id="401" r:id="rId5"/>
    <p:sldId id="403" r:id="rId6"/>
    <p:sldId id="405" r:id="rId7"/>
    <p:sldId id="413" r:id="rId8"/>
    <p:sldId id="415" r:id="rId9"/>
    <p:sldId id="416" r:id="rId10"/>
    <p:sldId id="417" r:id="rId11"/>
    <p:sldId id="406" r:id="rId12"/>
    <p:sldId id="408" r:id="rId13"/>
    <p:sldId id="414" r:id="rId14"/>
    <p:sldId id="388" r:id="rId15"/>
    <p:sldId id="389" r:id="rId16"/>
    <p:sldId id="390" r:id="rId17"/>
    <p:sldId id="391" r:id="rId18"/>
    <p:sldId id="418" r:id="rId19"/>
    <p:sldId id="393" r:id="rId20"/>
    <p:sldId id="419" r:id="rId21"/>
    <p:sldId id="394" r:id="rId22"/>
    <p:sldId id="395" r:id="rId23"/>
    <p:sldId id="396" r:id="rId24"/>
    <p:sldId id="397" r:id="rId25"/>
    <p:sldId id="398" r:id="rId26"/>
    <p:sldId id="399" r:id="rId27"/>
    <p:sldId id="35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632" autoAdjust="0"/>
  </p:normalViewPr>
  <p:slideViewPr>
    <p:cSldViewPr>
      <p:cViewPr varScale="1">
        <p:scale>
          <a:sx n="61" d="100"/>
          <a:sy n="61" d="100"/>
        </p:scale>
        <p:origin x="16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4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B100E-1B10-4026-A837-718250C37990}" type="datetimeFigureOut">
              <a:rPr lang="en-US" smtClean="0"/>
              <a:pPr/>
              <a:t>20-Mar-24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9FA32-A7E7-433D-9806-7C101BF74A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6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0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58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53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B42A9-495B-4159-AAE9-97F60E9F767E}" type="slidenum">
              <a:rPr lang="ar-SA"/>
              <a:pPr/>
              <a:t>17</a:t>
            </a:fld>
            <a:endParaRPr lang="en-US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45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7BBD51-AB77-440D-A67C-329618AD8B70}" type="slidenum">
              <a:rPr lang="ar-SA"/>
              <a:pPr/>
              <a:t>22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60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E94E1-AEC3-4BA0-8651-227066434BD4}" type="slidenum">
              <a:rPr lang="ar-SA"/>
              <a:pPr/>
              <a:t>23</a:t>
            </a:fld>
            <a:endParaRPr 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58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E94E1-AEC3-4BA0-8651-227066434BD4}" type="slidenum">
              <a:rPr lang="ar-SA"/>
              <a:pPr/>
              <a:t>24</a:t>
            </a:fld>
            <a:endParaRPr 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70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E94E1-AEC3-4BA0-8651-227066434BD4}" type="slidenum">
              <a:rPr lang="ar-SA"/>
              <a:pPr/>
              <a:t>25</a:t>
            </a:fld>
            <a:endParaRPr 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5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pPr/>
              <a:t>20-Mar-24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pPr/>
              <a:t>20-Mar-24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pPr/>
              <a:t>20-Mar-24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pPr/>
              <a:t>20-Mar-24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6" name="Oval 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8" name="Isosceles Triangle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4" name="Oval 13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17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9" name="Straight Connector 18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1" name="Oval 20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2" name="Isosceles Triangle 21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10BB0C2-0C7E-4864-8B9D-4B7B8548A421}" type="datetimeFigureOut">
              <a:rPr lang="en-US" smtClean="0"/>
              <a:pPr/>
              <a:t>20-Mar-24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6.wmf"/><Relationship Id="rId3" Type="http://schemas.openxmlformats.org/officeDocument/2006/relationships/image" Target="../media/image28.png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8.wmf"/><Relationship Id="rId16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1.wmf"/><Relationship Id="rId3" Type="http://schemas.openxmlformats.org/officeDocument/2006/relationships/image" Target="../media/image33.png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0.wmf"/><Relationship Id="rId5" Type="http://schemas.openxmlformats.org/officeDocument/2006/relationships/image" Target="../media/image13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4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765300"/>
            <a:ext cx="7543800" cy="2273300"/>
          </a:xfrm>
        </p:spPr>
        <p:txBody>
          <a:bodyPr/>
          <a:lstStyle/>
          <a:p>
            <a:pPr algn="ctr"/>
            <a:r>
              <a:rPr lang="en-US" sz="3600" dirty="0"/>
              <a:t>Cs 316: Algorithms </a:t>
            </a:r>
            <a:br>
              <a:rPr lang="en-US" sz="3600" dirty="0"/>
            </a:br>
            <a:r>
              <a:rPr lang="en-US" cap="none" dirty="0">
                <a:solidFill>
                  <a:srgbClr val="FF3300"/>
                </a:solidFill>
              </a:rPr>
              <a:t>Lecture 5</a:t>
            </a:r>
            <a:br>
              <a:rPr lang="en-US" cap="none" dirty="0">
                <a:solidFill>
                  <a:srgbClr val="FF3300"/>
                </a:solidFill>
              </a:rPr>
            </a:br>
            <a:r>
              <a:rPr lang="en-US" cap="none" dirty="0">
                <a:solidFill>
                  <a:srgbClr val="FF3300"/>
                </a:solidFill>
              </a:rPr>
              <a:t> </a:t>
            </a:r>
            <a:r>
              <a:rPr lang="en-US" cap="none" dirty="0"/>
              <a:t>Analysis Of Recursive Algorithms</a:t>
            </a:r>
            <a:endParaRPr lang="en-US" sz="36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57200" y="40386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rgbClr val="FE5815"/>
                </a:solidFill>
                <a:latin typeface="Segoe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cap="none">
                <a:solidFill>
                  <a:srgbClr val="FF0000"/>
                </a:solidFill>
              </a:rPr>
              <a:t>Prepared by: Assoc. Prof. Ensaf Hussein</a:t>
            </a:r>
          </a:p>
          <a:p>
            <a:pPr algn="ctr"/>
            <a:r>
              <a:rPr lang="en-US" cap="none">
                <a:solidFill>
                  <a:srgbClr val="0000CC"/>
                </a:solidFill>
              </a:rPr>
              <a:t>Presented by:</a:t>
            </a:r>
            <a:r>
              <a:rPr lang="en-US" cap="none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Assoc. Prof. Wessam El-Behaidy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Dr. Mohammed El-Said</a:t>
            </a:r>
            <a:endParaRPr lang="ar-EG" sz="2400" b="1" cap="none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25882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Analysis of recursive algorithms </a:t>
            </a:r>
          </a:p>
          <a:p>
            <a:pPr marL="800100" lvl="1" indent="-342900"/>
            <a:r>
              <a:rPr lang="en-US" strike="sngStrike" dirty="0">
                <a:solidFill>
                  <a:schemeClr val="tx1"/>
                </a:solidFill>
              </a:rPr>
              <a:t>Substitution </a:t>
            </a:r>
          </a:p>
          <a:p>
            <a:pPr marL="800100" lvl="1" indent="-3429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Iteration Method – Iteration Tree</a:t>
            </a:r>
          </a:p>
          <a:p>
            <a:pPr marL="800100" lvl="1" indent="-342900"/>
            <a:r>
              <a:rPr lang="en-US" dirty="0">
                <a:solidFill>
                  <a:schemeClr val="tx1"/>
                </a:solidFill>
              </a:rPr>
              <a:t>Master Method</a:t>
            </a:r>
          </a:p>
          <a:p>
            <a:r>
              <a:rPr lang="en-US" dirty="0">
                <a:solidFill>
                  <a:schemeClr val="tx1"/>
                </a:solidFill>
              </a:rPr>
              <a:t>Recursive Algorithms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Factorial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Fibonacci Sequence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Tower of Hanoi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10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3. Master Method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868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idea is to solve a class of recurrences that have the form</a:t>
            </a:r>
          </a:p>
          <a:p>
            <a:pPr>
              <a:lnSpc>
                <a:spcPct val="90000"/>
              </a:lnSpc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&gt;= </a:t>
            </a:r>
            <a:r>
              <a:rPr lang="da-DK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and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b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&gt; </a:t>
            </a:r>
            <a:r>
              <a:rPr lang="da-DK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 and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is asymptotically positive!</a:t>
            </a:r>
          </a:p>
          <a:p>
            <a:pPr lvl="1">
              <a:lnSpc>
                <a:spcPct val="90000"/>
              </a:lnSpc>
            </a:pPr>
            <a:endParaRPr lang="en-US" sz="2400" i="1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rgbClr val="0070C0"/>
                </a:solidFill>
                <a:latin typeface="Segoe"/>
              </a:rPr>
              <a:t>a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’s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subproblems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of size </a:t>
            </a:r>
            <a:r>
              <a:rPr lang="en-US" sz="2400" i="1" dirty="0">
                <a:solidFill>
                  <a:srgbClr val="0070C0"/>
                </a:solidFill>
                <a:latin typeface="Segoe"/>
              </a:rPr>
              <a:t>n/b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are solved recursively, each in time </a:t>
            </a:r>
            <a:r>
              <a:rPr lang="en-US" sz="2400" i="1" dirty="0">
                <a:solidFill>
                  <a:srgbClr val="0070C0"/>
                </a:solidFill>
                <a:latin typeface="Segoe"/>
              </a:rPr>
              <a:t>T</a:t>
            </a:r>
            <a:r>
              <a:rPr lang="en-US" sz="2400" dirty="0">
                <a:solidFill>
                  <a:srgbClr val="0070C0"/>
                </a:solidFill>
                <a:latin typeface="Segoe"/>
              </a:rPr>
              <a:t>(</a:t>
            </a:r>
            <a:r>
              <a:rPr lang="en-US" sz="2400" i="1" dirty="0">
                <a:solidFill>
                  <a:srgbClr val="0070C0"/>
                </a:solidFill>
                <a:latin typeface="Segoe"/>
              </a:rPr>
              <a:t>n/b</a:t>
            </a:r>
            <a:r>
              <a:rPr lang="en-US" sz="2400" dirty="0">
                <a:solidFill>
                  <a:srgbClr val="0070C0"/>
                </a:solidFill>
                <a:latin typeface="Segoe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rgbClr val="0070C0"/>
                </a:solidFill>
                <a:latin typeface="Segoe"/>
              </a:rPr>
              <a:t>f</a:t>
            </a:r>
            <a:r>
              <a:rPr lang="en-US" sz="2400" dirty="0">
                <a:solidFill>
                  <a:srgbClr val="0070C0"/>
                </a:solidFill>
                <a:latin typeface="Segoe"/>
              </a:rPr>
              <a:t>(</a:t>
            </a:r>
            <a:r>
              <a:rPr lang="en-US" sz="2400" i="1" dirty="0">
                <a:solidFill>
                  <a:srgbClr val="0070C0"/>
                </a:solidFill>
                <a:latin typeface="Segoe"/>
              </a:rPr>
              <a:t>n</a:t>
            </a:r>
            <a:r>
              <a:rPr lang="en-US" sz="2400" dirty="0">
                <a:solidFill>
                  <a:srgbClr val="0070C0"/>
                </a:solidFill>
                <a:latin typeface="Segoe"/>
              </a:rPr>
              <a:t>)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is the cost of dividing the problem and combining the results. 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Segoe"/>
              </a:rPr>
              <a:t>Ex: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In merge-sort </a:t>
            </a:r>
          </a:p>
        </p:txBody>
      </p:sp>
      <p:graphicFrame>
        <p:nvGraphicFramePr>
          <p:cNvPr id="377860" name="Object 4"/>
          <p:cNvGraphicFramePr>
            <a:graphicFrameLocks noChangeAspect="1"/>
          </p:cNvGraphicFramePr>
          <p:nvPr/>
        </p:nvGraphicFramePr>
        <p:xfrm>
          <a:off x="2514600" y="2133600"/>
          <a:ext cx="34210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228600" progId="">
                  <p:embed/>
                </p:oleObj>
              </mc:Choice>
              <mc:Fallback>
                <p:oleObj name="Equation" r:id="rId2" imgW="1663700" imgH="228600" progId="">
                  <p:embed/>
                  <p:pic>
                    <p:nvPicPr>
                      <p:cNvPr id="377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342106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1" name="Object 5"/>
          <p:cNvGraphicFramePr>
            <a:graphicFrameLocks noChangeAspect="1"/>
          </p:cNvGraphicFramePr>
          <p:nvPr/>
        </p:nvGraphicFramePr>
        <p:xfrm>
          <a:off x="3581400" y="5486400"/>
          <a:ext cx="2857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228600" progId="">
                  <p:embed/>
                </p:oleObj>
              </mc:Choice>
              <mc:Fallback>
                <p:oleObj name="Equation" r:id="rId4" imgW="1663700" imgH="228600" progId="">
                  <p:embed/>
                  <p:pic>
                    <p:nvPicPr>
                      <p:cNvPr id="3778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486400"/>
                        <a:ext cx="28575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438400" y="2057400"/>
            <a:ext cx="35814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9" name="Group 18"/>
          <p:cNvGrpSpPr/>
          <p:nvPr/>
        </p:nvGrpSpPr>
        <p:grpSpPr>
          <a:xfrm>
            <a:off x="3429000" y="5791200"/>
            <a:ext cx="1219200" cy="766465"/>
            <a:chOff x="3429000" y="5791200"/>
            <a:chExt cx="1219200" cy="766465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4419600" y="5791200"/>
              <a:ext cx="228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4038600" y="5791200"/>
              <a:ext cx="457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429000" y="6096000"/>
              <a:ext cx="990600" cy="461665"/>
            </a:xfrm>
            <a:prstGeom prst="rect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square" rtlCol="1">
              <a:spAutoFit/>
            </a:bodyPr>
            <a:lstStyle/>
            <a:p>
              <a:pPr algn="ctr"/>
              <a:r>
                <a:rPr lang="en-US" sz="2400" b="1" dirty="0"/>
                <a:t>a = 2</a:t>
              </a:r>
              <a:endParaRPr lang="ar-EG" sz="24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76800" y="5867400"/>
            <a:ext cx="990600" cy="762000"/>
            <a:chOff x="4114800" y="5791200"/>
            <a:chExt cx="990600" cy="762000"/>
          </a:xfrm>
        </p:grpSpPr>
        <p:cxnSp>
          <p:nvCxnSpPr>
            <p:cNvPr id="21" name="Straight Connector 20"/>
            <p:cNvCxnSpPr/>
            <p:nvPr/>
          </p:nvCxnSpPr>
          <p:spPr>
            <a:xfrm flipH="1">
              <a:off x="4419600" y="5791200"/>
              <a:ext cx="228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23" idx="0"/>
            </p:cNvCxnSpPr>
            <p:nvPr/>
          </p:nvCxnSpPr>
          <p:spPr>
            <a:xfrm>
              <a:off x="4495800" y="5791200"/>
              <a:ext cx="114300" cy="30033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114800" y="6091535"/>
              <a:ext cx="990600" cy="461665"/>
            </a:xfrm>
            <a:prstGeom prst="rect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square" rtlCol="1">
              <a:spAutoFit/>
            </a:bodyPr>
            <a:lstStyle/>
            <a:p>
              <a:pPr algn="ctr"/>
              <a:r>
                <a:rPr lang="en-US" sz="2400" b="1" dirty="0"/>
                <a:t>b = 2</a:t>
              </a:r>
              <a:endParaRPr lang="ar-EG" sz="2400" b="1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943600" y="5867400"/>
            <a:ext cx="1524000" cy="762000"/>
            <a:chOff x="4267200" y="5791200"/>
            <a:chExt cx="1524000" cy="762000"/>
          </a:xfrm>
        </p:grpSpPr>
        <p:cxnSp>
          <p:nvCxnSpPr>
            <p:cNvPr id="26" name="Straight Connector 25"/>
            <p:cNvCxnSpPr/>
            <p:nvPr/>
          </p:nvCxnSpPr>
          <p:spPr>
            <a:xfrm flipH="1">
              <a:off x="4419600" y="5791200"/>
              <a:ext cx="228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4495800" y="5791200"/>
              <a:ext cx="3810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267200" y="6091535"/>
              <a:ext cx="1524000" cy="461665"/>
            </a:xfrm>
            <a:prstGeom prst="rect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square" rtlCol="1">
              <a:spAutoFit/>
            </a:bodyPr>
            <a:lstStyle/>
            <a:p>
              <a:pPr algn="ctr"/>
              <a:r>
                <a:rPr lang="en-US" sz="2400" b="1" dirty="0"/>
                <a:t>f(n) = n</a:t>
              </a:r>
              <a:endParaRPr lang="ar-EG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3215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Master Method </a:t>
            </a:r>
          </a:p>
        </p:txBody>
      </p:sp>
      <p:graphicFrame>
        <p:nvGraphicFramePr>
          <p:cNvPr id="378883" name="Object 3"/>
          <p:cNvGraphicFramePr>
            <a:graphicFrameLocks noChangeAspect="1"/>
          </p:cNvGraphicFramePr>
          <p:nvPr/>
        </p:nvGraphicFramePr>
        <p:xfrm>
          <a:off x="292198" y="990600"/>
          <a:ext cx="8470802" cy="498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9783541" imgH="5761905" progId="">
                  <p:embed/>
                </p:oleObj>
              </mc:Choice>
              <mc:Fallback>
                <p:oleObj name="Photo Editor Photo" r:id="rId2" imgW="9783541" imgH="5761905" progId="">
                  <p:embed/>
                  <p:pic>
                    <p:nvPicPr>
                      <p:cNvPr id="3788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98" y="990600"/>
                        <a:ext cx="8470802" cy="4989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84" name="Text Box 4"/>
          <p:cNvSpPr txBox="1">
            <a:spLocks noChangeArrowheads="1"/>
          </p:cNvSpPr>
          <p:nvPr/>
        </p:nvSpPr>
        <p:spPr bwMode="auto">
          <a:xfrm>
            <a:off x="228600" y="5690681"/>
            <a:ext cx="8839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Arial" charset="0"/>
              </a:rPr>
              <a:t>Split problem into </a:t>
            </a:r>
            <a:r>
              <a:rPr lang="en-US" sz="2400" i="1" dirty="0">
                <a:solidFill>
                  <a:srgbClr val="FF0000"/>
                </a:solidFill>
              </a:rPr>
              <a:t>a</a:t>
            </a:r>
            <a:r>
              <a:rPr lang="en-US" sz="2400" dirty="0">
                <a:latin typeface="Arial" charset="0"/>
              </a:rPr>
              <a:t> parts at </a:t>
            </a:r>
            <a:r>
              <a:rPr lang="en-US" sz="2400" dirty="0" err="1">
                <a:solidFill>
                  <a:srgbClr val="FF0000"/>
                </a:solidFill>
              </a:rPr>
              <a:t>log</a:t>
            </a:r>
            <a:r>
              <a:rPr lang="en-US" sz="2400" i="1" baseline="-25000" dirty="0" err="1">
                <a:solidFill>
                  <a:srgbClr val="FF0000"/>
                </a:solidFill>
              </a:rPr>
              <a:t>b</a:t>
            </a:r>
            <a:r>
              <a:rPr lang="en-US" sz="2400" i="1" dirty="0" err="1">
                <a:solidFill>
                  <a:srgbClr val="FF0000"/>
                </a:solidFill>
              </a:rPr>
              <a:t>n</a:t>
            </a:r>
            <a:r>
              <a:rPr lang="en-US" sz="2400" dirty="0">
                <a:latin typeface="Arial" charset="0"/>
              </a:rPr>
              <a:t> levels.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Arial" charset="0"/>
              </a:rPr>
              <a:t>There are		     leaves</a:t>
            </a:r>
            <a:endParaRPr lang="en-GB" sz="2400" dirty="0"/>
          </a:p>
        </p:txBody>
      </p:sp>
      <p:graphicFrame>
        <p:nvGraphicFramePr>
          <p:cNvPr id="378885" name="Object 5"/>
          <p:cNvGraphicFramePr>
            <a:graphicFrameLocks noChangeAspect="1"/>
          </p:cNvGraphicFramePr>
          <p:nvPr/>
        </p:nvGraphicFramePr>
        <p:xfrm>
          <a:off x="1730375" y="6210300"/>
          <a:ext cx="1698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100" imgH="228600" progId="">
                  <p:embed/>
                </p:oleObj>
              </mc:Choice>
              <mc:Fallback>
                <p:oleObj name="Equation" r:id="rId4" imgW="927100" imgH="228600" progId="">
                  <p:embed/>
                  <p:pic>
                    <p:nvPicPr>
                      <p:cNvPr id="3788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6210300"/>
                        <a:ext cx="16986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752600" y="6172200"/>
            <a:ext cx="1676400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64919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Master Method Intuition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752600"/>
            <a:ext cx="7696200" cy="4373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C00000"/>
                </a:solidFill>
                <a:latin typeface="Segoe"/>
              </a:rPr>
              <a:t>Three common cases: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Running time dominated by cost at leaves 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Running time evenly distributed throughout the tree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Running time dominated by cost at root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Consequently, to solve the recurrence, we need only to characterize the dominant term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In each case compare         with</a:t>
            </a:r>
          </a:p>
          <a:p>
            <a:pPr>
              <a:lnSpc>
                <a:spcPct val="90000"/>
              </a:lnSpc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  <p:graphicFrame>
        <p:nvGraphicFramePr>
          <p:cNvPr id="3809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301244"/>
              </p:ext>
            </p:extLst>
          </p:nvPr>
        </p:nvGraphicFramePr>
        <p:xfrm>
          <a:off x="4648200" y="4953000"/>
          <a:ext cx="812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228501" progId="">
                  <p:embed/>
                </p:oleObj>
              </mc:Choice>
              <mc:Fallback>
                <p:oleObj name="Equation" r:id="rId2" imgW="393529" imgH="228501" progId="">
                  <p:embed/>
                  <p:pic>
                    <p:nvPicPr>
                      <p:cNvPr id="3809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953000"/>
                        <a:ext cx="81280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9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032399"/>
              </p:ext>
            </p:extLst>
          </p:nvPr>
        </p:nvGraphicFramePr>
        <p:xfrm>
          <a:off x="6072187" y="4953000"/>
          <a:ext cx="1319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266584" progId="">
                  <p:embed/>
                </p:oleObj>
              </mc:Choice>
              <mc:Fallback>
                <p:oleObj name="Equation" r:id="rId4" imgW="660113" imgH="266584" progId="">
                  <p:embed/>
                  <p:pic>
                    <p:nvPicPr>
                      <p:cNvPr id="3809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7" y="4953000"/>
                        <a:ext cx="13192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09550" y="2209800"/>
            <a:ext cx="11881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Case 1: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r>
              <a:rPr lang="en-US" sz="2400" b="1" dirty="0">
                <a:solidFill>
                  <a:srgbClr val="00B0F0"/>
                </a:solidFill>
              </a:rPr>
              <a:t>Case 2: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r>
              <a:rPr lang="en-US" sz="2400" b="1" dirty="0">
                <a:solidFill>
                  <a:srgbClr val="00B0F0"/>
                </a:solidFill>
              </a:rPr>
              <a:t>Case 3:</a:t>
            </a:r>
          </a:p>
        </p:txBody>
      </p:sp>
    </p:spTree>
    <p:extLst>
      <p:ext uri="{BB962C8B-B14F-4D97-AF65-F5344CB8AC3E}">
        <p14:creationId xmlns:p14="http://schemas.microsoft.com/office/powerpoint/2010/main" val="327254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Master Method </a:t>
            </a:r>
            <a:r>
              <a:rPr lang="en-US" dirty="0">
                <a:solidFill>
                  <a:srgbClr val="7030A0"/>
                </a:solidFill>
              </a:rPr>
              <a:t>Case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19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68977" y="1600200"/>
                <a:ext cx="76200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Proof that:</a:t>
                </a:r>
              </a:p>
              <a:p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1)                                     for some constant</a:t>
                </a:r>
              </a:p>
              <a:p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	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f(n) &lt;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  <a:sym typeface="Wingdings" panose="05000000000000000000" pitchFamily="2" charset="2"/>
                </a:endParaRPr>
              </a:p>
              <a:p>
                <a:r>
                  <a:rPr lang="en-US" sz="2400" i="1" dirty="0">
                    <a:solidFill>
                      <a:srgbClr val="C00000"/>
                    </a:solidFill>
                    <a:latin typeface="Segoe"/>
                  </a:rPr>
                  <a:t>2) f 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</a:rPr>
                  <a:t>(</a:t>
                </a:r>
                <a:r>
                  <a:rPr lang="en-US" sz="2400" i="1" dirty="0">
                    <a:solidFill>
                      <a:srgbClr val="C00000"/>
                    </a:solidFill>
                    <a:latin typeface="Segoe"/>
                  </a:rPr>
                  <a:t>n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</a:rPr>
                  <a:t>) grows </a:t>
                </a:r>
                <a:r>
                  <a:rPr lang="en-US" sz="2400" dirty="0" err="1">
                    <a:solidFill>
                      <a:srgbClr val="C00000"/>
                    </a:solidFill>
                    <a:latin typeface="Segoe"/>
                  </a:rPr>
                  <a:t>polynomially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</a:rPr>
                  <a:t> (by factor      ) slower than  	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  <a:latin typeface="Segoe"/>
                </a:endParaRPr>
              </a:p>
              <a:p>
                <a:r>
                  <a:rPr lang="en-US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The work at the leaf level dominates</a:t>
                </a:r>
              </a:p>
              <a:p>
                <a:pPr lvl="1"/>
                <a:r>
                  <a:rPr lang="da-DK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Summation of recursion-tree levels</a:t>
                </a:r>
              </a:p>
              <a:p>
                <a:pPr lvl="1"/>
                <a:r>
                  <a:rPr lang="da-DK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Cost of all the leaves</a:t>
                </a:r>
              </a:p>
              <a:p>
                <a:pPr lvl="1"/>
                <a:r>
                  <a:rPr lang="da-DK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Thus, the overall cost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</a:endParaRPr>
              </a:p>
              <a:p>
                <a:pPr lvl="1"/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</a:endParaRPr>
              </a:p>
            </p:txBody>
          </p:sp>
        </mc:Choice>
        <mc:Fallback xmlns="">
          <p:sp>
            <p:nvSpPr>
              <p:cNvPr id="3819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977" y="1600200"/>
                <a:ext cx="7620000" cy="4876800"/>
              </a:xfrm>
              <a:blipFill>
                <a:blip r:embed="rId3"/>
                <a:stretch>
                  <a:fillRect l="-1280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1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976035"/>
              </p:ext>
            </p:extLst>
          </p:nvPr>
        </p:nvGraphicFramePr>
        <p:xfrm>
          <a:off x="1371600" y="2087563"/>
          <a:ext cx="24447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4838" imgH="266584" progId="">
                  <p:embed/>
                </p:oleObj>
              </mc:Choice>
              <mc:Fallback>
                <p:oleObj name="Equation" r:id="rId4" imgW="1294838" imgH="266584" progId="">
                  <p:embed/>
                  <p:pic>
                    <p:nvPicPr>
                      <p:cNvPr id="3819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087563"/>
                        <a:ext cx="2444750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36852"/>
              </p:ext>
            </p:extLst>
          </p:nvPr>
        </p:nvGraphicFramePr>
        <p:xfrm>
          <a:off x="7983537" y="3056658"/>
          <a:ext cx="85566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228501" progId="">
                  <p:embed/>
                </p:oleObj>
              </mc:Choice>
              <mc:Fallback>
                <p:oleObj name="Equation" r:id="rId6" imgW="393529" imgH="228501" progId="">
                  <p:embed/>
                  <p:pic>
                    <p:nvPicPr>
                      <p:cNvPr id="3819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7" y="3056658"/>
                        <a:ext cx="855663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921900"/>
              </p:ext>
            </p:extLst>
          </p:nvPr>
        </p:nvGraphicFramePr>
        <p:xfrm>
          <a:off x="6772275" y="2057400"/>
          <a:ext cx="847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190417" progId="">
                  <p:embed/>
                </p:oleObj>
              </mc:Choice>
              <mc:Fallback>
                <p:oleObj name="Equation" r:id="rId8" imgW="393529" imgH="190417" progId="">
                  <p:embed/>
                  <p:pic>
                    <p:nvPicPr>
                      <p:cNvPr id="3819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275" y="2057400"/>
                        <a:ext cx="84772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058725"/>
              </p:ext>
            </p:extLst>
          </p:nvPr>
        </p:nvGraphicFramePr>
        <p:xfrm>
          <a:off x="5773737" y="3048000"/>
          <a:ext cx="457200" cy="51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12" imgH="228501" progId="">
                  <p:embed/>
                </p:oleObj>
              </mc:Choice>
              <mc:Fallback>
                <p:oleObj name="Equation" r:id="rId10" imgW="203112" imgH="228501" progId="">
                  <p:embed/>
                  <p:pic>
                    <p:nvPicPr>
                      <p:cNvPr id="3819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7" y="3048000"/>
                        <a:ext cx="457200" cy="511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518762"/>
              </p:ext>
            </p:extLst>
          </p:nvPr>
        </p:nvGraphicFramePr>
        <p:xfrm>
          <a:off x="6049169" y="4231047"/>
          <a:ext cx="14462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252" imgH="228501" progId="">
                  <p:embed/>
                </p:oleObj>
              </mc:Choice>
              <mc:Fallback>
                <p:oleObj name="Equation" r:id="rId12" imgW="571252" imgH="228501" progId="">
                  <p:embed/>
                  <p:pic>
                    <p:nvPicPr>
                      <p:cNvPr id="3819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169" y="4231047"/>
                        <a:ext cx="1446212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908171"/>
              </p:ext>
            </p:extLst>
          </p:nvPr>
        </p:nvGraphicFramePr>
        <p:xfrm>
          <a:off x="4343400" y="5137150"/>
          <a:ext cx="1447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1252" imgH="228501" progId="">
                  <p:embed/>
                </p:oleObj>
              </mc:Choice>
              <mc:Fallback>
                <p:oleObj name="Equation" r:id="rId14" imgW="571252" imgH="228501" progId="">
                  <p:embed/>
                  <p:pic>
                    <p:nvPicPr>
                      <p:cNvPr id="3819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37150"/>
                        <a:ext cx="144780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37949"/>
              </p:ext>
            </p:extLst>
          </p:nvPr>
        </p:nvGraphicFramePr>
        <p:xfrm>
          <a:off x="4343400" y="5594350"/>
          <a:ext cx="1447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252" imgH="228501" progId="">
                  <p:embed/>
                </p:oleObj>
              </mc:Choice>
              <mc:Fallback>
                <p:oleObj name="Equation" r:id="rId16" imgW="571252" imgH="228501" progId="">
                  <p:embed/>
                  <p:pic>
                    <p:nvPicPr>
                      <p:cNvPr id="3819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594350"/>
                        <a:ext cx="144780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22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B0F0"/>
                </a:solidFill>
              </a:rPr>
              <a:t>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809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1295400"/>
                <a:ext cx="8610599" cy="53340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Extract </a:t>
                </a:r>
                <a:r>
                  <a:rPr lang="da-DK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a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, </a:t>
                </a:r>
                <a:r>
                  <a:rPr lang="da-DK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b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, and </a:t>
                </a:r>
                <a:r>
                  <a:rPr lang="da-DK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f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(</a:t>
                </a:r>
                <a:r>
                  <a:rPr lang="da-DK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n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) from a given recurrence</a:t>
                </a: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Determine </a:t>
                </a: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Compare </a:t>
                </a:r>
                <a:r>
                  <a:rPr lang="da-DK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f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(</a:t>
                </a:r>
                <a:r>
                  <a:rPr lang="da-DK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n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) and          </a:t>
                </a:r>
                <a:r>
                  <a:rPr lang="ar-EG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  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asymptotically </a:t>
                </a: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Determine appropriate MT case, and apply</a:t>
                </a:r>
              </a:p>
              <a:p>
                <a:r>
                  <a:rPr lang="da-DK" sz="2400" dirty="0">
                    <a:solidFill>
                      <a:srgbClr val="FF0000"/>
                    </a:solidFill>
                    <a:latin typeface="Segoe"/>
                  </a:rPr>
                  <a:t>Example 1: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T(n) = 9 T(n/3) + n	</a:t>
                </a:r>
              </a:p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  <a:sym typeface="Wingdings" panose="05000000000000000000" pitchFamily="2" charset="2"/>
                  </a:rPr>
                  <a:t>	 a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9, b= 3, f(n) =n</a:t>
                </a:r>
              </a:p>
              <a:p>
                <a:r>
                  <a:rPr lang="da-DK" sz="2400" dirty="0">
                    <a:solidFill>
                      <a:schemeClr val="tx1"/>
                    </a:solidFill>
                    <a:latin typeface="Segoe"/>
                  </a:rPr>
                  <a:t>1-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n</a:t>
                </a:r>
                <a:r>
                  <a:rPr lang="da-DK" sz="2400" baseline="30000" dirty="0">
                    <a:solidFill>
                      <a:srgbClr val="0070C0"/>
                    </a:solidFill>
                    <a:latin typeface="Segoe"/>
                  </a:rPr>
                  <a:t>2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&gt; f(n)		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:r>
                  <a:rPr lang="da-DK" sz="2800" b="1" dirty="0">
                    <a:solidFill>
                      <a:srgbClr val="00B0F0"/>
                    </a:solidFill>
                    <a:latin typeface="Segoe"/>
                    <a:sym typeface="Wingdings" panose="05000000000000000000" pitchFamily="2" charset="2"/>
                  </a:rPr>
                  <a:t>case 1</a:t>
                </a: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2- </a:t>
                </a:r>
                <a:r>
                  <a:rPr lang="en-US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, 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𝑤𝑖𝑡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da-DK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  <a:sym typeface="Wingdings" panose="05000000000000000000" pitchFamily="2" charset="2"/>
                </a:endParaRPr>
              </a:p>
              <a:p>
                <a:r>
                  <a:rPr lang="da-DK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 T(n)=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)=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da-DK" sz="2800" dirty="0">
                  <a:solidFill>
                    <a:srgbClr val="C00000"/>
                  </a:solidFill>
                  <a:latin typeface="Segoe"/>
                </a:endParaRPr>
              </a:p>
            </p:txBody>
          </p:sp>
        </mc:Choice>
        <mc:Fallback xmlns="">
          <p:sp>
            <p:nvSpPr>
              <p:cNvPr id="3880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400"/>
                <a:ext cx="8610599" cy="5334000"/>
              </a:xfrm>
              <a:blipFill>
                <a:blip r:embed="rId4"/>
                <a:stretch>
                  <a:fillRect l="-1416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8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661644"/>
              </p:ext>
            </p:extLst>
          </p:nvPr>
        </p:nvGraphicFramePr>
        <p:xfrm>
          <a:off x="2286000" y="1760538"/>
          <a:ext cx="10160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51" imgH="203112" progId="">
                  <p:embed/>
                </p:oleObj>
              </mc:Choice>
              <mc:Fallback>
                <p:oleObj name="Equation" r:id="rId5" imgW="342751" imgH="203112" progId="">
                  <p:embed/>
                  <p:pic>
                    <p:nvPicPr>
                      <p:cNvPr id="388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60538"/>
                        <a:ext cx="1016000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443695"/>
              </p:ext>
            </p:extLst>
          </p:nvPr>
        </p:nvGraphicFramePr>
        <p:xfrm>
          <a:off x="3581400" y="2217737"/>
          <a:ext cx="10160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2751" imgH="203112" progId="">
                  <p:embed/>
                </p:oleObj>
              </mc:Choice>
              <mc:Fallback>
                <p:oleObj name="Equation" r:id="rId7" imgW="342751" imgH="203112" progId="">
                  <p:embed/>
                  <p:pic>
                    <p:nvPicPr>
                      <p:cNvPr id="3881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217737"/>
                        <a:ext cx="10160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17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Master Method </a:t>
            </a:r>
            <a:r>
              <a:rPr lang="en-US" dirty="0">
                <a:solidFill>
                  <a:srgbClr val="7030A0"/>
                </a:solidFill>
              </a:rPr>
              <a:t>Case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19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68977" y="1600200"/>
                <a:ext cx="76200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Proof that:</a:t>
                </a:r>
              </a:p>
              <a:p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1)                                     for some constant</a:t>
                </a:r>
              </a:p>
              <a:p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	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f(n) 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  <a:sym typeface="Wingdings" panose="05000000000000000000" pitchFamily="2" charset="2"/>
                </a:endParaRPr>
              </a:p>
              <a:p>
                <a:r>
                  <a:rPr lang="en-US" sz="2400" i="1" dirty="0">
                    <a:solidFill>
                      <a:srgbClr val="C00000"/>
                    </a:solidFill>
                    <a:latin typeface="Segoe"/>
                  </a:rPr>
                  <a:t>2) f 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</a:rPr>
                  <a:t>(</a:t>
                </a:r>
                <a:r>
                  <a:rPr lang="en-US" sz="2400" i="1" dirty="0">
                    <a:solidFill>
                      <a:srgbClr val="C00000"/>
                    </a:solidFill>
                    <a:latin typeface="Segoe"/>
                  </a:rPr>
                  <a:t>n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</a:rPr>
                  <a:t>) grows </a:t>
                </a:r>
                <a:r>
                  <a:rPr lang="en-US" sz="2400" dirty="0" err="1">
                    <a:solidFill>
                      <a:srgbClr val="C00000"/>
                    </a:solidFill>
                    <a:latin typeface="Segoe"/>
                  </a:rPr>
                  <a:t>polynomially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</a:rPr>
                  <a:t> (by factor      ) faster than  	</a:t>
                </a:r>
                <a:r>
                  <a:rPr lang="en-US" sz="24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  <a:latin typeface="Segoe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3)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Also need a regularity condition </a:t>
                </a:r>
              </a:p>
              <a:p>
                <a:endParaRPr lang="en-US" sz="2400" dirty="0">
                  <a:solidFill>
                    <a:schemeClr val="tx1"/>
                  </a:solidFill>
                  <a:latin typeface="Segoe"/>
                </a:endParaRPr>
              </a:p>
              <a:p>
                <a:r>
                  <a:rPr lang="en-US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The work at the root dominates</a:t>
                </a:r>
              </a:p>
              <a:p>
                <a:pPr lvl="1"/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</a:endParaRPr>
              </a:p>
            </p:txBody>
          </p:sp>
        </mc:Choice>
        <mc:Fallback xmlns="">
          <p:sp>
            <p:nvSpPr>
              <p:cNvPr id="3819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977" y="1600200"/>
                <a:ext cx="7620000" cy="4876800"/>
              </a:xfrm>
              <a:blipFill>
                <a:blip r:embed="rId3"/>
                <a:stretch>
                  <a:fillRect l="-1280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1957" name="Object 5"/>
          <p:cNvGraphicFramePr>
            <a:graphicFrameLocks noChangeAspect="1"/>
          </p:cNvGraphicFramePr>
          <p:nvPr/>
        </p:nvGraphicFramePr>
        <p:xfrm>
          <a:off x="7983537" y="3056658"/>
          <a:ext cx="85566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228501" progId="">
                  <p:embed/>
                </p:oleObj>
              </mc:Choice>
              <mc:Fallback>
                <p:oleObj name="Equation" r:id="rId4" imgW="393529" imgH="228501" progId="">
                  <p:embed/>
                  <p:pic>
                    <p:nvPicPr>
                      <p:cNvPr id="3819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7" y="3056658"/>
                        <a:ext cx="855663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8" name="Object 6"/>
          <p:cNvGraphicFramePr>
            <a:graphicFrameLocks noChangeAspect="1"/>
          </p:cNvGraphicFramePr>
          <p:nvPr/>
        </p:nvGraphicFramePr>
        <p:xfrm>
          <a:off x="6772275" y="2057400"/>
          <a:ext cx="847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190417" progId="">
                  <p:embed/>
                </p:oleObj>
              </mc:Choice>
              <mc:Fallback>
                <p:oleObj name="Equation" r:id="rId6" imgW="393529" imgH="190417" progId="">
                  <p:embed/>
                  <p:pic>
                    <p:nvPicPr>
                      <p:cNvPr id="3819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275" y="2057400"/>
                        <a:ext cx="84772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9" name="Object 7"/>
          <p:cNvGraphicFramePr>
            <a:graphicFrameLocks noChangeAspect="1"/>
          </p:cNvGraphicFramePr>
          <p:nvPr/>
        </p:nvGraphicFramePr>
        <p:xfrm>
          <a:off x="5773737" y="3048000"/>
          <a:ext cx="457200" cy="51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12" imgH="228501" progId="">
                  <p:embed/>
                </p:oleObj>
              </mc:Choice>
              <mc:Fallback>
                <p:oleObj name="Equation" r:id="rId8" imgW="203112" imgH="228501" progId="">
                  <p:embed/>
                  <p:pic>
                    <p:nvPicPr>
                      <p:cNvPr id="3819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7" y="3048000"/>
                        <a:ext cx="457200" cy="5118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591593"/>
              </p:ext>
            </p:extLst>
          </p:nvPr>
        </p:nvGraphicFramePr>
        <p:xfrm>
          <a:off x="1319212" y="2057400"/>
          <a:ext cx="27193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4838" imgH="266584" progId="">
                  <p:embed/>
                </p:oleObj>
              </mc:Choice>
              <mc:Fallback>
                <p:oleObj name="Equation" r:id="rId10" imgW="1294838" imgH="266584" progId="">
                  <p:embed/>
                  <p:pic>
                    <p:nvPicPr>
                      <p:cNvPr id="3860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2" y="2057400"/>
                        <a:ext cx="2719388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190112"/>
              </p:ext>
            </p:extLst>
          </p:nvPr>
        </p:nvGraphicFramePr>
        <p:xfrm>
          <a:off x="3048000" y="5791200"/>
          <a:ext cx="2339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228600" progId="">
                  <p:embed/>
                </p:oleObj>
              </mc:Choice>
              <mc:Fallback>
                <p:oleObj name="Equation" r:id="rId12" imgW="1143000" imgH="228600" progId="">
                  <p:embed/>
                  <p:pic>
                    <p:nvPicPr>
                      <p:cNvPr id="3860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91200"/>
                        <a:ext cx="233997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06467"/>
              </p:ext>
            </p:extLst>
          </p:nvPr>
        </p:nvGraphicFramePr>
        <p:xfrm>
          <a:off x="1319212" y="4799372"/>
          <a:ext cx="69278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771900" imgH="241300" progId="">
                  <p:embed/>
                </p:oleObj>
              </mc:Choice>
              <mc:Fallback>
                <p:oleObj name="Equation" r:id="rId14" imgW="3771900" imgH="241300" progId="">
                  <p:embed/>
                  <p:pic>
                    <p:nvPicPr>
                      <p:cNvPr id="3860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2" y="4799372"/>
                        <a:ext cx="692785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175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809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1295400"/>
                <a:ext cx="8610599" cy="57150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T(n) =3 T(n/4) + n lg n	</a:t>
                </a:r>
              </a:p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  <a:sym typeface="Wingdings" panose="05000000000000000000" pitchFamily="2" charset="2"/>
                  </a:rPr>
                  <a:t>	 a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3, b= 4, f(n) =n lg n</a:t>
                </a:r>
              </a:p>
              <a:p>
                <a:r>
                  <a:rPr lang="da-DK" sz="2400" dirty="0">
                    <a:solidFill>
                      <a:schemeClr val="tx1"/>
                    </a:solidFill>
                    <a:latin typeface="Segoe"/>
                  </a:rPr>
                  <a:t>1-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n</a:t>
                </a:r>
                <a:r>
                  <a:rPr lang="da-DK" sz="2400" baseline="30000" dirty="0">
                    <a:solidFill>
                      <a:srgbClr val="0070C0"/>
                    </a:solidFill>
                    <a:latin typeface="Segoe"/>
                  </a:rPr>
                  <a:t>0.793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&lt; f(n)		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:r>
                  <a:rPr lang="da-DK" sz="2800" b="1" dirty="0">
                    <a:solidFill>
                      <a:srgbClr val="00B0F0"/>
                    </a:solidFill>
                    <a:latin typeface="Segoe"/>
                    <a:sym typeface="Wingdings" panose="05000000000000000000" pitchFamily="2" charset="2"/>
                  </a:rPr>
                  <a:t>case 3</a:t>
                </a: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2- </a:t>
                </a:r>
                <a:r>
                  <a:rPr lang="en-US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𝑙𝑜𝑔𝑛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793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207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, 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𝑤𝑖𝑡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800" b="0" dirty="0">
                  <a:solidFill>
                    <a:schemeClr val="tx1"/>
                  </a:solidFill>
                  <a:latin typeface="Segoe"/>
                  <a:ea typeface="Cambria Math" panose="02040503050406030204" pitchFamily="18" charset="0"/>
                </a:endParaRP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3-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𝑎𝑓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𝑐𝑓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⇒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den>
                        </m:f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𝑙𝑔</m:t>
                        </m:r>
                        <m:f>
                          <m:f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 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𝑛𝑙𝑔𝑛</m:t>
                    </m:r>
                  </m:oMath>
                </a14:m>
                <a:endParaRPr lang="en-US" sz="28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⇒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𝑛𝑙𝑔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 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𝑛𝑙𝑔𝑛</m:t>
                    </m:r>
                  </m:oMath>
                </a14:m>
                <a:endParaRPr lang="da-DK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  <a:sym typeface="Wingdings" panose="05000000000000000000" pitchFamily="2" charset="2"/>
                </a:endParaRPr>
              </a:p>
              <a:p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Wingdings" panose="05000000000000000000" pitchFamily="2" charset="2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⇒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[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𝑙𝑔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n</m:t>
                    </m:r>
                    <m:r>
                      <a:rPr lang="en-US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lg</m:t>
                    </m:r>
                    <m:r>
                      <a:rPr lang="en-US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4</m:t>
                    </m:r>
                    <m:r>
                      <a:rPr lang="en-US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 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𝑛𝑙𝑔𝑛</m:t>
                    </m:r>
                  </m:oMath>
                </a14:m>
                <a:endParaRPr lang="da-DK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"/>
                  <a:sym typeface="Wingdings" panose="05000000000000000000" pitchFamily="2" charset="2"/>
                </a:endParaRPr>
              </a:p>
              <a:p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Wingdings" panose="05000000000000000000" pitchFamily="2" charset="2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⇒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𝑛𝑙𝑔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 </m:t>
                    </m:r>
                    <m:r>
                      <a:rPr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𝑛𝑙𝑔𝑛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           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		</a:t>
                </a:r>
              </a:p>
              <a:p>
                <a:r>
                  <a:rPr lang="da-DK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 T(n)=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θ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))=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𝑙𝑔𝑛</m:t>
                        </m:r>
                      </m:e>
                    </m:d>
                  </m:oMath>
                </a14:m>
                <a:endParaRPr lang="da-DK" sz="2800" dirty="0">
                  <a:solidFill>
                    <a:srgbClr val="C00000"/>
                  </a:solidFill>
                  <a:latin typeface="Segoe"/>
                </a:endParaRPr>
              </a:p>
            </p:txBody>
          </p:sp>
        </mc:Choice>
        <mc:Fallback xmlns="">
          <p:sp>
            <p:nvSpPr>
              <p:cNvPr id="3880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400"/>
                <a:ext cx="8610599" cy="5715000"/>
              </a:xfrm>
              <a:blipFill>
                <a:blip r:embed="rId3"/>
                <a:stretch>
                  <a:fillRect l="-1275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75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809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1295400"/>
                <a:ext cx="8610599" cy="5715000"/>
              </a:xfrm>
            </p:spPr>
            <p:txBody>
              <a:bodyPr>
                <a:normAutofit/>
              </a:bodyPr>
              <a:lstStyle/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T(n) =2 T(n/2) + n lg n	</a:t>
                </a:r>
              </a:p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  <a:sym typeface="Wingdings" panose="05000000000000000000" pitchFamily="2" charset="2"/>
                  </a:rPr>
                  <a:t>	 a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2, b= 2, f(n) =n lg n</a:t>
                </a:r>
              </a:p>
              <a:p>
                <a:r>
                  <a:rPr lang="da-DK" sz="2400" dirty="0">
                    <a:solidFill>
                      <a:schemeClr val="tx1"/>
                    </a:solidFill>
                    <a:latin typeface="Segoe"/>
                  </a:rPr>
                  <a:t>1-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n</a:t>
                </a:r>
                <a:r>
                  <a:rPr lang="da-DK" sz="2400" baseline="30000" dirty="0">
                    <a:solidFill>
                      <a:srgbClr val="0070C0"/>
                    </a:solidFill>
                    <a:latin typeface="Segoe"/>
                  </a:rPr>
                  <a:t>1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&lt; f(n)		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:r>
                  <a:rPr lang="da-DK" sz="2800" b="1" dirty="0">
                    <a:solidFill>
                      <a:srgbClr val="00B0F0"/>
                    </a:solidFill>
                    <a:latin typeface="Segoe"/>
                    <a:sym typeface="Wingdings" panose="05000000000000000000" pitchFamily="2" charset="2"/>
                  </a:rPr>
                  <a:t>case 3</a:t>
                </a:r>
              </a:p>
              <a:p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2- </a:t>
                </a:r>
                <a:r>
                  <a:rPr lang="en-US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𝑙𝑜𝑔𝑛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=⇒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	</a:t>
                </a:r>
              </a:p>
              <a:p>
                <a:pPr marL="457200" indent="-457200">
                  <a:buFont typeface="Wingdings" panose="05000000000000000000" pitchFamily="2" charset="2"/>
                  <a:buChar char="è"/>
                </a:pPr>
                <a:r>
                  <a:rPr lang="en-US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Neither Case 3 nor Case 2</a:t>
                </a:r>
              </a:p>
              <a:p>
                <a:pPr marL="457200" indent="-457200">
                  <a:buFont typeface="Wingdings" panose="05000000000000000000" pitchFamily="2" charset="2"/>
                  <a:buChar char="è"/>
                </a:pPr>
                <a:r>
                  <a:rPr lang="en-US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Can’t be solved with master method</a:t>
                </a:r>
                <a:endParaRPr lang="da-DK" sz="2800" dirty="0">
                  <a:solidFill>
                    <a:srgbClr val="C00000"/>
                  </a:solidFill>
                  <a:latin typeface="Segoe"/>
                </a:endParaRPr>
              </a:p>
            </p:txBody>
          </p:sp>
        </mc:Choice>
        <mc:Fallback xmlns="">
          <p:sp>
            <p:nvSpPr>
              <p:cNvPr id="3880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400"/>
                <a:ext cx="8610599" cy="5715000"/>
              </a:xfrm>
              <a:blipFill>
                <a:blip r:embed="rId3"/>
                <a:stretch>
                  <a:fillRect l="-1416" t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88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Master Method </a:t>
            </a:r>
            <a:r>
              <a:rPr lang="en-US" dirty="0">
                <a:solidFill>
                  <a:srgbClr val="7030A0"/>
                </a:solidFill>
              </a:rPr>
              <a:t>Case 2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Segoe"/>
              </a:rPr>
              <a:t>          and          </a:t>
            </a:r>
            <a:r>
              <a:rPr lang="da-DK" sz="2800" dirty="0">
                <a:solidFill>
                  <a:srgbClr val="C00000"/>
                </a:solidFill>
                <a:latin typeface="Segoe"/>
              </a:rPr>
              <a:t>are asymptotically the same</a:t>
            </a:r>
            <a:endParaRPr lang="en-US" sz="2800" dirty="0">
              <a:solidFill>
                <a:srgbClr val="C00000"/>
              </a:solidFill>
              <a:latin typeface="Segoe"/>
            </a:endParaRPr>
          </a:p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work is distributed equally throughout the </a:t>
            </a:r>
            <a:r>
              <a:rPr lang="da-DK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tree</a:t>
            </a: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(level cost) * (number of levels) </a:t>
            </a:r>
          </a:p>
        </p:txBody>
      </p:sp>
      <p:graphicFrame>
        <p:nvGraphicFramePr>
          <p:cNvPr id="385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000036"/>
              </p:ext>
            </p:extLst>
          </p:nvPr>
        </p:nvGraphicFramePr>
        <p:xfrm>
          <a:off x="1143000" y="1524000"/>
          <a:ext cx="2894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266584" progId="">
                  <p:embed/>
                </p:oleObj>
              </mc:Choice>
              <mc:Fallback>
                <p:oleObj name="Equation" r:id="rId2" imgW="1447172" imgH="266584" progId="">
                  <p:embed/>
                  <p:pic>
                    <p:nvPicPr>
                      <p:cNvPr id="3850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24000"/>
                        <a:ext cx="2894012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29" name="Object 5"/>
          <p:cNvGraphicFramePr>
            <a:graphicFrameLocks noChangeAspect="1"/>
          </p:cNvGraphicFramePr>
          <p:nvPr/>
        </p:nvGraphicFramePr>
        <p:xfrm>
          <a:off x="1328738" y="2235200"/>
          <a:ext cx="8350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228501" progId="">
                  <p:embed/>
                </p:oleObj>
              </mc:Choice>
              <mc:Fallback>
                <p:oleObj name="Equation" r:id="rId4" imgW="393529" imgH="228501" progId="">
                  <p:embed/>
                  <p:pic>
                    <p:nvPicPr>
                      <p:cNvPr id="3850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235200"/>
                        <a:ext cx="835025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30" name="Object 6"/>
          <p:cNvGraphicFramePr>
            <a:graphicFrameLocks noChangeAspect="1"/>
          </p:cNvGraphicFramePr>
          <p:nvPr/>
        </p:nvGraphicFramePr>
        <p:xfrm>
          <a:off x="2209800" y="3124200"/>
          <a:ext cx="31321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400" imgH="266700" progId="">
                  <p:embed/>
                </p:oleObj>
              </mc:Choice>
              <mc:Fallback>
                <p:oleObj name="Equation" r:id="rId6" imgW="1422400" imgH="266700" progId="">
                  <p:embed/>
                  <p:pic>
                    <p:nvPicPr>
                      <p:cNvPr id="3850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24200"/>
                        <a:ext cx="3132138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31" name="Object 7"/>
          <p:cNvGraphicFramePr>
            <a:graphicFrameLocks noChangeAspect="1"/>
          </p:cNvGraphicFramePr>
          <p:nvPr/>
        </p:nvGraphicFramePr>
        <p:xfrm>
          <a:off x="2847975" y="2173288"/>
          <a:ext cx="89376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228501" progId="">
                  <p:embed/>
                </p:oleObj>
              </mc:Choice>
              <mc:Fallback>
                <p:oleObj name="Equation" r:id="rId8" imgW="393529" imgH="228501" progId="">
                  <p:embed/>
                  <p:pic>
                    <p:nvPicPr>
                      <p:cNvPr id="3850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2173288"/>
                        <a:ext cx="893763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3352800" y="1447800"/>
            <a:ext cx="533400" cy="685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4147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Example 4-5: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68338" y="1295400"/>
                <a:ext cx="8247062" cy="5410200"/>
              </a:xfrm>
            </p:spPr>
            <p:txBody>
              <a:bodyPr>
                <a:normAutofit/>
              </a:bodyPr>
              <a:lstStyle/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T(n) =2T(n/2) + </a:t>
                </a:r>
                <a14:m>
                  <m:oMath xmlns:m="http://schemas.openxmlformats.org/officeDocument/2006/math">
                    <m:r>
                      <a:rPr lang="da-DK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			</a:t>
                </a:r>
                <a:r>
                  <a:rPr lang="da-DK" sz="2400" dirty="0">
                    <a:solidFill>
                      <a:srgbClr val="C00000"/>
                    </a:solidFill>
                    <a:latin typeface="Segoe"/>
                  </a:rPr>
                  <a:t>Merge sort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	</a:t>
                </a:r>
              </a:p>
              <a:p>
                <a:r>
                  <a:rPr lang="da-DK" sz="2400" dirty="0">
                    <a:solidFill>
                      <a:srgbClr val="0070C0"/>
                    </a:solidFill>
                    <a:latin typeface="Segoe"/>
                    <a:sym typeface="Wingdings" panose="05000000000000000000" pitchFamily="2" charset="2"/>
                  </a:rPr>
                  <a:t>	 a</a:t>
                </a:r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2, b= 2, f(n) =n </a:t>
                </a:r>
              </a:p>
              <a:p>
                <a:r>
                  <a:rPr lang="da-DK" sz="2400" dirty="0">
                    <a:solidFill>
                      <a:schemeClr val="tx1"/>
                    </a:solidFill>
                    <a:latin typeface="Segoe"/>
                  </a:rPr>
                  <a:t>1-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2400" dirty="0">
                    <a:solidFill>
                      <a:srgbClr val="0070C0"/>
                    </a:solidFill>
                    <a:latin typeface="Segoe"/>
                  </a:rPr>
                  <a:t>= n 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= f(n)		</a:t>
                </a:r>
                <a:r>
                  <a:rPr lang="da-DK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:r>
                  <a:rPr lang="da-DK" sz="2800" b="1" dirty="0">
                    <a:solidFill>
                      <a:srgbClr val="00B0F0"/>
                    </a:solidFill>
                    <a:latin typeface="Segoe"/>
                    <a:sym typeface="Wingdings" panose="05000000000000000000" pitchFamily="2" charset="2"/>
                  </a:rPr>
                  <a:t>case 2</a:t>
                </a:r>
              </a:p>
              <a:p>
                <a:pPr marL="457200" indent="-457200">
                  <a:buFont typeface="Wingdings" panose="05000000000000000000" pitchFamily="2" charset="2"/>
                  <a:buChar char="è"/>
                </a:pPr>
                <a:r>
                  <a:rPr lang="da-DK" sz="28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T(n)=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θ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𝑙𝑔𝑛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)=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𝑙𝑔𝑛</m:t>
                        </m:r>
                      </m:e>
                    </m:d>
                  </m:oMath>
                </a14:m>
                <a:endParaRPr lang="da-DK" sz="2800" dirty="0">
                  <a:solidFill>
                    <a:srgbClr val="C00000"/>
                  </a:solidFill>
                  <a:latin typeface="Segoe"/>
                </a:endParaRPr>
              </a:p>
              <a:p>
                <a:pPr marL="457200" indent="-457200">
                  <a:buFont typeface="Wingdings" panose="05000000000000000000" pitchFamily="2" charset="2"/>
                  <a:buChar char="è"/>
                </a:pPr>
                <a:endParaRPr lang="da-DK" sz="2800" dirty="0">
                  <a:solidFill>
                    <a:srgbClr val="C00000"/>
                  </a:solidFill>
                  <a:latin typeface="Segoe"/>
                </a:endParaRPr>
              </a:p>
              <a:p>
                <a:r>
                  <a:rPr lang="da-DK" sz="2800" dirty="0">
                    <a:solidFill>
                      <a:srgbClr val="0070C0"/>
                    </a:solidFill>
                    <a:latin typeface="Segoe"/>
                  </a:rPr>
                  <a:t>T(n) = T(n/2) +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a-DK" sz="2800" dirty="0">
                    <a:solidFill>
                      <a:srgbClr val="0070C0"/>
                    </a:solidFill>
                    <a:latin typeface="Segoe"/>
                  </a:rPr>
                  <a:t>			</a:t>
                </a:r>
                <a:r>
                  <a:rPr lang="da-DK" sz="2800" dirty="0">
                    <a:solidFill>
                      <a:srgbClr val="C00000"/>
                    </a:solidFill>
                    <a:latin typeface="Segoe"/>
                  </a:rPr>
                  <a:t>Binary search</a:t>
                </a:r>
                <a:r>
                  <a:rPr lang="da-DK" sz="2800" dirty="0">
                    <a:solidFill>
                      <a:srgbClr val="0070C0"/>
                    </a:solidFill>
                    <a:latin typeface="Segoe"/>
                  </a:rPr>
                  <a:t>	</a:t>
                </a:r>
              </a:p>
              <a:p>
                <a:r>
                  <a:rPr lang="da-DK" sz="2800" dirty="0">
                    <a:solidFill>
                      <a:srgbClr val="0070C0"/>
                    </a:solidFill>
                    <a:latin typeface="Segoe"/>
                    <a:sym typeface="Wingdings" panose="05000000000000000000" pitchFamily="2" charset="2"/>
                  </a:rPr>
                  <a:t>	 a</a:t>
                </a:r>
                <a:r>
                  <a:rPr lang="da-DK" sz="2800" dirty="0">
                    <a:solidFill>
                      <a:srgbClr val="0070C0"/>
                    </a:solidFill>
                    <a:latin typeface="Segoe"/>
                  </a:rPr>
                  <a:t>= 1, b= 2, f(n) =1 </a:t>
                </a:r>
              </a:p>
              <a:p>
                <a:r>
                  <a:rPr lang="da-DK" sz="2800" dirty="0">
                    <a:solidFill>
                      <a:schemeClr val="tx1"/>
                    </a:solidFill>
                    <a:latin typeface="Segoe"/>
                  </a:rPr>
                  <a:t>1-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da-DK" sz="2800" dirty="0">
                    <a:solidFill>
                      <a:srgbClr val="0070C0"/>
                    </a:solidFill>
                    <a:latin typeface="Segoe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</m:oMath>
                </a14:m>
                <a:r>
                  <a:rPr lang="da-DK" sz="2800" dirty="0">
                    <a:solidFill>
                      <a:srgbClr val="0070C0"/>
                    </a:solidFill>
                    <a:latin typeface="Segoe"/>
                  </a:rPr>
                  <a:t>= 1 </a:t>
                </a:r>
                <a:r>
                  <a:rPr lang="da-DK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</a:rPr>
                  <a:t>= f(n)	</a:t>
                </a:r>
                <a:r>
                  <a:rPr lang="da-DK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"/>
                    <a:sym typeface="Wingdings" panose="05000000000000000000" pitchFamily="2" charset="2"/>
                  </a:rPr>
                  <a:t> </a:t>
                </a:r>
                <a:r>
                  <a:rPr lang="da-DK" sz="3200" b="1" dirty="0">
                    <a:solidFill>
                      <a:srgbClr val="00B0F0"/>
                    </a:solidFill>
                    <a:latin typeface="Segoe"/>
                    <a:sym typeface="Wingdings" panose="05000000000000000000" pitchFamily="2" charset="2"/>
                  </a:rPr>
                  <a:t>case 2</a:t>
                </a:r>
              </a:p>
              <a:p>
                <a:pPr marL="457200" indent="-457200">
                  <a:buFont typeface="Wingdings" panose="05000000000000000000" pitchFamily="2" charset="2"/>
                  <a:buChar char="è"/>
                </a:pPr>
                <a:r>
                  <a:rPr lang="da-DK" sz="3200" dirty="0">
                    <a:solidFill>
                      <a:srgbClr val="C00000"/>
                    </a:solidFill>
                    <a:latin typeface="Segoe"/>
                    <a:sym typeface="Wingdings" panose="05000000000000000000" pitchFamily="2" charset="2"/>
                  </a:rPr>
                  <a:t>T(n)=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θ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</m:sSub>
                        <m:r>
                          <a:rPr lang="en-US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sup>
                    </m:sSup>
                    <m:r>
                      <a:rPr lang="en-US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𝑙𝑔𝑛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)=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𝑙𝑔𝑛</m:t>
                        </m:r>
                      </m:e>
                    </m:d>
                  </m:oMath>
                </a14:m>
                <a:endParaRPr lang="da-DK" sz="3200" dirty="0">
                  <a:solidFill>
                    <a:srgbClr val="C00000"/>
                  </a:solidFill>
                  <a:latin typeface="Segoe"/>
                </a:endParaRPr>
              </a:p>
              <a:p>
                <a:pPr marL="457200" indent="-457200">
                  <a:buFont typeface="Wingdings" panose="05000000000000000000" pitchFamily="2" charset="2"/>
                  <a:buChar char="è"/>
                </a:pPr>
                <a:endParaRPr lang="da-DK" sz="2800" dirty="0">
                  <a:solidFill>
                    <a:srgbClr val="C00000"/>
                  </a:solidFill>
                  <a:latin typeface="Segoe"/>
                </a:endParaRPr>
              </a:p>
            </p:txBody>
          </p:sp>
        </mc:Choice>
        <mc:Fallback xmlns="">
          <p:sp>
            <p:nvSpPr>
              <p:cNvPr id="1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338" y="1295400"/>
                <a:ext cx="8247062" cy="5410200"/>
              </a:xfrm>
              <a:blipFill>
                <a:blip r:embed="rId2"/>
                <a:stretch>
                  <a:fillRect l="-1700" t="-789" b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64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7620000" cy="838200"/>
          </a:xfrm>
        </p:spPr>
        <p:txBody>
          <a:bodyPr/>
          <a:lstStyle/>
          <a:p>
            <a:r>
              <a:rPr lang="da-DK" dirty="0">
                <a:solidFill>
                  <a:srgbClr val="00B0F0"/>
                </a:solidFill>
              </a:rPr>
              <a:t>Master Theorem Summarized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idx="1"/>
          </p:nvPr>
        </p:nvSpPr>
        <p:spPr>
          <a:xfrm>
            <a:off x="369888" y="992188"/>
            <a:ext cx="8516937" cy="5332412"/>
          </a:xfrm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da-DK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Given a recurrence of the form </a:t>
            </a: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endParaRPr lang="da-DK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90000"/>
              </a:lnSpc>
            </a:pPr>
            <a:r>
              <a:rPr lang="da-DK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master method cannot solve every recurrence of this form; there is a gap between cases 1 and 2, as well as cases 2 and 3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  <p:graphicFrame>
        <p:nvGraphicFramePr>
          <p:cNvPr id="387076" name="Object 4"/>
          <p:cNvGraphicFramePr>
            <a:graphicFrameLocks noChangeAspect="1"/>
          </p:cNvGraphicFramePr>
          <p:nvPr/>
        </p:nvGraphicFramePr>
        <p:xfrm>
          <a:off x="5410200" y="990600"/>
          <a:ext cx="33369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203200" progId="">
                  <p:embed/>
                </p:oleObj>
              </mc:Choice>
              <mc:Fallback>
                <p:oleObj name="Equation" r:id="rId2" imgW="1435100" imgH="203200" progId="">
                  <p:embed/>
                  <p:pic>
                    <p:nvPicPr>
                      <p:cNvPr id="387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990600"/>
                        <a:ext cx="333692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7" name="Object 5"/>
          <p:cNvGraphicFramePr>
            <a:graphicFrameLocks noChangeAspect="1"/>
          </p:cNvGraphicFramePr>
          <p:nvPr/>
        </p:nvGraphicFramePr>
        <p:xfrm>
          <a:off x="455408" y="1524000"/>
          <a:ext cx="8459992" cy="4085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51300" imgH="1955800" progId="">
                  <p:embed/>
                </p:oleObj>
              </mc:Choice>
              <mc:Fallback>
                <p:oleObj name="Equation" r:id="rId4" imgW="4051300" imgH="1955800" progId="">
                  <p:embed/>
                  <p:pic>
                    <p:nvPicPr>
                      <p:cNvPr id="3870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08" y="1524000"/>
                        <a:ext cx="8459992" cy="40857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352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</p:spPr>
        <p:txBody>
          <a:bodyPr/>
          <a:lstStyle/>
          <a:p>
            <a:fld id="{A9CC5ABC-E7D9-46BB-817A-5CBCA09AC325}" type="slidenum">
              <a:rPr lang="en-US"/>
              <a:pPr/>
              <a:t>14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620000" cy="8382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Recurrences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9144000" cy="4373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>
                <a:solidFill>
                  <a:srgbClr val="C00000"/>
                </a:solidFill>
                <a:latin typeface="+mn-lt"/>
              </a:rPr>
              <a:t>T(n) = T(n-1) + n				</a:t>
            </a:r>
            <a:r>
              <a:rPr lang="el-GR" sz="2800" dirty="0">
                <a:solidFill>
                  <a:srgbClr val="C00000"/>
                </a:solidFill>
                <a:latin typeface="+mn-lt"/>
              </a:rPr>
              <a:t>Θ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(n</a:t>
            </a:r>
            <a:r>
              <a:rPr lang="en-US" sz="2800" baseline="30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)</a:t>
            </a:r>
            <a:endParaRPr lang="el-GR" sz="2800" dirty="0">
              <a:solidFill>
                <a:srgbClr val="C00000"/>
              </a:solidFill>
              <a:latin typeface="+mn-lt"/>
            </a:endParaRPr>
          </a:p>
          <a:p>
            <a:pPr lvl="1" eaLnBrk="1" hangingPunct="1"/>
            <a:r>
              <a:rPr lang="en-US" sz="2800" dirty="0">
                <a:solidFill>
                  <a:schemeClr val="tx1"/>
                </a:solidFill>
                <a:latin typeface="+mn-lt"/>
              </a:rPr>
              <a:t>Recursive algorithm that loops through the input to eliminate one item</a:t>
            </a:r>
          </a:p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T(n) = T(n/2) + c				</a:t>
            </a:r>
            <a:r>
              <a:rPr lang="el-GR" sz="2800" dirty="0">
                <a:solidFill>
                  <a:srgbClr val="C00000"/>
                </a:solidFill>
                <a:latin typeface="+mn-lt"/>
              </a:rPr>
              <a:t>Θ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(</a:t>
            </a:r>
            <a:r>
              <a:rPr lang="en-US" sz="2800" dirty="0" err="1">
                <a:solidFill>
                  <a:srgbClr val="C00000"/>
                </a:solidFill>
                <a:latin typeface="+mn-lt"/>
              </a:rPr>
              <a:t>lgn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)</a:t>
            </a:r>
          </a:p>
          <a:p>
            <a:pPr lvl="1" eaLnBrk="1" hangingPunct="1"/>
            <a:r>
              <a:rPr lang="en-US" sz="2800" dirty="0">
                <a:solidFill>
                  <a:schemeClr val="tx1"/>
                </a:solidFill>
                <a:latin typeface="+mn-lt"/>
              </a:rPr>
              <a:t>Recursive algorithm that halves the input in one step</a:t>
            </a:r>
          </a:p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T(n) = T(n/2) + n				</a:t>
            </a:r>
            <a:r>
              <a:rPr lang="el-GR" sz="2800" dirty="0">
                <a:solidFill>
                  <a:srgbClr val="C00000"/>
                </a:solidFill>
                <a:latin typeface="+mn-lt"/>
              </a:rPr>
              <a:t>Θ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(n)</a:t>
            </a:r>
          </a:p>
          <a:p>
            <a:pPr lvl="1" eaLnBrk="1" hangingPunct="1"/>
            <a:r>
              <a:rPr lang="en-US" sz="2800" dirty="0">
                <a:solidFill>
                  <a:schemeClr val="tx1"/>
                </a:solidFill>
                <a:latin typeface="+mn-lt"/>
              </a:rPr>
              <a:t>Recursive algorithm that halves the input but must examine every item in the input</a:t>
            </a:r>
          </a:p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T(n) = 2T(n/2) + 1			</a:t>
            </a:r>
            <a:r>
              <a:rPr lang="el-GR" sz="2800" dirty="0">
                <a:solidFill>
                  <a:srgbClr val="C00000"/>
                </a:solidFill>
                <a:latin typeface="+mn-lt"/>
              </a:rPr>
              <a:t>Θ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(n)</a:t>
            </a:r>
          </a:p>
          <a:p>
            <a:pPr lvl="1" eaLnBrk="1" hangingPunct="1"/>
            <a:r>
              <a:rPr lang="en-US" sz="2800" dirty="0">
                <a:solidFill>
                  <a:schemeClr val="tx1"/>
                </a:solidFill>
                <a:latin typeface="+mn-lt"/>
              </a:rPr>
              <a:t>Recursive algorithm that splits the input into 2 halves and does a constant amount of other work</a:t>
            </a:r>
          </a:p>
        </p:txBody>
      </p:sp>
    </p:spTree>
    <p:extLst>
      <p:ext uri="{BB962C8B-B14F-4D97-AF65-F5344CB8AC3E}">
        <p14:creationId xmlns:p14="http://schemas.microsoft.com/office/powerpoint/2010/main" val="2157790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676400"/>
            <a:ext cx="76200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 cap="all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recursive algorithms 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2514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rgbClr val="FE5815"/>
                </a:solidFill>
                <a:latin typeface="Segoe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l">
              <a:buFont typeface="Wingdings" pitchFamily="2" charset="2"/>
              <a:buChar char="q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Factorial</a:t>
            </a:r>
          </a:p>
          <a:p>
            <a:pPr marL="800100" lvl="1" indent="-342900" algn="l">
              <a:buFont typeface="Wingdings" pitchFamily="2" charset="2"/>
              <a:buChar char="q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Fibonacci Sequence</a:t>
            </a:r>
          </a:p>
          <a:p>
            <a:pPr marL="800100" lvl="1" indent="-342900" algn="l">
              <a:buFont typeface="Wingdings" pitchFamily="2" charset="2"/>
              <a:buChar char="q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Tower of Hanoi</a:t>
            </a:r>
            <a:endParaRPr lang="en-US" sz="2400" dirty="0">
              <a:latin typeface="Segoe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sz="2400" dirty="0"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92681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077119" cy="1066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Analysis of Recursive Algorithms</a:t>
            </a:r>
            <a:br>
              <a:rPr lang="en-US" sz="3600" b="1" dirty="0">
                <a:solidFill>
                  <a:srgbClr val="00B0F0"/>
                </a:solidFill>
              </a:rPr>
            </a:br>
            <a:r>
              <a:rPr lang="en-US" sz="3600" b="1" dirty="0">
                <a:solidFill>
                  <a:srgbClr val="FF0000"/>
                </a:solidFill>
              </a:rPr>
              <a:t>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3429000" cy="4191000"/>
          </a:xfrm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ALGORITHM F(n)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// Output: n!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if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n = 0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	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return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1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else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	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return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n×F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(n-1)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981200"/>
            <a:ext cx="2903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Input size: n</a:t>
            </a:r>
          </a:p>
          <a:p>
            <a:r>
              <a:rPr lang="en-US" sz="2400" b="1" dirty="0">
                <a:solidFill>
                  <a:srgbClr val="0000CC"/>
                </a:solidFill>
              </a:rPr>
              <a:t>Basic operation: 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0" y="3200400"/>
            <a:ext cx="3791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M(n) = M(n-1) + 1 for n &gt;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3340" y="4038600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to compute </a:t>
            </a:r>
          </a:p>
          <a:p>
            <a:pPr algn="ctr"/>
            <a:r>
              <a:rPr lang="en-US" b="1" dirty="0"/>
              <a:t>F(n-1)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0" y="4361765"/>
            <a:ext cx="1600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 multiply</a:t>
            </a:r>
          </a:p>
          <a:p>
            <a:r>
              <a:rPr lang="en-US" b="1" dirty="0"/>
              <a:t>n and F(n-1)</a:t>
            </a:r>
          </a:p>
        </p:txBody>
      </p:sp>
      <p:sp>
        <p:nvSpPr>
          <p:cNvPr id="8" name="Freeform 7"/>
          <p:cNvSpPr/>
          <p:nvPr/>
        </p:nvSpPr>
        <p:spPr bwMode="auto">
          <a:xfrm>
            <a:off x="5664018" y="3566160"/>
            <a:ext cx="122828" cy="483326"/>
          </a:xfrm>
          <a:custGeom>
            <a:avLst/>
            <a:gdLst>
              <a:gd name="connsiteX0" fmla="*/ 31388 w 122828"/>
              <a:gd name="connsiteY0" fmla="*/ 483326 h 483326"/>
              <a:gd name="connsiteX1" fmla="*/ 5262 w 122828"/>
              <a:gd name="connsiteY1" fmla="*/ 300446 h 483326"/>
              <a:gd name="connsiteX2" fmla="*/ 122828 w 122828"/>
              <a:gd name="connsiteY2" fmla="*/ 0 h 48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828" h="483326">
                <a:moveTo>
                  <a:pt x="31388" y="483326"/>
                </a:moveTo>
                <a:cubicBezTo>
                  <a:pt x="10705" y="432163"/>
                  <a:pt x="-9978" y="381000"/>
                  <a:pt x="5262" y="300446"/>
                </a:cubicBezTo>
                <a:cubicBezTo>
                  <a:pt x="20502" y="219892"/>
                  <a:pt x="71665" y="109946"/>
                  <a:pt x="122828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6988629" y="3553097"/>
            <a:ext cx="979714" cy="731520"/>
          </a:xfrm>
          <a:custGeom>
            <a:avLst/>
            <a:gdLst>
              <a:gd name="connsiteX0" fmla="*/ 979714 w 979714"/>
              <a:gd name="connsiteY0" fmla="*/ 731520 h 731520"/>
              <a:gd name="connsiteX1" fmla="*/ 836022 w 979714"/>
              <a:gd name="connsiteY1" fmla="*/ 444137 h 731520"/>
              <a:gd name="connsiteX2" fmla="*/ 182880 w 979714"/>
              <a:gd name="connsiteY2" fmla="*/ 365760 h 731520"/>
              <a:gd name="connsiteX3" fmla="*/ 0 w 979714"/>
              <a:gd name="connsiteY3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9714" h="731520">
                <a:moveTo>
                  <a:pt x="979714" y="731520"/>
                </a:moveTo>
                <a:cubicBezTo>
                  <a:pt x="974271" y="618308"/>
                  <a:pt x="968828" y="505097"/>
                  <a:pt x="836022" y="444137"/>
                </a:cubicBezTo>
                <a:cubicBezTo>
                  <a:pt x="703216" y="383177"/>
                  <a:pt x="322217" y="439783"/>
                  <a:pt x="182880" y="365760"/>
                </a:cubicBezTo>
                <a:cubicBezTo>
                  <a:pt x="43543" y="291737"/>
                  <a:pt x="21771" y="145868"/>
                  <a:pt x="0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419600" y="1143000"/>
            <a:ext cx="0" cy="54864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89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81000"/>
            <a:ext cx="8435975" cy="41751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Analysis Of Recursive Factorial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990600"/>
            <a:ext cx="8642350" cy="5449888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  <a:buFontTx/>
              <a:buNone/>
            </a:pPr>
            <a:r>
              <a:rPr lang="fr-FR" sz="2400" b="1" dirty="0">
                <a:solidFill>
                  <a:srgbClr val="0000FF"/>
                </a:solidFill>
                <a:latin typeface="Segoe"/>
              </a:rPr>
              <a:t>T(0)  =  1                                         (1)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b="1" dirty="0">
                <a:solidFill>
                  <a:srgbClr val="0000FF"/>
                </a:solidFill>
                <a:latin typeface="Segoe"/>
              </a:rPr>
              <a:t>T(n) =  c + T(n - 1)</a:t>
            </a:r>
            <a:r>
              <a:rPr lang="fr-FR" sz="2400" b="1" dirty="0">
                <a:latin typeface="Segoe"/>
              </a:rPr>
              <a:t>                          </a:t>
            </a:r>
            <a:r>
              <a:rPr lang="fr-FR" sz="2400" b="1" dirty="0">
                <a:solidFill>
                  <a:srgbClr val="0000FF"/>
                </a:solidFill>
                <a:latin typeface="Segoe"/>
              </a:rPr>
              <a:t>(2)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b="1" dirty="0">
                <a:latin typeface="Segoe"/>
              </a:rPr>
              <a:t>        </a:t>
            </a: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  c + c + T(n - 2)          </a:t>
            </a:r>
            <a:r>
              <a:rPr lang="fr-FR" sz="2400" b="1" dirty="0">
                <a:solidFill>
                  <a:srgbClr val="0000FF"/>
                </a:solidFill>
                <a:latin typeface="Segoe"/>
              </a:rPr>
              <a:t>by </a:t>
            </a:r>
            <a:r>
              <a:rPr lang="fr-FR" sz="2400" b="1" dirty="0" err="1">
                <a:solidFill>
                  <a:srgbClr val="0000FF"/>
                </a:solidFill>
                <a:latin typeface="Segoe"/>
              </a:rPr>
              <a:t>subtituting</a:t>
            </a:r>
            <a:r>
              <a:rPr lang="fr-FR" sz="2400" b="1" dirty="0">
                <a:solidFill>
                  <a:srgbClr val="0000FF"/>
                </a:solidFill>
                <a:latin typeface="Segoe"/>
              </a:rPr>
              <a:t> T(n – 1) in (2)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     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  c +c +c + T(n - 3)</a:t>
            </a:r>
            <a:r>
              <a:rPr lang="en-US" sz="2400" b="1" dirty="0">
                <a:latin typeface="Segoe"/>
              </a:rPr>
              <a:t>      </a:t>
            </a:r>
            <a:r>
              <a:rPr lang="en-US" sz="2400" b="1" dirty="0">
                <a:solidFill>
                  <a:srgbClr val="0000FF"/>
                </a:solidFill>
                <a:latin typeface="Segoe"/>
              </a:rPr>
              <a:t>by substituting T(n – 2) in (2)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Segoe"/>
              </a:rPr>
              <a:t>   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	 …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      = 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kc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+ T(n - k)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400" b="1" dirty="0">
              <a:latin typeface="Segoe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base case is reached when n – k = 0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Wingdings" pitchFamily="2" charset="2"/>
              </a:rPr>
              <a:t>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k = n,  we then have: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     </a:t>
            </a: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T(n) =  </a:t>
            </a:r>
            <a:r>
              <a:rPr lang="fr-FR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nc</a:t>
            </a: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+ T(n - n)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	   =  </a:t>
            </a:r>
            <a:r>
              <a:rPr lang="fr-FR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cn</a:t>
            </a: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+ T(0)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	  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 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cn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+ 1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Therefore the method factorial is O(n)</a:t>
            </a:r>
          </a:p>
        </p:txBody>
      </p:sp>
    </p:spTree>
    <p:extLst>
      <p:ext uri="{BB962C8B-B14F-4D97-AF65-F5344CB8AC3E}">
        <p14:creationId xmlns:p14="http://schemas.microsoft.com/office/powerpoint/2010/main" val="301086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848600" cy="1066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Analysis of Recursive (contd.): </a:t>
            </a:r>
            <a:r>
              <a:rPr lang="en-US" sz="3600" b="1" dirty="0">
                <a:solidFill>
                  <a:srgbClr val="FF0000"/>
                </a:solidFill>
              </a:rPr>
              <a:t>Tower of Hanoi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25285" y="1524000"/>
            <a:ext cx="3276600" cy="647700"/>
            <a:chOff x="1219200" y="1524000"/>
            <a:chExt cx="5181600" cy="1295400"/>
          </a:xfrm>
        </p:grpSpPr>
        <p:sp>
          <p:nvSpPr>
            <p:cNvPr id="5" name="Rectangle 4"/>
            <p:cNvSpPr/>
            <p:nvPr/>
          </p:nvSpPr>
          <p:spPr bwMode="auto">
            <a:xfrm>
              <a:off x="1752600" y="1524000"/>
              <a:ext cx="228600" cy="1295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219200" y="2667000"/>
              <a:ext cx="1371600" cy="1524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371600" y="2514600"/>
              <a:ext cx="990600" cy="1524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524000" y="2362200"/>
              <a:ext cx="609600" cy="1524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886200" y="1524000"/>
              <a:ext cx="228600" cy="1295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6172200" y="1524000"/>
              <a:ext cx="228600" cy="1295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925285" y="2476500"/>
            <a:ext cx="3389811" cy="647700"/>
            <a:chOff x="1219200" y="2324100"/>
            <a:chExt cx="3389811" cy="647700"/>
          </a:xfrm>
        </p:grpSpPr>
        <p:sp>
          <p:nvSpPr>
            <p:cNvPr id="42" name="Rectangle 41"/>
            <p:cNvSpPr/>
            <p:nvPr/>
          </p:nvSpPr>
          <p:spPr bwMode="auto">
            <a:xfrm>
              <a:off x="1556497" y="23241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1219200" y="2895600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1315571" y="2819400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2905685" y="23241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4351244" y="23241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4223529" y="2895600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925285" y="3390900"/>
            <a:ext cx="3389811" cy="647700"/>
            <a:chOff x="1219200" y="3238500"/>
            <a:chExt cx="3389811" cy="647700"/>
          </a:xfrm>
        </p:grpSpPr>
        <p:sp>
          <p:nvSpPr>
            <p:cNvPr id="49" name="Rectangle 48"/>
            <p:cNvSpPr/>
            <p:nvPr/>
          </p:nvSpPr>
          <p:spPr bwMode="auto">
            <a:xfrm>
              <a:off x="1556497" y="32385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1219200" y="3810000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2905685" y="32385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4351244" y="32385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4223529" y="3810000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2667000" y="3810000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925285" y="4686300"/>
            <a:ext cx="3276600" cy="647700"/>
            <a:chOff x="1219200" y="4533900"/>
            <a:chExt cx="3276600" cy="6477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556497" y="45339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1219200" y="5105400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2905685" y="45339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4351244" y="45339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2667000" y="5105400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8" name="Rectangle 87"/>
            <p:cNvSpPr/>
            <p:nvPr/>
          </p:nvSpPr>
          <p:spPr bwMode="auto">
            <a:xfrm>
              <a:off x="2801855" y="5029200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4920182" y="1524000"/>
            <a:ext cx="3309418" cy="685800"/>
            <a:chOff x="5214097" y="1981200"/>
            <a:chExt cx="3309418" cy="685800"/>
          </a:xfrm>
        </p:grpSpPr>
        <p:sp>
          <p:nvSpPr>
            <p:cNvPr id="63" name="Rectangle 62"/>
            <p:cNvSpPr/>
            <p:nvPr/>
          </p:nvSpPr>
          <p:spPr bwMode="auto">
            <a:xfrm>
              <a:off x="5214097" y="19812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6563285" y="19812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8008844" y="19812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6320854" y="2590800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6455709" y="2514600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1" name="Rectangle 90"/>
            <p:cNvSpPr/>
            <p:nvPr/>
          </p:nvSpPr>
          <p:spPr bwMode="auto">
            <a:xfrm>
              <a:off x="7656180" y="2552700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07003" y="2514600"/>
            <a:ext cx="3407356" cy="685800"/>
            <a:chOff x="5100918" y="2743200"/>
            <a:chExt cx="3407356" cy="685800"/>
          </a:xfrm>
        </p:grpSpPr>
        <p:sp>
          <p:nvSpPr>
            <p:cNvPr id="70" name="Rectangle 69"/>
            <p:cNvSpPr/>
            <p:nvPr/>
          </p:nvSpPr>
          <p:spPr bwMode="auto">
            <a:xfrm>
              <a:off x="5214097" y="27432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5100918" y="3352800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6563285" y="27432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8008844" y="27432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2" name="Rectangle 91"/>
            <p:cNvSpPr/>
            <p:nvPr/>
          </p:nvSpPr>
          <p:spPr bwMode="auto">
            <a:xfrm>
              <a:off x="7640939" y="3352800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3" name="Rectangle 92"/>
            <p:cNvSpPr/>
            <p:nvPr/>
          </p:nvSpPr>
          <p:spPr bwMode="auto">
            <a:xfrm>
              <a:off x="6324600" y="3352800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801752" y="3405052"/>
            <a:ext cx="3425670" cy="647700"/>
            <a:chOff x="5095667" y="3252652"/>
            <a:chExt cx="3425670" cy="647700"/>
          </a:xfrm>
        </p:grpSpPr>
        <p:sp>
          <p:nvSpPr>
            <p:cNvPr id="77" name="Rectangle 76"/>
            <p:cNvSpPr/>
            <p:nvPr/>
          </p:nvSpPr>
          <p:spPr bwMode="auto">
            <a:xfrm>
              <a:off x="5214097" y="3252652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0" name="Rectangle 79"/>
            <p:cNvSpPr/>
            <p:nvPr/>
          </p:nvSpPr>
          <p:spPr bwMode="auto">
            <a:xfrm>
              <a:off x="5095667" y="3824152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6563285" y="3252652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8008844" y="3252652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7654002" y="3824152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7772400" y="3747952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4907119" y="4686300"/>
            <a:ext cx="3307240" cy="647700"/>
            <a:chOff x="5201034" y="4533900"/>
            <a:chExt cx="3307240" cy="647700"/>
          </a:xfrm>
        </p:grpSpPr>
        <p:sp>
          <p:nvSpPr>
            <p:cNvPr id="101" name="Rectangle 100"/>
            <p:cNvSpPr/>
            <p:nvPr/>
          </p:nvSpPr>
          <p:spPr bwMode="auto">
            <a:xfrm>
              <a:off x="5201034" y="45339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6550222" y="45339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4" name="Rectangle 103"/>
            <p:cNvSpPr/>
            <p:nvPr/>
          </p:nvSpPr>
          <p:spPr bwMode="auto">
            <a:xfrm>
              <a:off x="7995781" y="4533900"/>
              <a:ext cx="144556" cy="6477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5" name="Rectangle 104"/>
            <p:cNvSpPr/>
            <p:nvPr/>
          </p:nvSpPr>
          <p:spPr bwMode="auto">
            <a:xfrm>
              <a:off x="7640939" y="5105400"/>
              <a:ext cx="867335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6" name="Rectangle 105"/>
            <p:cNvSpPr/>
            <p:nvPr/>
          </p:nvSpPr>
          <p:spPr bwMode="auto">
            <a:xfrm>
              <a:off x="7759337" y="5029200"/>
              <a:ext cx="626409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7" name="Rectangle 106"/>
            <p:cNvSpPr/>
            <p:nvPr/>
          </p:nvSpPr>
          <p:spPr bwMode="auto">
            <a:xfrm>
              <a:off x="7894192" y="4953000"/>
              <a:ext cx="385482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4572000" y="1219200"/>
            <a:ext cx="0" cy="54864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410200" y="5943600"/>
                <a:ext cx="3015377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𝑑𝑖𝑠𝑘𝑠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𝑚𝑜𝑣𝑒𝑚𝑒𝑛𝑡𝑠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5943600"/>
                <a:ext cx="3015377" cy="378245"/>
              </a:xfrm>
              <a:prstGeom prst="rect">
                <a:avLst/>
              </a:prstGeom>
              <a:blipFill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10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5334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Tower of Hanoi (contd.)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2995748" y="838200"/>
            <a:ext cx="4319452" cy="1230085"/>
            <a:chOff x="1066800" y="914400"/>
            <a:chExt cx="5638800" cy="1534885"/>
          </a:xfrm>
        </p:grpSpPr>
        <p:sp>
          <p:nvSpPr>
            <p:cNvPr id="5" name="Rectangle 4"/>
            <p:cNvSpPr/>
            <p:nvPr/>
          </p:nvSpPr>
          <p:spPr bwMode="auto">
            <a:xfrm>
              <a:off x="1981200" y="914400"/>
              <a:ext cx="139337" cy="1524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066800" y="2362200"/>
              <a:ext cx="19050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219200" y="2286000"/>
              <a:ext cx="16002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371600" y="2209800"/>
              <a:ext cx="12954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765663" y="1905000"/>
              <a:ext cx="5334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1905000" y="1828800"/>
              <a:ext cx="3048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 flipH="1">
              <a:off x="1783081" y="2030518"/>
              <a:ext cx="45719" cy="129208"/>
              <a:chOff x="1676400" y="2773681"/>
              <a:chExt cx="45719" cy="350519"/>
            </a:xfrm>
          </p:grpSpPr>
          <p:sp>
            <p:nvSpPr>
              <p:cNvPr id="12" name="Oval 11"/>
              <p:cNvSpPr/>
              <p:nvPr/>
            </p:nvSpPr>
            <p:spPr bwMode="auto">
              <a:xfrm>
                <a:off x="1676400" y="27736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 bwMode="auto">
              <a:xfrm>
                <a:off x="1676400" y="2895600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 bwMode="auto">
              <a:xfrm>
                <a:off x="1676400" y="30784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 flipH="1">
              <a:off x="2209800" y="2031274"/>
              <a:ext cx="45719" cy="129208"/>
              <a:chOff x="1676400" y="2773681"/>
              <a:chExt cx="45719" cy="350519"/>
            </a:xfrm>
          </p:grpSpPr>
          <p:sp>
            <p:nvSpPr>
              <p:cNvPr id="18" name="Oval 17"/>
              <p:cNvSpPr/>
              <p:nvPr/>
            </p:nvSpPr>
            <p:spPr bwMode="auto">
              <a:xfrm>
                <a:off x="1676400" y="27736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19" name="Oval 18"/>
              <p:cNvSpPr/>
              <p:nvPr/>
            </p:nvSpPr>
            <p:spPr bwMode="auto">
              <a:xfrm>
                <a:off x="1676400" y="2895600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 bwMode="auto">
              <a:xfrm>
                <a:off x="1676400" y="30784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sp>
          <p:nvSpPr>
            <p:cNvPr id="21" name="Rectangle 20"/>
            <p:cNvSpPr/>
            <p:nvPr/>
          </p:nvSpPr>
          <p:spPr bwMode="auto">
            <a:xfrm>
              <a:off x="4508863" y="914400"/>
              <a:ext cx="139337" cy="1524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6566263" y="914400"/>
              <a:ext cx="139337" cy="1524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3786052" y="2373085"/>
              <a:ext cx="16002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3938452" y="2296885"/>
              <a:ext cx="12954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4432663" y="1915885"/>
              <a:ext cx="3048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 flipH="1">
              <a:off x="4349933" y="2117603"/>
              <a:ext cx="45719" cy="129208"/>
              <a:chOff x="1676400" y="2773681"/>
              <a:chExt cx="45719" cy="350519"/>
            </a:xfrm>
          </p:grpSpPr>
          <p:sp>
            <p:nvSpPr>
              <p:cNvPr id="28" name="Oval 27"/>
              <p:cNvSpPr/>
              <p:nvPr/>
            </p:nvSpPr>
            <p:spPr bwMode="auto">
              <a:xfrm>
                <a:off x="1676400" y="27736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1676400" y="2895600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1676400" y="30784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 flipH="1">
              <a:off x="4776652" y="2118359"/>
              <a:ext cx="45719" cy="129208"/>
              <a:chOff x="1676400" y="2773681"/>
              <a:chExt cx="45719" cy="350519"/>
            </a:xfrm>
          </p:grpSpPr>
          <p:sp>
            <p:nvSpPr>
              <p:cNvPr id="32" name="Oval 31"/>
              <p:cNvSpPr/>
              <p:nvPr/>
            </p:nvSpPr>
            <p:spPr bwMode="auto">
              <a:xfrm>
                <a:off x="1676400" y="27736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33" name="Oval 32"/>
              <p:cNvSpPr/>
              <p:nvPr/>
            </p:nvSpPr>
            <p:spPr bwMode="auto">
              <a:xfrm>
                <a:off x="1676400" y="2895600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34" name="Oval 33"/>
              <p:cNvSpPr/>
              <p:nvPr/>
            </p:nvSpPr>
            <p:spPr bwMode="auto">
              <a:xfrm>
                <a:off x="1676400" y="30784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sp>
          <p:nvSpPr>
            <p:cNvPr id="35" name="Rectangle 34"/>
            <p:cNvSpPr/>
            <p:nvPr/>
          </p:nvSpPr>
          <p:spPr bwMode="auto">
            <a:xfrm>
              <a:off x="4317274" y="1981200"/>
              <a:ext cx="5334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2599509" y="1781764"/>
              <a:ext cx="1476102" cy="321356"/>
            </a:xfrm>
            <a:custGeom>
              <a:avLst/>
              <a:gdLst>
                <a:gd name="connsiteX0" fmla="*/ 0 w 1476102"/>
                <a:gd name="connsiteY0" fmla="*/ 125413 h 321356"/>
                <a:gd name="connsiteX1" fmla="*/ 522514 w 1476102"/>
                <a:gd name="connsiteY1" fmla="*/ 7847 h 321356"/>
                <a:gd name="connsiteX2" fmla="*/ 1476102 w 1476102"/>
                <a:gd name="connsiteY2" fmla="*/ 321356 h 32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6102" h="321356">
                  <a:moveTo>
                    <a:pt x="0" y="125413"/>
                  </a:moveTo>
                  <a:cubicBezTo>
                    <a:pt x="138248" y="50301"/>
                    <a:pt x="276497" y="-24810"/>
                    <a:pt x="522514" y="7847"/>
                  </a:cubicBezTo>
                  <a:cubicBezTo>
                    <a:pt x="768531" y="40504"/>
                    <a:pt x="1122316" y="180930"/>
                    <a:pt x="1476102" y="321356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 rot="651914">
              <a:off x="2846333" y="1370581"/>
              <a:ext cx="878767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M(n-1)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698966" y="2362200"/>
            <a:ext cx="4302034" cy="1786354"/>
            <a:chOff x="3698966" y="2362200"/>
            <a:chExt cx="4302034" cy="1786354"/>
          </a:xfrm>
        </p:grpSpPr>
        <p:grpSp>
          <p:nvGrpSpPr>
            <p:cNvPr id="102" name="Group 101"/>
            <p:cNvGrpSpPr/>
            <p:nvPr/>
          </p:nvGrpSpPr>
          <p:grpSpPr>
            <a:xfrm>
              <a:off x="3698966" y="2362200"/>
              <a:ext cx="4302034" cy="1539600"/>
              <a:chOff x="1981200" y="2590800"/>
              <a:chExt cx="5612674" cy="2073000"/>
            </a:xfrm>
          </p:grpSpPr>
          <p:sp>
            <p:nvSpPr>
              <p:cNvPr id="52" name="Rectangle 51"/>
              <p:cNvSpPr/>
              <p:nvPr/>
            </p:nvSpPr>
            <p:spPr bwMode="auto">
              <a:xfrm>
                <a:off x="1981200" y="2590800"/>
                <a:ext cx="139337" cy="1524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 bwMode="auto">
              <a:xfrm>
                <a:off x="4506685" y="2590800"/>
                <a:ext cx="139337" cy="1524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 bwMode="auto">
              <a:xfrm>
                <a:off x="3783874" y="4049485"/>
                <a:ext cx="1600200" cy="7620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 bwMode="auto">
              <a:xfrm>
                <a:off x="3936274" y="3973285"/>
                <a:ext cx="1295400" cy="7620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 bwMode="auto">
              <a:xfrm>
                <a:off x="4430485" y="3592285"/>
                <a:ext cx="304800" cy="7620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 flipH="1">
                <a:off x="4347755" y="3794003"/>
                <a:ext cx="45719" cy="129208"/>
                <a:chOff x="1676400" y="2773681"/>
                <a:chExt cx="45719" cy="350519"/>
              </a:xfrm>
            </p:grpSpPr>
            <p:sp>
              <p:nvSpPr>
                <p:cNvPr id="58" name="Oval 57"/>
                <p:cNvSpPr/>
                <p:nvPr/>
              </p:nvSpPr>
              <p:spPr bwMode="auto">
                <a:xfrm>
                  <a:off x="1676400" y="2773681"/>
                  <a:ext cx="45719" cy="45719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59" name="Oval 58"/>
                <p:cNvSpPr/>
                <p:nvPr/>
              </p:nvSpPr>
              <p:spPr bwMode="auto">
                <a:xfrm>
                  <a:off x="1676400" y="2895600"/>
                  <a:ext cx="45719" cy="45719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60" name="Oval 59"/>
                <p:cNvSpPr/>
                <p:nvPr/>
              </p:nvSpPr>
              <p:spPr bwMode="auto">
                <a:xfrm>
                  <a:off x="1676400" y="3078481"/>
                  <a:ext cx="45719" cy="45719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H="1">
                <a:off x="4774474" y="3794759"/>
                <a:ext cx="45719" cy="129208"/>
                <a:chOff x="1676400" y="2773681"/>
                <a:chExt cx="45719" cy="350519"/>
              </a:xfrm>
            </p:grpSpPr>
            <p:sp>
              <p:nvSpPr>
                <p:cNvPr id="62" name="Oval 61"/>
                <p:cNvSpPr/>
                <p:nvPr/>
              </p:nvSpPr>
              <p:spPr bwMode="auto">
                <a:xfrm>
                  <a:off x="1676400" y="2773681"/>
                  <a:ext cx="45719" cy="45719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63" name="Oval 62"/>
                <p:cNvSpPr/>
                <p:nvPr/>
              </p:nvSpPr>
              <p:spPr bwMode="auto">
                <a:xfrm>
                  <a:off x="1676400" y="2895600"/>
                  <a:ext cx="45719" cy="45719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  <p:sp>
              <p:nvSpPr>
                <p:cNvPr id="64" name="Oval 63"/>
                <p:cNvSpPr/>
                <p:nvPr/>
              </p:nvSpPr>
              <p:spPr bwMode="auto">
                <a:xfrm>
                  <a:off x="1676400" y="3078481"/>
                  <a:ext cx="45719" cy="45719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</a:endParaRPr>
                </a:p>
              </p:txBody>
            </p:sp>
          </p:grpSp>
          <p:sp>
            <p:nvSpPr>
              <p:cNvPr id="65" name="Rectangle 64"/>
              <p:cNvSpPr/>
              <p:nvPr/>
            </p:nvSpPr>
            <p:spPr bwMode="auto">
              <a:xfrm>
                <a:off x="4315096" y="3657600"/>
                <a:ext cx="533400" cy="7620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 bwMode="auto">
              <a:xfrm>
                <a:off x="6553200" y="2590800"/>
                <a:ext cx="139337" cy="1524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 bwMode="auto">
              <a:xfrm>
                <a:off x="5688874" y="4038600"/>
                <a:ext cx="1905000" cy="7620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68" name="Freeform 67"/>
              <p:cNvSpPr/>
              <p:nvPr/>
            </p:nvSpPr>
            <p:spPr bwMode="auto">
              <a:xfrm>
                <a:off x="2299063" y="4114800"/>
                <a:ext cx="3931920" cy="549000"/>
              </a:xfrm>
              <a:custGeom>
                <a:avLst/>
                <a:gdLst>
                  <a:gd name="connsiteX0" fmla="*/ 0 w 3931920"/>
                  <a:gd name="connsiteY0" fmla="*/ 0 h 549000"/>
                  <a:gd name="connsiteX1" fmla="*/ 2338251 w 3931920"/>
                  <a:gd name="connsiteY1" fmla="*/ 548640 h 549000"/>
                  <a:gd name="connsiteX2" fmla="*/ 3931920 w 3931920"/>
                  <a:gd name="connsiteY2" fmla="*/ 91440 h 54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1920" h="549000">
                    <a:moveTo>
                      <a:pt x="0" y="0"/>
                    </a:moveTo>
                    <a:cubicBezTo>
                      <a:pt x="841465" y="266700"/>
                      <a:pt x="1682931" y="533400"/>
                      <a:pt x="2338251" y="548640"/>
                    </a:cubicBezTo>
                    <a:cubicBezTo>
                      <a:pt x="2993571" y="563880"/>
                      <a:pt x="3931920" y="91440"/>
                      <a:pt x="3931920" y="91440"/>
                    </a:cubicBezTo>
                  </a:path>
                </a:pathLst>
              </a:cu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sp>
          <p:nvSpPr>
            <p:cNvPr id="69" name="TextBox 68"/>
            <p:cNvSpPr txBox="1"/>
            <p:nvPr/>
          </p:nvSpPr>
          <p:spPr>
            <a:xfrm>
              <a:off x="5715000" y="3810000"/>
              <a:ext cx="2162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3657154" y="4343400"/>
            <a:ext cx="4572446" cy="1143000"/>
            <a:chOff x="2133600" y="4419600"/>
            <a:chExt cx="5612674" cy="1524000"/>
          </a:xfrm>
        </p:grpSpPr>
        <p:sp>
          <p:nvSpPr>
            <p:cNvPr id="70" name="Rectangle 69"/>
            <p:cNvSpPr/>
            <p:nvPr/>
          </p:nvSpPr>
          <p:spPr bwMode="auto">
            <a:xfrm>
              <a:off x="2133600" y="4419600"/>
              <a:ext cx="139337" cy="1524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4659085" y="4419600"/>
              <a:ext cx="139337" cy="1524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6705600" y="4419600"/>
              <a:ext cx="139337" cy="1524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5841274" y="5867400"/>
              <a:ext cx="19050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5980611" y="5791200"/>
              <a:ext cx="16002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8" name="Rectangle 87"/>
            <p:cNvSpPr/>
            <p:nvPr/>
          </p:nvSpPr>
          <p:spPr bwMode="auto">
            <a:xfrm>
              <a:off x="6133011" y="5715000"/>
              <a:ext cx="12954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6627222" y="5334000"/>
              <a:ext cx="3048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 flipH="1">
              <a:off x="6544492" y="5535718"/>
              <a:ext cx="45719" cy="129208"/>
              <a:chOff x="1676400" y="2773681"/>
              <a:chExt cx="45719" cy="350519"/>
            </a:xfrm>
          </p:grpSpPr>
          <p:sp>
            <p:nvSpPr>
              <p:cNvPr id="91" name="Oval 90"/>
              <p:cNvSpPr/>
              <p:nvPr/>
            </p:nvSpPr>
            <p:spPr bwMode="auto">
              <a:xfrm>
                <a:off x="1676400" y="27736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92" name="Oval 91"/>
              <p:cNvSpPr/>
              <p:nvPr/>
            </p:nvSpPr>
            <p:spPr bwMode="auto">
              <a:xfrm>
                <a:off x="1676400" y="2895600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93" name="Oval 92"/>
              <p:cNvSpPr/>
              <p:nvPr/>
            </p:nvSpPr>
            <p:spPr bwMode="auto">
              <a:xfrm>
                <a:off x="1676400" y="30784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 flipH="1">
              <a:off x="6971211" y="5536474"/>
              <a:ext cx="45719" cy="129208"/>
              <a:chOff x="1676400" y="2773681"/>
              <a:chExt cx="45719" cy="350519"/>
            </a:xfrm>
          </p:grpSpPr>
          <p:sp>
            <p:nvSpPr>
              <p:cNvPr id="95" name="Oval 94"/>
              <p:cNvSpPr/>
              <p:nvPr/>
            </p:nvSpPr>
            <p:spPr bwMode="auto">
              <a:xfrm>
                <a:off x="1676400" y="27736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96" name="Oval 95"/>
              <p:cNvSpPr/>
              <p:nvPr/>
            </p:nvSpPr>
            <p:spPr bwMode="auto">
              <a:xfrm>
                <a:off x="1676400" y="2895600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97" name="Oval 96"/>
              <p:cNvSpPr/>
              <p:nvPr/>
            </p:nvSpPr>
            <p:spPr bwMode="auto">
              <a:xfrm>
                <a:off x="1676400" y="3078481"/>
                <a:ext cx="45719" cy="45719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</p:grpSp>
        <p:sp>
          <p:nvSpPr>
            <p:cNvPr id="98" name="Rectangle 97"/>
            <p:cNvSpPr/>
            <p:nvPr/>
          </p:nvSpPr>
          <p:spPr bwMode="auto">
            <a:xfrm>
              <a:off x="6511833" y="5399315"/>
              <a:ext cx="533400" cy="76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99" name="Freeform 98"/>
            <p:cNvSpPr/>
            <p:nvPr/>
          </p:nvSpPr>
          <p:spPr bwMode="auto">
            <a:xfrm>
              <a:off x="4911634" y="5222981"/>
              <a:ext cx="1371600" cy="420173"/>
            </a:xfrm>
            <a:custGeom>
              <a:avLst/>
              <a:gdLst>
                <a:gd name="connsiteX0" fmla="*/ 0 w 1371600"/>
                <a:gd name="connsiteY0" fmla="*/ 420173 h 420173"/>
                <a:gd name="connsiteX1" fmla="*/ 222069 w 1371600"/>
                <a:gd name="connsiteY1" fmla="*/ 145853 h 420173"/>
                <a:gd name="connsiteX2" fmla="*/ 731520 w 1371600"/>
                <a:gd name="connsiteY2" fmla="*/ 2162 h 420173"/>
                <a:gd name="connsiteX3" fmla="*/ 1371600 w 1371600"/>
                <a:gd name="connsiteY3" fmla="*/ 250356 h 420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420173">
                  <a:moveTo>
                    <a:pt x="0" y="420173"/>
                  </a:moveTo>
                  <a:cubicBezTo>
                    <a:pt x="50074" y="317847"/>
                    <a:pt x="100149" y="215521"/>
                    <a:pt x="222069" y="145853"/>
                  </a:cubicBezTo>
                  <a:cubicBezTo>
                    <a:pt x="343989" y="76185"/>
                    <a:pt x="539932" y="-15255"/>
                    <a:pt x="731520" y="2162"/>
                  </a:cubicBezTo>
                  <a:cubicBezTo>
                    <a:pt x="923109" y="19579"/>
                    <a:pt x="1371600" y="250356"/>
                    <a:pt x="1371600" y="250356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 rot="545001">
              <a:off x="5252005" y="4780281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M(n-1)</a:t>
              </a: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190728" y="3544669"/>
            <a:ext cx="3390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M(n) = M(n-1) + 1 + M(n-1)</a:t>
            </a:r>
          </a:p>
          <a:p>
            <a:r>
              <a:rPr lang="en-US" b="1" dirty="0">
                <a:solidFill>
                  <a:srgbClr val="0000CC"/>
                </a:solidFill>
              </a:rPr>
              <a:t>M(1) = 1</a:t>
            </a:r>
          </a:p>
        </p:txBody>
      </p:sp>
    </p:spTree>
    <p:extLst>
      <p:ext uri="{BB962C8B-B14F-4D97-AF65-F5344CB8AC3E}">
        <p14:creationId xmlns:p14="http://schemas.microsoft.com/office/powerpoint/2010/main" val="88346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35A489-2F45-6486-BDB6-FA156578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</a:rPr>
              <a:t>Tower of Hanoi (contd.)</a:t>
            </a:r>
            <a:endParaRPr lang="en-US" dirty="0"/>
          </a:p>
        </p:txBody>
      </p:sp>
      <p:pic>
        <p:nvPicPr>
          <p:cNvPr id="5" name="Content Placeholder 4" descr="A red and black pyramid&#10;&#10;Description automatically generated">
            <a:extLst>
              <a:ext uri="{FF2B5EF4-FFF2-40B4-BE49-F238E27FC236}">
                <a16:creationId xmlns:a16="http://schemas.microsoft.com/office/drawing/2014/main" id="{60A45981-E8C4-BB7C-8F33-3395EB1FB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77" y="1881981"/>
            <a:ext cx="7620000" cy="3810000"/>
          </a:xfrm>
          <a:noFill/>
        </p:spPr>
      </p:pic>
    </p:spTree>
    <p:extLst>
      <p:ext uri="{BB962C8B-B14F-4D97-AF65-F5344CB8AC3E}">
        <p14:creationId xmlns:p14="http://schemas.microsoft.com/office/powerpoint/2010/main" val="3144447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5334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Tower of Hanoi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4495800" cy="4648200"/>
          </a:xfrm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ALGORITHM </a:t>
            </a:r>
            <a:r>
              <a:rPr lang="en-US" sz="2400" dirty="0" err="1">
                <a:solidFill>
                  <a:schemeClr val="tx1"/>
                </a:solidFill>
                <a:latin typeface="Segoe"/>
              </a:rPr>
              <a:t>ToH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(n, s, m, d)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Segoe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n = 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print “move from s to d”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Segoe"/>
              </a:rPr>
              <a:t>else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Segoe"/>
              </a:rPr>
              <a:t>ToH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(n-1, </a:t>
            </a:r>
            <a:r>
              <a:rPr lang="en-US" sz="2400" dirty="0">
                <a:solidFill>
                  <a:srgbClr val="FF0000"/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 d, </a:t>
            </a:r>
            <a:r>
              <a:rPr lang="en-US" sz="2400" dirty="0">
                <a:solidFill>
                  <a:srgbClr val="FF0000"/>
                </a:solidFill>
                <a:latin typeface="Segoe"/>
              </a:rPr>
              <a:t>m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print “move from s to d”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Segoe"/>
              </a:rPr>
              <a:t>ToH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(n-1, </a:t>
            </a:r>
            <a:r>
              <a:rPr lang="en-US" sz="2400" dirty="0">
                <a:solidFill>
                  <a:srgbClr val="FF0000"/>
                </a:solidFill>
                <a:latin typeface="Segoe"/>
              </a:rPr>
              <a:t>m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 s, </a:t>
            </a:r>
            <a:r>
              <a:rPr lang="en-US" sz="2400" dirty="0">
                <a:solidFill>
                  <a:srgbClr val="FF0000"/>
                </a:solidFill>
                <a:latin typeface="Segoe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0" y="1371600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M(1)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1281" y="29834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M(n-1)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0" y="3440668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M(1)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6832" y="39740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M(n-1)</a:t>
            </a:r>
          </a:p>
        </p:txBody>
      </p:sp>
      <p:cxnSp>
        <p:nvCxnSpPr>
          <p:cNvPr id="10" name="Straight Arrow Connector 9"/>
          <p:cNvCxnSpPr>
            <a:stCxn id="6" idx="1"/>
          </p:cNvCxnSpPr>
          <p:nvPr/>
        </p:nvCxnSpPr>
        <p:spPr bwMode="auto">
          <a:xfrm flipH="1">
            <a:off x="4718849" y="3168134"/>
            <a:ext cx="110243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>
            <a:stCxn id="7" idx="1"/>
          </p:cNvCxnSpPr>
          <p:nvPr/>
        </p:nvCxnSpPr>
        <p:spPr bwMode="auto">
          <a:xfrm flipH="1">
            <a:off x="4876800" y="3625334"/>
            <a:ext cx="9144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>
            <a:stCxn id="8" idx="1"/>
          </p:cNvCxnSpPr>
          <p:nvPr/>
        </p:nvCxnSpPr>
        <p:spPr bwMode="auto">
          <a:xfrm flipH="1">
            <a:off x="4800600" y="4158734"/>
            <a:ext cx="102623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 flipH="1">
            <a:off x="1905000" y="1600200"/>
            <a:ext cx="3886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64938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8964613" cy="6597650"/>
          </a:xfrm>
        </p:spPr>
        <p:txBody>
          <a:bodyPr/>
          <a:lstStyle/>
          <a:p>
            <a:pPr marL="381000" indent="-381000">
              <a:buFontTx/>
              <a:buNone/>
            </a:pPr>
            <a:r>
              <a:rPr lang="fr-FR" sz="1800" b="1" dirty="0" err="1">
                <a:latin typeface="Segoe"/>
              </a:rPr>
              <a:t>Expanding</a:t>
            </a:r>
            <a:r>
              <a:rPr lang="fr-FR" sz="1800" b="1" dirty="0">
                <a:latin typeface="Segoe"/>
              </a:rPr>
              <a:t>:</a:t>
            </a:r>
          </a:p>
          <a:p>
            <a:pPr marL="381000" indent="-381000">
              <a:buFontTx/>
              <a:buNone/>
            </a:pPr>
            <a:r>
              <a:rPr lang="fr-FR" sz="1800" b="1" dirty="0">
                <a:latin typeface="Segoe"/>
              </a:rPr>
              <a:t>    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T(1) = 1                                                 (1)</a:t>
            </a:r>
          </a:p>
          <a:p>
            <a:pPr marL="381000" indent="-381000">
              <a:buFontTx/>
              <a:buNone/>
            </a:pPr>
            <a:r>
              <a:rPr lang="fr-FR" sz="1600" b="1" dirty="0">
                <a:solidFill>
                  <a:srgbClr val="0000FF"/>
                </a:solidFill>
                <a:latin typeface="Segoe"/>
              </a:rPr>
              <a:t>    T(n) = 2T(n – 1) + c            if n &gt; 1       (2)</a:t>
            </a:r>
          </a:p>
          <a:p>
            <a:pPr marL="381000" indent="-381000">
              <a:buFontTx/>
              <a:buNone/>
            </a:pPr>
            <a:r>
              <a:rPr lang="fr-FR" sz="1600" b="1" dirty="0">
                <a:latin typeface="Segoe"/>
              </a:rPr>
              <a:t>            = 2[2T(n – 2) + c] + c 	  = 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2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T(n – 2) + 2c + c                         	</a:t>
            </a:r>
            <a:r>
              <a:rPr lang="fr-FR" sz="1400" dirty="0">
                <a:solidFill>
                  <a:srgbClr val="0000FF"/>
                </a:solidFill>
                <a:latin typeface="Segoe"/>
              </a:rPr>
              <a:t>by </a:t>
            </a:r>
            <a:r>
              <a:rPr lang="fr-FR" sz="1400" dirty="0" err="1">
                <a:solidFill>
                  <a:srgbClr val="0000FF"/>
                </a:solidFill>
                <a:latin typeface="Segoe"/>
              </a:rPr>
              <a:t>substituting</a:t>
            </a:r>
            <a:r>
              <a:rPr lang="fr-FR" sz="1400" dirty="0">
                <a:solidFill>
                  <a:srgbClr val="0000FF"/>
                </a:solidFill>
                <a:latin typeface="Segoe"/>
              </a:rPr>
              <a:t> T(n – 1) in (2)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</a:t>
            </a:r>
          </a:p>
          <a:p>
            <a:pPr marL="381000" indent="-381000">
              <a:buFontTx/>
              <a:buNone/>
            </a:pPr>
            <a:r>
              <a:rPr lang="fr-FR" sz="1600" b="1" dirty="0">
                <a:latin typeface="Segoe"/>
              </a:rPr>
              <a:t>	      = 2</a:t>
            </a:r>
            <a:r>
              <a:rPr lang="fr-FR" sz="1600" b="1" baseline="30000" dirty="0">
                <a:latin typeface="Segoe"/>
              </a:rPr>
              <a:t>2</a:t>
            </a:r>
            <a:r>
              <a:rPr lang="fr-FR" sz="1600" b="1" dirty="0">
                <a:latin typeface="Segoe"/>
              </a:rPr>
              <a:t> [2T(n – 3) + c] + 2c + c  = 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3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T(n – 3) + 2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2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c + 2c + c   	  </a:t>
            </a:r>
            <a:r>
              <a:rPr lang="fr-FR" sz="1400" dirty="0">
                <a:solidFill>
                  <a:srgbClr val="0000FF"/>
                </a:solidFill>
                <a:latin typeface="Segoe"/>
              </a:rPr>
              <a:t>by </a:t>
            </a:r>
            <a:r>
              <a:rPr lang="fr-FR" sz="1400" dirty="0" err="1">
                <a:solidFill>
                  <a:srgbClr val="0000FF"/>
                </a:solidFill>
                <a:latin typeface="Segoe"/>
              </a:rPr>
              <a:t>substituting</a:t>
            </a:r>
            <a:r>
              <a:rPr lang="fr-FR" sz="1400" dirty="0">
                <a:solidFill>
                  <a:srgbClr val="0000FF"/>
                </a:solidFill>
                <a:latin typeface="Segoe"/>
              </a:rPr>
              <a:t> T(n-2) in (2)</a:t>
            </a:r>
          </a:p>
          <a:p>
            <a:pPr marL="381000" indent="-381000">
              <a:buFontTx/>
              <a:buNone/>
            </a:pPr>
            <a:r>
              <a:rPr lang="fr-FR" sz="1600" b="1" dirty="0">
                <a:latin typeface="Segoe"/>
              </a:rPr>
              <a:t>            = 2</a:t>
            </a:r>
            <a:r>
              <a:rPr lang="fr-FR" sz="1600" b="1" baseline="30000" dirty="0">
                <a:latin typeface="Segoe"/>
              </a:rPr>
              <a:t>3</a:t>
            </a:r>
            <a:r>
              <a:rPr lang="fr-FR" sz="1600" b="1" dirty="0">
                <a:latin typeface="Segoe"/>
              </a:rPr>
              <a:t> [2T(n – 4) + c] + 2</a:t>
            </a:r>
            <a:r>
              <a:rPr lang="fr-FR" sz="1600" b="1" baseline="30000" dirty="0">
                <a:latin typeface="Segoe"/>
              </a:rPr>
              <a:t>2</a:t>
            </a:r>
            <a:r>
              <a:rPr lang="fr-FR" sz="1600" b="1" dirty="0">
                <a:latin typeface="Segoe"/>
              </a:rPr>
              <a:t> c+ 2c + c  </a:t>
            </a:r>
            <a:r>
              <a:rPr lang="en-US" sz="1600" b="1" dirty="0">
                <a:latin typeface="Segoe"/>
              </a:rPr>
              <a:t>= </a:t>
            </a:r>
            <a:r>
              <a:rPr lang="en-US" sz="1600" b="1" dirty="0">
                <a:solidFill>
                  <a:srgbClr val="0000FF"/>
                </a:solidFill>
                <a:latin typeface="Segoe"/>
              </a:rPr>
              <a:t>2</a:t>
            </a:r>
            <a:r>
              <a:rPr lang="en-US" sz="1600" b="1" baseline="30000" dirty="0">
                <a:solidFill>
                  <a:srgbClr val="0000FF"/>
                </a:solidFill>
                <a:latin typeface="Segoe"/>
              </a:rPr>
              <a:t>4</a:t>
            </a:r>
            <a:r>
              <a:rPr lang="en-US" sz="1600" b="1" dirty="0">
                <a:solidFill>
                  <a:srgbClr val="0000FF"/>
                </a:solidFill>
                <a:latin typeface="Segoe"/>
              </a:rPr>
              <a:t> T(n – 4) + 2</a:t>
            </a:r>
            <a:r>
              <a:rPr lang="en-US" sz="1600" b="1" baseline="30000" dirty="0">
                <a:solidFill>
                  <a:srgbClr val="0000FF"/>
                </a:solidFill>
                <a:latin typeface="Segoe"/>
              </a:rPr>
              <a:t>3</a:t>
            </a:r>
            <a:r>
              <a:rPr lang="en-US" sz="1600" b="1" dirty="0">
                <a:solidFill>
                  <a:srgbClr val="0000FF"/>
                </a:solidFill>
                <a:latin typeface="Segoe"/>
              </a:rPr>
              <a:t> c + 2</a:t>
            </a:r>
            <a:r>
              <a:rPr lang="en-US" sz="1600" b="1" baseline="30000" dirty="0">
                <a:solidFill>
                  <a:srgbClr val="0000FF"/>
                </a:solidFill>
                <a:latin typeface="Segoe"/>
              </a:rPr>
              <a:t>2</a:t>
            </a:r>
            <a:r>
              <a:rPr lang="en-US" sz="1600" b="1" dirty="0">
                <a:solidFill>
                  <a:srgbClr val="0000FF"/>
                </a:solidFill>
                <a:latin typeface="Segoe"/>
              </a:rPr>
              <a:t>c + 2</a:t>
            </a:r>
            <a:r>
              <a:rPr lang="en-US" sz="1600" b="1" baseline="30000" dirty="0">
                <a:solidFill>
                  <a:srgbClr val="0000FF"/>
                </a:solidFill>
                <a:latin typeface="Segoe"/>
              </a:rPr>
              <a:t>1</a:t>
            </a:r>
            <a:r>
              <a:rPr lang="en-US" sz="1600" b="1" dirty="0">
                <a:solidFill>
                  <a:srgbClr val="0000FF"/>
                </a:solidFill>
                <a:latin typeface="Segoe"/>
              </a:rPr>
              <a:t>c + 2</a:t>
            </a:r>
            <a:r>
              <a:rPr lang="en-US" sz="1600" b="1" baseline="30000" dirty="0">
                <a:solidFill>
                  <a:srgbClr val="0000FF"/>
                </a:solidFill>
                <a:latin typeface="Segoe"/>
              </a:rPr>
              <a:t>0</a:t>
            </a:r>
            <a:r>
              <a:rPr lang="en-US" sz="1600" b="1" dirty="0">
                <a:solidFill>
                  <a:srgbClr val="0000FF"/>
                </a:solidFill>
                <a:latin typeface="Segoe"/>
              </a:rPr>
              <a:t>c    </a:t>
            </a:r>
          </a:p>
          <a:p>
            <a:pPr marL="381000" indent="-381000">
              <a:buFontTx/>
              <a:buNone/>
            </a:pPr>
            <a:r>
              <a:rPr lang="en-US" sz="1600" b="1" dirty="0">
                <a:solidFill>
                  <a:srgbClr val="0000FF"/>
                </a:solidFill>
                <a:latin typeface="Segoe"/>
              </a:rPr>
              <a:t>								 </a:t>
            </a:r>
            <a:r>
              <a:rPr lang="en-US" sz="1400" dirty="0">
                <a:solidFill>
                  <a:srgbClr val="0000FF"/>
                </a:solidFill>
                <a:latin typeface="Segoe"/>
              </a:rPr>
              <a:t>by substituting T(n – 3) in (2)</a:t>
            </a:r>
            <a:endParaRPr lang="en-US" sz="1600" b="1" dirty="0">
              <a:solidFill>
                <a:srgbClr val="0000FF"/>
              </a:solidFill>
              <a:latin typeface="Segoe"/>
            </a:endParaRPr>
          </a:p>
          <a:p>
            <a:pPr marL="381000" indent="-381000">
              <a:buFontTx/>
              <a:buNone/>
            </a:pPr>
            <a:r>
              <a:rPr lang="en-US" sz="1600" b="1" dirty="0">
                <a:latin typeface="Segoe"/>
              </a:rPr>
              <a:t>	      = ……</a:t>
            </a:r>
          </a:p>
          <a:p>
            <a:pPr marL="381000" indent="-381000">
              <a:buFontTx/>
              <a:buNone/>
            </a:pPr>
            <a:r>
              <a:rPr lang="en-US" sz="1600" b="1" dirty="0">
                <a:latin typeface="Segoe"/>
              </a:rPr>
              <a:t>   </a:t>
            </a:r>
            <a:r>
              <a:rPr lang="fr-FR" sz="1600" b="1" dirty="0">
                <a:latin typeface="Segoe"/>
              </a:rPr>
              <a:t>         = 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k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T(n – k) +  c[2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k- 1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 + 2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k– 2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 + . . .  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1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 + 2</a:t>
            </a:r>
            <a:r>
              <a:rPr lang="fr-FR" sz="1600" b="1" baseline="30000" dirty="0">
                <a:solidFill>
                  <a:srgbClr val="0000FF"/>
                </a:solidFill>
                <a:latin typeface="Segoe"/>
              </a:rPr>
              <a:t>0</a:t>
            </a:r>
            <a:r>
              <a:rPr lang="fr-FR" sz="1600" b="1" dirty="0">
                <a:solidFill>
                  <a:srgbClr val="0000FF"/>
                </a:solidFill>
                <a:latin typeface="Segoe"/>
              </a:rPr>
              <a:t>]</a:t>
            </a:r>
          </a:p>
          <a:p>
            <a:pPr marL="381000" indent="-381000">
              <a:buFontTx/>
              <a:buNone/>
            </a:pPr>
            <a:endParaRPr lang="fr-FR" sz="1600" b="1" dirty="0">
              <a:solidFill>
                <a:schemeClr val="accent2"/>
              </a:solidFill>
              <a:latin typeface="Segoe"/>
            </a:endParaRPr>
          </a:p>
          <a:p>
            <a:pPr marL="381000" indent="-381000">
              <a:buFontTx/>
              <a:buNone/>
            </a:pPr>
            <a:endParaRPr lang="fr-FR" sz="1800" b="1" dirty="0">
              <a:solidFill>
                <a:schemeClr val="accent2"/>
              </a:solidFill>
              <a:latin typeface="Segoe"/>
            </a:endParaRPr>
          </a:p>
          <a:p>
            <a:pPr marL="381000" indent="-381000">
              <a:buFontTx/>
              <a:buNone/>
            </a:pPr>
            <a:endParaRPr lang="fr-FR" sz="1800" b="1" dirty="0">
              <a:solidFill>
                <a:schemeClr val="accent2"/>
              </a:solidFill>
              <a:latin typeface="Segoe"/>
            </a:endParaRPr>
          </a:p>
          <a:p>
            <a:pPr marL="381000" indent="-381000">
              <a:buFontTx/>
              <a:buNone/>
            </a:pPr>
            <a:r>
              <a:rPr lang="fr-FR" sz="1800" b="1" dirty="0">
                <a:latin typeface="Segoe"/>
              </a:rPr>
              <a:t>  The base case </a:t>
            </a:r>
            <a:r>
              <a:rPr lang="fr-FR" sz="1800" b="1" dirty="0" err="1">
                <a:latin typeface="Segoe"/>
              </a:rPr>
              <a:t>is</a:t>
            </a:r>
            <a:r>
              <a:rPr lang="fr-FR" sz="1800" b="1" dirty="0">
                <a:latin typeface="Segoe"/>
              </a:rPr>
              <a:t> </a:t>
            </a:r>
            <a:r>
              <a:rPr lang="fr-FR" sz="1800" b="1" dirty="0" err="1">
                <a:latin typeface="Segoe"/>
              </a:rPr>
              <a:t>reached</a:t>
            </a:r>
            <a:r>
              <a:rPr lang="fr-FR" sz="1800" b="1" dirty="0">
                <a:latin typeface="Segoe"/>
              </a:rPr>
              <a:t> </a:t>
            </a:r>
            <a:r>
              <a:rPr lang="fr-FR" sz="1800" b="1" dirty="0" err="1">
                <a:latin typeface="Segoe"/>
              </a:rPr>
              <a:t>when</a:t>
            </a:r>
            <a:r>
              <a:rPr lang="fr-FR" sz="1800" b="1" dirty="0">
                <a:latin typeface="Segoe"/>
              </a:rPr>
              <a:t>  </a:t>
            </a:r>
            <a:r>
              <a:rPr lang="fr-FR" sz="1800" b="1" dirty="0">
                <a:solidFill>
                  <a:srgbClr val="0000FF"/>
                </a:solidFill>
                <a:latin typeface="Segoe"/>
              </a:rPr>
              <a:t>n – k = 1</a:t>
            </a:r>
            <a:r>
              <a:rPr lang="fr-FR" sz="1800" b="1" dirty="0">
                <a:latin typeface="Segoe"/>
              </a:rPr>
              <a:t> </a:t>
            </a:r>
            <a:r>
              <a:rPr lang="fr-FR" sz="1800" b="1" dirty="0">
                <a:latin typeface="Segoe"/>
                <a:sym typeface="Wingdings" pitchFamily="2" charset="2"/>
              </a:rPr>
              <a:t> </a:t>
            </a:r>
            <a:r>
              <a:rPr lang="fr-FR" sz="1800" b="1" dirty="0">
                <a:solidFill>
                  <a:srgbClr val="0000FF"/>
                </a:solidFill>
                <a:latin typeface="Segoe"/>
              </a:rPr>
              <a:t>k = n – 1</a:t>
            </a:r>
            <a:r>
              <a:rPr lang="fr-FR" sz="1800" b="1" dirty="0">
                <a:latin typeface="Segoe"/>
              </a:rPr>
              <a:t>, </a:t>
            </a:r>
            <a:r>
              <a:rPr lang="fr-FR" sz="1800" b="1" dirty="0" err="1">
                <a:latin typeface="Segoe"/>
              </a:rPr>
              <a:t>we</a:t>
            </a:r>
            <a:r>
              <a:rPr lang="fr-FR" sz="1800" b="1" dirty="0">
                <a:latin typeface="Segoe"/>
              </a:rPr>
              <a:t> </a:t>
            </a:r>
            <a:r>
              <a:rPr lang="fr-FR" sz="1800" b="1" dirty="0" err="1">
                <a:latin typeface="Segoe"/>
              </a:rPr>
              <a:t>then</a:t>
            </a:r>
            <a:r>
              <a:rPr lang="fr-FR" sz="1800" b="1" dirty="0">
                <a:latin typeface="Segoe"/>
              </a:rPr>
              <a:t> have:</a:t>
            </a:r>
            <a:endParaRPr lang="en-US" sz="1800" b="1" dirty="0">
              <a:latin typeface="Segoe"/>
            </a:endParaRP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4038600" y="5867400"/>
            <a:ext cx="460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Ctr="1"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sz="2000"/>
              <a:t>Therefore, The method </a:t>
            </a:r>
            <a:r>
              <a:rPr lang="en-US" sz="2000" b="1"/>
              <a:t>hanoi</a:t>
            </a:r>
            <a:r>
              <a:rPr lang="en-US" sz="2000"/>
              <a:t> is </a:t>
            </a:r>
            <a:r>
              <a:rPr lang="en-US" sz="2000" b="1"/>
              <a:t>O(2</a:t>
            </a:r>
            <a:r>
              <a:rPr lang="en-US" sz="2000" b="1" baseline="30000"/>
              <a:t>n</a:t>
            </a:r>
            <a:r>
              <a:rPr lang="en-US" sz="2000" b="1"/>
              <a:t>)</a:t>
            </a:r>
            <a:r>
              <a:rPr lang="en-US" sz="2000"/>
              <a:t>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29000"/>
            <a:ext cx="28289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5110162"/>
            <a:ext cx="3305175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835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13855"/>
            <a:ext cx="2476500" cy="2762250"/>
          </a:xfrm>
          <a:prstGeom prst="rect">
            <a:avLst/>
          </a:prstGeom>
        </p:spPr>
      </p:pic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856"/>
            <a:ext cx="8686800" cy="77672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Fibonacci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983673"/>
            <a:ext cx="876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Leonardo Fibonacci, the Italian mathematician </a:t>
            </a:r>
          </a:p>
          <a:p>
            <a:r>
              <a:rPr lang="en-US" sz="2400" dirty="0"/>
              <a:t>of the middle ages, first used the sequence</a:t>
            </a:r>
          </a:p>
          <a:p>
            <a:r>
              <a:rPr lang="en-US" sz="2400" dirty="0"/>
              <a:t>1, 1, 2, 3, 5, 8, 13, 21, 34, 55, ...... </a:t>
            </a:r>
          </a:p>
          <a:p>
            <a:r>
              <a:rPr lang="en-US" sz="2400" dirty="0"/>
              <a:t>in his example of Breeding Rabbits.</a:t>
            </a:r>
          </a:p>
          <a:p>
            <a:pPr fontAlgn="base"/>
            <a:r>
              <a:rPr lang="en-US" sz="2400" dirty="0"/>
              <a:t>Fibonacci used the sequence to explain the breeding pattern of rabbits under ideal circumstances. 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FF0000"/>
                </a:solidFill>
              </a:rPr>
              <a:t>The set up for the problem is as follows:</a:t>
            </a:r>
          </a:p>
          <a:p>
            <a:pPr marL="342900" indent="-342900" algn="just" fontAlgn="base">
              <a:buFont typeface="Wingdings" pitchFamily="2" charset="2"/>
              <a:buChar char="q"/>
            </a:pPr>
            <a:r>
              <a:rPr lang="en-US" sz="2400" dirty="0"/>
              <a:t>Rabbits mate when they are one month old and at the end of the second month, the female can reproduce exactly one pair of rabbits, one male and one female.</a:t>
            </a:r>
          </a:p>
          <a:p>
            <a:pPr marL="342900" indent="-342900" algn="just" fontAlgn="base">
              <a:buFont typeface="Wingdings" pitchFamily="2" charset="2"/>
              <a:buChar char="q"/>
            </a:pPr>
            <a:r>
              <a:rPr lang="en-US" sz="2400" dirty="0"/>
              <a:t>One pair of newly born rabbits (one male and one female) is observed initially for the study.</a:t>
            </a:r>
          </a:p>
          <a:p>
            <a:pPr marL="342900" indent="-342900" algn="just" fontAlgn="base">
              <a:buFont typeface="Wingdings" pitchFamily="2" charset="2"/>
              <a:buChar char="q"/>
            </a:pPr>
            <a:r>
              <a:rPr lang="en-US" sz="2400" dirty="0"/>
              <a:t>It is assumed that the newborns of rabbits never die.</a:t>
            </a:r>
          </a:p>
          <a:p>
            <a:pPr algn="jus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9340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686800" cy="79057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Fibonacci Sequence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45" y="990600"/>
            <a:ext cx="7339555" cy="5181600"/>
          </a:xfrm>
        </p:spPr>
      </p:pic>
      <p:sp>
        <p:nvSpPr>
          <p:cNvPr id="2" name="TextBox 1"/>
          <p:cNvSpPr txBox="1"/>
          <p:nvPr/>
        </p:nvSpPr>
        <p:spPr>
          <a:xfrm>
            <a:off x="4648200" y="1216223"/>
            <a:ext cx="88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newborn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0" y="1978223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0" y="2816423"/>
            <a:ext cx="88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newborn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0" y="3578423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88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newborn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19600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adult</a:t>
            </a:r>
          </a:p>
        </p:txBody>
      </p:sp>
    </p:spTree>
    <p:extLst>
      <p:ext uri="{BB962C8B-B14F-4D97-AF65-F5344CB8AC3E}">
        <p14:creationId xmlns:p14="http://schemas.microsoft.com/office/powerpoint/2010/main" val="1170084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52400"/>
            <a:ext cx="8686800" cy="63817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Analysis Of Recursive </a:t>
            </a:r>
            <a:r>
              <a:rPr lang="en-US" b="1" dirty="0">
                <a:solidFill>
                  <a:srgbClr val="FF0000"/>
                </a:solidFill>
              </a:rPr>
              <a:t>Fibonacci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3505200"/>
            <a:ext cx="8208963" cy="3057525"/>
          </a:xfrm>
        </p:spPr>
        <p:txBody>
          <a:bodyPr>
            <a:normAutofit/>
          </a:bodyPr>
          <a:lstStyle/>
          <a:p>
            <a:pPr marL="381000" indent="-381000">
              <a:lnSpc>
                <a:spcPct val="80000"/>
              </a:lnSpc>
              <a:buFontTx/>
              <a:buNone/>
            </a:pPr>
            <a:r>
              <a:rPr lang="fr-FR" sz="1800" b="1" dirty="0">
                <a:latin typeface="Segoe"/>
              </a:rPr>
              <a:t>                        </a:t>
            </a:r>
            <a:r>
              <a:rPr lang="en-US" sz="1800" b="1" dirty="0">
                <a:solidFill>
                  <a:srgbClr val="0000FF"/>
                </a:solidFill>
                <a:latin typeface="Segoe"/>
              </a:rPr>
              <a:t>T(n)   = c                                            if n = 1 or n = 2           (1)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0000FF"/>
                </a:solidFill>
                <a:latin typeface="Segoe"/>
              </a:rPr>
              <a:t>                        T(n)  =  T(n – 1) + T(n – 2) + b          if  n &gt; 2                        (2)</a:t>
            </a:r>
          </a:p>
          <a:p>
            <a:pPr marL="381000" indent="-381000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Segoe"/>
              </a:rPr>
              <a:t>We determine a </a:t>
            </a:r>
            <a:r>
              <a:rPr lang="en-US" sz="1800" b="1" dirty="0">
                <a:solidFill>
                  <a:srgbClr val="FF0000"/>
                </a:solidFill>
                <a:latin typeface="Segoe"/>
              </a:rPr>
              <a:t>lower bound</a:t>
            </a:r>
            <a:r>
              <a:rPr lang="en-US" sz="1800" b="1" dirty="0">
                <a:latin typeface="Segoe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Segoe"/>
              </a:rPr>
              <a:t>on T(n):</a:t>
            </a:r>
          </a:p>
          <a:p>
            <a:pPr marL="381000" indent="-381000">
              <a:lnSpc>
                <a:spcPct val="150000"/>
              </a:lnSpc>
            </a:pPr>
            <a:r>
              <a:rPr lang="fr-FR" sz="1800" b="1" dirty="0" err="1">
                <a:solidFill>
                  <a:schemeClr val="tx1"/>
                </a:solidFill>
                <a:latin typeface="Segoe"/>
              </a:rPr>
              <a:t>Expanding</a:t>
            </a:r>
            <a:r>
              <a:rPr lang="fr-FR" sz="1800" b="1" dirty="0">
                <a:solidFill>
                  <a:schemeClr val="tx1"/>
                </a:solidFill>
                <a:latin typeface="Segoe"/>
              </a:rPr>
              <a:t>: T(n) = T(n - 1) + T(n - 2) + b</a:t>
            </a:r>
          </a:p>
          <a:p>
            <a:pPr marL="381000" indent="-381000">
              <a:lnSpc>
                <a:spcPct val="150000"/>
              </a:lnSpc>
            </a:pPr>
            <a:r>
              <a:rPr lang="fr-FR" sz="1800" b="1" dirty="0">
                <a:solidFill>
                  <a:schemeClr val="tx1"/>
                </a:solidFill>
                <a:latin typeface="Segoe"/>
              </a:rPr>
              <a:t>                             ≥ T(n - 2) + T(n-2) + b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sz="1800" b="1" dirty="0">
              <a:solidFill>
                <a:srgbClr val="0000FF"/>
              </a:solidFill>
              <a:latin typeface="Segoe"/>
            </a:endParaRP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sz="1800" b="1" dirty="0">
              <a:solidFill>
                <a:srgbClr val="0000FF"/>
              </a:solidFill>
              <a:latin typeface="Segoe"/>
            </a:endParaRP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fr-FR" sz="1800" b="1" dirty="0">
              <a:solidFill>
                <a:schemeClr val="accent2"/>
              </a:solidFill>
              <a:latin typeface="Segoe"/>
            </a:endParaRPr>
          </a:p>
        </p:txBody>
      </p:sp>
      <p:sp>
        <p:nvSpPr>
          <p:cNvPr id="153607" name="Rectangle 7"/>
          <p:cNvSpPr>
            <a:spLocks noChangeArrowheads="1"/>
          </p:cNvSpPr>
          <p:nvPr/>
        </p:nvSpPr>
        <p:spPr bwMode="auto">
          <a:xfrm>
            <a:off x="539750" y="1169075"/>
            <a:ext cx="7920038" cy="2031325"/>
          </a:xfrm>
          <a:prstGeom prst="rect">
            <a:avLst/>
          </a:prstGeom>
          <a:ln/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l" rtl="0">
              <a:spcBef>
                <a:spcPct val="20000"/>
              </a:spcBef>
            </a:pPr>
            <a:r>
              <a:rPr lang="en-US" b="1" dirty="0">
                <a:latin typeface="Segoe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Segoe"/>
                <a:cs typeface="Courier New" pitchFamily="49" charset="0"/>
              </a:rPr>
              <a:t>fibonacci</a:t>
            </a: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 (n) {</a:t>
            </a:r>
            <a:r>
              <a:rPr lang="en-US" b="1" dirty="0">
                <a:latin typeface="Segoe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Segoe"/>
                <a:cs typeface="Courier New" pitchFamily="49" charset="0"/>
              </a:rPr>
              <a:t>// Recursively calculates Fibonacci number</a:t>
            </a:r>
          </a:p>
          <a:p>
            <a:pPr algn="l" rtl="0">
              <a:spcBef>
                <a:spcPct val="20000"/>
              </a:spcBef>
            </a:pPr>
            <a:r>
              <a:rPr lang="en-US" b="1" dirty="0">
                <a:solidFill>
                  <a:srgbClr val="006600"/>
                </a:solidFill>
                <a:latin typeface="Segoe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if( n == 1 || n == 2)</a:t>
            </a:r>
          </a:p>
          <a:p>
            <a:pPr algn="l" rtl="0">
              <a:spcBef>
                <a:spcPct val="20000"/>
              </a:spcBef>
            </a:pP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      return 1;</a:t>
            </a:r>
          </a:p>
          <a:p>
            <a:pPr algn="l" rtl="0">
              <a:spcBef>
                <a:spcPct val="20000"/>
              </a:spcBef>
            </a:pP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  else</a:t>
            </a:r>
          </a:p>
          <a:p>
            <a:pPr algn="l" rtl="0">
              <a:spcBef>
                <a:spcPct val="20000"/>
              </a:spcBef>
            </a:pP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      return </a:t>
            </a:r>
            <a:r>
              <a:rPr lang="en-US" b="1" dirty="0" err="1">
                <a:solidFill>
                  <a:srgbClr val="0000FF"/>
                </a:solidFill>
                <a:latin typeface="Segoe"/>
                <a:cs typeface="Courier New" pitchFamily="49" charset="0"/>
              </a:rPr>
              <a:t>fibonacci</a:t>
            </a: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(n – 1) + </a:t>
            </a:r>
            <a:r>
              <a:rPr lang="en-US" b="1" dirty="0" err="1">
                <a:solidFill>
                  <a:srgbClr val="0000FF"/>
                </a:solidFill>
                <a:latin typeface="Segoe"/>
                <a:cs typeface="Courier New" pitchFamily="49" charset="0"/>
              </a:rPr>
              <a:t>fibonacci</a:t>
            </a:r>
            <a:r>
              <a:rPr lang="en-US" b="1" dirty="0">
                <a:solidFill>
                  <a:srgbClr val="0000FF"/>
                </a:solidFill>
                <a:latin typeface="Segoe"/>
                <a:cs typeface="Courier New" pitchFamily="49" charset="0"/>
              </a:rPr>
              <a:t>(n – 2);</a:t>
            </a:r>
          </a:p>
          <a:p>
            <a:pPr algn="l" rtl="0">
              <a:spcBef>
                <a:spcPct val="20000"/>
              </a:spcBef>
            </a:pPr>
            <a:r>
              <a:rPr lang="en-US" b="1" dirty="0">
                <a:latin typeface="Segoe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5873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41493"/>
            <a:ext cx="90678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/>
              <a:t>			= 2T(n - 2) + 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/>
              <a:t>                             = 2[T(n - 3) + T(n - 4) + b] + b    </a:t>
            </a:r>
            <a:r>
              <a:rPr lang="fr-FR" b="1" dirty="0">
                <a:solidFill>
                  <a:srgbClr val="0000FF"/>
                </a:solidFill>
              </a:rPr>
              <a:t>by </a:t>
            </a:r>
            <a:r>
              <a:rPr lang="fr-FR" b="1" dirty="0" err="1">
                <a:solidFill>
                  <a:srgbClr val="0000FF"/>
                </a:solidFill>
              </a:rPr>
              <a:t>substituting</a:t>
            </a:r>
            <a:r>
              <a:rPr lang="fr-FR" b="1" dirty="0">
                <a:solidFill>
                  <a:srgbClr val="0000FF"/>
                </a:solidFill>
              </a:rPr>
              <a:t> T(n - 2) in (2)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/>
              <a:t>                             </a:t>
            </a:r>
            <a:r>
              <a:rPr lang="fr-FR" b="1" dirty="0">
                <a:sym typeface="Symbol" pitchFamily="18" charset="2"/>
              </a:rPr>
              <a:t> 2[T(n - 4) + T(n - 4) + b] + 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    = 2</a:t>
            </a:r>
            <a:r>
              <a:rPr lang="fr-FR" b="1" baseline="30000" dirty="0">
                <a:sym typeface="Symbol" pitchFamily="18" charset="2"/>
              </a:rPr>
              <a:t>2</a:t>
            </a:r>
            <a:r>
              <a:rPr lang="fr-FR" b="1" dirty="0">
                <a:sym typeface="Symbol" pitchFamily="18" charset="2"/>
              </a:rPr>
              <a:t>T(n - 4) + 2b + 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    = 2</a:t>
            </a:r>
            <a:r>
              <a:rPr lang="fr-FR" b="1" baseline="30000" dirty="0">
                <a:sym typeface="Symbol" pitchFamily="18" charset="2"/>
              </a:rPr>
              <a:t>2</a:t>
            </a:r>
            <a:r>
              <a:rPr lang="fr-FR" b="1" dirty="0">
                <a:sym typeface="Symbol" pitchFamily="18" charset="2"/>
              </a:rPr>
              <a:t>[T(n - 5) + T(n - 6) + b] + 2b + b  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						             </a:t>
            </a:r>
            <a:r>
              <a:rPr lang="fr-FR" b="1" dirty="0">
                <a:solidFill>
                  <a:srgbClr val="0000FF"/>
                </a:solidFill>
              </a:rPr>
              <a:t>by </a:t>
            </a:r>
            <a:r>
              <a:rPr lang="fr-FR" b="1" dirty="0" err="1">
                <a:solidFill>
                  <a:srgbClr val="0000FF"/>
                </a:solidFill>
              </a:rPr>
              <a:t>substituting</a:t>
            </a:r>
            <a:r>
              <a:rPr lang="fr-FR" b="1" dirty="0">
                <a:solidFill>
                  <a:srgbClr val="0000FF"/>
                </a:solidFill>
              </a:rPr>
              <a:t> T(n - 4) in (2)</a:t>
            </a:r>
            <a:endParaRPr lang="fr-FR" b="1" dirty="0">
              <a:sym typeface="Symbol" pitchFamily="18" charset="2"/>
            </a:endParaRP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    ≥ 2</a:t>
            </a:r>
            <a:r>
              <a:rPr lang="fr-FR" b="1" baseline="30000" dirty="0">
                <a:sym typeface="Symbol" pitchFamily="18" charset="2"/>
              </a:rPr>
              <a:t>3</a:t>
            </a:r>
            <a:r>
              <a:rPr lang="fr-FR" b="1" dirty="0">
                <a:sym typeface="Symbol" pitchFamily="18" charset="2"/>
              </a:rPr>
              <a:t>T(n – 6) + (2</a:t>
            </a:r>
            <a:r>
              <a:rPr lang="fr-FR" b="1" baseline="30000" dirty="0">
                <a:sym typeface="Symbol" pitchFamily="18" charset="2"/>
              </a:rPr>
              <a:t>2</a:t>
            </a:r>
            <a:r>
              <a:rPr lang="fr-FR" b="1" dirty="0">
                <a:sym typeface="Symbol" pitchFamily="18" charset="2"/>
              </a:rPr>
              <a:t> + 2</a:t>
            </a:r>
            <a:r>
              <a:rPr lang="fr-FR" b="1" baseline="30000" dirty="0">
                <a:sym typeface="Symbol" pitchFamily="18" charset="2"/>
              </a:rPr>
              <a:t>1</a:t>
            </a:r>
            <a:r>
              <a:rPr lang="fr-FR" b="1" dirty="0">
                <a:sym typeface="Symbol" pitchFamily="18" charset="2"/>
              </a:rPr>
              <a:t> + 2</a:t>
            </a:r>
            <a:r>
              <a:rPr lang="fr-FR" b="1" baseline="30000" dirty="0">
                <a:sym typeface="Symbol" pitchFamily="18" charset="2"/>
              </a:rPr>
              <a:t>0</a:t>
            </a:r>
            <a:r>
              <a:rPr lang="fr-FR" b="1" dirty="0">
                <a:sym typeface="Symbol" pitchFamily="18" charset="2"/>
              </a:rPr>
              <a:t>)b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    . . .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     2</a:t>
            </a:r>
            <a:r>
              <a:rPr lang="fr-FR" b="1" baseline="30000" dirty="0">
                <a:sym typeface="Symbol" pitchFamily="18" charset="2"/>
              </a:rPr>
              <a:t>k</a:t>
            </a:r>
            <a:r>
              <a:rPr lang="fr-FR" b="1" dirty="0">
                <a:sym typeface="Symbol" pitchFamily="18" charset="2"/>
              </a:rPr>
              <a:t>T(n – 2k) + (2</a:t>
            </a:r>
            <a:r>
              <a:rPr lang="fr-FR" b="1" baseline="30000" dirty="0">
                <a:sym typeface="Symbol" pitchFamily="18" charset="2"/>
              </a:rPr>
              <a:t>k-1</a:t>
            </a:r>
            <a:r>
              <a:rPr lang="fr-FR" b="1" dirty="0">
                <a:sym typeface="Symbol" pitchFamily="18" charset="2"/>
              </a:rPr>
              <a:t> + 2</a:t>
            </a:r>
            <a:r>
              <a:rPr lang="fr-FR" b="1" baseline="30000" dirty="0">
                <a:sym typeface="Symbol" pitchFamily="18" charset="2"/>
              </a:rPr>
              <a:t>k-2</a:t>
            </a:r>
            <a:r>
              <a:rPr lang="fr-FR" b="1" dirty="0">
                <a:sym typeface="Symbol" pitchFamily="18" charset="2"/>
              </a:rPr>
              <a:t> + . . . + 2</a:t>
            </a:r>
            <a:r>
              <a:rPr lang="fr-FR" b="1" baseline="30000" dirty="0">
                <a:sym typeface="Symbol" pitchFamily="18" charset="2"/>
              </a:rPr>
              <a:t>1</a:t>
            </a:r>
            <a:r>
              <a:rPr lang="fr-FR" b="1" dirty="0">
                <a:sym typeface="Symbol" pitchFamily="18" charset="2"/>
              </a:rPr>
              <a:t> + 2</a:t>
            </a:r>
            <a:r>
              <a:rPr lang="fr-FR" b="1" baseline="30000" dirty="0">
                <a:sym typeface="Symbol" pitchFamily="18" charset="2"/>
              </a:rPr>
              <a:t>0</a:t>
            </a:r>
            <a:r>
              <a:rPr lang="fr-FR" b="1" dirty="0">
                <a:sym typeface="Symbol" pitchFamily="18" charset="2"/>
              </a:rPr>
              <a:t>)b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    = 2</a:t>
            </a:r>
            <a:r>
              <a:rPr lang="fr-FR" b="1" baseline="30000" dirty="0">
                <a:sym typeface="Symbol" pitchFamily="18" charset="2"/>
              </a:rPr>
              <a:t>k</a:t>
            </a:r>
            <a:r>
              <a:rPr lang="fr-FR" b="1" dirty="0">
                <a:sym typeface="Symbol" pitchFamily="18" charset="2"/>
              </a:rPr>
              <a:t>T(n – 2k) + (2</a:t>
            </a:r>
            <a:r>
              <a:rPr lang="fr-FR" b="1" baseline="30000" dirty="0">
                <a:sym typeface="Symbol" pitchFamily="18" charset="2"/>
              </a:rPr>
              <a:t>k</a:t>
            </a:r>
            <a:r>
              <a:rPr lang="fr-FR" b="1" dirty="0">
                <a:sym typeface="Symbol" pitchFamily="18" charset="2"/>
              </a:rPr>
              <a:t> – 1)b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The base case </a:t>
            </a:r>
            <a:r>
              <a:rPr lang="fr-FR" b="1" dirty="0" err="1">
                <a:sym typeface="Symbol" pitchFamily="18" charset="2"/>
              </a:rPr>
              <a:t>is</a:t>
            </a:r>
            <a:r>
              <a:rPr lang="fr-FR" b="1" dirty="0">
                <a:sym typeface="Symbol" pitchFamily="18" charset="2"/>
              </a:rPr>
              <a:t> </a:t>
            </a:r>
            <a:r>
              <a:rPr lang="fr-FR" b="1" dirty="0" err="1">
                <a:sym typeface="Symbol" pitchFamily="18" charset="2"/>
              </a:rPr>
              <a:t>reached</a:t>
            </a:r>
            <a:r>
              <a:rPr lang="fr-FR" b="1" dirty="0">
                <a:sym typeface="Symbol" pitchFamily="18" charset="2"/>
              </a:rPr>
              <a:t> </a:t>
            </a:r>
            <a:r>
              <a:rPr lang="fr-FR" b="1" dirty="0" err="1">
                <a:sym typeface="Symbol" pitchFamily="18" charset="2"/>
              </a:rPr>
              <a:t>when</a:t>
            </a:r>
            <a:r>
              <a:rPr lang="fr-FR" b="1" dirty="0">
                <a:sym typeface="Symbol" pitchFamily="18" charset="2"/>
              </a:rPr>
              <a:t> </a:t>
            </a:r>
            <a:r>
              <a:rPr lang="fr-FR" b="1" dirty="0">
                <a:solidFill>
                  <a:srgbClr val="0000FF"/>
                </a:solidFill>
                <a:sym typeface="Symbol" pitchFamily="18" charset="2"/>
              </a:rPr>
              <a:t>n – 2k = 2</a:t>
            </a:r>
            <a:r>
              <a:rPr lang="fr-FR" b="1" dirty="0">
                <a:sym typeface="Symbol" pitchFamily="18" charset="2"/>
              </a:rPr>
              <a:t>  </a:t>
            </a:r>
            <a:r>
              <a:rPr lang="fr-FR" b="1" dirty="0">
                <a:sym typeface="Wingdings" pitchFamily="2" charset="2"/>
              </a:rPr>
              <a:t>  </a:t>
            </a:r>
            <a:r>
              <a:rPr lang="fr-FR" b="1" dirty="0">
                <a:solidFill>
                  <a:srgbClr val="0000FF"/>
                </a:solidFill>
                <a:sym typeface="Wingdings" pitchFamily="2" charset="2"/>
              </a:rPr>
              <a:t>k = (n - 2) / 2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</a:t>
            </a:r>
            <a:r>
              <a:rPr lang="fr-FR" b="1" dirty="0" err="1">
                <a:sym typeface="Symbol" pitchFamily="18" charset="2"/>
              </a:rPr>
              <a:t>Hence</a:t>
            </a:r>
            <a:r>
              <a:rPr lang="fr-FR" b="1" dirty="0">
                <a:sym typeface="Symbol" pitchFamily="18" charset="2"/>
              </a:rPr>
              <a:t> T(n)  ≥  2 </a:t>
            </a:r>
            <a:r>
              <a:rPr lang="fr-FR" b="1" baseline="30000" dirty="0">
                <a:sym typeface="Symbol" pitchFamily="18" charset="2"/>
              </a:rPr>
              <a:t>(n – 2) / 2</a:t>
            </a:r>
            <a:r>
              <a:rPr lang="fr-FR" b="1" dirty="0">
                <a:sym typeface="Symbol" pitchFamily="18" charset="2"/>
              </a:rPr>
              <a:t> T(2) + [2 </a:t>
            </a:r>
            <a:r>
              <a:rPr lang="fr-FR" b="1" baseline="30000" dirty="0">
                <a:sym typeface="Symbol" pitchFamily="18" charset="2"/>
              </a:rPr>
              <a:t>(n - 2) / 2</a:t>
            </a:r>
            <a:r>
              <a:rPr lang="fr-FR" b="1" dirty="0">
                <a:sym typeface="Symbol" pitchFamily="18" charset="2"/>
              </a:rPr>
              <a:t> – 1]b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= (b + c)2 </a:t>
            </a:r>
            <a:r>
              <a:rPr lang="fr-FR" b="1" baseline="30000" dirty="0">
                <a:sym typeface="Symbol" pitchFamily="18" charset="2"/>
              </a:rPr>
              <a:t>(n – 2) / 2</a:t>
            </a:r>
            <a:r>
              <a:rPr lang="fr-FR" b="1" dirty="0">
                <a:sym typeface="Symbol" pitchFamily="18" charset="2"/>
              </a:rPr>
              <a:t> – b</a:t>
            </a:r>
          </a:p>
          <a:p>
            <a:pPr marL="381000" indent="-381000">
              <a:lnSpc>
                <a:spcPct val="150000"/>
              </a:lnSpc>
              <a:buFontTx/>
              <a:buNone/>
            </a:pPr>
            <a:r>
              <a:rPr lang="fr-FR" b="1" dirty="0">
                <a:sym typeface="Symbol" pitchFamily="18" charset="2"/>
              </a:rPr>
              <a:t>                         = [(b + c) / 2]*(2)</a:t>
            </a:r>
            <a:r>
              <a:rPr lang="fr-FR" b="1" baseline="30000" dirty="0">
                <a:sym typeface="Symbol" pitchFamily="18" charset="2"/>
              </a:rPr>
              <a:t>n/2</a:t>
            </a:r>
            <a:r>
              <a:rPr lang="fr-FR" b="1" dirty="0">
                <a:sym typeface="Symbol" pitchFamily="18" charset="2"/>
              </a:rPr>
              <a:t> – b      </a:t>
            </a:r>
            <a:r>
              <a:rPr lang="fr-FR" b="1" dirty="0">
                <a:sym typeface="Wingdings" pitchFamily="2" charset="2"/>
              </a:rPr>
              <a:t>   </a:t>
            </a:r>
            <a:r>
              <a:rPr lang="fr-FR" b="1" dirty="0" err="1">
                <a:sym typeface="Wingdings" pitchFamily="2" charset="2"/>
              </a:rPr>
              <a:t>Recursive</a:t>
            </a:r>
            <a:r>
              <a:rPr lang="fr-FR" b="1" dirty="0">
                <a:sym typeface="Wingdings" pitchFamily="2" charset="2"/>
              </a:rPr>
              <a:t> </a:t>
            </a:r>
            <a:r>
              <a:rPr lang="fr-FR" b="1" dirty="0" err="1">
                <a:sym typeface="Wingdings" pitchFamily="2" charset="2"/>
              </a:rPr>
              <a:t>Fibonacci</a:t>
            </a:r>
            <a:r>
              <a:rPr lang="fr-FR" b="1" dirty="0">
                <a:sym typeface="Wingdings" pitchFamily="2" charset="2"/>
              </a:rPr>
              <a:t> </a:t>
            </a:r>
            <a:r>
              <a:rPr lang="fr-FR" b="1" dirty="0" err="1">
                <a:sym typeface="Wingdings" pitchFamily="2" charset="2"/>
              </a:rPr>
              <a:t>is</a:t>
            </a:r>
            <a:r>
              <a:rPr lang="fr-FR" b="1" dirty="0">
                <a:sym typeface="Wingdings" pitchFamily="2" charset="2"/>
              </a:rPr>
              <a:t> </a:t>
            </a:r>
            <a:r>
              <a:rPr lang="fr-FR" b="1" dirty="0" err="1">
                <a:sym typeface="Wingdings" pitchFamily="2" charset="2"/>
              </a:rPr>
              <a:t>exponential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933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Algorithms, Second Edition by Thomas H. </a:t>
            </a:r>
            <a:r>
              <a:rPr lang="en-US" dirty="0" err="1">
                <a:solidFill>
                  <a:schemeClr val="tx1"/>
                </a:solidFill>
              </a:rPr>
              <a:t>Cormen</a:t>
            </a:r>
            <a:r>
              <a:rPr lang="en-US" dirty="0">
                <a:solidFill>
                  <a:schemeClr val="tx1"/>
                </a:solidFill>
              </a:rPr>
              <a:t>, Charles E. </a:t>
            </a:r>
            <a:r>
              <a:rPr lang="en-US" dirty="0" err="1">
                <a:solidFill>
                  <a:schemeClr val="tx1"/>
                </a:solidFill>
              </a:rPr>
              <a:t>Leiserson</a:t>
            </a:r>
            <a:r>
              <a:rPr lang="en-US" dirty="0">
                <a:solidFill>
                  <a:schemeClr val="tx1"/>
                </a:solidFill>
              </a:rPr>
              <a:t>, Ronald L. </a:t>
            </a:r>
            <a:r>
              <a:rPr lang="en-US" dirty="0" err="1">
                <a:solidFill>
                  <a:schemeClr val="tx1"/>
                </a:solidFill>
              </a:rPr>
              <a:t>Rivest</a:t>
            </a:r>
            <a:r>
              <a:rPr lang="en-US" dirty="0">
                <a:solidFill>
                  <a:schemeClr val="tx1"/>
                </a:solidFill>
              </a:rPr>
              <a:t> and Clifford Stein, The MIT Press © 2001 </a:t>
            </a:r>
          </a:p>
          <a:p>
            <a:r>
              <a:rPr lang="en-US" dirty="0">
                <a:solidFill>
                  <a:schemeClr val="tx1"/>
                </a:solidFill>
              </a:rPr>
              <a:t>Chapter 4.3</a:t>
            </a:r>
          </a:p>
        </p:txBody>
      </p:sp>
    </p:spTree>
    <p:extLst>
      <p:ext uri="{BB962C8B-B14F-4D97-AF65-F5344CB8AC3E}">
        <p14:creationId xmlns:p14="http://schemas.microsoft.com/office/powerpoint/2010/main" val="3031248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egooo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62F7100E-CEE8-4A10-8567-5DF91AF9858D}"/>
</file>

<file path=customXml/itemProps2.xml><?xml version="1.0" encoding="utf-8"?>
<ds:datastoreItem xmlns:ds="http://schemas.openxmlformats.org/officeDocument/2006/customXml" ds:itemID="{DFCBCEC8-5395-4F3B-A0F6-A7372A4D55AA}"/>
</file>

<file path=customXml/itemProps3.xml><?xml version="1.0" encoding="utf-8"?>
<ds:datastoreItem xmlns:ds="http://schemas.openxmlformats.org/officeDocument/2006/customXml" ds:itemID="{3D100EC2-4586-4ACA-A25E-FE712B400AF7}"/>
</file>

<file path=docProps/app.xml><?xml version="1.0" encoding="utf-8"?>
<Properties xmlns="http://schemas.openxmlformats.org/officeDocument/2006/extended-properties" xmlns:vt="http://schemas.openxmlformats.org/officeDocument/2006/docPropsVTypes">
  <Template>TS102129550</Template>
  <TotalTime>4727</TotalTime>
  <Words>2183</Words>
  <Application>Microsoft Office PowerPoint</Application>
  <PresentationFormat>On-screen Show (4:3)</PresentationFormat>
  <Paragraphs>241</Paragraphs>
  <Slides>27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Calibri</vt:lpstr>
      <vt:lpstr>Cambria Math</vt:lpstr>
      <vt:lpstr>Comic Sans MS</vt:lpstr>
      <vt:lpstr>Segoe</vt:lpstr>
      <vt:lpstr>Segoe UI</vt:lpstr>
      <vt:lpstr>Segoe UI Light</vt:lpstr>
      <vt:lpstr>Symbol</vt:lpstr>
      <vt:lpstr>Wingdings</vt:lpstr>
      <vt:lpstr>Essential</vt:lpstr>
      <vt:lpstr>Equation</vt:lpstr>
      <vt:lpstr>Photo Editor Photo</vt:lpstr>
      <vt:lpstr>Cs 316: Algorithms  Lecture 5  Analysis Of Recursive Algorithms</vt:lpstr>
      <vt:lpstr>Outline</vt:lpstr>
      <vt:lpstr>3. Master Method</vt:lpstr>
      <vt:lpstr>Master Method </vt:lpstr>
      <vt:lpstr>Master Method Intuition</vt:lpstr>
      <vt:lpstr>Master Method Case 1</vt:lpstr>
      <vt:lpstr>Strategy</vt:lpstr>
      <vt:lpstr>Master Method Case 3</vt:lpstr>
      <vt:lpstr>Example 2</vt:lpstr>
      <vt:lpstr>Example 3</vt:lpstr>
      <vt:lpstr>Master Method Case 2</vt:lpstr>
      <vt:lpstr>Example 4-5:</vt:lpstr>
      <vt:lpstr>Master Theorem Summarized</vt:lpstr>
      <vt:lpstr>Example Recurrences</vt:lpstr>
      <vt:lpstr>PowerPoint Presentation</vt:lpstr>
      <vt:lpstr>Analysis of Recursive Algorithms Factorial</vt:lpstr>
      <vt:lpstr>Analysis Of Recursive Factorial</vt:lpstr>
      <vt:lpstr>Analysis of Recursive (contd.): Tower of Hanoi</vt:lpstr>
      <vt:lpstr>Tower of Hanoi (contd.)</vt:lpstr>
      <vt:lpstr>Tower of Hanoi (contd.)</vt:lpstr>
      <vt:lpstr>Tower of Hanoi (contd.)</vt:lpstr>
      <vt:lpstr>PowerPoint Presentation</vt:lpstr>
      <vt:lpstr>Fibonacci Sequence</vt:lpstr>
      <vt:lpstr>Fibonacci Sequence</vt:lpstr>
      <vt:lpstr>Analysis Of Recursive Fibonacci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316: Algorithms  Lecture 3: Analysis Of Recursive Algorithms</dc:title>
  <dc:creator>EHM</dc:creator>
  <cp:lastModifiedBy>Mohammed El-Said</cp:lastModifiedBy>
  <cp:revision>186</cp:revision>
  <cp:lastPrinted>2014-03-25T22:04:12Z</cp:lastPrinted>
  <dcterms:created xsi:type="dcterms:W3CDTF">2014-03-25T07:04:50Z</dcterms:created>
  <dcterms:modified xsi:type="dcterms:W3CDTF">2024-03-20T13:47:49Z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0x010100350B7603DA286A41973ED08A6E95DDF1</vt:lpwstr>
  </property>
</Properties>
</file>