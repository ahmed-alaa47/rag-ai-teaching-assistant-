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33"/>
  </p:notesMasterIdLst>
  <p:sldIdLst>
    <p:sldId id="340" r:id="rId2"/>
    <p:sldId id="281" r:id="rId3"/>
    <p:sldId id="327" r:id="rId4"/>
    <p:sldId id="323" r:id="rId5"/>
    <p:sldId id="282" r:id="rId6"/>
    <p:sldId id="324" r:id="rId7"/>
    <p:sldId id="326" r:id="rId8"/>
    <p:sldId id="315" r:id="rId9"/>
    <p:sldId id="284" r:id="rId10"/>
    <p:sldId id="330" r:id="rId11"/>
    <p:sldId id="322" r:id="rId12"/>
    <p:sldId id="329" r:id="rId13"/>
    <p:sldId id="332" r:id="rId14"/>
    <p:sldId id="328" r:id="rId15"/>
    <p:sldId id="335" r:id="rId16"/>
    <p:sldId id="336" r:id="rId17"/>
    <p:sldId id="338" r:id="rId18"/>
    <p:sldId id="337" r:id="rId19"/>
    <p:sldId id="334" r:id="rId20"/>
    <p:sldId id="333" r:id="rId21"/>
    <p:sldId id="339" r:id="rId22"/>
    <p:sldId id="317" r:id="rId23"/>
    <p:sldId id="293" r:id="rId24"/>
    <p:sldId id="290" r:id="rId25"/>
    <p:sldId id="291" r:id="rId26"/>
    <p:sldId id="292" r:id="rId27"/>
    <p:sldId id="297" r:id="rId28"/>
    <p:sldId id="303" r:id="rId29"/>
    <p:sldId id="304" r:id="rId30"/>
    <p:sldId id="312" r:id="rId31"/>
    <p:sldId id="314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861" autoAdjust="0"/>
  </p:normalViewPr>
  <p:slideViewPr>
    <p:cSldViewPr>
      <p:cViewPr varScale="1">
        <p:scale>
          <a:sx n="71" d="100"/>
          <a:sy n="71" d="100"/>
        </p:scale>
        <p:origin x="13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FCC16-78F6-4676-BD25-BD07A1DF4895}" type="datetimeFigureOut">
              <a:rPr lang="en-US" smtClean="0"/>
              <a:t>01-Apr-24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1B980-618F-4971-AFDD-2581B201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2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Heap size -&gt; unsorted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71B980-618F-4971-AFDD-2581B201D7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11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71B980-618F-4971-AFDD-2581B201D79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36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7976C0-F850-455A-BCEF-6D8E9AE68F95}" type="slidenum">
              <a:rPr lang="en-US"/>
              <a:pPr/>
              <a:t>20</a:t>
            </a:fld>
            <a:endParaRPr lang="en-US"/>
          </a:p>
        </p:txBody>
      </p:sp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7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 and r are indices</a:t>
            </a:r>
          </a:p>
          <a:p>
            <a:r>
              <a:rPr lang="en-US" dirty="0"/>
              <a:t>Recursively call until largest=</a:t>
            </a:r>
            <a:r>
              <a:rPr lang="en-US" dirty="0" err="1"/>
              <a:t>i</a:t>
            </a:r>
            <a:r>
              <a:rPr lang="en-US" dirty="0"/>
              <a:t> or it reaches the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71B980-618F-4971-AFDD-2581B201D79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19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Master</a:t>
                </a:r>
                <a:r>
                  <a:rPr lang="en-US" baseline="0" dirty="0"/>
                  <a:t> method :</a:t>
                </a:r>
              </a:p>
              <a:p>
                <a:r>
                  <a:rPr lang="en-US" baseline="0" dirty="0"/>
                  <a:t>T(n)=</a:t>
                </a:r>
                <a:r>
                  <a:rPr lang="en-US" baseline="0" dirty="0" err="1"/>
                  <a:t>aT</a:t>
                </a:r>
                <a:r>
                  <a:rPr lang="en-US" baseline="0" dirty="0"/>
                  <a:t>(n/b) + f(n)</a:t>
                </a:r>
              </a:p>
              <a:p>
                <a:r>
                  <a:rPr lang="en-US" altLang="zh-CN" sz="1200" i="1" dirty="0">
                    <a:solidFill>
                      <a:schemeClr val="tx1"/>
                    </a:solidFill>
                    <a:ea typeface="宋体" charset="-122"/>
                  </a:rPr>
                  <a:t>T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</a:rPr>
                  <a:t>(</a:t>
                </a:r>
                <a:r>
                  <a:rPr lang="en-US" altLang="zh-CN" sz="1200" i="1" dirty="0">
                    <a:solidFill>
                      <a:schemeClr val="tx1"/>
                    </a:solidFill>
                    <a:ea typeface="宋体" charset="-122"/>
                  </a:rPr>
                  <a:t>n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</a:rPr>
                  <a:t>)</a:t>
                </a:r>
                <a:r>
                  <a:rPr lang="en-US" altLang="zh-CN" sz="1200" i="1" dirty="0">
                    <a:solidFill>
                      <a:schemeClr val="tx1"/>
                    </a:solidFill>
                    <a:ea typeface="宋体" charset="-122"/>
                  </a:rPr>
                  <a:t> 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 </a:t>
                </a:r>
                <a:r>
                  <a:rPr lang="en-US" altLang="zh-CN" sz="1200" i="1" dirty="0">
                    <a:solidFill>
                      <a:schemeClr val="tx1"/>
                    </a:solidFill>
                    <a:ea typeface="宋体" charset="-122"/>
                  </a:rPr>
                  <a:t> T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</a:rPr>
                  <a:t>(2</a:t>
                </a:r>
                <a:r>
                  <a:rPr lang="en-US" altLang="zh-CN" sz="1200" i="1" dirty="0">
                    <a:solidFill>
                      <a:schemeClr val="tx1"/>
                    </a:solidFill>
                    <a:ea typeface="宋体" charset="-122"/>
                  </a:rPr>
                  <a:t>n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</a:rPr>
                  <a:t>/3)</a:t>
                </a:r>
                <a:r>
                  <a:rPr lang="en-US" altLang="zh-CN" sz="1200" i="1" dirty="0">
                    <a:solidFill>
                      <a:schemeClr val="tx1"/>
                    </a:solidFill>
                    <a:ea typeface="宋体" charset="-122"/>
                  </a:rPr>
                  <a:t> + 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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</a:rPr>
                  <a:t>(1) , a=1, b=3/2 and f(n)=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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</a:rPr>
                  <a:t>(1)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=1 </a:t>
                </a:r>
              </a:p>
              <a:p>
                <a:pPr marL="171450" indent="-171450">
                  <a:buFont typeface="Wingdings" panose="05000000000000000000" pitchFamily="2" charset="2"/>
                  <a:buChar char="è"/>
                </a:pPr>
                <a:r>
                  <a:rPr lang="en-US" dirty="0">
                    <a:sym typeface="Wingdings" panose="05000000000000000000" pitchFamily="2" charset="2"/>
                  </a:rPr>
                  <a:t>f(n)=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</a:t>
                </a:r>
                <a:r>
                  <a:rPr lang="en-US" baseline="0" dirty="0">
                    <a:sym typeface="Wingdings" panose="05000000000000000000" pitchFamily="2" charset="2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marL="171450" indent="-171450">
                  <a:buFont typeface="Wingdings" panose="05000000000000000000" pitchFamily="2" charset="2"/>
                  <a:buChar char="è"/>
                </a:pPr>
                <a:r>
                  <a:rPr lang="en-US" dirty="0"/>
                  <a:t>Case 2: T(n)= 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(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altLang="zh-CN" sz="1200" dirty="0" err="1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logn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)= (</a:t>
                </a:r>
                <a:r>
                  <a:rPr lang="en-US" altLang="zh-CN" sz="1200" dirty="0" err="1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logn</a:t>
                </a:r>
                <a:r>
                  <a:rPr lang="en-US" altLang="zh-CN" sz="1200" dirty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)</a:t>
                </a:r>
              </a:p>
              <a:p>
                <a:pPr marL="171450" indent="-171450">
                  <a:buFont typeface="Wingdings" panose="05000000000000000000" pitchFamily="2" charset="2"/>
                  <a:buChar char="è"/>
                </a:pPr>
                <a:endParaRPr lang="en-US" sz="1200" dirty="0">
                  <a:solidFill>
                    <a:schemeClr val="tx1"/>
                  </a:solidFill>
                  <a:ea typeface="宋体" charset="-122"/>
                  <a:sym typeface="Symbol" pitchFamily="18" charset="2"/>
                </a:endParaRPr>
              </a:p>
              <a:p>
                <a:pPr marL="0" indent="0">
                  <a:buFont typeface="Wingdings" panose="05000000000000000000" pitchFamily="2" charset="2"/>
                  <a:buNone/>
                </a:pPr>
                <a:r>
                  <a:rPr lang="en-US" sz="1200" dirty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Height=</a:t>
                </a:r>
                <a:r>
                  <a:rPr lang="en-US" sz="1200" dirty="0" err="1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lg</a:t>
                </a:r>
                <a:r>
                  <a:rPr lang="en-US" sz="1200" dirty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 n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 smtClean="0"/>
              </a:p>
              <a:p>
                <a:r>
                  <a:rPr lang="en-US" dirty="0" smtClean="0"/>
                  <a:t>Master</a:t>
                </a:r>
                <a:r>
                  <a:rPr lang="en-US" baseline="0" dirty="0" smtClean="0"/>
                  <a:t> method :</a:t>
                </a:r>
              </a:p>
              <a:p>
                <a:r>
                  <a:rPr lang="en-US" baseline="0" dirty="0" smtClean="0"/>
                  <a:t>T(n)=</a:t>
                </a:r>
                <a:r>
                  <a:rPr lang="en-US" baseline="0" dirty="0" err="1" smtClean="0"/>
                  <a:t>aT</a:t>
                </a:r>
                <a:r>
                  <a:rPr lang="en-US" baseline="0" dirty="0" smtClean="0"/>
                  <a:t>(n/b) + f(n)</a:t>
                </a:r>
              </a:p>
              <a:p>
                <a:r>
                  <a:rPr lang="en-US" altLang="zh-CN" sz="1200" i="1" dirty="0" smtClean="0">
                    <a:solidFill>
                      <a:schemeClr val="tx1"/>
                    </a:solidFill>
                    <a:ea typeface="宋体" charset="-122"/>
                  </a:rPr>
                  <a:t>T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</a:rPr>
                  <a:t>(</a:t>
                </a:r>
                <a:r>
                  <a:rPr lang="en-US" altLang="zh-CN" sz="1200" i="1" dirty="0" smtClean="0">
                    <a:solidFill>
                      <a:schemeClr val="tx1"/>
                    </a:solidFill>
                    <a:ea typeface="宋体" charset="-122"/>
                  </a:rPr>
                  <a:t>n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</a:rPr>
                  <a:t>)</a:t>
                </a:r>
                <a:r>
                  <a:rPr lang="en-US" altLang="zh-CN" sz="1200" i="1" dirty="0" smtClean="0">
                    <a:solidFill>
                      <a:schemeClr val="tx1"/>
                    </a:solidFill>
                    <a:ea typeface="宋体" charset="-122"/>
                  </a:rPr>
                  <a:t> 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 </a:t>
                </a:r>
                <a:r>
                  <a:rPr lang="en-US" altLang="zh-CN" sz="1200" i="1" dirty="0" smtClean="0">
                    <a:solidFill>
                      <a:schemeClr val="tx1"/>
                    </a:solidFill>
                    <a:ea typeface="宋体" charset="-122"/>
                  </a:rPr>
                  <a:t> T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</a:rPr>
                  <a:t>(2</a:t>
                </a:r>
                <a:r>
                  <a:rPr lang="en-US" altLang="zh-CN" sz="1200" i="1" dirty="0" smtClean="0">
                    <a:solidFill>
                      <a:schemeClr val="tx1"/>
                    </a:solidFill>
                    <a:ea typeface="宋体" charset="-122"/>
                  </a:rPr>
                  <a:t>n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</a:rPr>
                  <a:t>/3)</a:t>
                </a:r>
                <a:r>
                  <a:rPr lang="en-US" altLang="zh-CN" sz="1200" i="1" dirty="0" smtClean="0">
                    <a:solidFill>
                      <a:schemeClr val="tx1"/>
                    </a:solidFill>
                    <a:ea typeface="宋体" charset="-122"/>
                  </a:rPr>
                  <a:t> + 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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</a:rPr>
                  <a:t>(1) , a=1, b=3/2 and f(n)=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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</a:rPr>
                  <a:t>(1)</a:t>
                </a:r>
              </a:p>
              <a:p>
                <a:r>
                  <a:rPr lang="en-US" b="0" i="0" smtClean="0">
                    <a:latin typeface="Cambria Math" panose="02040503050406030204" pitchFamily="18" charset="0"/>
                  </a:rPr>
                  <a:t>𝑛^(〖𝑙𝑜𝑔〗_𝑏^𝑎 )=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𝑛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^(〖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𝑙𝑜𝑔〗_(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3/2)^1 )=𝑛^0</a:t>
                </a:r>
                <a:r>
                  <a:rPr lang="en-US" dirty="0" smtClean="0"/>
                  <a:t>=1 </a:t>
                </a:r>
              </a:p>
              <a:p>
                <a:pPr marL="171450" indent="-171450">
                  <a:buFont typeface="Wingdings" panose="05000000000000000000" pitchFamily="2" charset="2"/>
                  <a:buChar char="è"/>
                </a:pPr>
                <a:r>
                  <a:rPr lang="en-US" dirty="0" smtClean="0">
                    <a:sym typeface="Wingdings" panose="05000000000000000000" pitchFamily="2" charset="2"/>
                  </a:rPr>
                  <a:t>f(n)=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</a:t>
                </a:r>
                <a:r>
                  <a:rPr lang="en-US" baseline="0" dirty="0" smtClean="0">
                    <a:sym typeface="Wingdings" panose="05000000000000000000" pitchFamily="2" charset="2"/>
                  </a:rPr>
                  <a:t> (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𝑛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^(〖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𝑙𝑜𝑔〗_𝑏^𝑎 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)</a:t>
                </a:r>
                <a:r>
                  <a:rPr lang="en-US" dirty="0" smtClean="0"/>
                  <a:t>)</a:t>
                </a:r>
              </a:p>
              <a:p>
                <a:pPr marL="171450" indent="-171450">
                  <a:buFont typeface="Wingdings" panose="05000000000000000000" pitchFamily="2" charset="2"/>
                  <a:buChar char="è"/>
                </a:pPr>
                <a:r>
                  <a:rPr lang="en-US" dirty="0" smtClean="0"/>
                  <a:t>Case 2: T(n)= 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(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𝑛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^(〖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𝑙𝑜𝑔〗_𝑏^𝑎 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)</a:t>
                </a:r>
                <a:r>
                  <a:rPr lang="en-US" altLang="zh-CN" sz="1200" dirty="0" err="1" smtClean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logn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)= (</a:t>
                </a:r>
                <a:r>
                  <a:rPr lang="en-US" altLang="zh-CN" sz="1200" dirty="0" err="1" smtClean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logn</a:t>
                </a:r>
                <a:r>
                  <a:rPr lang="en-US" altLang="zh-CN" sz="1200" dirty="0" smtClean="0">
                    <a:solidFill>
                      <a:schemeClr val="tx1"/>
                    </a:solidFill>
                    <a:ea typeface="宋体" charset="-122"/>
                    <a:sym typeface="Symbol" pitchFamily="18" charset="2"/>
                  </a:rPr>
                  <a:t>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71B980-618F-4971-AFDD-2581B201D79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93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338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1A4-2233-4596-8D22-3F79A126EB6A}" type="datetimeFigureOut">
              <a:rPr lang="en-US" smtClean="0"/>
              <a:t>01-Apr-24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8" name="Oval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9" name="Isosceles Triangle 8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83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1A4-2233-4596-8D22-3F79A126EB6A}" type="datetimeFigureOut">
              <a:rPr lang="en-US" smtClean="0"/>
              <a:t>01-Apr-24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4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1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1A4-2233-4596-8D22-3F79A126EB6A}" type="datetimeFigureOut">
              <a:rPr lang="en-US" smtClean="0"/>
              <a:t>01-Apr-24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0" name="Oval 9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hlinkClick r:id="" action="ppaction://hlinkshowjump?jump=firstslide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16" name="Oval 1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17" name="Isosceles Triangle 16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9" name="Oval 18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22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4" name="Straight Connector 23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2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0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1A4-2233-4596-8D22-3F79A126EB6A}" type="datetimeFigureOut">
              <a:rPr lang="en-US" smtClean="0"/>
              <a:t>01-Apr-24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6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9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6" name="Oval 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8" name="Isosceles Triangle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4" name="Oval 13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Isosceles Triangle 17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19" name="Straight Connector 18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8005715" y="6324600"/>
            <a:ext cx="356640" cy="356640"/>
            <a:chOff x="7583386" y="5022563"/>
            <a:chExt cx="356640" cy="356640"/>
          </a:xfrm>
        </p:grpSpPr>
        <p:sp>
          <p:nvSpPr>
            <p:cNvPr id="21" name="Oval 20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>
              <a:off x="7583386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2" name="Isosceles Triangle 21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 rot="16200000">
              <a:off x="764963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7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9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22" name="Oval 21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3" name="Isosceles Triangle 22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005715" y="6324600"/>
            <a:ext cx="356640" cy="356640"/>
            <a:chOff x="7583386" y="5022563"/>
            <a:chExt cx="356640" cy="356640"/>
          </a:xfrm>
        </p:grpSpPr>
        <p:sp>
          <p:nvSpPr>
            <p:cNvPr id="25" name="Oval 24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>
              <a:off x="7583386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6" name="Isosceles Triangle 25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 rot="16200000">
              <a:off x="764963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28" name="Oval 27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33" name="Straight Connector 32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E880873-8429-47B4-83C7-CC2A1B62B6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0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894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4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C310D2B-7D89-4CD2-9D5D-D135D34BAAB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2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6468C1A4-2233-4596-8D22-3F79A126EB6A}" type="datetimeFigureOut">
              <a:rPr lang="en-US" smtClean="0"/>
              <a:t>01-Apr-24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4" r:id="rId7"/>
    <p:sldLayoutId id="2147483678" r:id="rId8"/>
    <p:sldLayoutId id="2147483679" r:id="rId9"/>
    <p:sldLayoutId id="2147483680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 cap="all" spc="-60" baseline="0">
          <a:solidFill>
            <a:schemeClr val="tx1">
              <a:lumMod val="65000"/>
              <a:lumOff val="35000"/>
            </a:schemeClr>
          </a:solidFill>
          <a:latin typeface="Segoe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level-order-tree-traversal/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765300"/>
            <a:ext cx="7543800" cy="2273300"/>
          </a:xfrm>
        </p:spPr>
        <p:txBody>
          <a:bodyPr/>
          <a:lstStyle/>
          <a:p>
            <a:pPr algn="ctr"/>
            <a:r>
              <a:rPr lang="en-US" sz="3600" dirty="0"/>
              <a:t>Cs 316: Algorithms </a:t>
            </a:r>
            <a:br>
              <a:rPr lang="en-US" sz="3600" dirty="0"/>
            </a:br>
            <a:r>
              <a:rPr lang="en-US" cap="none" dirty="0">
                <a:solidFill>
                  <a:srgbClr val="FF3300"/>
                </a:solidFill>
              </a:rPr>
              <a:t>Lecture 6: </a:t>
            </a:r>
            <a:r>
              <a:rPr lang="en-US" cap="none" dirty="0">
                <a:solidFill>
                  <a:srgbClr val="0070C0"/>
                </a:solidFill>
              </a:rPr>
              <a:t>Heap Sort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57200" y="4038600"/>
            <a:ext cx="7772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0" kern="1200" cap="all" spc="120" baseline="0">
                <a:solidFill>
                  <a:srgbClr val="FE5815"/>
                </a:solidFill>
                <a:latin typeface="Segoe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cap="none">
                <a:solidFill>
                  <a:srgbClr val="FF0000"/>
                </a:solidFill>
              </a:rPr>
              <a:t>Prepared by: Assoc. Prof. Ensaf Hussein</a:t>
            </a:r>
          </a:p>
          <a:p>
            <a:pPr algn="ctr"/>
            <a:r>
              <a:rPr lang="en-US" cap="none">
                <a:solidFill>
                  <a:srgbClr val="0000CC"/>
                </a:solidFill>
              </a:rPr>
              <a:t>Presented by:</a:t>
            </a:r>
            <a:r>
              <a:rPr lang="en-US" cap="none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400" b="1" cap="none">
                <a:solidFill>
                  <a:schemeClr val="tx1"/>
                </a:solidFill>
              </a:rPr>
              <a:t>Assoc. Prof. Wessam El-Behaidy</a:t>
            </a:r>
          </a:p>
          <a:p>
            <a:pPr algn="ctr"/>
            <a:r>
              <a:rPr lang="en-US" sz="2400" b="1" cap="none">
                <a:solidFill>
                  <a:schemeClr val="tx1"/>
                </a:solidFill>
              </a:rPr>
              <a:t>Dr. Mohammed El-Said</a:t>
            </a:r>
            <a:endParaRPr lang="ar-EG" sz="2400" b="1" cap="none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79526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Heapsort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18500" cy="46482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Combines the better attributes of merge sort and insertion sort.</a:t>
            </a:r>
          </a:p>
          <a:p>
            <a:pPr lvl="1">
              <a:lnSpc>
                <a:spcPct val="90000"/>
              </a:lnSpc>
            </a:pP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Like merge sort</a:t>
            </a:r>
            <a:r>
              <a:rPr lang="en-US" altLang="zh-CN" sz="2800" dirty="0">
                <a:ea typeface="宋体" charset="-122"/>
              </a:rPr>
              <a:t>, but </a:t>
            </a:r>
            <a:r>
              <a:rPr lang="en-US" altLang="zh-CN" sz="2800" dirty="0">
                <a:solidFill>
                  <a:schemeClr val="hlink"/>
                </a:solidFill>
                <a:ea typeface="宋体" charset="-122"/>
              </a:rPr>
              <a:t>unlike insertion sort</a:t>
            </a:r>
            <a:r>
              <a:rPr lang="en-US" altLang="zh-CN" sz="2800" dirty="0">
                <a:ea typeface="宋体" charset="-122"/>
              </a:rPr>
              <a:t>,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running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time is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i="1" dirty="0">
                <a:solidFill>
                  <a:srgbClr val="FF3300"/>
                </a:solidFill>
                <a:ea typeface="宋体" charset="-122"/>
              </a:rPr>
              <a:t>O</a:t>
            </a:r>
            <a:r>
              <a:rPr lang="en-US" altLang="zh-CN" sz="2800" dirty="0">
                <a:solidFill>
                  <a:srgbClr val="FF3300"/>
                </a:solidFill>
                <a:ea typeface="宋体" charset="-122"/>
              </a:rPr>
              <a:t>(</a:t>
            </a:r>
            <a:r>
              <a:rPr lang="en-US" altLang="zh-CN" sz="2800" i="1" dirty="0">
                <a:solidFill>
                  <a:srgbClr val="FF3300"/>
                </a:solidFill>
                <a:ea typeface="宋体" charset="-122"/>
              </a:rPr>
              <a:t>n </a:t>
            </a:r>
            <a:r>
              <a:rPr lang="en-US" altLang="zh-CN" sz="2800" dirty="0" err="1">
                <a:solidFill>
                  <a:srgbClr val="FF3300"/>
                </a:solidFill>
                <a:ea typeface="宋体" charset="-122"/>
              </a:rPr>
              <a:t>lg</a:t>
            </a:r>
            <a:r>
              <a:rPr lang="en-US" altLang="zh-CN" sz="2800" dirty="0">
                <a:solidFill>
                  <a:srgbClr val="FF3300"/>
                </a:solidFill>
                <a:ea typeface="宋体" charset="-122"/>
              </a:rPr>
              <a:t> </a:t>
            </a:r>
            <a:r>
              <a:rPr lang="en-US" altLang="zh-CN" sz="2800" i="1" dirty="0">
                <a:solidFill>
                  <a:srgbClr val="FF3300"/>
                </a:solidFill>
                <a:ea typeface="宋体" charset="-122"/>
              </a:rPr>
              <a:t>n</a:t>
            </a:r>
            <a:r>
              <a:rPr lang="en-US" altLang="zh-CN" sz="2800" dirty="0">
                <a:solidFill>
                  <a:srgbClr val="FF3300"/>
                </a:solidFill>
                <a:ea typeface="宋体" charset="-122"/>
              </a:rPr>
              <a:t>)</a:t>
            </a:r>
            <a:r>
              <a:rPr lang="en-US" altLang="zh-CN" sz="2800" dirty="0">
                <a:ea typeface="宋体" charset="-122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sz="2800" dirty="0">
                <a:solidFill>
                  <a:schemeClr val="hlink"/>
                </a:solidFill>
                <a:ea typeface="宋体" charset="-122"/>
              </a:rPr>
              <a:t>Like insertion sort</a:t>
            </a:r>
            <a:r>
              <a:rPr lang="en-US" altLang="zh-CN" sz="2800" dirty="0">
                <a:ea typeface="宋体" charset="-122"/>
              </a:rPr>
              <a:t>,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but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unlike merge sort</a:t>
            </a:r>
            <a:r>
              <a:rPr lang="en-US" altLang="zh-CN" sz="2800" dirty="0">
                <a:ea typeface="宋体" charset="-122"/>
              </a:rPr>
              <a:t>,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sorts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dirty="0">
                <a:solidFill>
                  <a:srgbClr val="FF3300"/>
                </a:solidFill>
                <a:ea typeface="宋体" charset="-122"/>
              </a:rPr>
              <a:t>in place</a:t>
            </a:r>
            <a:r>
              <a:rPr lang="en-US" altLang="zh-CN" sz="2800" dirty="0">
                <a:ea typeface="宋体" charset="-122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zh-CN" sz="3000" dirty="0">
              <a:solidFill>
                <a:srgbClr val="CC0000"/>
              </a:solidFill>
              <a:ea typeface="宋体" charset="-122"/>
            </a:endParaRPr>
          </a:p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zh-CN" sz="3000" dirty="0">
                <a:solidFill>
                  <a:srgbClr val="CC0000"/>
                </a:solidFill>
                <a:ea typeface="宋体" charset="-122"/>
              </a:rPr>
              <a:t>Heap sort </a:t>
            </a:r>
            <a:r>
              <a:rPr lang="en-US" altLang="zh-CN" sz="3000" dirty="0">
                <a:solidFill>
                  <a:schemeClr val="tx1"/>
                </a:solidFill>
                <a:ea typeface="宋体" charset="-122"/>
              </a:rPr>
              <a:t>is implemented using</a:t>
            </a:r>
            <a:r>
              <a:rPr lang="en-US" altLang="zh-CN" sz="3000" dirty="0">
                <a:solidFill>
                  <a:srgbClr val="CC0000"/>
                </a:solidFill>
                <a:ea typeface="宋体" charset="-122"/>
              </a:rPr>
              <a:t> </a:t>
            </a:r>
            <a:r>
              <a:rPr lang="en-US" altLang="zh-CN" sz="3000" i="1" dirty="0">
                <a:solidFill>
                  <a:srgbClr val="FF3300"/>
                </a:solidFill>
                <a:ea typeface="宋体" charset="-122"/>
              </a:rPr>
              <a:t>binary heap </a:t>
            </a:r>
            <a:r>
              <a:rPr lang="en-US" altLang="zh-CN" sz="3000" dirty="0">
                <a:solidFill>
                  <a:schemeClr val="tx1"/>
                </a:solidFill>
                <a:ea typeface="宋体" charset="-122"/>
              </a:rPr>
              <a:t>data structure.</a:t>
            </a:r>
          </a:p>
          <a:p>
            <a:pPr lvl="1">
              <a:lnSpc>
                <a:spcPct val="90000"/>
              </a:lnSpc>
            </a:pPr>
            <a:endParaRPr lang="en-US" altLang="zh-CN" sz="2800" dirty="0">
              <a:solidFill>
                <a:schemeClr val="tx1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98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Heap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</p:spTree>
    <p:extLst>
      <p:ext uri="{BB962C8B-B14F-4D97-AF65-F5344CB8AC3E}">
        <p14:creationId xmlns:p14="http://schemas.microsoft.com/office/powerpoint/2010/main" val="2500301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Binary Heap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185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000" dirty="0">
                <a:solidFill>
                  <a:schemeClr val="tx1"/>
                </a:solidFill>
                <a:ea typeface="宋体" charset="-122"/>
              </a:rPr>
              <a:t>The </a:t>
            </a:r>
            <a:r>
              <a:rPr lang="en-US" altLang="zh-CN" sz="3000" i="1" dirty="0">
                <a:solidFill>
                  <a:srgbClr val="FF3300"/>
                </a:solidFill>
                <a:ea typeface="宋体" charset="-122"/>
              </a:rPr>
              <a:t>binary heap</a:t>
            </a:r>
            <a:r>
              <a:rPr lang="en-US" altLang="zh-CN" sz="3000" dirty="0">
                <a:ea typeface="宋体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has 2 properties:</a:t>
            </a:r>
          </a:p>
          <a:p>
            <a:pPr lvl="1">
              <a:lnSpc>
                <a:spcPct val="90000"/>
              </a:lnSpc>
            </a:pP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Shape property</a:t>
            </a:r>
          </a:p>
          <a:p>
            <a:pPr lvl="1">
              <a:lnSpc>
                <a:spcPct val="90000"/>
              </a:lnSpc>
            </a:pP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Heap property</a:t>
            </a:r>
          </a:p>
          <a:p>
            <a:pPr lvl="1">
              <a:lnSpc>
                <a:spcPct val="90000"/>
              </a:lnSpc>
            </a:pPr>
            <a:endParaRPr lang="en-US" altLang="zh-CN" sz="2800" dirty="0">
              <a:solidFill>
                <a:schemeClr val="tx1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2213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03443056"/>
              </p:ext>
            </p:extLst>
          </p:nvPr>
        </p:nvGraphicFramePr>
        <p:xfrm>
          <a:off x="5253038" y="4267200"/>
          <a:ext cx="3738562" cy="246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2" imgW="6829268" imgH="4497561" progId="PaintShopPro">
                  <p:embed/>
                </p:oleObj>
              </mc:Choice>
              <mc:Fallback>
                <p:oleObj name="Paint Shop Pro Image" r:id="rId2" imgW="6829268" imgH="4497561" progId="PaintShopPro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038" y="4267200"/>
                        <a:ext cx="3738562" cy="246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620000" cy="8382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charset="-122"/>
              </a:rPr>
              <a:t>Data Structure Binary Heap: 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	Shape property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458200" cy="556260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1) Array viewed as a 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complete binary tree.</a:t>
            </a:r>
            <a:endParaRPr lang="en-US" altLang="zh-CN" sz="3600" b="1" dirty="0">
              <a:solidFill>
                <a:schemeClr val="tx1"/>
              </a:solidFill>
              <a:ea typeface="宋体" charset="-122"/>
            </a:endParaRPr>
          </a:p>
          <a:p>
            <a:pPr marL="274320" lvl="1" indent="0">
              <a:buNone/>
            </a:pPr>
            <a:r>
              <a:rPr 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sz="2400" dirty="0">
                <a:solidFill>
                  <a:schemeClr val="tx1"/>
                </a:solidFill>
              </a:rPr>
              <a:t>Meaning that all levels of the tree are fully filled except possibly the last level, which is filled from left to right. </a:t>
            </a:r>
          </a:p>
          <a:p>
            <a:pPr lvl="1"/>
            <a:endParaRPr lang="en-US" altLang="zh-CN" sz="2400" dirty="0">
              <a:solidFill>
                <a:schemeClr val="tx1"/>
              </a:solidFill>
              <a:ea typeface="宋体" charset="-122"/>
            </a:endParaRPr>
          </a:p>
        </p:txBody>
      </p:sp>
      <p:graphicFrame>
        <p:nvGraphicFramePr>
          <p:cNvPr id="6" name="Object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537147950"/>
              </p:ext>
            </p:extLst>
          </p:nvPr>
        </p:nvGraphicFramePr>
        <p:xfrm>
          <a:off x="4343400" y="3273425"/>
          <a:ext cx="40386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4" imgW="5590244" imgH="1590675" progId="PaintShopPro">
                  <p:embed/>
                </p:oleObj>
              </mc:Choice>
              <mc:Fallback>
                <p:oleObj name="Paint Shop Pro Image" r:id="rId4" imgW="5590244" imgH="1590675" progId="PaintShopPro">
                  <p:embed/>
                  <p:pic>
                    <p:nvPicPr>
                      <p:cNvPr id="3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273425"/>
                        <a:ext cx="40386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7904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03443056"/>
              </p:ext>
            </p:extLst>
          </p:nvPr>
        </p:nvGraphicFramePr>
        <p:xfrm>
          <a:off x="5253038" y="4267200"/>
          <a:ext cx="3738562" cy="246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2" imgW="6829268" imgH="4497561" progId="PaintShopPro">
                  <p:embed/>
                </p:oleObj>
              </mc:Choice>
              <mc:Fallback>
                <p:oleObj name="Paint Shop Pro Image" r:id="rId2" imgW="6829268" imgH="4497561" progId="PaintShopPro">
                  <p:embed/>
                  <p:pic>
                    <p:nvPicPr>
                      <p:cNvPr id="2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038" y="4267200"/>
                        <a:ext cx="3738562" cy="246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620000" cy="8382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charset="-122"/>
              </a:rPr>
              <a:t>Data Structure Binary Heap: 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	Shape property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458200" cy="556260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1) Array viewed as a 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complete binary tree.</a:t>
            </a:r>
          </a:p>
          <a:p>
            <a:pPr lvl="1"/>
            <a:r>
              <a:rPr lang="en-US" altLang="zh-CN" sz="2400" dirty="0">
                <a:solidFill>
                  <a:srgbClr val="CC0000"/>
                </a:solidFill>
                <a:ea typeface="宋体" charset="-122"/>
              </a:rPr>
              <a:t>Physically</a:t>
            </a:r>
            <a:r>
              <a:rPr lang="en-US" altLang="zh-CN" sz="2400" dirty="0">
                <a:ea typeface="宋体" charset="-122"/>
              </a:rPr>
              <a:t> – </a:t>
            </a:r>
            <a:r>
              <a:rPr lang="en-US" altLang="zh-CN" sz="2400" dirty="0">
                <a:solidFill>
                  <a:schemeClr val="hlink"/>
                </a:solidFill>
                <a:ea typeface="宋体" charset="-122"/>
              </a:rPr>
              <a:t>linear array</a:t>
            </a:r>
            <a:r>
              <a:rPr lang="en-US" altLang="zh-CN" sz="2400" dirty="0">
                <a:ea typeface="宋体" charset="-122"/>
              </a:rPr>
              <a:t>.</a:t>
            </a:r>
          </a:p>
          <a:p>
            <a:pPr lvl="1"/>
            <a:r>
              <a:rPr lang="en-US" altLang="zh-CN" sz="2400" dirty="0">
                <a:solidFill>
                  <a:srgbClr val="CC0000"/>
                </a:solidFill>
                <a:ea typeface="宋体" charset="-122"/>
              </a:rPr>
              <a:t>Logically</a:t>
            </a:r>
            <a:r>
              <a:rPr lang="en-US" altLang="zh-CN" sz="2400" dirty="0">
                <a:ea typeface="宋体" charset="-122"/>
              </a:rPr>
              <a:t> – </a:t>
            </a:r>
            <a:r>
              <a:rPr lang="en-US" altLang="zh-CN" sz="2400" dirty="0">
                <a:solidFill>
                  <a:schemeClr val="hlink"/>
                </a:solidFill>
                <a:ea typeface="宋体" charset="-122"/>
              </a:rPr>
              <a:t>binary tree</a:t>
            </a:r>
            <a:r>
              <a:rPr lang="en-US" altLang="zh-CN" sz="2400" dirty="0">
                <a:ea typeface="宋体" charset="-122"/>
              </a:rPr>
              <a:t>,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 filled on all levels (except lowest.)</a:t>
            </a:r>
          </a:p>
          <a:p>
            <a:endParaRPr lang="en-US" altLang="zh-CN" sz="2400" dirty="0">
              <a:solidFill>
                <a:srgbClr val="CC0000"/>
              </a:solidFill>
              <a:ea typeface="宋体" charset="-122"/>
            </a:endParaRPr>
          </a:p>
        </p:txBody>
      </p:sp>
      <p:graphicFrame>
        <p:nvGraphicFramePr>
          <p:cNvPr id="3" name="Object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143272678"/>
              </p:ext>
            </p:extLst>
          </p:nvPr>
        </p:nvGraphicFramePr>
        <p:xfrm>
          <a:off x="4343400" y="3273425"/>
          <a:ext cx="40386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4" imgW="5590244" imgH="1590675" progId="PaintShopPro">
                  <p:embed/>
                </p:oleObj>
              </mc:Choice>
              <mc:Fallback>
                <p:oleObj name="Paint Shop Pro Image" r:id="rId4" imgW="5590244" imgH="1590675" progId="PaintShopPro">
                  <p:embed/>
                  <p:pic>
                    <p:nvPicPr>
                      <p:cNvPr id="3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273425"/>
                        <a:ext cx="40386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7776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03443056"/>
              </p:ext>
            </p:extLst>
          </p:nvPr>
        </p:nvGraphicFramePr>
        <p:xfrm>
          <a:off x="5253038" y="4267200"/>
          <a:ext cx="3738562" cy="246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3" imgW="6829268" imgH="4497561" progId="PaintShopPro">
                  <p:embed/>
                </p:oleObj>
              </mc:Choice>
              <mc:Fallback>
                <p:oleObj name="Paint Shop Pro Image" r:id="rId3" imgW="6829268" imgH="4497561" progId="PaintShopPro">
                  <p:embed/>
                  <p:pic>
                    <p:nvPicPr>
                      <p:cNvPr id="2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038" y="4267200"/>
                        <a:ext cx="3738562" cy="246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620000" cy="8382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charset="-122"/>
              </a:rPr>
              <a:t>Data Structure Binary Heap: 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	Shape property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458200" cy="5791200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1) Array viewed as a 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complete binary tree.</a:t>
            </a:r>
          </a:p>
          <a:p>
            <a:pPr lvl="1"/>
            <a:r>
              <a:rPr lang="en-US" altLang="zh-CN" sz="2400" dirty="0">
                <a:solidFill>
                  <a:srgbClr val="CC0000"/>
                </a:solidFill>
                <a:ea typeface="宋体" charset="-122"/>
              </a:rPr>
              <a:t>Physically</a:t>
            </a:r>
            <a:r>
              <a:rPr lang="en-US" altLang="zh-CN" sz="2400" dirty="0">
                <a:ea typeface="宋体" charset="-122"/>
              </a:rPr>
              <a:t> – </a:t>
            </a:r>
            <a:r>
              <a:rPr lang="en-US" altLang="zh-CN" sz="2400" dirty="0">
                <a:solidFill>
                  <a:schemeClr val="hlink"/>
                </a:solidFill>
                <a:ea typeface="宋体" charset="-122"/>
              </a:rPr>
              <a:t>linear array</a:t>
            </a:r>
            <a:r>
              <a:rPr lang="en-US" altLang="zh-CN" sz="2400" dirty="0">
                <a:ea typeface="宋体" charset="-122"/>
              </a:rPr>
              <a:t>.</a:t>
            </a:r>
          </a:p>
          <a:p>
            <a:pPr lvl="1"/>
            <a:r>
              <a:rPr lang="en-US" altLang="zh-CN" sz="2400" dirty="0">
                <a:solidFill>
                  <a:srgbClr val="CC0000"/>
                </a:solidFill>
                <a:ea typeface="宋体" charset="-122"/>
              </a:rPr>
              <a:t>Logically</a:t>
            </a:r>
            <a:r>
              <a:rPr lang="en-US" altLang="zh-CN" sz="2400" dirty="0">
                <a:ea typeface="宋体" charset="-122"/>
              </a:rPr>
              <a:t> – </a:t>
            </a:r>
            <a:r>
              <a:rPr lang="en-US" altLang="zh-CN" sz="2400" dirty="0">
                <a:solidFill>
                  <a:schemeClr val="hlink"/>
                </a:solidFill>
                <a:ea typeface="宋体" charset="-122"/>
              </a:rPr>
              <a:t>binary tree</a:t>
            </a:r>
            <a:r>
              <a:rPr lang="en-US" altLang="zh-CN" sz="2400" dirty="0">
                <a:ea typeface="宋体" charset="-122"/>
              </a:rPr>
              <a:t>,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 filled on all levels (except lowest.)</a:t>
            </a:r>
          </a:p>
          <a:p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2) </a:t>
            </a:r>
            <a:r>
              <a:rPr lang="en-US" b="1" dirty="0">
                <a:solidFill>
                  <a:schemeClr val="tx1"/>
                </a:solidFill>
              </a:rPr>
              <a:t>Parent-Child Relationship:</a:t>
            </a:r>
            <a:r>
              <a:rPr lang="en-US" dirty="0"/>
              <a:t> 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Map from array elements to tree nodes and vice versa</a:t>
            </a:r>
          </a:p>
          <a:p>
            <a:pPr lvl="1"/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Root – 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[1]</a:t>
            </a:r>
          </a:p>
          <a:p>
            <a:pPr lvl="1"/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Left[</a:t>
            </a:r>
            <a:r>
              <a:rPr lang="en-US" altLang="zh-CN" sz="2400" i="1" dirty="0" err="1">
                <a:solidFill>
                  <a:schemeClr val="tx1"/>
                </a:solidFill>
                <a:ea typeface="宋体" charset="-122"/>
              </a:rPr>
              <a:t>i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] – 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[2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]</a:t>
            </a:r>
          </a:p>
          <a:p>
            <a:pPr lvl="1"/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Right[</a:t>
            </a:r>
            <a:r>
              <a:rPr lang="en-US" altLang="zh-CN" sz="2400" i="1" dirty="0" err="1">
                <a:solidFill>
                  <a:schemeClr val="tx1"/>
                </a:solidFill>
                <a:ea typeface="宋体" charset="-122"/>
              </a:rPr>
              <a:t>i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] – 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[2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+1]</a:t>
            </a:r>
          </a:p>
          <a:p>
            <a:pPr lvl="1"/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Parent[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] – 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[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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/2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]</a:t>
            </a:r>
          </a:p>
          <a:p>
            <a:r>
              <a:rPr lang="en-US" altLang="zh-CN" sz="2400" dirty="0">
                <a:solidFill>
                  <a:schemeClr val="hlink"/>
                </a:solidFill>
                <a:ea typeface="宋体" charset="-122"/>
              </a:rPr>
              <a:t>length[</a:t>
            </a:r>
            <a:r>
              <a:rPr lang="en-US" altLang="zh-CN" sz="2400" i="1" dirty="0">
                <a:solidFill>
                  <a:schemeClr val="hlink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chemeClr val="hlink"/>
                </a:solidFill>
                <a:ea typeface="宋体" charset="-122"/>
              </a:rPr>
              <a:t>]</a:t>
            </a:r>
            <a:r>
              <a:rPr lang="en-US" altLang="zh-CN" sz="2400" dirty="0">
                <a:ea typeface="宋体" charset="-122"/>
              </a:rPr>
              <a:t> –number of elements in array </a:t>
            </a:r>
            <a:r>
              <a:rPr lang="en-US" altLang="zh-CN" sz="2400" i="1" dirty="0">
                <a:ea typeface="宋体" charset="-122"/>
              </a:rPr>
              <a:t>A.</a:t>
            </a:r>
            <a:endParaRPr lang="en-US" altLang="zh-CN" sz="2400" dirty="0">
              <a:ea typeface="宋体" charset="-122"/>
            </a:endParaRPr>
          </a:p>
          <a:p>
            <a:r>
              <a:rPr lang="en-US" altLang="zh-CN" sz="2400" dirty="0">
                <a:solidFill>
                  <a:schemeClr val="hlink"/>
                </a:solidFill>
                <a:ea typeface="宋体" charset="-122"/>
              </a:rPr>
              <a:t>heap-size[</a:t>
            </a:r>
            <a:r>
              <a:rPr lang="en-US" altLang="zh-CN" sz="2400" i="1" dirty="0">
                <a:solidFill>
                  <a:schemeClr val="hlink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chemeClr val="hlink"/>
                </a:solidFill>
                <a:ea typeface="宋体" charset="-122"/>
              </a:rPr>
              <a:t>]</a:t>
            </a:r>
            <a:r>
              <a:rPr lang="en-US" altLang="zh-CN" sz="2400" dirty="0">
                <a:ea typeface="宋体" charset="-122"/>
              </a:rPr>
              <a:t> – 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number of elements in </a:t>
            </a:r>
          </a:p>
          <a:p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                        heap stored in 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400" i="1" dirty="0">
                <a:ea typeface="宋体" charset="-122"/>
              </a:rPr>
              <a:t>.</a:t>
            </a:r>
          </a:p>
          <a:p>
            <a:pPr lvl="1"/>
            <a:r>
              <a:rPr lang="en-US" altLang="zh-CN" sz="2400" dirty="0">
                <a:solidFill>
                  <a:srgbClr val="CC0000"/>
                </a:solidFill>
                <a:ea typeface="宋体" charset="-122"/>
              </a:rPr>
              <a:t>heap-size[</a:t>
            </a:r>
            <a:r>
              <a:rPr lang="en-US" altLang="zh-CN" sz="2400" i="1" dirty="0">
                <a:solidFill>
                  <a:srgbClr val="CC0000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rgbClr val="CC0000"/>
                </a:solidFill>
                <a:ea typeface="宋体" charset="-122"/>
              </a:rPr>
              <a:t>] </a:t>
            </a:r>
            <a:r>
              <a:rPr lang="en-US" altLang="zh-CN" sz="24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 length[</a:t>
            </a:r>
            <a:r>
              <a:rPr lang="en-US" altLang="zh-CN" sz="2400" i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]</a:t>
            </a:r>
            <a:endParaRPr lang="en-US" altLang="zh-CN" sz="2400" dirty="0">
              <a:solidFill>
                <a:srgbClr val="CC0000"/>
              </a:solidFill>
              <a:ea typeface="宋体" charset="-122"/>
            </a:endParaRPr>
          </a:p>
        </p:txBody>
      </p:sp>
      <p:graphicFrame>
        <p:nvGraphicFramePr>
          <p:cNvPr id="3" name="Object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143272678"/>
              </p:ext>
            </p:extLst>
          </p:nvPr>
        </p:nvGraphicFramePr>
        <p:xfrm>
          <a:off x="4343400" y="3273425"/>
          <a:ext cx="40386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5" imgW="5590244" imgH="1590675" progId="PaintShopPro">
                  <p:embed/>
                </p:oleObj>
              </mc:Choice>
              <mc:Fallback>
                <p:oleObj name="Paint Shop Pro Image" r:id="rId5" imgW="5590244" imgH="1590675" progId="PaintShopPro">
                  <p:embed/>
                  <p:pic>
                    <p:nvPicPr>
                      <p:cNvPr id="3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273425"/>
                        <a:ext cx="40386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292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宋体" charset="-122"/>
              </a:rPr>
              <a:t>Data Structure Binary Heap: 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	Heap property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50838" y="1214437"/>
            <a:ext cx="4038600" cy="3433763"/>
          </a:xfrm>
        </p:spPr>
        <p:txBody>
          <a:bodyPr>
            <a:normAutofit fontScale="92500"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Max Heap</a:t>
            </a:r>
          </a:p>
          <a:p>
            <a:pPr marL="228600" lvl="1" indent="-228600">
              <a:lnSpc>
                <a:spcPct val="80000"/>
              </a:lnSpc>
            </a:pPr>
            <a:r>
              <a:rPr lang="en-US" altLang="zh-CN" sz="2400" dirty="0">
                <a:solidFill>
                  <a:srgbClr val="FF3300"/>
                </a:solidFill>
                <a:ea typeface="宋体" charset="-122"/>
              </a:rPr>
              <a:t>For every node</a:t>
            </a:r>
            <a:r>
              <a:rPr lang="en-US" altLang="zh-CN" sz="2400" dirty="0">
                <a:ea typeface="宋体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excluding the root, value is </a:t>
            </a:r>
            <a:r>
              <a:rPr lang="en-US" sz="2400" b="1" dirty="0">
                <a:solidFill>
                  <a:schemeClr val="tx1"/>
                </a:solidFill>
                <a:ea typeface="宋体" charset="-122"/>
              </a:rPr>
              <a:t>greater than or equal to </a:t>
            </a:r>
            <a:r>
              <a:rPr lang="en-US" sz="2400" dirty="0">
                <a:solidFill>
                  <a:schemeClr val="tx1"/>
                </a:solidFill>
                <a:ea typeface="宋体" charset="-122"/>
              </a:rPr>
              <a:t>each of its children</a:t>
            </a:r>
          </a:p>
          <a:p>
            <a:pPr marL="228600" lvl="1" indent="-228600">
              <a:lnSpc>
                <a:spcPct val="80000"/>
              </a:lnSpc>
            </a:pPr>
            <a:r>
              <a:rPr lang="en-US" altLang="zh-CN" sz="2400" b="1" i="1" dirty="0">
                <a:solidFill>
                  <a:srgbClr val="CC0000"/>
                </a:solidFill>
                <a:ea typeface="宋体" charset="-122"/>
              </a:rPr>
              <a:t>A </a:t>
            </a:r>
            <a:r>
              <a:rPr lang="en-US" altLang="zh-CN" sz="2400" b="1" dirty="0">
                <a:solidFill>
                  <a:srgbClr val="CC0000"/>
                </a:solidFill>
                <a:ea typeface="宋体" charset="-122"/>
              </a:rPr>
              <a:t>[ </a:t>
            </a:r>
            <a:r>
              <a:rPr lang="en-US" altLang="zh-CN" sz="2400" b="1" i="1" dirty="0">
                <a:solidFill>
                  <a:srgbClr val="CC0000"/>
                </a:solidFill>
                <a:ea typeface="宋体" charset="-122"/>
              </a:rPr>
              <a:t>parent </a:t>
            </a:r>
            <a:r>
              <a:rPr lang="en-US" altLang="zh-CN" sz="2400" b="1" dirty="0">
                <a:solidFill>
                  <a:srgbClr val="CC0000"/>
                </a:solidFill>
                <a:ea typeface="宋体" charset="-122"/>
              </a:rPr>
              <a:t>[</a:t>
            </a:r>
            <a:r>
              <a:rPr lang="en-US" altLang="zh-CN" sz="2400" b="1" i="1" dirty="0">
                <a:solidFill>
                  <a:srgbClr val="CC0000"/>
                </a:solidFill>
                <a:ea typeface="宋体" charset="-122"/>
              </a:rPr>
              <a:t> </a:t>
            </a:r>
            <a:r>
              <a:rPr lang="en-US" altLang="zh-CN" sz="2400" b="1" i="1" dirty="0" err="1">
                <a:solidFill>
                  <a:srgbClr val="CC0000"/>
                </a:solidFill>
                <a:ea typeface="宋体" charset="-122"/>
              </a:rPr>
              <a:t>i</a:t>
            </a:r>
            <a:r>
              <a:rPr lang="en-US" altLang="zh-CN" sz="2400" b="1" i="1" dirty="0">
                <a:solidFill>
                  <a:srgbClr val="CC0000"/>
                </a:solidFill>
                <a:ea typeface="宋体" charset="-122"/>
              </a:rPr>
              <a:t>  </a:t>
            </a:r>
            <a:r>
              <a:rPr lang="en-US" altLang="zh-CN" sz="2400" b="1" dirty="0">
                <a:solidFill>
                  <a:srgbClr val="CC0000"/>
                </a:solidFill>
                <a:ea typeface="宋体" charset="-122"/>
              </a:rPr>
              <a:t>] ] </a:t>
            </a:r>
            <a:r>
              <a:rPr lang="en-US" altLang="zh-CN" b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 </a:t>
            </a:r>
            <a:r>
              <a:rPr lang="en-US" altLang="zh-CN" b="1" i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A </a:t>
            </a:r>
            <a:r>
              <a:rPr lang="en-US" altLang="zh-CN" b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[ </a:t>
            </a:r>
            <a:r>
              <a:rPr lang="en-US" altLang="zh-CN" b="1" i="1" dirty="0" err="1">
                <a:solidFill>
                  <a:srgbClr val="CC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b="1" i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  </a:t>
            </a:r>
            <a:r>
              <a:rPr lang="en-US" altLang="zh-CN" b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]</a:t>
            </a:r>
          </a:p>
          <a:p>
            <a:pPr marL="228600" lvl="1" indent="-228600">
              <a:lnSpc>
                <a:spcPct val="80000"/>
              </a:lnSpc>
            </a:pPr>
            <a:r>
              <a:rPr lang="en-US" altLang="zh-CN" sz="2400" b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Largest</a:t>
            </a:r>
            <a:r>
              <a:rPr lang="en-US" altLang="zh-CN" sz="2400" dirty="0">
                <a:ea typeface="宋体" charset="-122"/>
                <a:sym typeface="Symbol" pitchFamily="18" charset="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element is </a:t>
            </a:r>
            <a:r>
              <a:rPr lang="en-US" altLang="zh-CN" sz="2400" dirty="0">
                <a:solidFill>
                  <a:srgbClr val="FF3300"/>
                </a:solidFill>
                <a:ea typeface="宋体" charset="-122"/>
                <a:sym typeface="Symbol" pitchFamily="18" charset="2"/>
              </a:rPr>
              <a:t>stored at </a:t>
            </a:r>
            <a:r>
              <a:rPr lang="en-US" altLang="zh-CN" sz="2400" b="1" dirty="0">
                <a:solidFill>
                  <a:srgbClr val="FF3300"/>
                </a:solidFill>
                <a:ea typeface="宋体" charset="-122"/>
                <a:sym typeface="Symbol" pitchFamily="18" charset="2"/>
              </a:rPr>
              <a:t>the root</a:t>
            </a:r>
            <a:r>
              <a:rPr lang="en-US" altLang="zh-CN" sz="2800" dirty="0">
                <a:ea typeface="宋体" charset="-122"/>
                <a:sym typeface="Symbol" pitchFamily="18" charset="2"/>
              </a:rPr>
              <a:t>.</a:t>
            </a:r>
          </a:p>
          <a:p>
            <a:pPr marL="228600" lvl="1" indent="-228600">
              <a:lnSpc>
                <a:spcPct val="80000"/>
              </a:lnSpc>
            </a:pPr>
            <a:r>
              <a:rPr lang="en-US" altLang="zh-CN" sz="26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In any </a:t>
            </a:r>
            <a:r>
              <a:rPr lang="en-US" altLang="zh-CN" sz="26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subtree</a:t>
            </a:r>
            <a:r>
              <a:rPr lang="en-US" altLang="zh-CN" sz="26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no values are </a:t>
            </a:r>
            <a:r>
              <a:rPr lang="en-US" altLang="zh-CN" sz="26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larger</a:t>
            </a:r>
            <a:r>
              <a:rPr lang="en-US" altLang="zh-CN" sz="26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than the value stored at </a:t>
            </a:r>
            <a:r>
              <a:rPr lang="en-US" altLang="zh-CN" sz="26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subtree</a:t>
            </a:r>
            <a:r>
              <a:rPr lang="en-US" altLang="zh-CN" sz="26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root.</a:t>
            </a:r>
          </a:p>
          <a:p>
            <a:pPr marL="228600" lvl="1" indent="-228600">
              <a:lnSpc>
                <a:spcPct val="80000"/>
              </a:lnSpc>
            </a:pPr>
            <a:endParaRPr lang="en-US" altLang="zh-CN" sz="2800" dirty="0">
              <a:ea typeface="宋体" charset="-122"/>
              <a:sym typeface="Symbol" pitchFamily="18" charset="2"/>
            </a:endParaRPr>
          </a:p>
          <a:p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2" y="4254962"/>
            <a:ext cx="3817938" cy="2831638"/>
          </a:xfrm>
        </p:spPr>
      </p:pic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4398169"/>
            <a:ext cx="4280720" cy="2764631"/>
          </a:xfrm>
        </p:spPr>
      </p:pic>
      <p:sp>
        <p:nvSpPr>
          <p:cNvPr id="10" name="Rectangle 9"/>
          <p:cNvSpPr/>
          <p:nvPr/>
        </p:nvSpPr>
        <p:spPr>
          <a:xfrm>
            <a:off x="2053431" y="6248400"/>
            <a:ext cx="1261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Max Heap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59960" y="6310312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Min Heap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662" y="1214437"/>
            <a:ext cx="3970338" cy="4619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64062" y="1214437"/>
            <a:ext cx="3970338" cy="4619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3433762"/>
          </a:xfrm>
        </p:spPr>
        <p:txBody>
          <a:bodyPr>
            <a:normAutofit fontScale="92500"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Min Heap</a:t>
            </a:r>
          </a:p>
          <a:p>
            <a:pPr marL="228600" lvl="1" indent="-228600">
              <a:lnSpc>
                <a:spcPct val="80000"/>
              </a:lnSpc>
            </a:pPr>
            <a:r>
              <a:rPr lang="en-US" altLang="zh-CN" sz="2400" dirty="0">
                <a:solidFill>
                  <a:srgbClr val="FF3300"/>
                </a:solidFill>
                <a:ea typeface="宋体" charset="-122"/>
              </a:rPr>
              <a:t>For every node</a:t>
            </a:r>
            <a:r>
              <a:rPr lang="en-US" altLang="zh-CN" sz="2400" dirty="0">
                <a:ea typeface="宋体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excluding the root, value is </a:t>
            </a:r>
            <a:r>
              <a:rPr lang="en-US" sz="2400" b="1" dirty="0">
                <a:solidFill>
                  <a:schemeClr val="tx1"/>
                </a:solidFill>
                <a:ea typeface="宋体" charset="-122"/>
              </a:rPr>
              <a:t>less than or equal to </a:t>
            </a:r>
            <a:r>
              <a:rPr lang="en-US" sz="2400" dirty="0">
                <a:solidFill>
                  <a:schemeClr val="tx1"/>
                </a:solidFill>
                <a:ea typeface="宋体" charset="-122"/>
              </a:rPr>
              <a:t>each of its children</a:t>
            </a:r>
          </a:p>
          <a:p>
            <a:pPr marL="228600" lvl="1" indent="-228600">
              <a:lnSpc>
                <a:spcPct val="80000"/>
              </a:lnSpc>
            </a:pPr>
            <a:r>
              <a:rPr lang="en-US" altLang="zh-CN" sz="2400" b="1" i="1" dirty="0">
                <a:solidFill>
                  <a:srgbClr val="CC0000"/>
                </a:solidFill>
                <a:ea typeface="宋体" charset="-122"/>
              </a:rPr>
              <a:t>A </a:t>
            </a:r>
            <a:r>
              <a:rPr lang="en-US" altLang="zh-CN" sz="2400" b="1" dirty="0">
                <a:solidFill>
                  <a:srgbClr val="CC0000"/>
                </a:solidFill>
                <a:ea typeface="宋体" charset="-122"/>
              </a:rPr>
              <a:t>[ </a:t>
            </a:r>
            <a:r>
              <a:rPr lang="en-US" altLang="zh-CN" sz="2400" b="1" i="1" dirty="0">
                <a:solidFill>
                  <a:srgbClr val="CC0000"/>
                </a:solidFill>
                <a:ea typeface="宋体" charset="-122"/>
              </a:rPr>
              <a:t>parent </a:t>
            </a:r>
            <a:r>
              <a:rPr lang="en-US" altLang="zh-CN" sz="2400" b="1" dirty="0">
                <a:solidFill>
                  <a:srgbClr val="CC0000"/>
                </a:solidFill>
                <a:ea typeface="宋体" charset="-122"/>
              </a:rPr>
              <a:t>[</a:t>
            </a:r>
            <a:r>
              <a:rPr lang="en-US" altLang="zh-CN" sz="2400" b="1" i="1" dirty="0">
                <a:solidFill>
                  <a:srgbClr val="CC0000"/>
                </a:solidFill>
                <a:ea typeface="宋体" charset="-122"/>
              </a:rPr>
              <a:t> </a:t>
            </a:r>
            <a:r>
              <a:rPr lang="en-US" altLang="zh-CN" sz="2400" b="1" i="1" dirty="0" err="1">
                <a:solidFill>
                  <a:srgbClr val="CC0000"/>
                </a:solidFill>
                <a:ea typeface="宋体" charset="-122"/>
              </a:rPr>
              <a:t>i</a:t>
            </a:r>
            <a:r>
              <a:rPr lang="en-US" altLang="zh-CN" sz="2400" b="1" i="1" dirty="0">
                <a:solidFill>
                  <a:srgbClr val="CC0000"/>
                </a:solidFill>
                <a:ea typeface="宋体" charset="-122"/>
              </a:rPr>
              <a:t>  </a:t>
            </a:r>
            <a:r>
              <a:rPr lang="en-US" altLang="zh-CN" sz="2400" b="1" dirty="0">
                <a:solidFill>
                  <a:srgbClr val="CC0000"/>
                </a:solidFill>
                <a:ea typeface="宋体" charset="-122"/>
              </a:rPr>
              <a:t>] ] </a:t>
            </a:r>
            <a:r>
              <a:rPr lang="en-US" altLang="zh-CN" sz="2400" b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 </a:t>
            </a:r>
            <a:r>
              <a:rPr lang="en-US" altLang="zh-CN" b="1" i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A </a:t>
            </a:r>
            <a:r>
              <a:rPr lang="en-US" altLang="zh-CN" b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[ </a:t>
            </a:r>
            <a:r>
              <a:rPr lang="en-US" altLang="zh-CN" b="1" i="1" dirty="0" err="1">
                <a:solidFill>
                  <a:srgbClr val="CC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b="1" i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  </a:t>
            </a:r>
            <a:r>
              <a:rPr lang="en-US" altLang="zh-CN" b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]</a:t>
            </a:r>
          </a:p>
          <a:p>
            <a:pPr marL="228600" lvl="1" indent="-228600">
              <a:lnSpc>
                <a:spcPct val="80000"/>
              </a:lnSpc>
            </a:pPr>
            <a:r>
              <a:rPr lang="en-US" altLang="zh-CN" sz="2400" b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Smallest</a:t>
            </a:r>
            <a:r>
              <a:rPr lang="en-US" altLang="zh-CN" sz="2400" dirty="0">
                <a:ea typeface="宋体" charset="-122"/>
                <a:sym typeface="Symbol" pitchFamily="18" charset="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element is </a:t>
            </a:r>
            <a:r>
              <a:rPr lang="en-US" altLang="zh-CN" sz="2400" dirty="0">
                <a:solidFill>
                  <a:srgbClr val="FF3300"/>
                </a:solidFill>
                <a:ea typeface="宋体" charset="-122"/>
                <a:sym typeface="Symbol" pitchFamily="18" charset="2"/>
              </a:rPr>
              <a:t>stored at </a:t>
            </a:r>
            <a:r>
              <a:rPr lang="en-US" altLang="zh-CN" sz="2400" b="1" dirty="0">
                <a:solidFill>
                  <a:srgbClr val="FF3300"/>
                </a:solidFill>
                <a:ea typeface="宋体" charset="-122"/>
                <a:sym typeface="Symbol" pitchFamily="18" charset="2"/>
              </a:rPr>
              <a:t>the root</a:t>
            </a:r>
            <a:r>
              <a:rPr lang="en-US" altLang="zh-CN" sz="2800" dirty="0">
                <a:ea typeface="宋体" charset="-122"/>
                <a:sym typeface="Symbol" pitchFamily="18" charset="2"/>
              </a:rPr>
              <a:t>.</a:t>
            </a:r>
          </a:p>
          <a:p>
            <a:pPr marL="228600" lvl="1" indent="-228600">
              <a:lnSpc>
                <a:spcPct val="80000"/>
              </a:lnSpc>
            </a:pPr>
            <a:r>
              <a:rPr lang="en-US" altLang="zh-CN" sz="26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In any </a:t>
            </a:r>
            <a:r>
              <a:rPr lang="en-US" altLang="zh-CN" sz="26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subtree</a:t>
            </a:r>
            <a:r>
              <a:rPr lang="en-US" altLang="zh-CN" sz="26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no values are </a:t>
            </a:r>
            <a:r>
              <a:rPr lang="en-US" altLang="zh-CN" sz="26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smaller</a:t>
            </a:r>
            <a:r>
              <a:rPr lang="en-US" altLang="zh-CN" sz="26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than the value stored at </a:t>
            </a:r>
            <a:r>
              <a:rPr lang="en-US" altLang="zh-CN" sz="26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subtree</a:t>
            </a:r>
            <a:r>
              <a:rPr lang="en-US" altLang="zh-CN" sz="26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root.</a:t>
            </a:r>
          </a:p>
          <a:p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9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Heaps – Example </a:t>
            </a:r>
          </a:p>
        </p:txBody>
      </p:sp>
      <p:grpSp>
        <p:nvGrpSpPr>
          <p:cNvPr id="8195" name="Group 48"/>
          <p:cNvGrpSpPr>
            <a:grpSpLocks/>
          </p:cNvGrpSpPr>
          <p:nvPr/>
        </p:nvGrpSpPr>
        <p:grpSpPr bwMode="auto">
          <a:xfrm>
            <a:off x="704850" y="1060450"/>
            <a:ext cx="5121275" cy="469900"/>
            <a:chOff x="444" y="668"/>
            <a:chExt cx="3226" cy="296"/>
          </a:xfrm>
        </p:grpSpPr>
        <p:sp>
          <p:nvSpPr>
            <p:cNvPr id="8224" name="Text Box 3"/>
            <p:cNvSpPr txBox="1">
              <a:spLocks noChangeArrowheads="1"/>
            </p:cNvSpPr>
            <p:nvPr/>
          </p:nvSpPr>
          <p:spPr bwMode="auto">
            <a:xfrm>
              <a:off x="444" y="668"/>
              <a:ext cx="316" cy="29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26</a:t>
              </a:r>
            </a:p>
          </p:txBody>
        </p:sp>
        <p:sp>
          <p:nvSpPr>
            <p:cNvPr id="8225" name="Text Box 4"/>
            <p:cNvSpPr txBox="1">
              <a:spLocks noChangeArrowheads="1"/>
            </p:cNvSpPr>
            <p:nvPr/>
          </p:nvSpPr>
          <p:spPr bwMode="auto">
            <a:xfrm>
              <a:off x="770" y="668"/>
              <a:ext cx="316" cy="29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24</a:t>
              </a:r>
            </a:p>
          </p:txBody>
        </p:sp>
        <p:sp>
          <p:nvSpPr>
            <p:cNvPr id="8226" name="Text Box 5"/>
            <p:cNvSpPr txBox="1">
              <a:spLocks noChangeArrowheads="1"/>
            </p:cNvSpPr>
            <p:nvPr/>
          </p:nvSpPr>
          <p:spPr bwMode="auto">
            <a:xfrm>
              <a:off x="1096" y="668"/>
              <a:ext cx="316" cy="29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20</a:t>
              </a:r>
            </a:p>
          </p:txBody>
        </p:sp>
        <p:sp>
          <p:nvSpPr>
            <p:cNvPr id="8227" name="Text Box 6"/>
            <p:cNvSpPr txBox="1">
              <a:spLocks noChangeArrowheads="1"/>
            </p:cNvSpPr>
            <p:nvPr/>
          </p:nvSpPr>
          <p:spPr bwMode="auto">
            <a:xfrm>
              <a:off x="1423" y="668"/>
              <a:ext cx="316" cy="29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18</a:t>
              </a:r>
            </a:p>
          </p:txBody>
        </p:sp>
        <p:sp>
          <p:nvSpPr>
            <p:cNvPr id="8228" name="Text Box 7"/>
            <p:cNvSpPr txBox="1">
              <a:spLocks noChangeArrowheads="1"/>
            </p:cNvSpPr>
            <p:nvPr/>
          </p:nvSpPr>
          <p:spPr bwMode="auto">
            <a:xfrm>
              <a:off x="1749" y="668"/>
              <a:ext cx="316" cy="29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17</a:t>
              </a:r>
            </a:p>
          </p:txBody>
        </p:sp>
        <p:sp>
          <p:nvSpPr>
            <p:cNvPr id="8229" name="Text Box 8"/>
            <p:cNvSpPr txBox="1">
              <a:spLocks noChangeArrowheads="1"/>
            </p:cNvSpPr>
            <p:nvPr/>
          </p:nvSpPr>
          <p:spPr bwMode="auto">
            <a:xfrm>
              <a:off x="2076" y="668"/>
              <a:ext cx="316" cy="29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19</a:t>
              </a:r>
            </a:p>
          </p:txBody>
        </p:sp>
        <p:sp>
          <p:nvSpPr>
            <p:cNvPr id="8230" name="Text Box 9"/>
            <p:cNvSpPr txBox="1">
              <a:spLocks noChangeArrowheads="1"/>
            </p:cNvSpPr>
            <p:nvPr/>
          </p:nvSpPr>
          <p:spPr bwMode="auto">
            <a:xfrm>
              <a:off x="2383" y="668"/>
              <a:ext cx="316" cy="29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13</a:t>
              </a:r>
            </a:p>
          </p:txBody>
        </p:sp>
        <p:sp>
          <p:nvSpPr>
            <p:cNvPr id="8231" name="Text Box 10"/>
            <p:cNvSpPr txBox="1">
              <a:spLocks noChangeArrowheads="1"/>
            </p:cNvSpPr>
            <p:nvPr/>
          </p:nvSpPr>
          <p:spPr bwMode="auto">
            <a:xfrm>
              <a:off x="2710" y="668"/>
              <a:ext cx="316" cy="29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12</a:t>
              </a:r>
            </a:p>
          </p:txBody>
        </p:sp>
        <p:sp>
          <p:nvSpPr>
            <p:cNvPr id="8232" name="Text Box 11"/>
            <p:cNvSpPr txBox="1">
              <a:spLocks noChangeArrowheads="1"/>
            </p:cNvSpPr>
            <p:nvPr/>
          </p:nvSpPr>
          <p:spPr bwMode="auto">
            <a:xfrm>
              <a:off x="3027" y="668"/>
              <a:ext cx="316" cy="29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14</a:t>
              </a:r>
            </a:p>
          </p:txBody>
        </p:sp>
        <p:sp>
          <p:nvSpPr>
            <p:cNvPr id="8233" name="Text Box 12"/>
            <p:cNvSpPr txBox="1">
              <a:spLocks noChangeArrowheads="1"/>
            </p:cNvSpPr>
            <p:nvPr/>
          </p:nvSpPr>
          <p:spPr bwMode="auto">
            <a:xfrm>
              <a:off x="3354" y="668"/>
              <a:ext cx="316" cy="29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11</a:t>
              </a:r>
            </a:p>
          </p:txBody>
        </p:sp>
      </p:grpSp>
      <p:sp>
        <p:nvSpPr>
          <p:cNvPr id="8196" name="Text Box 13"/>
          <p:cNvSpPr txBox="1">
            <a:spLocks noChangeArrowheads="1"/>
          </p:cNvSpPr>
          <p:nvPr/>
        </p:nvSpPr>
        <p:spPr bwMode="auto">
          <a:xfrm>
            <a:off x="658813" y="1620838"/>
            <a:ext cx="56911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1600">
                <a:ea typeface="宋体" charset="-122"/>
              </a:rPr>
              <a:t> 1          2        3        4         5        6         7        8        9       10</a:t>
            </a:r>
          </a:p>
        </p:txBody>
      </p:sp>
      <p:sp>
        <p:nvSpPr>
          <p:cNvPr id="410638" name="Oval 14"/>
          <p:cNvSpPr>
            <a:spLocks noChangeArrowheads="1"/>
          </p:cNvSpPr>
          <p:nvPr/>
        </p:nvSpPr>
        <p:spPr bwMode="auto">
          <a:xfrm>
            <a:off x="3659188" y="2668588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26</a:t>
            </a:r>
          </a:p>
        </p:txBody>
      </p: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2543175" y="3122613"/>
            <a:ext cx="2671763" cy="868362"/>
            <a:chOff x="1620" y="1679"/>
            <a:chExt cx="1683" cy="547"/>
          </a:xfrm>
        </p:grpSpPr>
        <p:sp>
          <p:nvSpPr>
            <p:cNvPr id="8220" name="Oval 16"/>
            <p:cNvSpPr>
              <a:spLocks noChangeArrowheads="1"/>
            </p:cNvSpPr>
            <p:nvPr/>
          </p:nvSpPr>
          <p:spPr bwMode="auto">
            <a:xfrm>
              <a:off x="1620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24</a:t>
              </a:r>
            </a:p>
          </p:txBody>
        </p:sp>
        <p:sp>
          <p:nvSpPr>
            <p:cNvPr id="8221" name="Oval 17"/>
            <p:cNvSpPr>
              <a:spLocks noChangeArrowheads="1"/>
            </p:cNvSpPr>
            <p:nvPr/>
          </p:nvSpPr>
          <p:spPr bwMode="auto">
            <a:xfrm>
              <a:off x="2978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20</a:t>
              </a:r>
            </a:p>
          </p:txBody>
        </p:sp>
        <p:cxnSp>
          <p:nvCxnSpPr>
            <p:cNvPr id="8222" name="AutoShape 32"/>
            <p:cNvCxnSpPr>
              <a:cxnSpLocks noChangeShapeType="1"/>
              <a:stCxn id="410638" idx="5"/>
              <a:endCxn id="8221" idx="0"/>
            </p:cNvCxnSpPr>
            <p:nvPr/>
          </p:nvCxnSpPr>
          <p:spPr bwMode="auto">
            <a:xfrm>
              <a:off x="2600" y="1679"/>
              <a:ext cx="541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3" name="AutoShape 33"/>
            <p:cNvCxnSpPr>
              <a:cxnSpLocks noChangeShapeType="1"/>
              <a:stCxn id="410638" idx="3"/>
              <a:endCxn id="8220" idx="0"/>
            </p:cNvCxnSpPr>
            <p:nvPr/>
          </p:nvCxnSpPr>
          <p:spPr bwMode="auto">
            <a:xfrm flipH="1">
              <a:off x="1783" y="1679"/>
              <a:ext cx="588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1722438" y="3913188"/>
            <a:ext cx="1990725" cy="1174750"/>
            <a:chOff x="1103" y="2177"/>
            <a:chExt cx="1254" cy="740"/>
          </a:xfrm>
        </p:grpSpPr>
        <p:sp>
          <p:nvSpPr>
            <p:cNvPr id="8216" name="Oval 18"/>
            <p:cNvSpPr>
              <a:spLocks noChangeArrowheads="1"/>
            </p:cNvSpPr>
            <p:nvPr/>
          </p:nvSpPr>
          <p:spPr bwMode="auto">
            <a:xfrm>
              <a:off x="1103" y="2582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18</a:t>
              </a:r>
            </a:p>
          </p:txBody>
        </p:sp>
        <p:sp>
          <p:nvSpPr>
            <p:cNvPr id="8217" name="Oval 19"/>
            <p:cNvSpPr>
              <a:spLocks noChangeArrowheads="1"/>
            </p:cNvSpPr>
            <p:nvPr/>
          </p:nvSpPr>
          <p:spPr bwMode="auto">
            <a:xfrm>
              <a:off x="2032" y="256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17</a:t>
              </a:r>
            </a:p>
          </p:txBody>
        </p:sp>
        <p:cxnSp>
          <p:nvCxnSpPr>
            <p:cNvPr id="8218" name="AutoShape 35"/>
            <p:cNvCxnSpPr>
              <a:cxnSpLocks noChangeShapeType="1"/>
              <a:stCxn id="8220" idx="3"/>
              <a:endCxn id="8216" idx="0"/>
            </p:cNvCxnSpPr>
            <p:nvPr/>
          </p:nvCxnSpPr>
          <p:spPr bwMode="auto">
            <a:xfrm flipH="1">
              <a:off x="1266" y="2177"/>
              <a:ext cx="40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9" name="AutoShape 36"/>
            <p:cNvCxnSpPr>
              <a:cxnSpLocks noChangeShapeType="1"/>
              <a:stCxn id="8220" idx="5"/>
              <a:endCxn id="8217" idx="0"/>
            </p:cNvCxnSpPr>
            <p:nvPr/>
          </p:nvCxnSpPr>
          <p:spPr bwMode="auto">
            <a:xfrm>
              <a:off x="1897" y="2177"/>
              <a:ext cx="298" cy="3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4117975" y="3913188"/>
            <a:ext cx="1739900" cy="1163637"/>
            <a:chOff x="2612" y="2177"/>
            <a:chExt cx="1096" cy="733"/>
          </a:xfrm>
        </p:grpSpPr>
        <p:sp>
          <p:nvSpPr>
            <p:cNvPr id="8212" name="Oval 20"/>
            <p:cNvSpPr>
              <a:spLocks noChangeArrowheads="1"/>
            </p:cNvSpPr>
            <p:nvPr/>
          </p:nvSpPr>
          <p:spPr bwMode="auto">
            <a:xfrm>
              <a:off x="2612" y="2566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19</a:t>
              </a:r>
            </a:p>
          </p:txBody>
        </p:sp>
        <p:sp>
          <p:nvSpPr>
            <p:cNvPr id="8213" name="Oval 21"/>
            <p:cNvSpPr>
              <a:spLocks noChangeArrowheads="1"/>
            </p:cNvSpPr>
            <p:nvPr/>
          </p:nvSpPr>
          <p:spPr bwMode="auto">
            <a:xfrm>
              <a:off x="3383" y="257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13</a:t>
              </a:r>
            </a:p>
          </p:txBody>
        </p:sp>
        <p:cxnSp>
          <p:nvCxnSpPr>
            <p:cNvPr id="8214" name="AutoShape 37"/>
            <p:cNvCxnSpPr>
              <a:cxnSpLocks noChangeShapeType="1"/>
              <a:stCxn id="8221" idx="3"/>
              <a:endCxn id="8212" idx="0"/>
            </p:cNvCxnSpPr>
            <p:nvPr/>
          </p:nvCxnSpPr>
          <p:spPr bwMode="auto">
            <a:xfrm flipH="1">
              <a:off x="2775" y="2177"/>
              <a:ext cx="251" cy="38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5" name="AutoShape 38"/>
            <p:cNvCxnSpPr>
              <a:cxnSpLocks noChangeShapeType="1"/>
              <a:stCxn id="8221" idx="5"/>
              <a:endCxn id="8213" idx="0"/>
            </p:cNvCxnSpPr>
            <p:nvPr/>
          </p:nvCxnSpPr>
          <p:spPr bwMode="auto">
            <a:xfrm>
              <a:off x="3255" y="2177"/>
              <a:ext cx="291" cy="39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1195388" y="5010150"/>
            <a:ext cx="1465262" cy="1223963"/>
            <a:chOff x="771" y="2868"/>
            <a:chExt cx="923" cy="771"/>
          </a:xfrm>
        </p:grpSpPr>
        <p:sp>
          <p:nvSpPr>
            <p:cNvPr id="8208" name="Oval 22"/>
            <p:cNvSpPr>
              <a:spLocks noChangeArrowheads="1"/>
            </p:cNvSpPr>
            <p:nvPr/>
          </p:nvSpPr>
          <p:spPr bwMode="auto">
            <a:xfrm>
              <a:off x="771" y="328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12</a:t>
              </a:r>
            </a:p>
          </p:txBody>
        </p:sp>
        <p:sp>
          <p:nvSpPr>
            <p:cNvPr id="8209" name="Oval 23"/>
            <p:cNvSpPr>
              <a:spLocks noChangeArrowheads="1"/>
            </p:cNvSpPr>
            <p:nvPr/>
          </p:nvSpPr>
          <p:spPr bwMode="auto">
            <a:xfrm>
              <a:off x="1369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14</a:t>
              </a:r>
            </a:p>
          </p:txBody>
        </p:sp>
        <p:cxnSp>
          <p:nvCxnSpPr>
            <p:cNvPr id="8210" name="AutoShape 39"/>
            <p:cNvCxnSpPr>
              <a:cxnSpLocks noChangeShapeType="1"/>
              <a:stCxn id="8216" idx="3"/>
              <a:endCxn id="8208" idx="0"/>
            </p:cNvCxnSpPr>
            <p:nvPr/>
          </p:nvCxnSpPr>
          <p:spPr bwMode="auto">
            <a:xfrm flipH="1">
              <a:off x="934" y="2868"/>
              <a:ext cx="217" cy="41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1" name="AutoShape 40"/>
            <p:cNvCxnSpPr>
              <a:cxnSpLocks noChangeShapeType="1"/>
              <a:stCxn id="8216" idx="5"/>
              <a:endCxn id="8209" idx="0"/>
            </p:cNvCxnSpPr>
            <p:nvPr/>
          </p:nvCxnSpPr>
          <p:spPr bwMode="auto">
            <a:xfrm>
              <a:off x="1380" y="2868"/>
              <a:ext cx="152" cy="4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2813050" y="5059363"/>
            <a:ext cx="642938" cy="1174750"/>
            <a:chOff x="1790" y="2899"/>
            <a:chExt cx="405" cy="740"/>
          </a:xfrm>
        </p:grpSpPr>
        <p:sp>
          <p:nvSpPr>
            <p:cNvPr id="8206" name="Oval 24"/>
            <p:cNvSpPr>
              <a:spLocks noChangeArrowheads="1"/>
            </p:cNvSpPr>
            <p:nvPr/>
          </p:nvSpPr>
          <p:spPr bwMode="auto">
            <a:xfrm>
              <a:off x="1790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11</a:t>
              </a:r>
            </a:p>
          </p:txBody>
        </p:sp>
        <p:cxnSp>
          <p:nvCxnSpPr>
            <p:cNvPr id="8207" name="AutoShape 42"/>
            <p:cNvCxnSpPr>
              <a:cxnSpLocks noChangeShapeType="1"/>
              <a:stCxn id="8217" idx="4"/>
              <a:endCxn id="8206" idx="0"/>
            </p:cNvCxnSpPr>
            <p:nvPr/>
          </p:nvCxnSpPr>
          <p:spPr bwMode="auto">
            <a:xfrm flipH="1">
              <a:off x="1953" y="2899"/>
              <a:ext cx="24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3" name="Text Box 49"/>
          <p:cNvSpPr txBox="1">
            <a:spLocks noChangeArrowheads="1"/>
          </p:cNvSpPr>
          <p:nvPr/>
        </p:nvSpPr>
        <p:spPr bwMode="auto">
          <a:xfrm>
            <a:off x="6559550" y="1031875"/>
            <a:ext cx="2112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>
                <a:ea typeface="宋体" charset="-122"/>
              </a:rPr>
              <a:t>Max-heap as an</a:t>
            </a:r>
          </a:p>
          <a:p>
            <a:r>
              <a:rPr lang="en-US" altLang="zh-CN">
                <a:ea typeface="宋体" charset="-122"/>
              </a:rPr>
              <a:t>array.</a:t>
            </a:r>
          </a:p>
        </p:txBody>
      </p:sp>
      <p:sp>
        <p:nvSpPr>
          <p:cNvPr id="410674" name="Text Box 50"/>
          <p:cNvSpPr txBox="1">
            <a:spLocks noChangeArrowheads="1"/>
          </p:cNvSpPr>
          <p:nvPr/>
        </p:nvSpPr>
        <p:spPr bwMode="auto">
          <a:xfrm>
            <a:off x="425450" y="2300288"/>
            <a:ext cx="28146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>
                <a:ea typeface="宋体" charset="-122"/>
              </a:rPr>
              <a:t>Max-heap as a binary</a:t>
            </a:r>
          </a:p>
          <a:p>
            <a:r>
              <a:rPr lang="en-US" altLang="zh-CN">
                <a:ea typeface="宋体" charset="-122"/>
              </a:rPr>
              <a:t>tree.</a:t>
            </a:r>
          </a:p>
        </p:txBody>
      </p:sp>
      <p:sp>
        <p:nvSpPr>
          <p:cNvPr id="410675" name="Text Box 51"/>
          <p:cNvSpPr txBox="1">
            <a:spLocks noChangeArrowheads="1"/>
          </p:cNvSpPr>
          <p:nvPr/>
        </p:nvSpPr>
        <p:spPr bwMode="auto">
          <a:xfrm>
            <a:off x="5202238" y="5467945"/>
            <a:ext cx="35035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="1" u="sng" dirty="0">
                <a:latin typeface="Nunito"/>
                <a:hlinkClick r:id="rId2"/>
              </a:rPr>
              <a:t>Level Order Traversal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. </a:t>
            </a:r>
            <a:endParaRPr lang="en-US" dirty="0"/>
          </a:p>
          <a:p>
            <a:r>
              <a:rPr lang="en-US" altLang="zh-CN" dirty="0">
                <a:ea typeface="宋体" charset="-122"/>
              </a:rPr>
              <a:t>filled from left to right.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40425" y="2619375"/>
            <a:ext cx="2666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It satisfies: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Complete binary tree</a:t>
            </a:r>
          </a:p>
          <a:p>
            <a:pPr marL="285750" indent="-285750">
              <a:buFontTx/>
              <a:buChar char="-"/>
            </a:pPr>
            <a:r>
              <a:rPr lang="en-US" dirty="0"/>
              <a:t>Parent-Child Relation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Max heap 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0425" y="482548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08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0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0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38" grpId="0" animBg="1" autoUpdateAnimBg="0"/>
      <p:bldP spid="410674" grpId="0" autoUpdateAnimBg="0"/>
      <p:bldP spid="410675" grpId="0" autoUpdateAnimBg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</a:t>
            </a:r>
            <a:r>
              <a:rPr lang="en-US" altLang="zh-CN" dirty="0">
                <a:ea typeface="宋体" charset="-122"/>
              </a:rPr>
              <a:t>Characteristics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950" y="533400"/>
            <a:ext cx="4330850" cy="4146293"/>
          </a:xfrm>
        </p:spPr>
      </p:pic>
      <p:sp>
        <p:nvSpPr>
          <p:cNvPr id="6" name="Content Placeholder 5"/>
          <p:cNvSpPr>
            <a:spLocks noGrp="1"/>
          </p:cNvSpPr>
          <p:nvPr>
            <p:ph sz="quarter" idx="2"/>
          </p:nvPr>
        </p:nvSpPr>
        <p:spPr>
          <a:xfrm>
            <a:off x="76200" y="1219200"/>
            <a:ext cx="5068888" cy="31242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 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depth</a:t>
            </a:r>
            <a:r>
              <a:rPr lang="en-US" sz="2400" dirty="0">
                <a:solidFill>
                  <a:schemeClr val="tx1"/>
                </a:solidFill>
              </a:rPr>
              <a:t> of </a:t>
            </a:r>
            <a:r>
              <a:rPr lang="en-US" sz="2400" u="sng" dirty="0">
                <a:solidFill>
                  <a:schemeClr val="tx1"/>
                </a:solidFill>
              </a:rPr>
              <a:t>a node </a:t>
            </a:r>
            <a:r>
              <a:rPr lang="en-US" sz="2400" dirty="0">
                <a:solidFill>
                  <a:schemeClr val="tx1"/>
                </a:solidFill>
              </a:rPr>
              <a:t>is the number of edges from the node to the tree's root node.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root node </a:t>
            </a:r>
            <a:r>
              <a:rPr lang="en-US" dirty="0">
                <a:solidFill>
                  <a:schemeClr val="tx1"/>
                </a:solidFill>
              </a:rPr>
              <a:t>will have a depth of 0.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The 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height</a:t>
            </a:r>
            <a:r>
              <a:rPr lang="en-US" sz="2400" dirty="0">
                <a:solidFill>
                  <a:schemeClr val="tx1"/>
                </a:solidFill>
              </a:rPr>
              <a:t> of </a:t>
            </a:r>
            <a:r>
              <a:rPr lang="en-US" sz="2400" u="sng" dirty="0">
                <a:solidFill>
                  <a:schemeClr val="tx1"/>
                </a:solidFill>
              </a:rPr>
              <a:t>a node </a:t>
            </a:r>
            <a:r>
              <a:rPr lang="en-US" sz="2400" dirty="0">
                <a:solidFill>
                  <a:schemeClr val="tx1"/>
                </a:solidFill>
              </a:rPr>
              <a:t>is the number of edges on the </a:t>
            </a:r>
            <a:r>
              <a:rPr lang="en-US" sz="2400" b="1" i="1" dirty="0">
                <a:solidFill>
                  <a:schemeClr val="tx1"/>
                </a:solidFill>
              </a:rPr>
              <a:t>longest path</a:t>
            </a:r>
            <a:r>
              <a:rPr lang="en-US" sz="2400" dirty="0">
                <a:solidFill>
                  <a:schemeClr val="tx1"/>
                </a:solidFill>
              </a:rPr>
              <a:t> from the node to a leaf.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leaf node </a:t>
            </a:r>
            <a:r>
              <a:rPr lang="en-US" dirty="0">
                <a:solidFill>
                  <a:schemeClr val="tx1"/>
                </a:solidFill>
              </a:rPr>
              <a:t>will have a height of 0.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200" y="5410200"/>
            <a:ext cx="64531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CC0000"/>
                </a:solidFill>
                <a:ea typeface="宋体" charset="-122"/>
              </a:rPr>
              <a:t>Height of a </a:t>
            </a:r>
            <a:r>
              <a:rPr lang="en-US" altLang="zh-CN" sz="2800" b="1" i="1" dirty="0">
                <a:solidFill>
                  <a:schemeClr val="hlink"/>
                </a:solidFill>
                <a:ea typeface="宋体" charset="-122"/>
              </a:rPr>
              <a:t>tree</a:t>
            </a:r>
            <a:r>
              <a:rPr lang="en-US" altLang="zh-CN" sz="2800" dirty="0">
                <a:ea typeface="宋体" charset="-122"/>
              </a:rPr>
              <a:t>: the height of the </a:t>
            </a:r>
            <a:r>
              <a:rPr lang="en-US" altLang="zh-CN" sz="2800" b="1" dirty="0">
                <a:ea typeface="宋体" charset="-122"/>
              </a:rPr>
              <a:t>root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8883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77383" y="1752600"/>
            <a:ext cx="7828417" cy="1905000"/>
            <a:chOff x="477383" y="2819400"/>
            <a:chExt cx="7828417" cy="1905000"/>
          </a:xfrm>
        </p:grpSpPr>
        <p:sp>
          <p:nvSpPr>
            <p:cNvPr id="30" name="Line 4"/>
            <p:cNvSpPr>
              <a:spLocks noChangeAspect="1" noChangeShapeType="1"/>
            </p:cNvSpPr>
            <p:nvPr/>
          </p:nvSpPr>
          <p:spPr bwMode="auto">
            <a:xfrm flipV="1">
              <a:off x="4666796" y="3713162"/>
              <a:ext cx="511175" cy="487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5"/>
            <p:cNvSpPr>
              <a:spLocks noChangeAspect="1" noChangeShapeType="1"/>
            </p:cNvSpPr>
            <p:nvPr/>
          </p:nvSpPr>
          <p:spPr bwMode="auto">
            <a:xfrm rot="16200000" flipV="1">
              <a:off x="3235664" y="4102894"/>
              <a:ext cx="511175" cy="487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6"/>
            <p:cNvSpPr>
              <a:spLocks noChangeAspect="1" noChangeShapeType="1"/>
            </p:cNvSpPr>
            <p:nvPr/>
          </p:nvSpPr>
          <p:spPr bwMode="auto">
            <a:xfrm rot="16200000" flipV="1">
              <a:off x="3777002" y="3706018"/>
              <a:ext cx="511175" cy="487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7"/>
            <p:cNvSpPr>
              <a:spLocks noChangeAspect="1" noChangeShapeType="1"/>
            </p:cNvSpPr>
            <p:nvPr/>
          </p:nvSpPr>
          <p:spPr bwMode="auto">
            <a:xfrm rot="16200000" flipV="1">
              <a:off x="4406445" y="2987675"/>
              <a:ext cx="1279525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8"/>
            <p:cNvSpPr>
              <a:spLocks noChangeShapeType="1"/>
            </p:cNvSpPr>
            <p:nvPr/>
          </p:nvSpPr>
          <p:spPr bwMode="auto">
            <a:xfrm flipV="1">
              <a:off x="2960233" y="3032125"/>
              <a:ext cx="1600200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Oval 9"/>
            <p:cNvSpPr>
              <a:spLocks noChangeArrowheads="1"/>
            </p:cNvSpPr>
            <p:nvPr/>
          </p:nvSpPr>
          <p:spPr bwMode="auto">
            <a:xfrm>
              <a:off x="3188833" y="4006850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36" name="Oval 10"/>
            <p:cNvSpPr>
              <a:spLocks noChangeArrowheads="1"/>
            </p:cNvSpPr>
            <p:nvPr/>
          </p:nvSpPr>
          <p:spPr bwMode="auto">
            <a:xfrm>
              <a:off x="2791958" y="4403725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37" name="Oval 11"/>
            <p:cNvSpPr>
              <a:spLocks noChangeArrowheads="1"/>
            </p:cNvSpPr>
            <p:nvPr/>
          </p:nvSpPr>
          <p:spPr bwMode="auto">
            <a:xfrm>
              <a:off x="3493633" y="4403725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38" name="Oval 12"/>
            <p:cNvSpPr>
              <a:spLocks noChangeArrowheads="1"/>
            </p:cNvSpPr>
            <p:nvPr/>
          </p:nvSpPr>
          <p:spPr bwMode="auto">
            <a:xfrm>
              <a:off x="3646033" y="3565525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39" name="Oval 13"/>
            <p:cNvSpPr>
              <a:spLocks noChangeArrowheads="1"/>
            </p:cNvSpPr>
            <p:nvPr/>
          </p:nvSpPr>
          <p:spPr bwMode="auto">
            <a:xfrm>
              <a:off x="4103233" y="4006850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0" name="Oval 14"/>
            <p:cNvSpPr>
              <a:spLocks noChangeArrowheads="1"/>
            </p:cNvSpPr>
            <p:nvPr/>
          </p:nvSpPr>
          <p:spPr bwMode="auto">
            <a:xfrm>
              <a:off x="4369933" y="2879725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1" name="Oval 15"/>
            <p:cNvSpPr>
              <a:spLocks noChangeArrowheads="1"/>
            </p:cNvSpPr>
            <p:nvPr/>
          </p:nvSpPr>
          <p:spPr bwMode="auto">
            <a:xfrm>
              <a:off x="5014458" y="3565525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42" name="Oval 16"/>
            <p:cNvSpPr>
              <a:spLocks noChangeArrowheads="1"/>
            </p:cNvSpPr>
            <p:nvPr/>
          </p:nvSpPr>
          <p:spPr bwMode="auto">
            <a:xfrm>
              <a:off x="4500108" y="4006850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43" name="Oval 17"/>
            <p:cNvSpPr>
              <a:spLocks noChangeArrowheads="1"/>
            </p:cNvSpPr>
            <p:nvPr/>
          </p:nvSpPr>
          <p:spPr bwMode="auto">
            <a:xfrm>
              <a:off x="5414508" y="4006850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44" name="Text Box 18"/>
            <p:cNvSpPr txBox="1">
              <a:spLocks noChangeArrowheads="1"/>
            </p:cNvSpPr>
            <p:nvPr/>
          </p:nvSpPr>
          <p:spPr bwMode="auto">
            <a:xfrm>
              <a:off x="5430383" y="2819400"/>
              <a:ext cx="19431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Height of root = 3</a:t>
              </a:r>
            </a:p>
          </p:txBody>
        </p:sp>
        <p:sp>
          <p:nvSpPr>
            <p:cNvPr id="45" name="Line 19"/>
            <p:cNvSpPr>
              <a:spLocks noChangeShapeType="1"/>
            </p:cNvSpPr>
            <p:nvPr/>
          </p:nvSpPr>
          <p:spPr bwMode="auto">
            <a:xfrm flipH="1">
              <a:off x="4820783" y="30480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Box 20"/>
            <p:cNvSpPr txBox="1">
              <a:spLocks noChangeArrowheads="1"/>
            </p:cNvSpPr>
            <p:nvPr/>
          </p:nvSpPr>
          <p:spPr bwMode="auto">
            <a:xfrm>
              <a:off x="477383" y="3900487"/>
              <a:ext cx="17653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Height of (2)= 1</a:t>
              </a:r>
            </a:p>
          </p:txBody>
        </p:sp>
        <p:sp>
          <p:nvSpPr>
            <p:cNvPr id="47" name="Line 21"/>
            <p:cNvSpPr>
              <a:spLocks noChangeShapeType="1"/>
            </p:cNvSpPr>
            <p:nvPr/>
          </p:nvSpPr>
          <p:spPr bwMode="auto">
            <a:xfrm>
              <a:off x="2458583" y="412908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Box 22"/>
            <p:cNvSpPr txBox="1">
              <a:spLocks noChangeArrowheads="1"/>
            </p:cNvSpPr>
            <p:nvPr/>
          </p:nvSpPr>
          <p:spPr bwMode="auto">
            <a:xfrm>
              <a:off x="6486071" y="3978275"/>
              <a:ext cx="181972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depth of (10)= 2</a:t>
              </a:r>
            </a:p>
          </p:txBody>
        </p:sp>
        <p:sp>
          <p:nvSpPr>
            <p:cNvPr id="49" name="Line 23"/>
            <p:cNvSpPr>
              <a:spLocks noChangeShapeType="1"/>
            </p:cNvSpPr>
            <p:nvPr/>
          </p:nvSpPr>
          <p:spPr bwMode="auto">
            <a:xfrm flipH="1">
              <a:off x="5803446" y="416718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8497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Other Heap Characteristics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65237"/>
            <a:ext cx="8382000" cy="4373563"/>
          </a:xfrm>
        </p:spPr>
        <p:txBody>
          <a:bodyPr>
            <a:noAutofit/>
          </a:bodyPr>
          <a:lstStyle/>
          <a:p>
            <a:r>
              <a:rPr lang="en-US" altLang="zh-CN" sz="2800" b="1" u="sng" dirty="0">
                <a:solidFill>
                  <a:schemeClr val="tx1"/>
                </a:solidFill>
                <a:ea typeface="宋体" charset="-122"/>
              </a:rPr>
              <a:t>Heaps have some other characteristics as a binary tree:</a:t>
            </a:r>
          </a:p>
          <a:p>
            <a:pPr marL="514350" indent="-514350">
              <a:buAutoNum type="arabicParenR"/>
            </a:pP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At i</a:t>
            </a:r>
            <a:r>
              <a:rPr lang="en-US" altLang="zh-CN" sz="2800" b="1" baseline="30000" dirty="0">
                <a:solidFill>
                  <a:schemeClr val="tx1"/>
                </a:solidFill>
                <a:ea typeface="宋体" charset="-122"/>
              </a:rPr>
              <a:t>th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 level (depth)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, there are at most 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800" b="1" baseline="30000" dirty="0">
                <a:solidFill>
                  <a:schemeClr val="tx1"/>
                </a:solidFill>
                <a:ea typeface="宋体" charset="-122"/>
              </a:rPr>
              <a:t>i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nodes.</a:t>
            </a:r>
          </a:p>
          <a:p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	Ex: At level 3, there are at most 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800" b="1" baseline="30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 =8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nodes </a:t>
            </a:r>
          </a:p>
          <a:p>
            <a:endParaRPr lang="en-US" altLang="zh-CN" sz="2800" dirty="0">
              <a:solidFill>
                <a:schemeClr val="tx1"/>
              </a:solidFill>
              <a:ea typeface="宋体" charset="-122"/>
            </a:endParaRPr>
          </a:p>
          <a:p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2)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 A binary tree at depth 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d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has at most 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2 </a:t>
            </a:r>
            <a:r>
              <a:rPr lang="en-US" altLang="zh-CN" sz="2800" b="1" baseline="30000" dirty="0">
                <a:solidFill>
                  <a:schemeClr val="tx1"/>
                </a:solidFill>
                <a:ea typeface="宋体" charset="-122"/>
              </a:rPr>
              <a:t>d+1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 -1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nodes.</a:t>
            </a:r>
          </a:p>
          <a:p>
            <a:endParaRPr lang="en-US" altLang="zh-CN" sz="2800" dirty="0">
              <a:solidFill>
                <a:schemeClr val="tx1"/>
              </a:solidFill>
              <a:ea typeface="宋体" charset="-122"/>
            </a:endParaRPr>
          </a:p>
          <a:p>
            <a:endParaRPr lang="en-US" altLang="zh-CN" sz="2800" dirty="0">
              <a:solidFill>
                <a:schemeClr val="tx1"/>
              </a:solidFill>
              <a:ea typeface="宋体" charset="-122"/>
            </a:endParaRPr>
          </a:p>
          <a:p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	Ex: At depth 3, there are at most 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800" b="1" baseline="30000" dirty="0">
                <a:solidFill>
                  <a:schemeClr val="tx1"/>
                </a:solidFill>
                <a:ea typeface="宋体" charset="-122"/>
              </a:rPr>
              <a:t>4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 -1 =15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nodes </a:t>
            </a:r>
          </a:p>
          <a:p>
            <a:endParaRPr lang="en-US" altLang="zh-CN" sz="2800" dirty="0">
              <a:solidFill>
                <a:schemeClr val="tx1"/>
              </a:solidFill>
              <a:ea typeface="宋体" charset="-122"/>
            </a:endParaRPr>
          </a:p>
        </p:txBody>
      </p:sp>
      <p:graphicFrame>
        <p:nvGraphicFramePr>
          <p:cNvPr id="2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59558"/>
              </p:ext>
            </p:extLst>
          </p:nvPr>
        </p:nvGraphicFramePr>
        <p:xfrm>
          <a:off x="2286000" y="4114800"/>
          <a:ext cx="343058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444240" progId="Equation.DSMT4">
                  <p:embed/>
                </p:oleObj>
              </mc:Choice>
              <mc:Fallback>
                <p:oleObj name="Equation" r:id="rId2" imgW="1752480" imgH="444240" progId="Equation.DSMT4">
                  <p:embed/>
                  <p:pic>
                    <p:nvPicPr>
                      <p:cNvPr id="2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114800"/>
                        <a:ext cx="343058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9985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Other Heap Characteristics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65237"/>
            <a:ext cx="8382000" cy="4373563"/>
          </a:xfrm>
        </p:spPr>
        <p:txBody>
          <a:bodyPr>
            <a:noAutofit/>
          </a:bodyPr>
          <a:lstStyle/>
          <a:p>
            <a:r>
              <a:rPr lang="en-US" altLang="zh-CN" sz="2800" b="1" u="sng" dirty="0">
                <a:solidFill>
                  <a:schemeClr val="tx1"/>
                </a:solidFill>
                <a:ea typeface="宋体" charset="-122"/>
              </a:rPr>
              <a:t>Heaps have some other characteristics as a binary tree:</a:t>
            </a:r>
          </a:p>
          <a:p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3)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 A binary tree with </a:t>
            </a:r>
            <a:r>
              <a:rPr lang="en-US" altLang="zh-CN" sz="2800" b="1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 nodes has depth at least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/>
              </a:rPr>
              <a:t></a:t>
            </a:r>
            <a:r>
              <a:rPr lang="en-US" altLang="zh-CN" sz="2800" dirty="0" err="1">
                <a:solidFill>
                  <a:schemeClr val="tx1"/>
                </a:solidFill>
                <a:ea typeface="宋体" charset="-122"/>
                <a:sym typeface="Symbol"/>
              </a:rPr>
              <a:t>lg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/>
              </a:rPr>
              <a:t> n</a:t>
            </a:r>
            <a:endParaRPr lang="en-US" altLang="zh-CN" sz="2800" dirty="0">
              <a:solidFill>
                <a:schemeClr val="tx1"/>
              </a:solidFill>
              <a:ea typeface="宋体" charset="-122"/>
            </a:endParaRPr>
          </a:p>
          <a:p>
            <a:r>
              <a:rPr lang="en-US" altLang="zh-CN" sz="2800" b="1" i="1" dirty="0">
                <a:solidFill>
                  <a:schemeClr val="tx1"/>
                </a:solidFill>
                <a:ea typeface="宋体" charset="-122"/>
              </a:rPr>
              <a:t>4)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Height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 of tree = </a:t>
            </a:r>
            <a:r>
              <a:rPr lang="en-US" altLang="zh-CN" sz="36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</a:t>
            </a:r>
            <a:r>
              <a:rPr lang="en-US" altLang="zh-CN" sz="2800" dirty="0" err="1">
                <a:solidFill>
                  <a:srgbClr val="CC0000"/>
                </a:solidFill>
                <a:ea typeface="宋体" charset="-122"/>
              </a:rPr>
              <a:t>lg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 </a:t>
            </a:r>
            <a:r>
              <a:rPr lang="en-US" altLang="zh-CN" sz="2800" i="1" dirty="0">
                <a:solidFill>
                  <a:srgbClr val="CC0000"/>
                </a:solidFill>
                <a:ea typeface="宋体" charset="-122"/>
              </a:rPr>
              <a:t>n</a:t>
            </a:r>
            <a:r>
              <a:rPr lang="en-US" altLang="zh-CN" sz="36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 </a:t>
            </a:r>
            <a:r>
              <a:rPr lang="en-US" altLang="zh-CN" sz="3600" dirty="0">
                <a:solidFill>
                  <a:srgbClr val="CC0000"/>
                </a:solidFill>
                <a:ea typeface="宋体" charset="-122"/>
                <a:sym typeface="Wingdings" panose="05000000000000000000" pitchFamily="2" charset="2"/>
              </a:rPr>
              <a:t>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Height of a heap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= </a:t>
            </a:r>
            <a:r>
              <a:rPr lang="en-US" altLang="zh-CN" sz="36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</a:t>
            </a:r>
            <a:r>
              <a:rPr lang="en-US" altLang="zh-CN" sz="2800" dirty="0" err="1">
                <a:solidFill>
                  <a:srgbClr val="CC0000"/>
                </a:solidFill>
                <a:ea typeface="宋体" charset="-122"/>
              </a:rPr>
              <a:t>lg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 </a:t>
            </a:r>
            <a:r>
              <a:rPr lang="en-US" altLang="zh-CN" sz="2800" i="1" dirty="0">
                <a:solidFill>
                  <a:srgbClr val="CC0000"/>
                </a:solidFill>
                <a:ea typeface="宋体" charset="-122"/>
              </a:rPr>
              <a:t>n</a:t>
            </a:r>
            <a:r>
              <a:rPr lang="en-US" altLang="zh-CN" sz="36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</a:t>
            </a:r>
          </a:p>
          <a:p>
            <a:r>
              <a:rPr lang="en-US" altLang="zh-CN" sz="28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5)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No. of 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leaves    </a:t>
            </a:r>
            <a:r>
              <a:rPr lang="en-US" altLang="zh-CN" sz="2800" dirty="0">
                <a:ea typeface="宋体" charset="-122"/>
                <a:sym typeface="Symbol" pitchFamily="18" charset="2"/>
              </a:rPr>
              <a:t>= 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</a:t>
            </a:r>
            <a:r>
              <a:rPr lang="en-US" altLang="zh-CN" sz="2800" i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/2</a:t>
            </a:r>
          </a:p>
          <a:p>
            <a:r>
              <a:rPr lang="en-US" altLang="zh-CN" sz="28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6)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No. of nodes of height 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h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  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</a:t>
            </a:r>
            <a:r>
              <a:rPr lang="en-US" altLang="zh-CN" sz="2800" i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/2</a:t>
            </a:r>
            <a:r>
              <a:rPr lang="en-US" altLang="zh-CN" sz="2800" i="1" baseline="300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h</a:t>
            </a:r>
            <a:r>
              <a:rPr lang="en-US" altLang="zh-CN" sz="2800" baseline="300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+1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</a:t>
            </a:r>
          </a:p>
        </p:txBody>
      </p:sp>
    </p:spTree>
    <p:extLst>
      <p:ext uri="{BB962C8B-B14F-4D97-AF65-F5344CB8AC3E}">
        <p14:creationId xmlns:p14="http://schemas.microsoft.com/office/powerpoint/2010/main" val="1405017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Heap SORT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58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rgbClr val="FF0000"/>
                </a:solidFill>
                <a:ea typeface="宋体" charset="-122"/>
              </a:rPr>
              <a:t>Example 1:</a:t>
            </a:r>
            <a:r>
              <a:rPr lang="en-US" altLang="zh-CN" dirty="0">
                <a:ea typeface="宋体" charset="-122"/>
              </a:rPr>
              <a:t> Heap Sort</a:t>
            </a:r>
            <a:endParaRPr lang="en-US" altLang="zh-CN" i="1" dirty="0">
              <a:ea typeface="宋体" charset="-122"/>
            </a:endParaRPr>
          </a:p>
        </p:txBody>
      </p:sp>
      <p:sp>
        <p:nvSpPr>
          <p:cNvPr id="18436" name="Text Box 15"/>
          <p:cNvSpPr txBox="1">
            <a:spLocks noChangeArrowheads="1"/>
          </p:cNvSpPr>
          <p:nvPr/>
        </p:nvSpPr>
        <p:spPr bwMode="auto">
          <a:xfrm>
            <a:off x="654050" y="927100"/>
            <a:ext cx="1698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dirty="0">
                <a:ea typeface="宋体" charset="-122"/>
              </a:rPr>
              <a:t>Input Array:</a:t>
            </a:r>
          </a:p>
        </p:txBody>
      </p:sp>
      <p:sp>
        <p:nvSpPr>
          <p:cNvPr id="419856" name="Oval 16"/>
          <p:cNvSpPr>
            <a:spLocks noChangeArrowheads="1"/>
          </p:cNvSpPr>
          <p:nvPr/>
        </p:nvSpPr>
        <p:spPr bwMode="auto">
          <a:xfrm>
            <a:off x="3659188" y="2668588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24</a:t>
            </a: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2543175" y="3122613"/>
            <a:ext cx="2671763" cy="868362"/>
            <a:chOff x="1620" y="1679"/>
            <a:chExt cx="1683" cy="547"/>
          </a:xfrm>
        </p:grpSpPr>
        <p:sp>
          <p:nvSpPr>
            <p:cNvPr id="18458" name="Oval 18"/>
            <p:cNvSpPr>
              <a:spLocks noChangeArrowheads="1"/>
            </p:cNvSpPr>
            <p:nvPr/>
          </p:nvSpPr>
          <p:spPr bwMode="auto">
            <a:xfrm>
              <a:off x="1620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21</a:t>
              </a:r>
            </a:p>
          </p:txBody>
        </p:sp>
        <p:sp>
          <p:nvSpPr>
            <p:cNvPr id="18459" name="Oval 19"/>
            <p:cNvSpPr>
              <a:spLocks noChangeArrowheads="1"/>
            </p:cNvSpPr>
            <p:nvPr/>
          </p:nvSpPr>
          <p:spPr bwMode="auto">
            <a:xfrm>
              <a:off x="2978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23</a:t>
              </a:r>
            </a:p>
          </p:txBody>
        </p:sp>
        <p:cxnSp>
          <p:nvCxnSpPr>
            <p:cNvPr id="18460" name="AutoShape 20"/>
            <p:cNvCxnSpPr>
              <a:cxnSpLocks noChangeShapeType="1"/>
              <a:stCxn id="419856" idx="5"/>
              <a:endCxn id="18459" idx="0"/>
            </p:cNvCxnSpPr>
            <p:nvPr/>
          </p:nvCxnSpPr>
          <p:spPr bwMode="auto">
            <a:xfrm>
              <a:off x="2600" y="1679"/>
              <a:ext cx="541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1" name="AutoShape 21"/>
            <p:cNvCxnSpPr>
              <a:cxnSpLocks noChangeShapeType="1"/>
              <a:stCxn id="419856" idx="3"/>
              <a:endCxn id="18458" idx="0"/>
            </p:cNvCxnSpPr>
            <p:nvPr/>
          </p:nvCxnSpPr>
          <p:spPr bwMode="auto">
            <a:xfrm flipH="1">
              <a:off x="1783" y="1679"/>
              <a:ext cx="588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722438" y="3913188"/>
            <a:ext cx="1990725" cy="1174750"/>
            <a:chOff x="1103" y="2177"/>
            <a:chExt cx="1254" cy="740"/>
          </a:xfrm>
        </p:grpSpPr>
        <p:sp>
          <p:nvSpPr>
            <p:cNvPr id="18454" name="Oval 23"/>
            <p:cNvSpPr>
              <a:spLocks noChangeArrowheads="1"/>
            </p:cNvSpPr>
            <p:nvPr/>
          </p:nvSpPr>
          <p:spPr bwMode="auto">
            <a:xfrm>
              <a:off x="1103" y="2582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22</a:t>
              </a:r>
            </a:p>
          </p:txBody>
        </p:sp>
        <p:sp>
          <p:nvSpPr>
            <p:cNvPr id="18455" name="Oval 24"/>
            <p:cNvSpPr>
              <a:spLocks noChangeArrowheads="1"/>
            </p:cNvSpPr>
            <p:nvPr/>
          </p:nvSpPr>
          <p:spPr bwMode="auto">
            <a:xfrm>
              <a:off x="2032" y="256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36</a:t>
              </a:r>
            </a:p>
          </p:txBody>
        </p:sp>
        <p:cxnSp>
          <p:nvCxnSpPr>
            <p:cNvPr id="18456" name="AutoShape 25"/>
            <p:cNvCxnSpPr>
              <a:cxnSpLocks noChangeShapeType="1"/>
              <a:stCxn id="18458" idx="3"/>
              <a:endCxn id="18454" idx="0"/>
            </p:cNvCxnSpPr>
            <p:nvPr/>
          </p:nvCxnSpPr>
          <p:spPr bwMode="auto">
            <a:xfrm flipH="1">
              <a:off x="1266" y="2177"/>
              <a:ext cx="40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7" name="AutoShape 26"/>
            <p:cNvCxnSpPr>
              <a:cxnSpLocks noChangeShapeType="1"/>
              <a:stCxn id="18458" idx="5"/>
              <a:endCxn id="18455" idx="0"/>
            </p:cNvCxnSpPr>
            <p:nvPr/>
          </p:nvCxnSpPr>
          <p:spPr bwMode="auto">
            <a:xfrm>
              <a:off x="1897" y="2177"/>
              <a:ext cx="298" cy="3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4117975" y="3913188"/>
            <a:ext cx="1739900" cy="1163637"/>
            <a:chOff x="2612" y="2177"/>
            <a:chExt cx="1096" cy="733"/>
          </a:xfrm>
        </p:grpSpPr>
        <p:sp>
          <p:nvSpPr>
            <p:cNvPr id="18450" name="Oval 28"/>
            <p:cNvSpPr>
              <a:spLocks noChangeArrowheads="1"/>
            </p:cNvSpPr>
            <p:nvPr/>
          </p:nvSpPr>
          <p:spPr bwMode="auto">
            <a:xfrm>
              <a:off x="2612" y="2566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29</a:t>
              </a:r>
            </a:p>
          </p:txBody>
        </p:sp>
        <p:sp>
          <p:nvSpPr>
            <p:cNvPr id="18451" name="Oval 29"/>
            <p:cNvSpPr>
              <a:spLocks noChangeArrowheads="1"/>
            </p:cNvSpPr>
            <p:nvPr/>
          </p:nvSpPr>
          <p:spPr bwMode="auto">
            <a:xfrm>
              <a:off x="3383" y="257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30</a:t>
              </a:r>
            </a:p>
          </p:txBody>
        </p:sp>
        <p:cxnSp>
          <p:nvCxnSpPr>
            <p:cNvPr id="18452" name="AutoShape 30"/>
            <p:cNvCxnSpPr>
              <a:cxnSpLocks noChangeShapeType="1"/>
              <a:stCxn id="18459" idx="3"/>
              <a:endCxn id="18450" idx="0"/>
            </p:cNvCxnSpPr>
            <p:nvPr/>
          </p:nvCxnSpPr>
          <p:spPr bwMode="auto">
            <a:xfrm flipH="1">
              <a:off x="2775" y="2177"/>
              <a:ext cx="251" cy="38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3" name="AutoShape 31"/>
            <p:cNvCxnSpPr>
              <a:cxnSpLocks noChangeShapeType="1"/>
              <a:stCxn id="18459" idx="5"/>
              <a:endCxn id="18451" idx="0"/>
            </p:cNvCxnSpPr>
            <p:nvPr/>
          </p:nvCxnSpPr>
          <p:spPr bwMode="auto">
            <a:xfrm>
              <a:off x="3255" y="2177"/>
              <a:ext cx="291" cy="39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1195388" y="5010150"/>
            <a:ext cx="1465262" cy="1223963"/>
            <a:chOff x="771" y="2868"/>
            <a:chExt cx="923" cy="771"/>
          </a:xfrm>
        </p:grpSpPr>
        <p:sp>
          <p:nvSpPr>
            <p:cNvPr id="18446" name="Oval 33"/>
            <p:cNvSpPr>
              <a:spLocks noChangeArrowheads="1"/>
            </p:cNvSpPr>
            <p:nvPr/>
          </p:nvSpPr>
          <p:spPr bwMode="auto">
            <a:xfrm>
              <a:off x="771" y="328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34</a:t>
              </a:r>
            </a:p>
          </p:txBody>
        </p:sp>
        <p:sp>
          <p:nvSpPr>
            <p:cNvPr id="18447" name="Oval 34"/>
            <p:cNvSpPr>
              <a:spLocks noChangeArrowheads="1"/>
            </p:cNvSpPr>
            <p:nvPr/>
          </p:nvSpPr>
          <p:spPr bwMode="auto">
            <a:xfrm>
              <a:off x="1369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28</a:t>
              </a:r>
            </a:p>
          </p:txBody>
        </p:sp>
        <p:cxnSp>
          <p:nvCxnSpPr>
            <p:cNvPr id="18448" name="AutoShape 35"/>
            <p:cNvCxnSpPr>
              <a:cxnSpLocks noChangeShapeType="1"/>
              <a:stCxn id="18454" idx="3"/>
              <a:endCxn id="18446" idx="0"/>
            </p:cNvCxnSpPr>
            <p:nvPr/>
          </p:nvCxnSpPr>
          <p:spPr bwMode="auto">
            <a:xfrm flipH="1">
              <a:off x="934" y="2868"/>
              <a:ext cx="217" cy="41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49" name="AutoShape 36"/>
            <p:cNvCxnSpPr>
              <a:cxnSpLocks noChangeShapeType="1"/>
              <a:stCxn id="18454" idx="5"/>
              <a:endCxn id="18447" idx="0"/>
            </p:cNvCxnSpPr>
            <p:nvPr/>
          </p:nvCxnSpPr>
          <p:spPr bwMode="auto">
            <a:xfrm>
              <a:off x="1380" y="2868"/>
              <a:ext cx="152" cy="4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2813050" y="5059363"/>
            <a:ext cx="642938" cy="1174750"/>
            <a:chOff x="1790" y="2899"/>
            <a:chExt cx="405" cy="740"/>
          </a:xfrm>
        </p:grpSpPr>
        <p:sp>
          <p:nvSpPr>
            <p:cNvPr id="18444" name="Oval 38"/>
            <p:cNvSpPr>
              <a:spLocks noChangeArrowheads="1"/>
            </p:cNvSpPr>
            <p:nvPr/>
          </p:nvSpPr>
          <p:spPr bwMode="auto">
            <a:xfrm>
              <a:off x="1790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ea typeface="宋体" charset="-122"/>
                </a:rPr>
                <a:t>27</a:t>
              </a:r>
            </a:p>
          </p:txBody>
        </p:sp>
        <p:cxnSp>
          <p:nvCxnSpPr>
            <p:cNvPr id="18445" name="AutoShape 39"/>
            <p:cNvCxnSpPr>
              <a:cxnSpLocks noChangeShapeType="1"/>
              <a:stCxn id="18455" idx="4"/>
              <a:endCxn id="18444" idx="0"/>
            </p:cNvCxnSpPr>
            <p:nvPr/>
          </p:nvCxnSpPr>
          <p:spPr bwMode="auto">
            <a:xfrm flipH="1">
              <a:off x="1953" y="2899"/>
              <a:ext cx="24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443" name="Text Box 40"/>
          <p:cNvSpPr txBox="1">
            <a:spLocks noChangeArrowheads="1"/>
          </p:cNvSpPr>
          <p:nvPr/>
        </p:nvSpPr>
        <p:spPr bwMode="auto">
          <a:xfrm>
            <a:off x="695325" y="2459038"/>
            <a:ext cx="20714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dirty="0">
                <a:ea typeface="宋体" charset="-122"/>
              </a:rPr>
              <a:t>Initial Heap:</a:t>
            </a:r>
          </a:p>
          <a:p>
            <a:r>
              <a:rPr lang="en-US" altLang="zh-CN" dirty="0">
                <a:ea typeface="宋体" charset="-122"/>
              </a:rPr>
              <a:t>(</a:t>
            </a:r>
            <a:r>
              <a:rPr lang="en-US" altLang="zh-CN" u="sng" dirty="0">
                <a:solidFill>
                  <a:srgbClr val="FF0000"/>
                </a:solidFill>
                <a:ea typeface="宋体" charset="-122"/>
              </a:rPr>
              <a:t>not</a:t>
            </a:r>
            <a:r>
              <a:rPr lang="en-US" altLang="zh-CN" i="1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max-heap)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195388" y="1484411"/>
            <a:ext cx="5146497" cy="804665"/>
            <a:chOff x="3637756" y="968375"/>
            <a:chExt cx="5146497" cy="804665"/>
          </a:xfrm>
        </p:grpSpPr>
        <p:grpSp>
          <p:nvGrpSpPr>
            <p:cNvPr id="41" name="Group 4"/>
            <p:cNvGrpSpPr>
              <a:grpSpLocks/>
            </p:cNvGrpSpPr>
            <p:nvPr/>
          </p:nvGrpSpPr>
          <p:grpSpPr bwMode="auto">
            <a:xfrm>
              <a:off x="3637756" y="968375"/>
              <a:ext cx="5121275" cy="469900"/>
              <a:chOff x="444" y="668"/>
              <a:chExt cx="3226" cy="296"/>
            </a:xfrm>
          </p:grpSpPr>
          <p:sp>
            <p:nvSpPr>
              <p:cNvPr id="43" name="Text Box 5"/>
              <p:cNvSpPr txBox="1">
                <a:spLocks noChangeArrowheads="1"/>
              </p:cNvSpPr>
              <p:nvPr/>
            </p:nvSpPr>
            <p:spPr bwMode="auto">
              <a:xfrm>
                <a:off x="444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24</a:t>
                </a:r>
              </a:p>
            </p:txBody>
          </p:sp>
          <p:sp>
            <p:nvSpPr>
              <p:cNvPr id="44" name="Text Box 6"/>
              <p:cNvSpPr txBox="1">
                <a:spLocks noChangeArrowheads="1"/>
              </p:cNvSpPr>
              <p:nvPr/>
            </p:nvSpPr>
            <p:spPr bwMode="auto">
              <a:xfrm>
                <a:off x="770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21</a:t>
                </a:r>
              </a:p>
            </p:txBody>
          </p:sp>
          <p:sp>
            <p:nvSpPr>
              <p:cNvPr id="45" name="Text Box 7"/>
              <p:cNvSpPr txBox="1">
                <a:spLocks noChangeArrowheads="1"/>
              </p:cNvSpPr>
              <p:nvPr/>
            </p:nvSpPr>
            <p:spPr bwMode="auto">
              <a:xfrm>
                <a:off x="1096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23</a:t>
                </a:r>
              </a:p>
            </p:txBody>
          </p:sp>
          <p:sp>
            <p:nvSpPr>
              <p:cNvPr id="46" name="Text Box 8"/>
              <p:cNvSpPr txBox="1">
                <a:spLocks noChangeArrowheads="1"/>
              </p:cNvSpPr>
              <p:nvPr/>
            </p:nvSpPr>
            <p:spPr bwMode="auto">
              <a:xfrm>
                <a:off x="1423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22</a:t>
                </a:r>
              </a:p>
            </p:txBody>
          </p:sp>
          <p:sp>
            <p:nvSpPr>
              <p:cNvPr id="47" name="Text Box 9"/>
              <p:cNvSpPr txBox="1">
                <a:spLocks noChangeArrowheads="1"/>
              </p:cNvSpPr>
              <p:nvPr/>
            </p:nvSpPr>
            <p:spPr bwMode="auto">
              <a:xfrm>
                <a:off x="1749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36</a:t>
                </a:r>
              </a:p>
            </p:txBody>
          </p:sp>
          <p:sp>
            <p:nvSpPr>
              <p:cNvPr id="48" name="Text Box 10"/>
              <p:cNvSpPr txBox="1">
                <a:spLocks noChangeArrowheads="1"/>
              </p:cNvSpPr>
              <p:nvPr/>
            </p:nvSpPr>
            <p:spPr bwMode="auto">
              <a:xfrm>
                <a:off x="2076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29</a:t>
                </a:r>
              </a:p>
            </p:txBody>
          </p:sp>
          <p:sp>
            <p:nvSpPr>
              <p:cNvPr id="49" name="Text Box 11"/>
              <p:cNvSpPr txBox="1">
                <a:spLocks noChangeArrowheads="1"/>
              </p:cNvSpPr>
              <p:nvPr/>
            </p:nvSpPr>
            <p:spPr bwMode="auto">
              <a:xfrm>
                <a:off x="2383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30</a:t>
                </a:r>
              </a:p>
            </p:txBody>
          </p:sp>
          <p:sp>
            <p:nvSpPr>
              <p:cNvPr id="50" name="Text Box 12"/>
              <p:cNvSpPr txBox="1">
                <a:spLocks noChangeArrowheads="1"/>
              </p:cNvSpPr>
              <p:nvPr/>
            </p:nvSpPr>
            <p:spPr bwMode="auto">
              <a:xfrm>
                <a:off x="2710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34</a:t>
                </a:r>
              </a:p>
            </p:txBody>
          </p:sp>
          <p:sp>
            <p:nvSpPr>
              <p:cNvPr id="51" name="Text Box 13"/>
              <p:cNvSpPr txBox="1">
                <a:spLocks noChangeArrowheads="1"/>
              </p:cNvSpPr>
              <p:nvPr/>
            </p:nvSpPr>
            <p:spPr bwMode="auto">
              <a:xfrm>
                <a:off x="3027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28</a:t>
                </a:r>
              </a:p>
            </p:txBody>
          </p:sp>
          <p:sp>
            <p:nvSpPr>
              <p:cNvPr id="52" name="Text Box 14"/>
              <p:cNvSpPr txBox="1">
                <a:spLocks noChangeArrowheads="1"/>
              </p:cNvSpPr>
              <p:nvPr/>
            </p:nvSpPr>
            <p:spPr bwMode="auto">
              <a:xfrm>
                <a:off x="3354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27</a:t>
                </a:r>
              </a:p>
            </p:txBody>
          </p:sp>
        </p:grpSp>
        <p:sp>
          <p:nvSpPr>
            <p:cNvPr id="42" name="TextBox 41"/>
            <p:cNvSpPr txBox="1"/>
            <p:nvPr/>
          </p:nvSpPr>
          <p:spPr>
            <a:xfrm>
              <a:off x="3829050" y="1465263"/>
              <a:ext cx="49552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1       2         3        4         5        6        7         8         9       10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662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56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7620000" cy="838200"/>
          </a:xfrm>
        </p:spPr>
        <p:txBody>
          <a:bodyPr>
            <a:norm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ea typeface="宋体" charset="-122"/>
              </a:rPr>
              <a:t>Example 1: </a:t>
            </a:r>
            <a:r>
              <a:rPr lang="en-US" altLang="zh-CN" i="1" dirty="0" err="1">
                <a:ea typeface="宋体" charset="-122"/>
              </a:rPr>
              <a:t>BuildMaxHeap</a:t>
            </a:r>
            <a:r>
              <a:rPr lang="en-US" altLang="zh-CN" dirty="0">
                <a:ea typeface="宋体" charset="-122"/>
              </a:rPr>
              <a:t> ()</a:t>
            </a:r>
          </a:p>
        </p:txBody>
      </p:sp>
      <p:sp>
        <p:nvSpPr>
          <p:cNvPr id="19459" name="Oval 4"/>
          <p:cNvSpPr>
            <a:spLocks noChangeArrowheads="1"/>
          </p:cNvSpPr>
          <p:nvPr/>
        </p:nvSpPr>
        <p:spPr bwMode="auto">
          <a:xfrm>
            <a:off x="3829050" y="1698625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24</a:t>
            </a:r>
          </a:p>
        </p:txBody>
      </p:sp>
      <p:sp>
        <p:nvSpPr>
          <p:cNvPr id="19460" name="Oval 6"/>
          <p:cNvSpPr>
            <a:spLocks noChangeArrowheads="1"/>
          </p:cNvSpPr>
          <p:nvPr/>
        </p:nvSpPr>
        <p:spPr bwMode="auto">
          <a:xfrm>
            <a:off x="2713038" y="2474913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21</a:t>
            </a:r>
          </a:p>
        </p:txBody>
      </p:sp>
      <p:sp>
        <p:nvSpPr>
          <p:cNvPr id="19461" name="Oval 7"/>
          <p:cNvSpPr>
            <a:spLocks noChangeArrowheads="1"/>
          </p:cNvSpPr>
          <p:nvPr/>
        </p:nvSpPr>
        <p:spPr bwMode="auto">
          <a:xfrm>
            <a:off x="4868863" y="2489200"/>
            <a:ext cx="515937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23</a:t>
            </a:r>
          </a:p>
        </p:txBody>
      </p:sp>
      <p:cxnSp>
        <p:nvCxnSpPr>
          <p:cNvPr id="19462" name="AutoShape 8"/>
          <p:cNvCxnSpPr>
            <a:cxnSpLocks noChangeShapeType="1"/>
            <a:stCxn id="19459" idx="5"/>
            <a:endCxn id="19461" idx="0"/>
          </p:cNvCxnSpPr>
          <p:nvPr/>
        </p:nvCxnSpPr>
        <p:spPr bwMode="auto">
          <a:xfrm>
            <a:off x="4268788" y="2152650"/>
            <a:ext cx="858837" cy="3365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3" name="AutoShape 9"/>
          <p:cNvCxnSpPr>
            <a:cxnSpLocks noChangeShapeType="1"/>
            <a:stCxn id="19459" idx="3"/>
            <a:endCxn id="19460" idx="0"/>
          </p:cNvCxnSpPr>
          <p:nvPr/>
        </p:nvCxnSpPr>
        <p:spPr bwMode="auto">
          <a:xfrm flipH="1">
            <a:off x="2971800" y="2152650"/>
            <a:ext cx="933450" cy="3222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4" name="Oval 11"/>
          <p:cNvSpPr>
            <a:spLocks noChangeArrowheads="1"/>
          </p:cNvSpPr>
          <p:nvPr/>
        </p:nvSpPr>
        <p:spPr bwMode="auto">
          <a:xfrm>
            <a:off x="1892300" y="3586163"/>
            <a:ext cx="515938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22</a:t>
            </a:r>
          </a:p>
        </p:txBody>
      </p:sp>
      <p:sp>
        <p:nvSpPr>
          <p:cNvPr id="19465" name="Oval 12"/>
          <p:cNvSpPr>
            <a:spLocks noChangeArrowheads="1"/>
          </p:cNvSpPr>
          <p:nvPr/>
        </p:nvSpPr>
        <p:spPr bwMode="auto">
          <a:xfrm>
            <a:off x="3367088" y="3557588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36</a:t>
            </a:r>
          </a:p>
        </p:txBody>
      </p:sp>
      <p:cxnSp>
        <p:nvCxnSpPr>
          <p:cNvPr id="19466" name="AutoShape 13"/>
          <p:cNvCxnSpPr>
            <a:cxnSpLocks noChangeShapeType="1"/>
            <a:stCxn id="19460" idx="3"/>
            <a:endCxn id="19464" idx="0"/>
          </p:cNvCxnSpPr>
          <p:nvPr/>
        </p:nvCxnSpPr>
        <p:spPr bwMode="auto">
          <a:xfrm flipH="1">
            <a:off x="2151063" y="2928938"/>
            <a:ext cx="638175" cy="6572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7" name="AutoShape 14"/>
          <p:cNvCxnSpPr>
            <a:cxnSpLocks noChangeShapeType="1"/>
            <a:stCxn id="19460" idx="5"/>
            <a:endCxn id="19465" idx="0"/>
          </p:cNvCxnSpPr>
          <p:nvPr/>
        </p:nvCxnSpPr>
        <p:spPr bwMode="auto">
          <a:xfrm>
            <a:off x="3152775" y="2928938"/>
            <a:ext cx="473075" cy="6286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8" name="Oval 16"/>
          <p:cNvSpPr>
            <a:spLocks noChangeArrowheads="1"/>
          </p:cNvSpPr>
          <p:nvPr/>
        </p:nvSpPr>
        <p:spPr bwMode="auto">
          <a:xfrm>
            <a:off x="4287838" y="3560763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29</a:t>
            </a:r>
          </a:p>
        </p:txBody>
      </p:sp>
      <p:sp>
        <p:nvSpPr>
          <p:cNvPr id="19469" name="Oval 17"/>
          <p:cNvSpPr>
            <a:spLocks noChangeArrowheads="1"/>
          </p:cNvSpPr>
          <p:nvPr/>
        </p:nvSpPr>
        <p:spPr bwMode="auto">
          <a:xfrm>
            <a:off x="5511800" y="3575050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30</a:t>
            </a:r>
          </a:p>
        </p:txBody>
      </p:sp>
      <p:cxnSp>
        <p:nvCxnSpPr>
          <p:cNvPr id="19470" name="AutoShape 18"/>
          <p:cNvCxnSpPr>
            <a:cxnSpLocks noChangeShapeType="1"/>
            <a:stCxn id="19461" idx="3"/>
            <a:endCxn id="19468" idx="0"/>
          </p:cNvCxnSpPr>
          <p:nvPr/>
        </p:nvCxnSpPr>
        <p:spPr bwMode="auto">
          <a:xfrm flipH="1">
            <a:off x="4546600" y="2943225"/>
            <a:ext cx="398463" cy="617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AutoShape 19"/>
          <p:cNvCxnSpPr>
            <a:cxnSpLocks noChangeShapeType="1"/>
            <a:stCxn id="19461" idx="5"/>
            <a:endCxn id="19469" idx="0"/>
          </p:cNvCxnSpPr>
          <p:nvPr/>
        </p:nvCxnSpPr>
        <p:spPr bwMode="auto">
          <a:xfrm>
            <a:off x="5308600" y="2943225"/>
            <a:ext cx="461963" cy="6318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2" name="Oval 21"/>
          <p:cNvSpPr>
            <a:spLocks noChangeArrowheads="1"/>
          </p:cNvSpPr>
          <p:nvPr/>
        </p:nvSpPr>
        <p:spPr bwMode="auto">
          <a:xfrm>
            <a:off x="1365250" y="4702175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34</a:t>
            </a:r>
          </a:p>
        </p:txBody>
      </p:sp>
      <p:sp>
        <p:nvSpPr>
          <p:cNvPr id="19473" name="Oval 22"/>
          <p:cNvSpPr>
            <a:spLocks noChangeArrowheads="1"/>
          </p:cNvSpPr>
          <p:nvPr/>
        </p:nvSpPr>
        <p:spPr bwMode="auto">
          <a:xfrm>
            <a:off x="2314575" y="4732338"/>
            <a:ext cx="515938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28</a:t>
            </a:r>
          </a:p>
        </p:txBody>
      </p:sp>
      <p:cxnSp>
        <p:nvCxnSpPr>
          <p:cNvPr id="19474" name="AutoShape 23"/>
          <p:cNvCxnSpPr>
            <a:cxnSpLocks noChangeShapeType="1"/>
            <a:stCxn id="19464" idx="3"/>
            <a:endCxn id="19472" idx="0"/>
          </p:cNvCxnSpPr>
          <p:nvPr/>
        </p:nvCxnSpPr>
        <p:spPr bwMode="auto">
          <a:xfrm flipH="1">
            <a:off x="1624013" y="4040188"/>
            <a:ext cx="344487" cy="6619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5" name="AutoShape 24"/>
          <p:cNvCxnSpPr>
            <a:cxnSpLocks noChangeShapeType="1"/>
            <a:stCxn id="19464" idx="5"/>
            <a:endCxn id="19473" idx="0"/>
          </p:cNvCxnSpPr>
          <p:nvPr/>
        </p:nvCxnSpPr>
        <p:spPr bwMode="auto">
          <a:xfrm>
            <a:off x="2332038" y="4040188"/>
            <a:ext cx="241300" cy="692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6" name="Oval 26"/>
          <p:cNvSpPr>
            <a:spLocks noChangeArrowheads="1"/>
          </p:cNvSpPr>
          <p:nvPr/>
        </p:nvSpPr>
        <p:spPr bwMode="auto">
          <a:xfrm>
            <a:off x="2982913" y="4732338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27</a:t>
            </a:r>
          </a:p>
        </p:txBody>
      </p:sp>
      <p:cxnSp>
        <p:nvCxnSpPr>
          <p:cNvPr id="19477" name="AutoShape 27"/>
          <p:cNvCxnSpPr>
            <a:cxnSpLocks noChangeShapeType="1"/>
            <a:stCxn id="19465" idx="4"/>
            <a:endCxn id="19476" idx="0"/>
          </p:cNvCxnSpPr>
          <p:nvPr/>
        </p:nvCxnSpPr>
        <p:spPr bwMode="auto">
          <a:xfrm flipH="1">
            <a:off x="3241675" y="4089400"/>
            <a:ext cx="384175" cy="6429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8" name="Text Box 28"/>
          <p:cNvSpPr txBox="1">
            <a:spLocks noChangeArrowheads="1"/>
          </p:cNvSpPr>
          <p:nvPr/>
        </p:nvSpPr>
        <p:spPr bwMode="auto">
          <a:xfrm>
            <a:off x="241300" y="838200"/>
            <a:ext cx="319189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b="1" spc="-5" dirty="0">
                <a:solidFill>
                  <a:srgbClr val="00B050"/>
                </a:solidFill>
                <a:latin typeface="Arial"/>
                <a:cs typeface="Arial"/>
              </a:rPr>
              <a:t>1-</a:t>
            </a:r>
            <a:r>
              <a:rPr lang="en-US" sz="20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Build</a:t>
            </a:r>
            <a:r>
              <a:rPr lang="en-US" sz="2000" b="1" spc="-20" dirty="0">
                <a:solidFill>
                  <a:srgbClr val="00B050"/>
                </a:solidFill>
                <a:latin typeface="Arial"/>
                <a:cs typeface="Arial"/>
              </a:rPr>
              <a:t> Max </a:t>
            </a:r>
            <a:r>
              <a:rPr lang="en-US" sz="2000" b="1" spc="-10" dirty="0">
                <a:solidFill>
                  <a:srgbClr val="00B050"/>
                </a:solidFill>
                <a:latin typeface="Arial"/>
                <a:cs typeface="Arial"/>
              </a:rPr>
              <a:t>Heap</a:t>
            </a:r>
            <a:endParaRPr lang="en-US" sz="2000" dirty="0">
              <a:solidFill>
                <a:srgbClr val="00B050"/>
              </a:solidFill>
              <a:latin typeface="Arial"/>
              <a:cs typeface="Arial"/>
            </a:endParaRPr>
          </a:p>
          <a:p>
            <a:r>
              <a:rPr lang="en-US" altLang="zh-CN" sz="2000" dirty="0">
                <a:ea typeface="宋体" charset="-122"/>
              </a:rPr>
              <a:t>Call </a:t>
            </a:r>
            <a:r>
              <a:rPr lang="en-US" altLang="zh-CN" sz="2000" dirty="0" err="1">
                <a:ea typeface="宋体" charset="-122"/>
              </a:rPr>
              <a:t>MaxHeapify</a:t>
            </a:r>
            <a:r>
              <a:rPr lang="en-US" altLang="zh-CN" sz="2000" dirty="0">
                <a:ea typeface="宋体" charset="-122"/>
              </a:rPr>
              <a:t>(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</a:t>
            </a:r>
            <a:r>
              <a:rPr lang="en-US" altLang="zh-CN" sz="2000" dirty="0">
                <a:ea typeface="宋体" charset="-122"/>
              </a:rPr>
              <a:t>10/2</a:t>
            </a:r>
            <a:r>
              <a:rPr lang="en-US" altLang="zh-CN" sz="2000" dirty="0">
                <a:ea typeface="宋体" charset="-122"/>
                <a:sym typeface="Symbol" pitchFamily="18" charset="2"/>
              </a:rPr>
              <a:t></a:t>
            </a:r>
            <a:r>
              <a:rPr lang="en-US" altLang="zh-CN" sz="2000" dirty="0">
                <a:ea typeface="宋体" charset="-122"/>
              </a:rPr>
              <a:t> = 5)</a:t>
            </a:r>
          </a:p>
        </p:txBody>
      </p:sp>
      <p:sp>
        <p:nvSpPr>
          <p:cNvPr id="420893" name="Oval 29"/>
          <p:cNvSpPr>
            <a:spLocks noChangeArrowheads="1"/>
          </p:cNvSpPr>
          <p:nvPr/>
        </p:nvSpPr>
        <p:spPr bwMode="auto">
          <a:xfrm>
            <a:off x="3362325" y="3556000"/>
            <a:ext cx="515938" cy="531813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36</a:t>
            </a:r>
          </a:p>
        </p:txBody>
      </p:sp>
      <p:sp>
        <p:nvSpPr>
          <p:cNvPr id="420899" name="Oval 35"/>
          <p:cNvSpPr>
            <a:spLocks noChangeArrowheads="1"/>
          </p:cNvSpPr>
          <p:nvPr/>
        </p:nvSpPr>
        <p:spPr bwMode="auto">
          <a:xfrm>
            <a:off x="3368675" y="3563938"/>
            <a:ext cx="515938" cy="531812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36</a:t>
            </a:r>
          </a:p>
        </p:txBody>
      </p:sp>
      <p:sp>
        <p:nvSpPr>
          <p:cNvPr id="420900" name="Text Box 36"/>
          <p:cNvSpPr txBox="1">
            <a:spLocks noChangeArrowheads="1"/>
          </p:cNvSpPr>
          <p:nvPr/>
        </p:nvSpPr>
        <p:spPr bwMode="auto">
          <a:xfrm>
            <a:off x="241300" y="1527175"/>
            <a:ext cx="176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2000">
                <a:ea typeface="宋体" charset="-122"/>
              </a:rPr>
              <a:t>MaxHeapify(</a:t>
            </a:r>
            <a:r>
              <a:rPr lang="en-US" altLang="zh-CN" sz="2000">
                <a:ea typeface="宋体" charset="-122"/>
                <a:sym typeface="Symbol" pitchFamily="18" charset="2"/>
              </a:rPr>
              <a:t>4</a:t>
            </a:r>
            <a:r>
              <a:rPr lang="en-US" altLang="zh-CN" sz="2000">
                <a:ea typeface="宋体" charset="-122"/>
              </a:rPr>
              <a:t>)</a:t>
            </a:r>
          </a:p>
        </p:txBody>
      </p:sp>
      <p:sp>
        <p:nvSpPr>
          <p:cNvPr id="420901" name="Oval 37"/>
          <p:cNvSpPr>
            <a:spLocks noChangeArrowheads="1"/>
          </p:cNvSpPr>
          <p:nvPr/>
        </p:nvSpPr>
        <p:spPr bwMode="auto">
          <a:xfrm>
            <a:off x="1898650" y="3578225"/>
            <a:ext cx="515938" cy="531813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22</a:t>
            </a:r>
          </a:p>
        </p:txBody>
      </p:sp>
      <p:sp>
        <p:nvSpPr>
          <p:cNvPr id="420902" name="Oval 38"/>
          <p:cNvSpPr>
            <a:spLocks noChangeArrowheads="1"/>
          </p:cNvSpPr>
          <p:nvPr/>
        </p:nvSpPr>
        <p:spPr bwMode="auto">
          <a:xfrm>
            <a:off x="1895475" y="3578225"/>
            <a:ext cx="515938" cy="531813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34</a:t>
            </a:r>
          </a:p>
        </p:txBody>
      </p:sp>
      <p:sp>
        <p:nvSpPr>
          <p:cNvPr id="420903" name="Oval 39"/>
          <p:cNvSpPr>
            <a:spLocks noChangeArrowheads="1"/>
          </p:cNvSpPr>
          <p:nvPr/>
        </p:nvSpPr>
        <p:spPr bwMode="auto">
          <a:xfrm>
            <a:off x="1365250" y="4703763"/>
            <a:ext cx="515938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22</a:t>
            </a:r>
          </a:p>
        </p:txBody>
      </p:sp>
      <p:sp>
        <p:nvSpPr>
          <p:cNvPr id="420904" name="Text Box 40"/>
          <p:cNvSpPr txBox="1">
            <a:spLocks noChangeArrowheads="1"/>
          </p:cNvSpPr>
          <p:nvPr/>
        </p:nvSpPr>
        <p:spPr bwMode="auto">
          <a:xfrm>
            <a:off x="241300" y="1978025"/>
            <a:ext cx="176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2000">
                <a:ea typeface="宋体" charset="-122"/>
              </a:rPr>
              <a:t>MaxHeapify(</a:t>
            </a:r>
            <a:r>
              <a:rPr lang="en-US" altLang="zh-CN" sz="2000">
                <a:ea typeface="宋体" charset="-122"/>
                <a:sym typeface="Symbol" pitchFamily="18" charset="2"/>
              </a:rPr>
              <a:t>3</a:t>
            </a:r>
            <a:r>
              <a:rPr lang="en-US" altLang="zh-CN" sz="2000">
                <a:ea typeface="宋体" charset="-122"/>
              </a:rPr>
              <a:t>)</a:t>
            </a:r>
          </a:p>
        </p:txBody>
      </p:sp>
      <p:sp>
        <p:nvSpPr>
          <p:cNvPr id="420906" name="Oval 42"/>
          <p:cNvSpPr>
            <a:spLocks noChangeArrowheads="1"/>
          </p:cNvSpPr>
          <p:nvPr/>
        </p:nvSpPr>
        <p:spPr bwMode="auto">
          <a:xfrm>
            <a:off x="4875213" y="2481263"/>
            <a:ext cx="515937" cy="531812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23</a:t>
            </a:r>
          </a:p>
        </p:txBody>
      </p:sp>
      <p:sp>
        <p:nvSpPr>
          <p:cNvPr id="420907" name="Oval 43"/>
          <p:cNvSpPr>
            <a:spLocks noChangeArrowheads="1"/>
          </p:cNvSpPr>
          <p:nvPr/>
        </p:nvSpPr>
        <p:spPr bwMode="auto">
          <a:xfrm>
            <a:off x="4867275" y="2479675"/>
            <a:ext cx="515938" cy="531813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30</a:t>
            </a:r>
          </a:p>
        </p:txBody>
      </p:sp>
      <p:sp>
        <p:nvSpPr>
          <p:cNvPr id="420908" name="Oval 44"/>
          <p:cNvSpPr>
            <a:spLocks noChangeArrowheads="1"/>
          </p:cNvSpPr>
          <p:nvPr/>
        </p:nvSpPr>
        <p:spPr bwMode="auto">
          <a:xfrm>
            <a:off x="5513388" y="3575050"/>
            <a:ext cx="515937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23</a:t>
            </a:r>
          </a:p>
        </p:txBody>
      </p:sp>
      <p:sp>
        <p:nvSpPr>
          <p:cNvPr id="420909" name="Text Box 45"/>
          <p:cNvSpPr txBox="1">
            <a:spLocks noChangeArrowheads="1"/>
          </p:cNvSpPr>
          <p:nvPr/>
        </p:nvSpPr>
        <p:spPr bwMode="auto">
          <a:xfrm>
            <a:off x="241300" y="2428875"/>
            <a:ext cx="176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2000">
                <a:ea typeface="宋体" charset="-122"/>
              </a:rPr>
              <a:t>MaxHeapify(2)</a:t>
            </a:r>
          </a:p>
        </p:txBody>
      </p:sp>
      <p:sp>
        <p:nvSpPr>
          <p:cNvPr id="420910" name="Oval 46"/>
          <p:cNvSpPr>
            <a:spLocks noChangeArrowheads="1"/>
          </p:cNvSpPr>
          <p:nvPr/>
        </p:nvSpPr>
        <p:spPr bwMode="auto">
          <a:xfrm>
            <a:off x="2719388" y="2481263"/>
            <a:ext cx="515937" cy="531812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21</a:t>
            </a:r>
          </a:p>
        </p:txBody>
      </p:sp>
      <p:sp>
        <p:nvSpPr>
          <p:cNvPr id="420911" name="Oval 47"/>
          <p:cNvSpPr>
            <a:spLocks noChangeArrowheads="1"/>
          </p:cNvSpPr>
          <p:nvPr/>
        </p:nvSpPr>
        <p:spPr bwMode="auto">
          <a:xfrm>
            <a:off x="2708275" y="2482850"/>
            <a:ext cx="515938" cy="531813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36</a:t>
            </a:r>
          </a:p>
        </p:txBody>
      </p:sp>
      <p:sp>
        <p:nvSpPr>
          <p:cNvPr id="420912" name="Oval 48"/>
          <p:cNvSpPr>
            <a:spLocks noChangeArrowheads="1"/>
          </p:cNvSpPr>
          <p:nvPr/>
        </p:nvSpPr>
        <p:spPr bwMode="auto">
          <a:xfrm>
            <a:off x="3368675" y="3565525"/>
            <a:ext cx="515938" cy="531813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21</a:t>
            </a:r>
          </a:p>
        </p:txBody>
      </p:sp>
      <p:sp>
        <p:nvSpPr>
          <p:cNvPr id="420913" name="Text Box 49"/>
          <p:cNvSpPr txBox="1">
            <a:spLocks noChangeArrowheads="1"/>
          </p:cNvSpPr>
          <p:nvPr/>
        </p:nvSpPr>
        <p:spPr bwMode="auto">
          <a:xfrm>
            <a:off x="241300" y="2879725"/>
            <a:ext cx="176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2000">
                <a:ea typeface="宋体" charset="-122"/>
              </a:rPr>
              <a:t>MaxHeapify(1)</a:t>
            </a:r>
          </a:p>
        </p:txBody>
      </p:sp>
      <p:sp>
        <p:nvSpPr>
          <p:cNvPr id="420914" name="Oval 50"/>
          <p:cNvSpPr>
            <a:spLocks noChangeArrowheads="1"/>
          </p:cNvSpPr>
          <p:nvPr/>
        </p:nvSpPr>
        <p:spPr bwMode="auto">
          <a:xfrm>
            <a:off x="3836988" y="1704975"/>
            <a:ext cx="515937" cy="531813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24</a:t>
            </a:r>
          </a:p>
        </p:txBody>
      </p:sp>
      <p:sp>
        <p:nvSpPr>
          <p:cNvPr id="420915" name="Oval 51"/>
          <p:cNvSpPr>
            <a:spLocks noChangeArrowheads="1"/>
          </p:cNvSpPr>
          <p:nvPr/>
        </p:nvSpPr>
        <p:spPr bwMode="auto">
          <a:xfrm>
            <a:off x="3832225" y="1704975"/>
            <a:ext cx="515938" cy="531813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36</a:t>
            </a:r>
          </a:p>
        </p:txBody>
      </p:sp>
      <p:sp>
        <p:nvSpPr>
          <p:cNvPr id="420916" name="Oval 52"/>
          <p:cNvSpPr>
            <a:spLocks noChangeArrowheads="1"/>
          </p:cNvSpPr>
          <p:nvPr/>
        </p:nvSpPr>
        <p:spPr bwMode="auto">
          <a:xfrm>
            <a:off x="2708275" y="2481263"/>
            <a:ext cx="515938" cy="531812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24</a:t>
            </a:r>
          </a:p>
        </p:txBody>
      </p:sp>
      <p:sp>
        <p:nvSpPr>
          <p:cNvPr id="420918" name="Oval 54"/>
          <p:cNvSpPr>
            <a:spLocks noChangeArrowheads="1"/>
          </p:cNvSpPr>
          <p:nvPr/>
        </p:nvSpPr>
        <p:spPr bwMode="auto">
          <a:xfrm>
            <a:off x="2701925" y="2481263"/>
            <a:ext cx="515938" cy="531812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34</a:t>
            </a:r>
          </a:p>
        </p:txBody>
      </p:sp>
      <p:sp>
        <p:nvSpPr>
          <p:cNvPr id="420919" name="Oval 55"/>
          <p:cNvSpPr>
            <a:spLocks noChangeArrowheads="1"/>
          </p:cNvSpPr>
          <p:nvPr/>
        </p:nvSpPr>
        <p:spPr bwMode="auto">
          <a:xfrm>
            <a:off x="1901825" y="3578225"/>
            <a:ext cx="515938" cy="531813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24</a:t>
            </a:r>
          </a:p>
        </p:txBody>
      </p:sp>
      <p:sp>
        <p:nvSpPr>
          <p:cNvPr id="420920" name="Oval 56"/>
          <p:cNvSpPr>
            <a:spLocks noChangeArrowheads="1"/>
          </p:cNvSpPr>
          <p:nvPr/>
        </p:nvSpPr>
        <p:spPr bwMode="auto">
          <a:xfrm>
            <a:off x="1884363" y="3578225"/>
            <a:ext cx="515937" cy="531813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28</a:t>
            </a:r>
          </a:p>
        </p:txBody>
      </p:sp>
      <p:sp>
        <p:nvSpPr>
          <p:cNvPr id="420921" name="Oval 57"/>
          <p:cNvSpPr>
            <a:spLocks noChangeArrowheads="1"/>
          </p:cNvSpPr>
          <p:nvPr/>
        </p:nvSpPr>
        <p:spPr bwMode="auto">
          <a:xfrm>
            <a:off x="2314575" y="4732338"/>
            <a:ext cx="515938" cy="531812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24</a:t>
            </a:r>
          </a:p>
        </p:txBody>
      </p:sp>
      <p:sp>
        <p:nvSpPr>
          <p:cNvPr id="420922" name="Oval 58"/>
          <p:cNvSpPr>
            <a:spLocks noChangeArrowheads="1"/>
          </p:cNvSpPr>
          <p:nvPr/>
        </p:nvSpPr>
        <p:spPr bwMode="auto">
          <a:xfrm>
            <a:off x="3360738" y="3559175"/>
            <a:ext cx="515937" cy="531813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21</a:t>
            </a:r>
          </a:p>
        </p:txBody>
      </p:sp>
      <p:sp>
        <p:nvSpPr>
          <p:cNvPr id="420923" name="Oval 59"/>
          <p:cNvSpPr>
            <a:spLocks noChangeArrowheads="1"/>
          </p:cNvSpPr>
          <p:nvPr/>
        </p:nvSpPr>
        <p:spPr bwMode="auto">
          <a:xfrm>
            <a:off x="2998788" y="4733925"/>
            <a:ext cx="515937" cy="531813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21</a:t>
            </a:r>
          </a:p>
        </p:txBody>
      </p:sp>
      <p:sp>
        <p:nvSpPr>
          <p:cNvPr id="420924" name="Oval 60"/>
          <p:cNvSpPr>
            <a:spLocks noChangeArrowheads="1"/>
          </p:cNvSpPr>
          <p:nvPr/>
        </p:nvSpPr>
        <p:spPr bwMode="auto">
          <a:xfrm>
            <a:off x="3376613" y="3557588"/>
            <a:ext cx="515937" cy="531812"/>
          </a:xfrm>
          <a:prstGeom prst="ellipse">
            <a:avLst/>
          </a:prstGeom>
          <a:solidFill>
            <a:srgbClr val="66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27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37756" y="968375"/>
            <a:ext cx="5146497" cy="804665"/>
            <a:chOff x="3637756" y="968375"/>
            <a:chExt cx="5146497" cy="804665"/>
          </a:xfrm>
        </p:grpSpPr>
        <p:grpSp>
          <p:nvGrpSpPr>
            <p:cNvPr id="48" name="Group 4"/>
            <p:cNvGrpSpPr>
              <a:grpSpLocks/>
            </p:cNvGrpSpPr>
            <p:nvPr/>
          </p:nvGrpSpPr>
          <p:grpSpPr bwMode="auto">
            <a:xfrm>
              <a:off x="3637756" y="968375"/>
              <a:ext cx="5121275" cy="469900"/>
              <a:chOff x="444" y="668"/>
              <a:chExt cx="3226" cy="296"/>
            </a:xfrm>
          </p:grpSpPr>
          <p:sp>
            <p:nvSpPr>
              <p:cNvPr id="49" name="Text Box 5"/>
              <p:cNvSpPr txBox="1">
                <a:spLocks noChangeArrowheads="1"/>
              </p:cNvSpPr>
              <p:nvPr/>
            </p:nvSpPr>
            <p:spPr bwMode="auto">
              <a:xfrm>
                <a:off x="444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24</a:t>
                </a:r>
              </a:p>
            </p:txBody>
          </p:sp>
          <p:sp>
            <p:nvSpPr>
              <p:cNvPr id="50" name="Text Box 6"/>
              <p:cNvSpPr txBox="1">
                <a:spLocks noChangeArrowheads="1"/>
              </p:cNvSpPr>
              <p:nvPr/>
            </p:nvSpPr>
            <p:spPr bwMode="auto">
              <a:xfrm>
                <a:off x="770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21</a:t>
                </a:r>
              </a:p>
            </p:txBody>
          </p:sp>
          <p:sp>
            <p:nvSpPr>
              <p:cNvPr id="51" name="Text Box 7"/>
              <p:cNvSpPr txBox="1">
                <a:spLocks noChangeArrowheads="1"/>
              </p:cNvSpPr>
              <p:nvPr/>
            </p:nvSpPr>
            <p:spPr bwMode="auto">
              <a:xfrm>
                <a:off x="1096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23</a:t>
                </a:r>
              </a:p>
            </p:txBody>
          </p:sp>
          <p:sp>
            <p:nvSpPr>
              <p:cNvPr id="52" name="Text Box 8"/>
              <p:cNvSpPr txBox="1">
                <a:spLocks noChangeArrowheads="1"/>
              </p:cNvSpPr>
              <p:nvPr/>
            </p:nvSpPr>
            <p:spPr bwMode="auto">
              <a:xfrm>
                <a:off x="1423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22</a:t>
                </a:r>
              </a:p>
            </p:txBody>
          </p:sp>
          <p:sp>
            <p:nvSpPr>
              <p:cNvPr id="53" name="Text Box 9"/>
              <p:cNvSpPr txBox="1">
                <a:spLocks noChangeArrowheads="1"/>
              </p:cNvSpPr>
              <p:nvPr/>
            </p:nvSpPr>
            <p:spPr bwMode="auto">
              <a:xfrm>
                <a:off x="1749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36</a:t>
                </a:r>
              </a:p>
            </p:txBody>
          </p:sp>
          <p:sp>
            <p:nvSpPr>
              <p:cNvPr id="54" name="Text Box 10"/>
              <p:cNvSpPr txBox="1">
                <a:spLocks noChangeArrowheads="1"/>
              </p:cNvSpPr>
              <p:nvPr/>
            </p:nvSpPr>
            <p:spPr bwMode="auto">
              <a:xfrm>
                <a:off x="2076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29</a:t>
                </a:r>
              </a:p>
            </p:txBody>
          </p:sp>
          <p:sp>
            <p:nvSpPr>
              <p:cNvPr id="55" name="Text Box 11"/>
              <p:cNvSpPr txBox="1">
                <a:spLocks noChangeArrowheads="1"/>
              </p:cNvSpPr>
              <p:nvPr/>
            </p:nvSpPr>
            <p:spPr bwMode="auto">
              <a:xfrm>
                <a:off x="2383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30</a:t>
                </a:r>
              </a:p>
            </p:txBody>
          </p:sp>
          <p:sp>
            <p:nvSpPr>
              <p:cNvPr id="56" name="Text Box 12"/>
              <p:cNvSpPr txBox="1">
                <a:spLocks noChangeArrowheads="1"/>
              </p:cNvSpPr>
              <p:nvPr/>
            </p:nvSpPr>
            <p:spPr bwMode="auto">
              <a:xfrm>
                <a:off x="2710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34</a:t>
                </a:r>
              </a:p>
            </p:txBody>
          </p:sp>
          <p:sp>
            <p:nvSpPr>
              <p:cNvPr id="57" name="Text Box 13"/>
              <p:cNvSpPr txBox="1">
                <a:spLocks noChangeArrowheads="1"/>
              </p:cNvSpPr>
              <p:nvPr/>
            </p:nvSpPr>
            <p:spPr bwMode="auto">
              <a:xfrm>
                <a:off x="3027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28</a:t>
                </a:r>
              </a:p>
            </p:txBody>
          </p:sp>
          <p:sp>
            <p:nvSpPr>
              <p:cNvPr id="58" name="Text Box 14"/>
              <p:cNvSpPr txBox="1">
                <a:spLocks noChangeArrowheads="1"/>
              </p:cNvSpPr>
              <p:nvPr/>
            </p:nvSpPr>
            <p:spPr bwMode="auto">
              <a:xfrm>
                <a:off x="3354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>
                    <a:ea typeface="宋体" charset="-122"/>
                  </a:rPr>
                  <a:t>27</a:t>
                </a: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3829050" y="1465263"/>
              <a:ext cx="49552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1       2         3        4         5        6        7         8         9       10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1695539" y="6017517"/>
            <a:ext cx="5146497" cy="804665"/>
            <a:chOff x="3637756" y="968375"/>
            <a:chExt cx="5146497" cy="804665"/>
          </a:xfrm>
        </p:grpSpPr>
        <p:grpSp>
          <p:nvGrpSpPr>
            <p:cNvPr id="62" name="Group 4"/>
            <p:cNvGrpSpPr>
              <a:grpSpLocks/>
            </p:cNvGrpSpPr>
            <p:nvPr/>
          </p:nvGrpSpPr>
          <p:grpSpPr bwMode="auto">
            <a:xfrm>
              <a:off x="3637756" y="968375"/>
              <a:ext cx="5111751" cy="469900"/>
              <a:chOff x="444" y="668"/>
              <a:chExt cx="3220" cy="296"/>
            </a:xfrm>
          </p:grpSpPr>
          <p:sp>
            <p:nvSpPr>
              <p:cNvPr id="64" name="Text Box 5"/>
              <p:cNvSpPr txBox="1">
                <a:spLocks noChangeArrowheads="1"/>
              </p:cNvSpPr>
              <p:nvPr/>
            </p:nvSpPr>
            <p:spPr bwMode="auto">
              <a:xfrm>
                <a:off x="444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36</a:t>
                </a:r>
              </a:p>
            </p:txBody>
          </p:sp>
          <p:sp>
            <p:nvSpPr>
              <p:cNvPr id="65" name="Text Box 6"/>
              <p:cNvSpPr txBox="1">
                <a:spLocks noChangeArrowheads="1"/>
              </p:cNvSpPr>
              <p:nvPr/>
            </p:nvSpPr>
            <p:spPr bwMode="auto">
              <a:xfrm>
                <a:off x="770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34</a:t>
                </a:r>
              </a:p>
            </p:txBody>
          </p:sp>
          <p:sp>
            <p:nvSpPr>
              <p:cNvPr id="66" name="Text Box 7"/>
              <p:cNvSpPr txBox="1">
                <a:spLocks noChangeArrowheads="1"/>
              </p:cNvSpPr>
              <p:nvPr/>
            </p:nvSpPr>
            <p:spPr bwMode="auto">
              <a:xfrm>
                <a:off x="1096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30</a:t>
                </a:r>
              </a:p>
            </p:txBody>
          </p:sp>
          <p:sp>
            <p:nvSpPr>
              <p:cNvPr id="67" name="Text Box 8"/>
              <p:cNvSpPr txBox="1">
                <a:spLocks noChangeArrowheads="1"/>
              </p:cNvSpPr>
              <p:nvPr/>
            </p:nvSpPr>
            <p:spPr bwMode="auto">
              <a:xfrm>
                <a:off x="1423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28</a:t>
                </a:r>
              </a:p>
            </p:txBody>
          </p:sp>
          <p:sp>
            <p:nvSpPr>
              <p:cNvPr id="68" name="Text Box 9"/>
              <p:cNvSpPr txBox="1">
                <a:spLocks noChangeArrowheads="1"/>
              </p:cNvSpPr>
              <p:nvPr/>
            </p:nvSpPr>
            <p:spPr bwMode="auto">
              <a:xfrm>
                <a:off x="1749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27</a:t>
                </a:r>
              </a:p>
            </p:txBody>
          </p:sp>
          <p:sp>
            <p:nvSpPr>
              <p:cNvPr id="69" name="Text Box 10"/>
              <p:cNvSpPr txBox="1">
                <a:spLocks noChangeArrowheads="1"/>
              </p:cNvSpPr>
              <p:nvPr/>
            </p:nvSpPr>
            <p:spPr bwMode="auto">
              <a:xfrm>
                <a:off x="2076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29</a:t>
                </a:r>
              </a:p>
            </p:txBody>
          </p:sp>
          <p:sp>
            <p:nvSpPr>
              <p:cNvPr id="70" name="Text Box 11"/>
              <p:cNvSpPr txBox="1">
                <a:spLocks noChangeArrowheads="1"/>
              </p:cNvSpPr>
              <p:nvPr/>
            </p:nvSpPr>
            <p:spPr bwMode="auto">
              <a:xfrm>
                <a:off x="2383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23</a:t>
                </a:r>
              </a:p>
            </p:txBody>
          </p:sp>
          <p:sp>
            <p:nvSpPr>
              <p:cNvPr id="71" name="Text Box 12"/>
              <p:cNvSpPr txBox="1">
                <a:spLocks noChangeArrowheads="1"/>
              </p:cNvSpPr>
              <p:nvPr/>
            </p:nvSpPr>
            <p:spPr bwMode="auto">
              <a:xfrm>
                <a:off x="2710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22</a:t>
                </a:r>
              </a:p>
            </p:txBody>
          </p:sp>
          <p:sp>
            <p:nvSpPr>
              <p:cNvPr id="72" name="Text Box 13"/>
              <p:cNvSpPr txBox="1">
                <a:spLocks noChangeArrowheads="1"/>
              </p:cNvSpPr>
              <p:nvPr/>
            </p:nvSpPr>
            <p:spPr bwMode="auto">
              <a:xfrm>
                <a:off x="3027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24</a:t>
                </a:r>
              </a:p>
            </p:txBody>
          </p:sp>
          <p:sp>
            <p:nvSpPr>
              <p:cNvPr id="73" name="Text Box 14"/>
              <p:cNvSpPr txBox="1">
                <a:spLocks noChangeArrowheads="1"/>
              </p:cNvSpPr>
              <p:nvPr/>
            </p:nvSpPr>
            <p:spPr bwMode="auto">
              <a:xfrm>
                <a:off x="3354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21</a:t>
                </a:r>
              </a:p>
            </p:txBody>
          </p:sp>
        </p:grpSp>
        <p:sp>
          <p:nvSpPr>
            <p:cNvPr id="63" name="TextBox 62"/>
            <p:cNvSpPr txBox="1"/>
            <p:nvPr/>
          </p:nvSpPr>
          <p:spPr>
            <a:xfrm>
              <a:off x="3829050" y="1465263"/>
              <a:ext cx="49552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1       2         3        4         5        6        7         8         9       10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70787" y="5640248"/>
            <a:ext cx="1903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Heap Array:</a:t>
            </a:r>
          </a:p>
        </p:txBody>
      </p:sp>
    </p:spTree>
    <p:extLst>
      <p:ext uri="{BB962C8B-B14F-4D97-AF65-F5344CB8AC3E}">
        <p14:creationId xmlns:p14="http://schemas.microsoft.com/office/powerpoint/2010/main" val="325530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2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2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2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2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2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2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2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2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2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20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2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2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2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2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2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2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2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20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93" grpId="0" animBg="1"/>
      <p:bldP spid="420899" grpId="0" animBg="1"/>
      <p:bldP spid="420900" grpId="0"/>
      <p:bldP spid="420901" grpId="0" animBg="1"/>
      <p:bldP spid="420902" grpId="0" animBg="1"/>
      <p:bldP spid="420903" grpId="0" animBg="1"/>
      <p:bldP spid="420904" grpId="0"/>
      <p:bldP spid="420906" grpId="0" animBg="1"/>
      <p:bldP spid="420907" grpId="0" animBg="1"/>
      <p:bldP spid="420908" grpId="0" animBg="1"/>
      <p:bldP spid="420909" grpId="0"/>
      <p:bldP spid="420910" grpId="0" animBg="1"/>
      <p:bldP spid="420911" grpId="0" animBg="1"/>
      <p:bldP spid="420912" grpId="0" animBg="1"/>
      <p:bldP spid="420913" grpId="0"/>
      <p:bldP spid="420914" grpId="0" animBg="1"/>
      <p:bldP spid="420915" grpId="0" animBg="1"/>
      <p:bldP spid="420916" grpId="0" animBg="1"/>
      <p:bldP spid="420918" grpId="0" animBg="1"/>
      <p:bldP spid="420919" grpId="0" animBg="1"/>
      <p:bldP spid="420920" grpId="0" animBg="1"/>
      <p:bldP spid="420921" grpId="0" animBg="1"/>
      <p:bldP spid="420922" grpId="0" animBg="1"/>
      <p:bldP spid="420923" grpId="0" animBg="1"/>
      <p:bldP spid="420924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rgbClr val="FF0000"/>
                </a:solidFill>
                <a:ea typeface="宋体" charset="-122"/>
              </a:rPr>
              <a:t>Example 2: </a:t>
            </a:r>
            <a:r>
              <a:rPr lang="en-US" altLang="zh-CN" dirty="0" err="1">
                <a:ea typeface="宋体" charset="-122"/>
              </a:rPr>
              <a:t>MaxHeapify</a:t>
            </a:r>
            <a:r>
              <a:rPr lang="en-US" altLang="zh-CN" dirty="0">
                <a:ea typeface="宋体" charset="-122"/>
              </a:rPr>
              <a:t>(A,1)</a:t>
            </a:r>
          </a:p>
        </p:txBody>
      </p:sp>
      <p:sp>
        <p:nvSpPr>
          <p:cNvPr id="13315" name="Oval 4"/>
          <p:cNvSpPr>
            <a:spLocks noChangeArrowheads="1"/>
          </p:cNvSpPr>
          <p:nvPr/>
        </p:nvSpPr>
        <p:spPr bwMode="auto">
          <a:xfrm>
            <a:off x="4038600" y="1430338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36</a:t>
            </a:r>
          </a:p>
        </p:txBody>
      </p:sp>
      <p:sp>
        <p:nvSpPr>
          <p:cNvPr id="13316" name="Oval 6"/>
          <p:cNvSpPr>
            <a:spLocks noChangeArrowheads="1"/>
          </p:cNvSpPr>
          <p:nvPr/>
        </p:nvSpPr>
        <p:spPr bwMode="auto">
          <a:xfrm>
            <a:off x="2971800" y="2220913"/>
            <a:ext cx="515938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34</a:t>
            </a:r>
          </a:p>
        </p:txBody>
      </p:sp>
      <p:sp>
        <p:nvSpPr>
          <p:cNvPr id="13317" name="Oval 7"/>
          <p:cNvSpPr>
            <a:spLocks noChangeArrowheads="1"/>
          </p:cNvSpPr>
          <p:nvPr/>
        </p:nvSpPr>
        <p:spPr bwMode="auto">
          <a:xfrm>
            <a:off x="5140325" y="2220913"/>
            <a:ext cx="515938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30</a:t>
            </a:r>
          </a:p>
        </p:txBody>
      </p:sp>
      <p:cxnSp>
        <p:nvCxnSpPr>
          <p:cNvPr id="13318" name="AutoShape 8"/>
          <p:cNvCxnSpPr>
            <a:cxnSpLocks noChangeShapeType="1"/>
            <a:stCxn id="13315" idx="5"/>
            <a:endCxn id="13317" idx="0"/>
          </p:cNvCxnSpPr>
          <p:nvPr/>
        </p:nvCxnSpPr>
        <p:spPr bwMode="auto">
          <a:xfrm>
            <a:off x="4478980" y="1884268"/>
            <a:ext cx="919314" cy="33664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19" name="AutoShape 9"/>
          <p:cNvCxnSpPr>
            <a:cxnSpLocks noChangeShapeType="1"/>
            <a:stCxn id="13315" idx="3"/>
            <a:endCxn id="13316" idx="0"/>
          </p:cNvCxnSpPr>
          <p:nvPr/>
        </p:nvCxnSpPr>
        <p:spPr bwMode="auto">
          <a:xfrm flipH="1">
            <a:off x="3229769" y="1884268"/>
            <a:ext cx="884388" cy="33664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0" name="Oval 11"/>
          <p:cNvSpPr>
            <a:spLocks noChangeArrowheads="1"/>
          </p:cNvSpPr>
          <p:nvPr/>
        </p:nvSpPr>
        <p:spPr bwMode="auto">
          <a:xfrm>
            <a:off x="2163763" y="3303588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28</a:t>
            </a:r>
          </a:p>
        </p:txBody>
      </p:sp>
      <p:sp>
        <p:nvSpPr>
          <p:cNvPr id="13321" name="Oval 12"/>
          <p:cNvSpPr>
            <a:spLocks noChangeArrowheads="1"/>
          </p:cNvSpPr>
          <p:nvPr/>
        </p:nvSpPr>
        <p:spPr bwMode="auto">
          <a:xfrm>
            <a:off x="3638550" y="3289300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27</a:t>
            </a:r>
          </a:p>
        </p:txBody>
      </p:sp>
      <p:cxnSp>
        <p:nvCxnSpPr>
          <p:cNvPr id="13322" name="AutoShape 13"/>
          <p:cNvCxnSpPr>
            <a:cxnSpLocks noChangeShapeType="1"/>
            <a:stCxn id="13316" idx="3"/>
            <a:endCxn id="13320" idx="0"/>
          </p:cNvCxnSpPr>
          <p:nvPr/>
        </p:nvCxnSpPr>
        <p:spPr bwMode="auto">
          <a:xfrm flipH="1">
            <a:off x="2421732" y="2674843"/>
            <a:ext cx="625625" cy="62874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3" name="AutoShape 14"/>
          <p:cNvCxnSpPr>
            <a:cxnSpLocks noChangeShapeType="1"/>
            <a:stCxn id="13316" idx="5"/>
            <a:endCxn id="13321" idx="0"/>
          </p:cNvCxnSpPr>
          <p:nvPr/>
        </p:nvCxnSpPr>
        <p:spPr bwMode="auto">
          <a:xfrm>
            <a:off x="3412181" y="2674843"/>
            <a:ext cx="484338" cy="61445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4" name="Oval 16"/>
          <p:cNvSpPr>
            <a:spLocks noChangeArrowheads="1"/>
          </p:cNvSpPr>
          <p:nvPr/>
        </p:nvSpPr>
        <p:spPr bwMode="auto">
          <a:xfrm>
            <a:off x="4559300" y="3292475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29</a:t>
            </a:r>
          </a:p>
        </p:txBody>
      </p:sp>
      <p:sp>
        <p:nvSpPr>
          <p:cNvPr id="13325" name="Oval 17"/>
          <p:cNvSpPr>
            <a:spLocks noChangeArrowheads="1"/>
          </p:cNvSpPr>
          <p:nvPr/>
        </p:nvSpPr>
        <p:spPr bwMode="auto">
          <a:xfrm>
            <a:off x="5783263" y="3306763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23</a:t>
            </a:r>
          </a:p>
        </p:txBody>
      </p:sp>
      <p:cxnSp>
        <p:nvCxnSpPr>
          <p:cNvPr id="13326" name="AutoShape 18"/>
          <p:cNvCxnSpPr>
            <a:cxnSpLocks noChangeShapeType="1"/>
            <a:stCxn id="13317" idx="3"/>
            <a:endCxn id="13324" idx="0"/>
          </p:cNvCxnSpPr>
          <p:nvPr/>
        </p:nvCxnSpPr>
        <p:spPr bwMode="auto">
          <a:xfrm flipH="1">
            <a:off x="4818063" y="2674938"/>
            <a:ext cx="398462" cy="6175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7" name="AutoShape 19"/>
          <p:cNvCxnSpPr>
            <a:cxnSpLocks noChangeShapeType="1"/>
            <a:stCxn id="13317" idx="5"/>
            <a:endCxn id="13325" idx="0"/>
          </p:cNvCxnSpPr>
          <p:nvPr/>
        </p:nvCxnSpPr>
        <p:spPr bwMode="auto">
          <a:xfrm>
            <a:off x="5580063" y="2674938"/>
            <a:ext cx="461962" cy="6318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8" name="Oval 21"/>
          <p:cNvSpPr>
            <a:spLocks noChangeArrowheads="1"/>
          </p:cNvSpPr>
          <p:nvPr/>
        </p:nvSpPr>
        <p:spPr bwMode="auto">
          <a:xfrm>
            <a:off x="1693863" y="4433888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22</a:t>
            </a:r>
          </a:p>
        </p:txBody>
      </p:sp>
      <p:sp>
        <p:nvSpPr>
          <p:cNvPr id="13329" name="Oval 22"/>
          <p:cNvSpPr>
            <a:spLocks noChangeArrowheads="1"/>
          </p:cNvSpPr>
          <p:nvPr/>
        </p:nvSpPr>
        <p:spPr bwMode="auto">
          <a:xfrm>
            <a:off x="2586038" y="4497388"/>
            <a:ext cx="515937" cy="531812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24</a:t>
            </a:r>
          </a:p>
        </p:txBody>
      </p:sp>
      <p:cxnSp>
        <p:nvCxnSpPr>
          <p:cNvPr id="13330" name="AutoShape 23"/>
          <p:cNvCxnSpPr>
            <a:cxnSpLocks noChangeShapeType="1"/>
            <a:stCxn id="13320" idx="3"/>
            <a:endCxn id="13328" idx="0"/>
          </p:cNvCxnSpPr>
          <p:nvPr/>
        </p:nvCxnSpPr>
        <p:spPr bwMode="auto">
          <a:xfrm flipH="1">
            <a:off x="1951832" y="3757518"/>
            <a:ext cx="287488" cy="67637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1" name="AutoShape 24"/>
          <p:cNvCxnSpPr>
            <a:cxnSpLocks noChangeShapeType="1"/>
            <a:stCxn id="13320" idx="5"/>
            <a:endCxn id="13329" idx="0"/>
          </p:cNvCxnSpPr>
          <p:nvPr/>
        </p:nvCxnSpPr>
        <p:spPr bwMode="auto">
          <a:xfrm>
            <a:off x="2604143" y="3757518"/>
            <a:ext cx="239864" cy="73987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32" name="Oval 26"/>
          <p:cNvSpPr>
            <a:spLocks noChangeArrowheads="1"/>
          </p:cNvSpPr>
          <p:nvPr/>
        </p:nvSpPr>
        <p:spPr bwMode="auto">
          <a:xfrm>
            <a:off x="3254375" y="4464050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21</a:t>
            </a:r>
          </a:p>
        </p:txBody>
      </p:sp>
      <p:cxnSp>
        <p:nvCxnSpPr>
          <p:cNvPr id="13333" name="AutoShape 27"/>
          <p:cNvCxnSpPr>
            <a:cxnSpLocks noChangeShapeType="1"/>
            <a:stCxn id="13321" idx="4"/>
            <a:endCxn id="13332" idx="0"/>
          </p:cNvCxnSpPr>
          <p:nvPr/>
        </p:nvCxnSpPr>
        <p:spPr bwMode="auto">
          <a:xfrm flipH="1">
            <a:off x="3513138" y="3821113"/>
            <a:ext cx="384175" cy="6429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4748" name="Oval 28"/>
          <p:cNvSpPr>
            <a:spLocks noChangeArrowheads="1"/>
          </p:cNvSpPr>
          <p:nvPr/>
        </p:nvSpPr>
        <p:spPr bwMode="auto">
          <a:xfrm>
            <a:off x="4056062" y="1449387"/>
            <a:ext cx="515938" cy="531813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36</a:t>
            </a:r>
          </a:p>
        </p:txBody>
      </p:sp>
      <p:sp>
        <p:nvSpPr>
          <p:cNvPr id="414749" name="Oval 29"/>
          <p:cNvSpPr>
            <a:spLocks noChangeArrowheads="1"/>
          </p:cNvSpPr>
          <p:nvPr/>
        </p:nvSpPr>
        <p:spPr bwMode="auto">
          <a:xfrm>
            <a:off x="2989263" y="2209800"/>
            <a:ext cx="515937" cy="531812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34</a:t>
            </a:r>
          </a:p>
        </p:txBody>
      </p:sp>
      <p:sp>
        <p:nvSpPr>
          <p:cNvPr id="414750" name="Oval 30"/>
          <p:cNvSpPr>
            <a:spLocks noChangeArrowheads="1"/>
          </p:cNvSpPr>
          <p:nvPr/>
        </p:nvSpPr>
        <p:spPr bwMode="auto">
          <a:xfrm>
            <a:off x="4056062" y="1435100"/>
            <a:ext cx="515938" cy="531812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21</a:t>
            </a:r>
          </a:p>
        </p:txBody>
      </p:sp>
      <p:sp>
        <p:nvSpPr>
          <p:cNvPr id="414753" name="Oval 33"/>
          <p:cNvSpPr>
            <a:spLocks noChangeArrowheads="1"/>
          </p:cNvSpPr>
          <p:nvPr/>
        </p:nvSpPr>
        <p:spPr bwMode="auto">
          <a:xfrm>
            <a:off x="2584450" y="4495800"/>
            <a:ext cx="515938" cy="531812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24</a:t>
            </a:r>
          </a:p>
        </p:txBody>
      </p:sp>
      <p:sp>
        <p:nvSpPr>
          <p:cNvPr id="414754" name="Oval 34"/>
          <p:cNvSpPr>
            <a:spLocks noChangeArrowheads="1"/>
          </p:cNvSpPr>
          <p:nvPr/>
        </p:nvSpPr>
        <p:spPr bwMode="auto">
          <a:xfrm>
            <a:off x="2133600" y="3303588"/>
            <a:ext cx="515938" cy="531812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28</a:t>
            </a:r>
          </a:p>
        </p:txBody>
      </p:sp>
      <p:sp>
        <p:nvSpPr>
          <p:cNvPr id="13343" name="Text Box 37"/>
          <p:cNvSpPr txBox="1">
            <a:spLocks noChangeArrowheads="1"/>
          </p:cNvSpPr>
          <p:nvPr/>
        </p:nvSpPr>
        <p:spPr bwMode="auto">
          <a:xfrm>
            <a:off x="384175" y="1238250"/>
            <a:ext cx="282705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="1" spc="-5" dirty="0">
                <a:solidFill>
                  <a:srgbClr val="00B050"/>
                </a:solidFill>
                <a:cs typeface="Arial"/>
              </a:rPr>
              <a:t>2-</a:t>
            </a:r>
            <a:r>
              <a:rPr lang="en-US" b="1" spc="-30" dirty="0">
                <a:solidFill>
                  <a:srgbClr val="00B050"/>
                </a:solidFill>
                <a:cs typeface="Arial"/>
              </a:rPr>
              <a:t> </a:t>
            </a:r>
            <a:r>
              <a:rPr lang="en-US" b="1" spc="-5" dirty="0">
                <a:solidFill>
                  <a:srgbClr val="00B050"/>
                </a:solidFill>
                <a:cs typeface="Arial"/>
              </a:rPr>
              <a:t>Heap</a:t>
            </a:r>
            <a:r>
              <a:rPr lang="en-US" b="1" spc="-25" dirty="0">
                <a:solidFill>
                  <a:srgbClr val="00B050"/>
                </a:solidFill>
                <a:cs typeface="Arial"/>
              </a:rPr>
              <a:t> </a:t>
            </a:r>
            <a:r>
              <a:rPr lang="en-US" b="1" dirty="0">
                <a:solidFill>
                  <a:srgbClr val="00B050"/>
                </a:solidFill>
                <a:cs typeface="Arial"/>
              </a:rPr>
              <a:t>Sort</a:t>
            </a:r>
            <a:endParaRPr lang="en-US" dirty="0">
              <a:solidFill>
                <a:srgbClr val="00B050"/>
              </a:solidFill>
              <a:cs typeface="Arial"/>
            </a:endParaRPr>
          </a:p>
          <a:p>
            <a:r>
              <a:rPr lang="en-US" altLang="zh-CN" dirty="0">
                <a:ea typeface="宋体" charset="-122"/>
              </a:rPr>
              <a:t>Exchange A[1]-&gt;A[</a:t>
            </a:r>
            <a:r>
              <a:rPr lang="en-US" altLang="zh-CN" dirty="0" err="1">
                <a:ea typeface="宋体" charset="-122"/>
              </a:rPr>
              <a:t>i</a:t>
            </a:r>
            <a:r>
              <a:rPr lang="en-US" altLang="zh-CN" dirty="0">
                <a:ea typeface="宋体" charset="-122"/>
              </a:rPr>
              <a:t>]</a:t>
            </a:r>
          </a:p>
          <a:p>
            <a:r>
              <a:rPr lang="en-US" altLang="zh-CN" dirty="0" err="1">
                <a:ea typeface="宋体" charset="-122"/>
              </a:rPr>
              <a:t>MaxHeapify</a:t>
            </a:r>
            <a:r>
              <a:rPr lang="en-US" altLang="zh-CN" dirty="0">
                <a:ea typeface="宋体" charset="-122"/>
              </a:rPr>
              <a:t>(</a:t>
            </a:r>
            <a:r>
              <a:rPr lang="en-US" altLang="zh-CN" i="1" dirty="0">
                <a:ea typeface="宋体" charset="-122"/>
              </a:rPr>
              <a:t>A</a:t>
            </a:r>
            <a:r>
              <a:rPr lang="en-US" altLang="zh-CN" dirty="0">
                <a:ea typeface="宋体" charset="-122"/>
              </a:rPr>
              <a:t>, 1)</a:t>
            </a:r>
          </a:p>
        </p:txBody>
      </p:sp>
      <p:sp>
        <p:nvSpPr>
          <p:cNvPr id="32" name="Oval 30"/>
          <p:cNvSpPr>
            <a:spLocks noChangeArrowheads="1"/>
          </p:cNvSpPr>
          <p:nvPr/>
        </p:nvSpPr>
        <p:spPr bwMode="auto">
          <a:xfrm>
            <a:off x="3294062" y="4419600"/>
            <a:ext cx="515938" cy="531812"/>
          </a:xfrm>
          <a:prstGeom prst="ellipse">
            <a:avLst/>
          </a:prstGeom>
          <a:solidFill>
            <a:srgbClr val="00FF00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36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29000" y="395793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X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981952" y="6092269"/>
            <a:ext cx="5146497" cy="804665"/>
            <a:chOff x="3637756" y="968375"/>
            <a:chExt cx="5146497" cy="804665"/>
          </a:xfrm>
        </p:grpSpPr>
        <p:grpSp>
          <p:nvGrpSpPr>
            <p:cNvPr id="35" name="Group 4"/>
            <p:cNvGrpSpPr>
              <a:grpSpLocks/>
            </p:cNvGrpSpPr>
            <p:nvPr/>
          </p:nvGrpSpPr>
          <p:grpSpPr bwMode="auto">
            <a:xfrm>
              <a:off x="3637756" y="968375"/>
              <a:ext cx="5111751" cy="469900"/>
              <a:chOff x="444" y="668"/>
              <a:chExt cx="3220" cy="296"/>
            </a:xfrm>
          </p:grpSpPr>
          <p:sp>
            <p:nvSpPr>
              <p:cNvPr id="37" name="Text Box 5"/>
              <p:cNvSpPr txBox="1">
                <a:spLocks noChangeArrowheads="1"/>
              </p:cNvSpPr>
              <p:nvPr/>
            </p:nvSpPr>
            <p:spPr bwMode="auto">
              <a:xfrm>
                <a:off x="444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21</a:t>
                </a:r>
              </a:p>
            </p:txBody>
          </p:sp>
          <p:sp>
            <p:nvSpPr>
              <p:cNvPr id="38" name="Text Box 6"/>
              <p:cNvSpPr txBox="1">
                <a:spLocks noChangeArrowheads="1"/>
              </p:cNvSpPr>
              <p:nvPr/>
            </p:nvSpPr>
            <p:spPr bwMode="auto">
              <a:xfrm>
                <a:off x="770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34</a:t>
                </a:r>
              </a:p>
            </p:txBody>
          </p:sp>
          <p:sp>
            <p:nvSpPr>
              <p:cNvPr id="39" name="Text Box 7"/>
              <p:cNvSpPr txBox="1">
                <a:spLocks noChangeArrowheads="1"/>
              </p:cNvSpPr>
              <p:nvPr/>
            </p:nvSpPr>
            <p:spPr bwMode="auto">
              <a:xfrm>
                <a:off x="1096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30</a:t>
                </a:r>
              </a:p>
            </p:txBody>
          </p:sp>
          <p:sp>
            <p:nvSpPr>
              <p:cNvPr id="40" name="Text Box 8"/>
              <p:cNvSpPr txBox="1">
                <a:spLocks noChangeArrowheads="1"/>
              </p:cNvSpPr>
              <p:nvPr/>
            </p:nvSpPr>
            <p:spPr bwMode="auto">
              <a:xfrm>
                <a:off x="1423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28</a:t>
                </a:r>
              </a:p>
            </p:txBody>
          </p:sp>
          <p:sp>
            <p:nvSpPr>
              <p:cNvPr id="41" name="Text Box 9"/>
              <p:cNvSpPr txBox="1">
                <a:spLocks noChangeArrowheads="1"/>
              </p:cNvSpPr>
              <p:nvPr/>
            </p:nvSpPr>
            <p:spPr bwMode="auto">
              <a:xfrm>
                <a:off x="1749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27</a:t>
                </a:r>
              </a:p>
            </p:txBody>
          </p:sp>
          <p:sp>
            <p:nvSpPr>
              <p:cNvPr id="42" name="Text Box 10"/>
              <p:cNvSpPr txBox="1">
                <a:spLocks noChangeArrowheads="1"/>
              </p:cNvSpPr>
              <p:nvPr/>
            </p:nvSpPr>
            <p:spPr bwMode="auto">
              <a:xfrm>
                <a:off x="2076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29</a:t>
                </a:r>
              </a:p>
            </p:txBody>
          </p:sp>
          <p:sp>
            <p:nvSpPr>
              <p:cNvPr id="43" name="Text Box 11"/>
              <p:cNvSpPr txBox="1">
                <a:spLocks noChangeArrowheads="1"/>
              </p:cNvSpPr>
              <p:nvPr/>
            </p:nvSpPr>
            <p:spPr bwMode="auto">
              <a:xfrm>
                <a:off x="2383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23</a:t>
                </a:r>
              </a:p>
            </p:txBody>
          </p:sp>
          <p:sp>
            <p:nvSpPr>
              <p:cNvPr id="44" name="Text Box 12"/>
              <p:cNvSpPr txBox="1">
                <a:spLocks noChangeArrowheads="1"/>
              </p:cNvSpPr>
              <p:nvPr/>
            </p:nvSpPr>
            <p:spPr bwMode="auto">
              <a:xfrm>
                <a:off x="2710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22</a:t>
                </a:r>
              </a:p>
            </p:txBody>
          </p:sp>
          <p:sp>
            <p:nvSpPr>
              <p:cNvPr id="45" name="Text Box 13"/>
              <p:cNvSpPr txBox="1">
                <a:spLocks noChangeArrowheads="1"/>
              </p:cNvSpPr>
              <p:nvPr/>
            </p:nvSpPr>
            <p:spPr bwMode="auto">
              <a:xfrm>
                <a:off x="3027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24</a:t>
                </a:r>
              </a:p>
            </p:txBody>
          </p:sp>
          <p:sp>
            <p:nvSpPr>
              <p:cNvPr id="46" name="Text Box 14"/>
              <p:cNvSpPr txBox="1">
                <a:spLocks noChangeArrowheads="1"/>
              </p:cNvSpPr>
              <p:nvPr/>
            </p:nvSpPr>
            <p:spPr bwMode="auto">
              <a:xfrm>
                <a:off x="3354" y="668"/>
                <a:ext cx="310" cy="291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36</a:t>
                </a: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3829050" y="1465263"/>
              <a:ext cx="49552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1       2         3        4         5        6        7         8         9       10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457200" y="6107668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Array:</a:t>
            </a:r>
          </a:p>
        </p:txBody>
      </p:sp>
      <p:sp>
        <p:nvSpPr>
          <p:cNvPr id="48" name="Oval 32"/>
          <p:cNvSpPr>
            <a:spLocks noChangeArrowheads="1"/>
          </p:cNvSpPr>
          <p:nvPr/>
        </p:nvSpPr>
        <p:spPr bwMode="auto">
          <a:xfrm>
            <a:off x="4056062" y="1449388"/>
            <a:ext cx="515938" cy="531812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21</a:t>
            </a:r>
          </a:p>
        </p:txBody>
      </p:sp>
      <p:sp>
        <p:nvSpPr>
          <p:cNvPr id="414751" name="Oval 31"/>
          <p:cNvSpPr>
            <a:spLocks noChangeArrowheads="1"/>
          </p:cNvSpPr>
          <p:nvPr/>
        </p:nvSpPr>
        <p:spPr bwMode="auto">
          <a:xfrm>
            <a:off x="4038600" y="1439862"/>
            <a:ext cx="515938" cy="5318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34</a:t>
            </a:r>
          </a:p>
        </p:txBody>
      </p:sp>
      <p:sp>
        <p:nvSpPr>
          <p:cNvPr id="49" name="Oval 31"/>
          <p:cNvSpPr>
            <a:spLocks noChangeArrowheads="1"/>
          </p:cNvSpPr>
          <p:nvPr/>
        </p:nvSpPr>
        <p:spPr bwMode="auto">
          <a:xfrm>
            <a:off x="2971800" y="2211387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21</a:t>
            </a:r>
          </a:p>
        </p:txBody>
      </p:sp>
      <p:sp>
        <p:nvSpPr>
          <p:cNvPr id="414752" name="Oval 32"/>
          <p:cNvSpPr>
            <a:spLocks noChangeArrowheads="1"/>
          </p:cNvSpPr>
          <p:nvPr/>
        </p:nvSpPr>
        <p:spPr bwMode="auto">
          <a:xfrm>
            <a:off x="2989262" y="2211388"/>
            <a:ext cx="515938" cy="531812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21</a:t>
            </a:r>
          </a:p>
        </p:txBody>
      </p:sp>
      <p:sp>
        <p:nvSpPr>
          <p:cNvPr id="50" name="Oval 32"/>
          <p:cNvSpPr>
            <a:spLocks noChangeArrowheads="1"/>
          </p:cNvSpPr>
          <p:nvPr/>
        </p:nvSpPr>
        <p:spPr bwMode="auto">
          <a:xfrm>
            <a:off x="2151062" y="3278188"/>
            <a:ext cx="515938" cy="531812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21</a:t>
            </a:r>
          </a:p>
        </p:txBody>
      </p:sp>
      <p:sp>
        <p:nvSpPr>
          <p:cNvPr id="414755" name="Oval 35"/>
          <p:cNvSpPr>
            <a:spLocks noChangeArrowheads="1"/>
          </p:cNvSpPr>
          <p:nvPr/>
        </p:nvSpPr>
        <p:spPr bwMode="auto">
          <a:xfrm>
            <a:off x="2989262" y="2211388"/>
            <a:ext cx="515938" cy="5318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28</a:t>
            </a:r>
          </a:p>
        </p:txBody>
      </p:sp>
      <p:sp>
        <p:nvSpPr>
          <p:cNvPr id="414756" name="Oval 36"/>
          <p:cNvSpPr>
            <a:spLocks noChangeArrowheads="1"/>
          </p:cNvSpPr>
          <p:nvPr/>
        </p:nvSpPr>
        <p:spPr bwMode="auto">
          <a:xfrm>
            <a:off x="2133600" y="3297985"/>
            <a:ext cx="515937" cy="5318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24</a:t>
            </a:r>
          </a:p>
        </p:txBody>
      </p:sp>
      <p:sp>
        <p:nvSpPr>
          <p:cNvPr id="51" name="Oval 36"/>
          <p:cNvSpPr>
            <a:spLocks noChangeArrowheads="1"/>
          </p:cNvSpPr>
          <p:nvPr/>
        </p:nvSpPr>
        <p:spPr bwMode="auto">
          <a:xfrm>
            <a:off x="2590800" y="4495800"/>
            <a:ext cx="515937" cy="5318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zh-CN" dirty="0">
                <a:ea typeface="宋体" charset="-122"/>
              </a:rPr>
              <a:t>21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1981200" y="6096000"/>
            <a:ext cx="5146497" cy="804665"/>
            <a:chOff x="3637756" y="968375"/>
            <a:chExt cx="5146497" cy="804665"/>
          </a:xfrm>
        </p:grpSpPr>
        <p:grpSp>
          <p:nvGrpSpPr>
            <p:cNvPr id="53" name="Group 4"/>
            <p:cNvGrpSpPr>
              <a:grpSpLocks/>
            </p:cNvGrpSpPr>
            <p:nvPr/>
          </p:nvGrpSpPr>
          <p:grpSpPr bwMode="auto">
            <a:xfrm>
              <a:off x="3637756" y="968375"/>
              <a:ext cx="5111751" cy="469900"/>
              <a:chOff x="444" y="668"/>
              <a:chExt cx="3220" cy="296"/>
            </a:xfrm>
          </p:grpSpPr>
          <p:sp>
            <p:nvSpPr>
              <p:cNvPr id="55" name="Text Box 5"/>
              <p:cNvSpPr txBox="1">
                <a:spLocks noChangeArrowheads="1"/>
              </p:cNvSpPr>
              <p:nvPr/>
            </p:nvSpPr>
            <p:spPr bwMode="auto">
              <a:xfrm>
                <a:off x="444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34</a:t>
                </a:r>
              </a:p>
            </p:txBody>
          </p:sp>
          <p:sp>
            <p:nvSpPr>
              <p:cNvPr id="56" name="Text Box 6"/>
              <p:cNvSpPr txBox="1">
                <a:spLocks noChangeArrowheads="1"/>
              </p:cNvSpPr>
              <p:nvPr/>
            </p:nvSpPr>
            <p:spPr bwMode="auto">
              <a:xfrm>
                <a:off x="770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28</a:t>
                </a:r>
              </a:p>
            </p:txBody>
          </p:sp>
          <p:sp>
            <p:nvSpPr>
              <p:cNvPr id="57" name="Text Box 7"/>
              <p:cNvSpPr txBox="1">
                <a:spLocks noChangeArrowheads="1"/>
              </p:cNvSpPr>
              <p:nvPr/>
            </p:nvSpPr>
            <p:spPr bwMode="auto">
              <a:xfrm>
                <a:off x="1096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30</a:t>
                </a:r>
              </a:p>
            </p:txBody>
          </p:sp>
          <p:sp>
            <p:nvSpPr>
              <p:cNvPr id="58" name="Text Box 8"/>
              <p:cNvSpPr txBox="1">
                <a:spLocks noChangeArrowheads="1"/>
              </p:cNvSpPr>
              <p:nvPr/>
            </p:nvSpPr>
            <p:spPr bwMode="auto">
              <a:xfrm>
                <a:off x="1423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24</a:t>
                </a:r>
              </a:p>
            </p:txBody>
          </p:sp>
          <p:sp>
            <p:nvSpPr>
              <p:cNvPr id="59" name="Text Box 9"/>
              <p:cNvSpPr txBox="1">
                <a:spLocks noChangeArrowheads="1"/>
              </p:cNvSpPr>
              <p:nvPr/>
            </p:nvSpPr>
            <p:spPr bwMode="auto">
              <a:xfrm>
                <a:off x="1749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27</a:t>
                </a:r>
              </a:p>
            </p:txBody>
          </p:sp>
          <p:sp>
            <p:nvSpPr>
              <p:cNvPr id="60" name="Text Box 10"/>
              <p:cNvSpPr txBox="1">
                <a:spLocks noChangeArrowheads="1"/>
              </p:cNvSpPr>
              <p:nvPr/>
            </p:nvSpPr>
            <p:spPr bwMode="auto">
              <a:xfrm>
                <a:off x="2076" y="668"/>
                <a:ext cx="316" cy="296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29</a:t>
                </a:r>
              </a:p>
            </p:txBody>
          </p:sp>
          <p:sp>
            <p:nvSpPr>
              <p:cNvPr id="61" name="Text Box 11"/>
              <p:cNvSpPr txBox="1">
                <a:spLocks noChangeArrowheads="1"/>
              </p:cNvSpPr>
              <p:nvPr/>
            </p:nvSpPr>
            <p:spPr bwMode="auto">
              <a:xfrm>
                <a:off x="2383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23</a:t>
                </a:r>
              </a:p>
            </p:txBody>
          </p:sp>
          <p:sp>
            <p:nvSpPr>
              <p:cNvPr id="62" name="Text Box 12"/>
              <p:cNvSpPr txBox="1">
                <a:spLocks noChangeArrowheads="1"/>
              </p:cNvSpPr>
              <p:nvPr/>
            </p:nvSpPr>
            <p:spPr bwMode="auto">
              <a:xfrm>
                <a:off x="2710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22</a:t>
                </a:r>
              </a:p>
            </p:txBody>
          </p:sp>
          <p:sp>
            <p:nvSpPr>
              <p:cNvPr id="63" name="Text Box 13"/>
              <p:cNvSpPr txBox="1">
                <a:spLocks noChangeArrowheads="1"/>
              </p:cNvSpPr>
              <p:nvPr/>
            </p:nvSpPr>
            <p:spPr bwMode="auto">
              <a:xfrm>
                <a:off x="3027" y="668"/>
                <a:ext cx="310" cy="291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24</a:t>
                </a:r>
              </a:p>
            </p:txBody>
          </p:sp>
          <p:sp>
            <p:nvSpPr>
              <p:cNvPr id="64" name="Text Box 14"/>
              <p:cNvSpPr txBox="1">
                <a:spLocks noChangeArrowheads="1"/>
              </p:cNvSpPr>
              <p:nvPr/>
            </p:nvSpPr>
            <p:spPr bwMode="auto">
              <a:xfrm>
                <a:off x="3354" y="668"/>
                <a:ext cx="310" cy="291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altLang="zh-CN" dirty="0">
                    <a:ea typeface="宋体" charset="-122"/>
                  </a:rPr>
                  <a:t>36</a:t>
                </a:r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3829050" y="1465263"/>
              <a:ext cx="49552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1       2         3        4         5        6        7         8         9       10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561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4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1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14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14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1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1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1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1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48" grpId="0" animBg="1" autoUpdateAnimBg="0"/>
      <p:bldP spid="414749" grpId="0" animBg="1" autoUpdateAnimBg="0"/>
      <p:bldP spid="414750" grpId="0" animBg="1" autoUpdateAnimBg="0"/>
      <p:bldP spid="414753" grpId="0" animBg="1" autoUpdateAnimBg="0"/>
      <p:bldP spid="414754" grpId="0" animBg="1" autoUpdateAnimBg="0"/>
      <p:bldP spid="32" grpId="0" animBg="1" autoUpdateAnimBg="0"/>
      <p:bldP spid="2" grpId="0"/>
      <p:bldP spid="47" grpId="0"/>
      <p:bldP spid="48" grpId="0" animBg="1" autoUpdateAnimBg="0"/>
      <p:bldP spid="414751" grpId="0" animBg="1" autoUpdateAnimBg="0"/>
      <p:bldP spid="49" grpId="0" animBg="1" autoUpdateAnimBg="0"/>
      <p:bldP spid="414752" grpId="0" animBg="1" autoUpdateAnimBg="0"/>
      <p:bldP spid="50" grpId="0" animBg="1" autoUpdateAnimBg="0"/>
      <p:bldP spid="414755" grpId="0" animBg="1" autoUpdateAnimBg="0"/>
      <p:bldP spid="414756" grpId="0" animBg="1" autoUpdateAnimBg="0"/>
      <p:bldP spid="51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Maintaining the heap property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325" y="1277937"/>
            <a:ext cx="8753475" cy="52752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Suppose two </a:t>
            </a:r>
            <a:r>
              <a:rPr lang="en-US" altLang="zh-CN" sz="2800" dirty="0" err="1">
                <a:solidFill>
                  <a:schemeClr val="tx1"/>
                </a:solidFill>
                <a:ea typeface="宋体" charset="-122"/>
              </a:rPr>
              <a:t>subtrees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 are max-heaps, </a:t>
            </a:r>
            <a:br>
              <a:rPr lang="en-US" altLang="zh-CN" sz="2800" dirty="0">
                <a:solidFill>
                  <a:schemeClr val="tx1"/>
                </a:solidFill>
                <a:ea typeface="宋体" charset="-122"/>
              </a:rPr>
            </a:b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but the root violates the max-heap </a:t>
            </a:r>
            <a:br>
              <a:rPr lang="en-US" altLang="zh-CN" sz="2800" dirty="0">
                <a:solidFill>
                  <a:schemeClr val="tx1"/>
                </a:solidFill>
                <a:ea typeface="宋体" charset="-122"/>
              </a:rPr>
            </a:b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property.</a:t>
            </a:r>
          </a:p>
          <a:p>
            <a:pPr>
              <a:lnSpc>
                <a:spcPct val="90000"/>
              </a:lnSpc>
            </a:pPr>
            <a:endParaRPr lang="en-US" altLang="zh-CN" sz="2800" dirty="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solidFill>
                <a:schemeClr val="hlink"/>
              </a:solidFill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solidFill>
                <a:schemeClr val="hlink"/>
              </a:solidFill>
              <a:ea typeface="宋体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Fix the offending node by exchanging the value at the node with the larger of the values at its children. 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May lead to the </a:t>
            </a:r>
            <a:r>
              <a:rPr lang="en-US" altLang="zh-CN" sz="2400" dirty="0" err="1">
                <a:solidFill>
                  <a:schemeClr val="tx1"/>
                </a:solidFill>
                <a:ea typeface="宋体" charset="-122"/>
              </a:rPr>
              <a:t>subtree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 at the child not being a heap.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Recursively fix the children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until all of them satisfy the max-heap property.</a:t>
            </a:r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5708650" y="2378075"/>
            <a:ext cx="1214438" cy="1241425"/>
            <a:chOff x="4592" y="1382"/>
            <a:chExt cx="1168" cy="1194"/>
          </a:xfrm>
        </p:grpSpPr>
        <p:sp>
          <p:nvSpPr>
            <p:cNvPr id="12299" name="AutoShape 5"/>
            <p:cNvSpPr>
              <a:spLocks noChangeArrowheads="1"/>
            </p:cNvSpPr>
            <p:nvPr/>
          </p:nvSpPr>
          <p:spPr bwMode="auto">
            <a:xfrm>
              <a:off x="4592" y="1440"/>
              <a:ext cx="1168" cy="1136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2300" name="Oval 6"/>
            <p:cNvSpPr>
              <a:spLocks noChangeAspect="1" noChangeArrowheads="1"/>
            </p:cNvSpPr>
            <p:nvPr/>
          </p:nvSpPr>
          <p:spPr bwMode="auto">
            <a:xfrm>
              <a:off x="5109" y="1382"/>
              <a:ext cx="127" cy="127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</p:grpSp>
      <p:grpSp>
        <p:nvGrpSpPr>
          <p:cNvPr id="12293" name="Group 7"/>
          <p:cNvGrpSpPr>
            <a:grpSpLocks/>
          </p:cNvGrpSpPr>
          <p:nvPr/>
        </p:nvGrpSpPr>
        <p:grpSpPr bwMode="auto">
          <a:xfrm>
            <a:off x="7367588" y="2378075"/>
            <a:ext cx="1214437" cy="1241425"/>
            <a:chOff x="4592" y="1382"/>
            <a:chExt cx="1168" cy="1194"/>
          </a:xfrm>
        </p:grpSpPr>
        <p:sp>
          <p:nvSpPr>
            <p:cNvPr id="12297" name="AutoShape 8"/>
            <p:cNvSpPr>
              <a:spLocks noChangeArrowheads="1"/>
            </p:cNvSpPr>
            <p:nvPr/>
          </p:nvSpPr>
          <p:spPr bwMode="auto">
            <a:xfrm>
              <a:off x="4592" y="1440"/>
              <a:ext cx="1168" cy="1136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2298" name="Oval 9"/>
            <p:cNvSpPr>
              <a:spLocks noChangeAspect="1" noChangeArrowheads="1"/>
            </p:cNvSpPr>
            <p:nvPr/>
          </p:nvSpPr>
          <p:spPr bwMode="auto">
            <a:xfrm>
              <a:off x="5109" y="1382"/>
              <a:ext cx="127" cy="127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</p:grpSp>
      <p:sp>
        <p:nvSpPr>
          <p:cNvPr id="12294" name="Oval 10"/>
          <p:cNvSpPr>
            <a:spLocks noChangeArrowheads="1"/>
          </p:cNvSpPr>
          <p:nvPr/>
        </p:nvSpPr>
        <p:spPr bwMode="auto">
          <a:xfrm>
            <a:off x="7067550" y="1516063"/>
            <a:ext cx="195263" cy="195262"/>
          </a:xfrm>
          <a:prstGeom prst="ellipse">
            <a:avLst/>
          </a:prstGeom>
          <a:solidFill>
            <a:srgbClr val="CC00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295" name="Line 11"/>
          <p:cNvSpPr>
            <a:spLocks noChangeShapeType="1"/>
          </p:cNvSpPr>
          <p:nvPr/>
        </p:nvSpPr>
        <p:spPr bwMode="auto">
          <a:xfrm flipH="1">
            <a:off x="6375400" y="1684338"/>
            <a:ext cx="692150" cy="693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12"/>
          <p:cNvSpPr>
            <a:spLocks noChangeShapeType="1"/>
          </p:cNvSpPr>
          <p:nvPr/>
        </p:nvSpPr>
        <p:spPr bwMode="auto">
          <a:xfrm>
            <a:off x="7237413" y="1711325"/>
            <a:ext cx="665162" cy="666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39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116" y="503935"/>
            <a:ext cx="4761230" cy="4597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65" dirty="0">
                <a:solidFill>
                  <a:srgbClr val="FF0000"/>
                </a:solidFill>
              </a:rPr>
              <a:t>EXA</a:t>
            </a:r>
            <a:r>
              <a:rPr sz="2900" spc="-60" dirty="0">
                <a:solidFill>
                  <a:srgbClr val="FF0000"/>
                </a:solidFill>
              </a:rPr>
              <a:t>M</a:t>
            </a:r>
            <a:r>
              <a:rPr sz="2900" spc="-65" dirty="0">
                <a:solidFill>
                  <a:srgbClr val="FF0000"/>
                </a:solidFill>
              </a:rPr>
              <a:t>P</a:t>
            </a:r>
            <a:r>
              <a:rPr sz="2900" spc="-60" dirty="0">
                <a:solidFill>
                  <a:srgbClr val="FF0000"/>
                </a:solidFill>
              </a:rPr>
              <a:t>L</a:t>
            </a:r>
            <a:r>
              <a:rPr sz="2900" spc="-65" dirty="0">
                <a:solidFill>
                  <a:srgbClr val="FF0000"/>
                </a:solidFill>
              </a:rPr>
              <a:t>E</a:t>
            </a:r>
            <a:r>
              <a:rPr lang="en-US" sz="2900" spc="-65" dirty="0">
                <a:solidFill>
                  <a:srgbClr val="FF0000"/>
                </a:solidFill>
              </a:rPr>
              <a:t>2</a:t>
            </a:r>
            <a:r>
              <a:rPr sz="2900" dirty="0">
                <a:solidFill>
                  <a:srgbClr val="FF0000"/>
                </a:solidFill>
              </a:rPr>
              <a:t>:</a:t>
            </a:r>
            <a:endParaRPr sz="2900" dirty="0"/>
          </a:p>
        </p:txBody>
      </p:sp>
      <p:sp>
        <p:nvSpPr>
          <p:cNvPr id="3" name="object 3"/>
          <p:cNvSpPr txBox="1"/>
          <p:nvPr/>
        </p:nvSpPr>
        <p:spPr>
          <a:xfrm>
            <a:off x="5907404" y="495681"/>
            <a:ext cx="240601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65" dirty="0">
                <a:solidFill>
                  <a:srgbClr val="585858"/>
                </a:solidFill>
                <a:latin typeface="Arial MT"/>
                <a:cs typeface="Arial MT"/>
              </a:rPr>
              <a:t>A=[</a:t>
            </a:r>
            <a:r>
              <a:rPr sz="2900" spc="-60" dirty="0">
                <a:solidFill>
                  <a:srgbClr val="585858"/>
                </a:solidFill>
                <a:latin typeface="Arial MT"/>
                <a:cs typeface="Arial MT"/>
              </a:rPr>
              <a:t>4</a:t>
            </a:r>
            <a:r>
              <a:rPr sz="2900" dirty="0">
                <a:solidFill>
                  <a:srgbClr val="585858"/>
                </a:solidFill>
                <a:latin typeface="Arial MT"/>
                <a:cs typeface="Arial MT"/>
              </a:rPr>
              <a:t>,</a:t>
            </a:r>
            <a:r>
              <a:rPr sz="2900" spc="-15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900" spc="-55" dirty="0">
                <a:solidFill>
                  <a:srgbClr val="585858"/>
                </a:solidFill>
                <a:latin typeface="Arial MT"/>
                <a:cs typeface="Arial MT"/>
              </a:rPr>
              <a:t>7</a:t>
            </a:r>
            <a:r>
              <a:rPr sz="2900" dirty="0">
                <a:solidFill>
                  <a:srgbClr val="585858"/>
                </a:solidFill>
                <a:latin typeface="Arial MT"/>
                <a:cs typeface="Arial MT"/>
              </a:rPr>
              <a:t>,</a:t>
            </a:r>
            <a:r>
              <a:rPr sz="2900" spc="-1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900" spc="-60" dirty="0">
                <a:solidFill>
                  <a:srgbClr val="585858"/>
                </a:solidFill>
                <a:latin typeface="Arial MT"/>
                <a:cs typeface="Arial MT"/>
              </a:rPr>
              <a:t>3</a:t>
            </a:r>
            <a:r>
              <a:rPr sz="2900" dirty="0">
                <a:solidFill>
                  <a:srgbClr val="585858"/>
                </a:solidFill>
                <a:latin typeface="Arial MT"/>
                <a:cs typeface="Arial MT"/>
              </a:rPr>
              <a:t>,</a:t>
            </a:r>
            <a:r>
              <a:rPr sz="2900" spc="-1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900" spc="-60" dirty="0">
                <a:solidFill>
                  <a:srgbClr val="585858"/>
                </a:solidFill>
                <a:latin typeface="Arial MT"/>
                <a:cs typeface="Arial MT"/>
              </a:rPr>
              <a:t>1</a:t>
            </a:r>
            <a:r>
              <a:rPr sz="2900" dirty="0">
                <a:solidFill>
                  <a:srgbClr val="585858"/>
                </a:solidFill>
                <a:latin typeface="Arial MT"/>
                <a:cs typeface="Arial MT"/>
              </a:rPr>
              <a:t>,</a:t>
            </a:r>
            <a:r>
              <a:rPr sz="2900" spc="-1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900" spc="-60" dirty="0">
                <a:solidFill>
                  <a:srgbClr val="585858"/>
                </a:solidFill>
                <a:latin typeface="Arial MT"/>
                <a:cs typeface="Arial MT"/>
              </a:rPr>
              <a:t>2</a:t>
            </a:r>
            <a:r>
              <a:rPr sz="2900" dirty="0">
                <a:solidFill>
                  <a:srgbClr val="585858"/>
                </a:solidFill>
                <a:latin typeface="Arial MT"/>
                <a:cs typeface="Arial MT"/>
              </a:rPr>
              <a:t>]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32829" y="642589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929" y="1048639"/>
            <a:ext cx="7930489" cy="26135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B050"/>
                </a:solidFill>
                <a:latin typeface="Arial"/>
                <a:cs typeface="Arial"/>
              </a:rPr>
              <a:t>1-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Build</a:t>
            </a:r>
            <a:r>
              <a:rPr sz="1800" b="1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sz="1800" b="1" spc="-20" dirty="0">
                <a:solidFill>
                  <a:srgbClr val="00B050"/>
                </a:solidFill>
                <a:latin typeface="Arial"/>
                <a:cs typeface="Arial"/>
              </a:rPr>
              <a:t>Max </a:t>
            </a:r>
            <a:r>
              <a:rPr sz="1800" b="1" spc="-10" dirty="0">
                <a:solidFill>
                  <a:srgbClr val="00B050"/>
                </a:solidFill>
                <a:latin typeface="Arial"/>
                <a:cs typeface="Arial"/>
              </a:rPr>
              <a:t>Heap</a:t>
            </a:r>
            <a:endParaRPr sz="1800" dirty="0">
              <a:solidFill>
                <a:srgbClr val="00B050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lang="en-US" sz="1800" b="1" spc="-5" dirty="0">
                <a:latin typeface="Arial"/>
                <a:cs typeface="Arial"/>
              </a:rPr>
              <a:t>- </a:t>
            </a:r>
            <a:r>
              <a:rPr sz="1800" b="1" spc="-5" dirty="0">
                <a:latin typeface="Arial"/>
                <a:cs typeface="Arial"/>
              </a:rPr>
              <a:t>Start</a:t>
            </a:r>
            <a:r>
              <a:rPr sz="1800" b="1" dirty="0">
                <a:latin typeface="Arial"/>
                <a:cs typeface="Arial"/>
              </a:rPr>
              <a:t> from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node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lang="en-US" sz="1800" b="1" spc="-5" dirty="0" err="1">
                <a:latin typeface="Arial"/>
                <a:cs typeface="Arial"/>
              </a:rPr>
              <a:t>i</a:t>
            </a:r>
            <a:r>
              <a:rPr lang="en-US" sz="1800" b="1" spc="-5" dirty="0">
                <a:latin typeface="Arial"/>
                <a:cs typeface="Arial"/>
              </a:rPr>
              <a:t>=</a:t>
            </a:r>
            <a:r>
              <a:rPr sz="1800" b="1" dirty="0">
                <a:latin typeface="Arial"/>
                <a:cs typeface="Arial"/>
              </a:rPr>
              <a:t>n/2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up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1 </a:t>
            </a:r>
            <a:r>
              <a:rPr sz="1800" b="1" spc="-484" dirty="0">
                <a:latin typeface="Arial"/>
                <a:cs typeface="Arial"/>
              </a:rPr>
              <a:t> </a:t>
            </a:r>
            <a:endParaRPr lang="en-US" sz="1800" b="1" spc="-484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lang="en-US" sz="1800" b="1" dirty="0">
                <a:latin typeface="Arial"/>
                <a:cs typeface="Arial"/>
              </a:rPr>
              <a:t>- C</a:t>
            </a:r>
            <a:r>
              <a:rPr sz="1800" b="1" dirty="0">
                <a:latin typeface="Arial"/>
                <a:cs typeface="Arial"/>
              </a:rPr>
              <a:t>all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lang="en-US" sz="1800" b="1" spc="-5" dirty="0" err="1">
                <a:solidFill>
                  <a:srgbClr val="C00000"/>
                </a:solidFill>
                <a:latin typeface="Arial"/>
                <a:cs typeface="Arial"/>
              </a:rPr>
              <a:t>Max</a:t>
            </a:r>
            <a:r>
              <a:rPr sz="1800" b="1" spc="-5" dirty="0" err="1">
                <a:solidFill>
                  <a:srgbClr val="C00000"/>
                </a:solidFill>
                <a:latin typeface="Arial"/>
                <a:cs typeface="Arial"/>
              </a:rPr>
              <a:t>Heapify</a:t>
            </a:r>
            <a:r>
              <a:rPr lang="en-US" sz="1800" b="1" spc="-5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lang="en-US" sz="1800" b="1" spc="-5" dirty="0" err="1">
                <a:solidFill>
                  <a:srgbClr val="C00000"/>
                </a:solidFill>
                <a:latin typeface="Arial"/>
                <a:cs typeface="Arial"/>
              </a:rPr>
              <a:t>A,i</a:t>
            </a:r>
            <a:r>
              <a:rPr lang="en-US" sz="1800" b="1" spc="-5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endParaRPr sz="1800" dirty="0">
              <a:solidFill>
                <a:srgbClr val="C00000"/>
              </a:solidFill>
              <a:latin typeface="Arial"/>
              <a:cs typeface="Arial"/>
            </a:endParaRPr>
          </a:p>
          <a:p>
            <a:pPr marL="105410">
              <a:lnSpc>
                <a:spcPct val="100000"/>
              </a:lnSpc>
              <a:spcBef>
                <a:spcPts val="570"/>
              </a:spcBef>
            </a:pPr>
            <a:r>
              <a:rPr sz="1800" spc="-5" dirty="0">
                <a:latin typeface="Arial MT"/>
                <a:cs typeface="Arial MT"/>
              </a:rPr>
              <a:t>i=n/2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|_5/2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_|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=2</a:t>
            </a:r>
            <a:r>
              <a:rPr lang="en-US" sz="1800" spc="-5" dirty="0">
                <a:latin typeface="Arial MT"/>
                <a:cs typeface="Arial MT"/>
              </a:rPr>
              <a:t>	A[</a:t>
            </a:r>
            <a:r>
              <a:rPr lang="en-US" sz="1800" spc="-5" dirty="0" err="1">
                <a:latin typeface="Arial MT"/>
                <a:cs typeface="Arial MT"/>
              </a:rPr>
              <a:t>i</a:t>
            </a:r>
            <a:r>
              <a:rPr lang="en-US" sz="1800" spc="-5" dirty="0">
                <a:latin typeface="Arial MT"/>
                <a:cs typeface="Arial MT"/>
              </a:rPr>
              <a:t>] </a:t>
            </a:r>
            <a:r>
              <a:rPr lang="en-US" spc="-5" dirty="0">
                <a:latin typeface="Arial MT"/>
                <a:cs typeface="Arial MT"/>
              </a:rPr>
              <a:t>&gt;= his children? Yes</a:t>
            </a:r>
          </a:p>
          <a:p>
            <a:pPr marL="105410">
              <a:spcBef>
                <a:spcPts val="570"/>
              </a:spcBef>
            </a:pPr>
            <a:r>
              <a:rPr lang="en-US" sz="1800" spc="-5" dirty="0" err="1">
                <a:latin typeface="Arial MT"/>
                <a:cs typeface="Arial MT"/>
              </a:rPr>
              <a:t>i</a:t>
            </a:r>
            <a:r>
              <a:rPr lang="en-US" sz="1800" spc="-5" dirty="0">
                <a:latin typeface="Arial MT"/>
                <a:cs typeface="Arial MT"/>
              </a:rPr>
              <a:t>=1			A[</a:t>
            </a:r>
            <a:r>
              <a:rPr lang="en-US" sz="1800" spc="-5" dirty="0" err="1">
                <a:latin typeface="Arial MT"/>
                <a:cs typeface="Arial MT"/>
              </a:rPr>
              <a:t>i</a:t>
            </a:r>
            <a:r>
              <a:rPr lang="en-US" sz="1800" spc="-5" dirty="0">
                <a:latin typeface="Arial MT"/>
                <a:cs typeface="Arial MT"/>
              </a:rPr>
              <a:t>] &gt; </a:t>
            </a:r>
            <a:r>
              <a:rPr lang="en-US" spc="-5" dirty="0">
                <a:latin typeface="Arial MT"/>
                <a:cs typeface="Arial MT"/>
              </a:rPr>
              <a:t>= his children? No </a:t>
            </a:r>
            <a:r>
              <a:rPr lang="en-US" spc="-5" dirty="0">
                <a:latin typeface="Arial MT"/>
                <a:cs typeface="Arial MT"/>
                <a:sym typeface="Wingdings" panose="05000000000000000000" pitchFamily="2" charset="2"/>
              </a:rPr>
              <a:t> swap with largest</a:t>
            </a:r>
          </a:p>
          <a:p>
            <a:pPr marL="105410">
              <a:spcBef>
                <a:spcPts val="570"/>
              </a:spcBef>
            </a:pPr>
            <a:r>
              <a:rPr lang="en-US" spc="-5" dirty="0">
                <a:latin typeface="Arial MT"/>
                <a:cs typeface="Arial MT"/>
                <a:sym typeface="Wingdings" panose="05000000000000000000" pitchFamily="2" charset="2"/>
              </a:rPr>
              <a:t>Increment </a:t>
            </a:r>
            <a:r>
              <a:rPr lang="en-US" spc="-5" dirty="0" err="1">
                <a:latin typeface="Arial MT"/>
                <a:cs typeface="Arial MT"/>
                <a:sym typeface="Wingdings" panose="05000000000000000000" pitchFamily="2" charset="2"/>
              </a:rPr>
              <a:t>i</a:t>
            </a:r>
            <a:r>
              <a:rPr lang="en-US" spc="-5" dirty="0">
                <a:latin typeface="Arial MT"/>
                <a:cs typeface="Arial MT"/>
                <a:sym typeface="Wingdings" panose="05000000000000000000" pitchFamily="2" charset="2"/>
              </a:rPr>
              <a:t> , and check if max heap property remains in the rest of subtree</a:t>
            </a:r>
          </a:p>
          <a:p>
            <a:pPr marL="105410">
              <a:spcBef>
                <a:spcPts val="570"/>
              </a:spcBef>
            </a:pPr>
            <a:endParaRPr lang="en-US" spc="-5" dirty="0">
              <a:latin typeface="Arial MT"/>
              <a:cs typeface="Arial MT"/>
            </a:endParaRPr>
          </a:p>
          <a:p>
            <a:pPr marL="105410">
              <a:lnSpc>
                <a:spcPct val="100000"/>
              </a:lnSpc>
              <a:spcBef>
                <a:spcPts val="570"/>
              </a:spcBef>
            </a:pPr>
            <a:endParaRPr sz="1800" dirty="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5858" y="3262693"/>
            <a:ext cx="1991360" cy="1381760"/>
            <a:chOff x="895858" y="3262693"/>
            <a:chExt cx="1991360" cy="1381760"/>
          </a:xfrm>
        </p:grpSpPr>
        <p:sp>
          <p:nvSpPr>
            <p:cNvPr id="7" name="object 7"/>
            <p:cNvSpPr/>
            <p:nvPr/>
          </p:nvSpPr>
          <p:spPr>
            <a:xfrm>
              <a:off x="1501140" y="3267455"/>
              <a:ext cx="1381125" cy="1247140"/>
            </a:xfrm>
            <a:custGeom>
              <a:avLst/>
              <a:gdLst/>
              <a:ahLst/>
              <a:cxnLst/>
              <a:rect l="l" t="t" r="r" b="b"/>
              <a:pathLst>
                <a:path w="1381125" h="1247139">
                  <a:moveTo>
                    <a:pt x="487679" y="1246632"/>
                  </a:moveTo>
                  <a:lnTo>
                    <a:pt x="0" y="736092"/>
                  </a:lnTo>
                </a:path>
                <a:path w="1381125" h="1247139">
                  <a:moveTo>
                    <a:pt x="1380743" y="768096"/>
                  </a:moveTo>
                  <a:lnTo>
                    <a:pt x="647699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2228" y="3342131"/>
              <a:ext cx="1211580" cy="1172210"/>
            </a:xfrm>
            <a:custGeom>
              <a:avLst/>
              <a:gdLst/>
              <a:ahLst/>
              <a:cxnLst/>
              <a:rect l="l" t="t" r="r" b="b"/>
              <a:pathLst>
                <a:path w="1211580" h="1172210">
                  <a:moveTo>
                    <a:pt x="0" y="1171955"/>
                  </a:moveTo>
                  <a:lnTo>
                    <a:pt x="121158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2208" y="4315967"/>
              <a:ext cx="320040" cy="321945"/>
            </a:xfrm>
            <a:custGeom>
              <a:avLst/>
              <a:gdLst/>
              <a:ahLst/>
              <a:cxnLst/>
              <a:rect l="l" t="t" r="r" b="b"/>
              <a:pathLst>
                <a:path w="320040" h="321945">
                  <a:moveTo>
                    <a:pt x="160019" y="0"/>
                  </a:moveTo>
                  <a:lnTo>
                    <a:pt x="109440" y="8199"/>
                  </a:lnTo>
                  <a:lnTo>
                    <a:pt x="65513" y="31028"/>
                  </a:lnTo>
                  <a:lnTo>
                    <a:pt x="30873" y="65836"/>
                  </a:lnTo>
                  <a:lnTo>
                    <a:pt x="8157" y="109971"/>
                  </a:lnTo>
                  <a:lnTo>
                    <a:pt x="0" y="160781"/>
                  </a:lnTo>
                  <a:lnTo>
                    <a:pt x="8157" y="211592"/>
                  </a:lnTo>
                  <a:lnTo>
                    <a:pt x="30873" y="255727"/>
                  </a:lnTo>
                  <a:lnTo>
                    <a:pt x="65513" y="290535"/>
                  </a:lnTo>
                  <a:lnTo>
                    <a:pt x="109440" y="313364"/>
                  </a:lnTo>
                  <a:lnTo>
                    <a:pt x="160019" y="321563"/>
                  </a:lnTo>
                  <a:lnTo>
                    <a:pt x="210599" y="313364"/>
                  </a:lnTo>
                  <a:lnTo>
                    <a:pt x="254526" y="290535"/>
                  </a:lnTo>
                  <a:lnTo>
                    <a:pt x="289166" y="255727"/>
                  </a:lnTo>
                  <a:lnTo>
                    <a:pt x="311882" y="211592"/>
                  </a:lnTo>
                  <a:lnTo>
                    <a:pt x="320039" y="160781"/>
                  </a:lnTo>
                  <a:lnTo>
                    <a:pt x="311882" y="109971"/>
                  </a:lnTo>
                  <a:lnTo>
                    <a:pt x="289166" y="65836"/>
                  </a:lnTo>
                  <a:lnTo>
                    <a:pt x="254526" y="31028"/>
                  </a:lnTo>
                  <a:lnTo>
                    <a:pt x="210599" y="8199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2208" y="4315967"/>
              <a:ext cx="320040" cy="321945"/>
            </a:xfrm>
            <a:custGeom>
              <a:avLst/>
              <a:gdLst/>
              <a:ahLst/>
              <a:cxnLst/>
              <a:rect l="l" t="t" r="r" b="b"/>
              <a:pathLst>
                <a:path w="320040" h="321945">
                  <a:moveTo>
                    <a:pt x="0" y="160781"/>
                  </a:moveTo>
                  <a:lnTo>
                    <a:pt x="8157" y="109971"/>
                  </a:lnTo>
                  <a:lnTo>
                    <a:pt x="30873" y="65836"/>
                  </a:lnTo>
                  <a:lnTo>
                    <a:pt x="65513" y="31028"/>
                  </a:lnTo>
                  <a:lnTo>
                    <a:pt x="109440" y="8199"/>
                  </a:lnTo>
                  <a:lnTo>
                    <a:pt x="160019" y="0"/>
                  </a:lnTo>
                  <a:lnTo>
                    <a:pt x="210599" y="8199"/>
                  </a:lnTo>
                  <a:lnTo>
                    <a:pt x="254526" y="31028"/>
                  </a:lnTo>
                  <a:lnTo>
                    <a:pt x="289166" y="65836"/>
                  </a:lnTo>
                  <a:lnTo>
                    <a:pt x="311882" y="109971"/>
                  </a:lnTo>
                  <a:lnTo>
                    <a:pt x="320039" y="160781"/>
                  </a:lnTo>
                  <a:lnTo>
                    <a:pt x="311882" y="211592"/>
                  </a:lnTo>
                  <a:lnTo>
                    <a:pt x="289166" y="255727"/>
                  </a:lnTo>
                  <a:lnTo>
                    <a:pt x="254526" y="290535"/>
                  </a:lnTo>
                  <a:lnTo>
                    <a:pt x="210599" y="313364"/>
                  </a:lnTo>
                  <a:lnTo>
                    <a:pt x="160019" y="321563"/>
                  </a:lnTo>
                  <a:lnTo>
                    <a:pt x="109440" y="313364"/>
                  </a:lnTo>
                  <a:lnTo>
                    <a:pt x="65513" y="290535"/>
                  </a:lnTo>
                  <a:lnTo>
                    <a:pt x="30873" y="255727"/>
                  </a:lnTo>
                  <a:lnTo>
                    <a:pt x="8157" y="211592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86739" y="432155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53058" y="3869182"/>
            <a:ext cx="332740" cy="332740"/>
            <a:chOff x="1353058" y="3869182"/>
            <a:chExt cx="332740" cy="332740"/>
          </a:xfrm>
        </p:grpSpPr>
        <p:sp>
          <p:nvSpPr>
            <p:cNvPr id="13" name="object 13"/>
            <p:cNvSpPr/>
            <p:nvPr/>
          </p:nvSpPr>
          <p:spPr>
            <a:xfrm>
              <a:off x="1359408" y="3875532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19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19" y="320040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40" y="160020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59408" y="3875532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40" y="160020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19" y="320040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44244" y="387985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10257" y="4309617"/>
            <a:ext cx="332740" cy="334645"/>
            <a:chOff x="1810257" y="4309617"/>
            <a:chExt cx="332740" cy="334645"/>
          </a:xfrm>
        </p:grpSpPr>
        <p:sp>
          <p:nvSpPr>
            <p:cNvPr id="17" name="object 17"/>
            <p:cNvSpPr/>
            <p:nvPr/>
          </p:nvSpPr>
          <p:spPr>
            <a:xfrm>
              <a:off x="1816607" y="4315967"/>
              <a:ext cx="320040" cy="321945"/>
            </a:xfrm>
            <a:custGeom>
              <a:avLst/>
              <a:gdLst/>
              <a:ahLst/>
              <a:cxnLst/>
              <a:rect l="l" t="t" r="r" b="b"/>
              <a:pathLst>
                <a:path w="320039" h="321945">
                  <a:moveTo>
                    <a:pt x="160019" y="0"/>
                  </a:moveTo>
                  <a:lnTo>
                    <a:pt x="109435" y="8199"/>
                  </a:lnTo>
                  <a:lnTo>
                    <a:pt x="65507" y="31028"/>
                  </a:lnTo>
                  <a:lnTo>
                    <a:pt x="30870" y="65836"/>
                  </a:lnTo>
                  <a:lnTo>
                    <a:pt x="8156" y="109971"/>
                  </a:lnTo>
                  <a:lnTo>
                    <a:pt x="0" y="160781"/>
                  </a:lnTo>
                  <a:lnTo>
                    <a:pt x="8156" y="211592"/>
                  </a:lnTo>
                  <a:lnTo>
                    <a:pt x="30870" y="255727"/>
                  </a:lnTo>
                  <a:lnTo>
                    <a:pt x="65507" y="290535"/>
                  </a:lnTo>
                  <a:lnTo>
                    <a:pt x="109435" y="313364"/>
                  </a:lnTo>
                  <a:lnTo>
                    <a:pt x="160019" y="321563"/>
                  </a:lnTo>
                  <a:lnTo>
                    <a:pt x="210604" y="313364"/>
                  </a:lnTo>
                  <a:lnTo>
                    <a:pt x="254532" y="290535"/>
                  </a:lnTo>
                  <a:lnTo>
                    <a:pt x="289169" y="255727"/>
                  </a:lnTo>
                  <a:lnTo>
                    <a:pt x="311883" y="211592"/>
                  </a:lnTo>
                  <a:lnTo>
                    <a:pt x="320040" y="160781"/>
                  </a:lnTo>
                  <a:lnTo>
                    <a:pt x="311883" y="109971"/>
                  </a:lnTo>
                  <a:lnTo>
                    <a:pt x="289169" y="65836"/>
                  </a:lnTo>
                  <a:lnTo>
                    <a:pt x="254532" y="31028"/>
                  </a:lnTo>
                  <a:lnTo>
                    <a:pt x="210604" y="8199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16607" y="4315967"/>
              <a:ext cx="320040" cy="321945"/>
            </a:xfrm>
            <a:custGeom>
              <a:avLst/>
              <a:gdLst/>
              <a:ahLst/>
              <a:cxnLst/>
              <a:rect l="l" t="t" r="r" b="b"/>
              <a:pathLst>
                <a:path w="320039" h="321945">
                  <a:moveTo>
                    <a:pt x="0" y="160781"/>
                  </a:moveTo>
                  <a:lnTo>
                    <a:pt x="8156" y="109971"/>
                  </a:lnTo>
                  <a:lnTo>
                    <a:pt x="30870" y="65836"/>
                  </a:lnTo>
                  <a:lnTo>
                    <a:pt x="65507" y="31028"/>
                  </a:lnTo>
                  <a:lnTo>
                    <a:pt x="109435" y="8199"/>
                  </a:lnTo>
                  <a:lnTo>
                    <a:pt x="160019" y="0"/>
                  </a:lnTo>
                  <a:lnTo>
                    <a:pt x="210604" y="8199"/>
                  </a:lnTo>
                  <a:lnTo>
                    <a:pt x="254532" y="31028"/>
                  </a:lnTo>
                  <a:lnTo>
                    <a:pt x="289169" y="65836"/>
                  </a:lnTo>
                  <a:lnTo>
                    <a:pt x="311883" y="109971"/>
                  </a:lnTo>
                  <a:lnTo>
                    <a:pt x="320040" y="160781"/>
                  </a:lnTo>
                  <a:lnTo>
                    <a:pt x="311883" y="211592"/>
                  </a:lnTo>
                  <a:lnTo>
                    <a:pt x="289169" y="255727"/>
                  </a:lnTo>
                  <a:lnTo>
                    <a:pt x="254532" y="290535"/>
                  </a:lnTo>
                  <a:lnTo>
                    <a:pt x="210604" y="313364"/>
                  </a:lnTo>
                  <a:lnTo>
                    <a:pt x="160019" y="321563"/>
                  </a:lnTo>
                  <a:lnTo>
                    <a:pt x="109435" y="313364"/>
                  </a:lnTo>
                  <a:lnTo>
                    <a:pt x="65507" y="290535"/>
                  </a:lnTo>
                  <a:lnTo>
                    <a:pt x="30870" y="255727"/>
                  </a:lnTo>
                  <a:lnTo>
                    <a:pt x="8156" y="211592"/>
                  </a:lnTo>
                  <a:lnTo>
                    <a:pt x="0" y="16078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01444" y="432155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76957" y="3183382"/>
            <a:ext cx="332740" cy="332740"/>
            <a:chOff x="2076957" y="3183382"/>
            <a:chExt cx="332740" cy="332740"/>
          </a:xfrm>
        </p:grpSpPr>
        <p:sp>
          <p:nvSpPr>
            <p:cNvPr id="21" name="object 21"/>
            <p:cNvSpPr/>
            <p:nvPr/>
          </p:nvSpPr>
          <p:spPr>
            <a:xfrm>
              <a:off x="2083307" y="3189732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19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19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19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40" y="160019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83307" y="3189732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40" y="160019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19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68144" y="319405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721864" y="3869435"/>
            <a:ext cx="332740" cy="332740"/>
            <a:chOff x="2721864" y="3869435"/>
            <a:chExt cx="332740" cy="332740"/>
          </a:xfrm>
        </p:grpSpPr>
        <p:sp>
          <p:nvSpPr>
            <p:cNvPr id="25" name="object 25"/>
            <p:cNvSpPr/>
            <p:nvPr/>
          </p:nvSpPr>
          <p:spPr>
            <a:xfrm>
              <a:off x="2727960" y="3875531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19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19" y="320040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39" y="160020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27960" y="3875531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39" y="160020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19" y="320040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812795" y="387985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6939" y="3838194"/>
            <a:ext cx="337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=2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75050" y="3273361"/>
            <a:ext cx="1991360" cy="1381760"/>
            <a:chOff x="3575050" y="3273361"/>
            <a:chExt cx="1991360" cy="1381760"/>
          </a:xfrm>
        </p:grpSpPr>
        <p:sp>
          <p:nvSpPr>
            <p:cNvPr id="30" name="object 30"/>
            <p:cNvSpPr/>
            <p:nvPr/>
          </p:nvSpPr>
          <p:spPr>
            <a:xfrm>
              <a:off x="4181855" y="3278123"/>
              <a:ext cx="1379220" cy="1248410"/>
            </a:xfrm>
            <a:custGeom>
              <a:avLst/>
              <a:gdLst/>
              <a:ahLst/>
              <a:cxnLst/>
              <a:rect l="l" t="t" r="r" b="b"/>
              <a:pathLst>
                <a:path w="1379220" h="1248410">
                  <a:moveTo>
                    <a:pt x="487680" y="1248156"/>
                  </a:moveTo>
                  <a:lnTo>
                    <a:pt x="0" y="736092"/>
                  </a:lnTo>
                </a:path>
                <a:path w="1379220" h="1248410">
                  <a:moveTo>
                    <a:pt x="1379220" y="768095"/>
                  </a:moveTo>
                  <a:lnTo>
                    <a:pt x="6477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41420" y="3352799"/>
              <a:ext cx="1211580" cy="1173480"/>
            </a:xfrm>
            <a:custGeom>
              <a:avLst/>
              <a:gdLst/>
              <a:ahLst/>
              <a:cxnLst/>
              <a:rect l="l" t="t" r="r" b="b"/>
              <a:pathLst>
                <a:path w="1211579" h="1173479">
                  <a:moveTo>
                    <a:pt x="0" y="1173480"/>
                  </a:moveTo>
                  <a:lnTo>
                    <a:pt x="121157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81400" y="4328159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20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19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20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39" y="160019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81400" y="4328159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39" y="160019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20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66871" y="433285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032250" y="3879850"/>
            <a:ext cx="332740" cy="332740"/>
            <a:chOff x="4032250" y="3879850"/>
            <a:chExt cx="332740" cy="332740"/>
          </a:xfrm>
        </p:grpSpPr>
        <p:sp>
          <p:nvSpPr>
            <p:cNvPr id="36" name="object 36"/>
            <p:cNvSpPr/>
            <p:nvPr/>
          </p:nvSpPr>
          <p:spPr>
            <a:xfrm>
              <a:off x="4038600" y="388620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20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19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20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39" y="160019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38600" y="388620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39" y="160019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20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124325" y="389153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89450" y="4321809"/>
            <a:ext cx="332740" cy="332740"/>
            <a:chOff x="4489450" y="4321809"/>
            <a:chExt cx="332740" cy="332740"/>
          </a:xfrm>
        </p:grpSpPr>
        <p:sp>
          <p:nvSpPr>
            <p:cNvPr id="40" name="object 40"/>
            <p:cNvSpPr/>
            <p:nvPr/>
          </p:nvSpPr>
          <p:spPr>
            <a:xfrm>
              <a:off x="4495800" y="4328159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20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19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20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39" y="160019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495800" y="4328159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39" y="160019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20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581525" y="433285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756150" y="3194050"/>
            <a:ext cx="332740" cy="332740"/>
            <a:chOff x="4756150" y="3194050"/>
            <a:chExt cx="332740" cy="332740"/>
          </a:xfrm>
        </p:grpSpPr>
        <p:sp>
          <p:nvSpPr>
            <p:cNvPr id="44" name="object 44"/>
            <p:cNvSpPr/>
            <p:nvPr/>
          </p:nvSpPr>
          <p:spPr>
            <a:xfrm>
              <a:off x="4762500" y="320040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20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20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39" y="160020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762500" y="320040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39" y="160020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20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848225" y="320535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400802" y="3879850"/>
            <a:ext cx="332740" cy="332740"/>
            <a:chOff x="5400802" y="3879850"/>
            <a:chExt cx="332740" cy="332740"/>
          </a:xfrm>
        </p:grpSpPr>
        <p:sp>
          <p:nvSpPr>
            <p:cNvPr id="48" name="object 48"/>
            <p:cNvSpPr/>
            <p:nvPr/>
          </p:nvSpPr>
          <p:spPr>
            <a:xfrm>
              <a:off x="5407152" y="388620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20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19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20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39" y="160019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407152" y="388620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39" y="160019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20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492877" y="389153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181346" y="3152013"/>
            <a:ext cx="337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=1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103404" y="3192879"/>
            <a:ext cx="704850" cy="680720"/>
          </a:xfrm>
          <a:custGeom>
            <a:avLst/>
            <a:gdLst/>
            <a:ahLst/>
            <a:cxnLst/>
            <a:rect l="l" t="t" r="r" b="b"/>
            <a:pathLst>
              <a:path w="704850" h="680720">
                <a:moveTo>
                  <a:pt x="75149" y="680239"/>
                </a:moveTo>
                <a:lnTo>
                  <a:pt x="50954" y="639320"/>
                </a:lnTo>
                <a:lnTo>
                  <a:pt x="31513" y="596871"/>
                </a:lnTo>
                <a:lnTo>
                  <a:pt x="16762" y="553262"/>
                </a:lnTo>
                <a:lnTo>
                  <a:pt x="6636" y="508863"/>
                </a:lnTo>
                <a:lnTo>
                  <a:pt x="1070" y="464042"/>
                </a:lnTo>
                <a:lnTo>
                  <a:pt x="0" y="419171"/>
                </a:lnTo>
                <a:lnTo>
                  <a:pt x="3359" y="374620"/>
                </a:lnTo>
                <a:lnTo>
                  <a:pt x="11084" y="330756"/>
                </a:lnTo>
                <a:lnTo>
                  <a:pt x="23110" y="287952"/>
                </a:lnTo>
                <a:lnTo>
                  <a:pt x="39373" y="246576"/>
                </a:lnTo>
                <a:lnTo>
                  <a:pt x="59806" y="206998"/>
                </a:lnTo>
                <a:lnTo>
                  <a:pt x="84346" y="169589"/>
                </a:lnTo>
                <a:lnTo>
                  <a:pt x="112927" y="134718"/>
                </a:lnTo>
                <a:lnTo>
                  <a:pt x="145486" y="102754"/>
                </a:lnTo>
                <a:lnTo>
                  <a:pt x="181956" y="74068"/>
                </a:lnTo>
                <a:lnTo>
                  <a:pt x="223171" y="48598"/>
                </a:lnTo>
                <a:lnTo>
                  <a:pt x="266263" y="28492"/>
                </a:lnTo>
                <a:lnTo>
                  <a:pt x="310793" y="13713"/>
                </a:lnTo>
                <a:lnTo>
                  <a:pt x="356327" y="4227"/>
                </a:lnTo>
                <a:lnTo>
                  <a:pt x="402427" y="0"/>
                </a:lnTo>
                <a:lnTo>
                  <a:pt x="448656" y="995"/>
                </a:lnTo>
                <a:lnTo>
                  <a:pt x="494578" y="7179"/>
                </a:lnTo>
                <a:lnTo>
                  <a:pt x="539757" y="18517"/>
                </a:lnTo>
                <a:lnTo>
                  <a:pt x="583756" y="34974"/>
                </a:lnTo>
                <a:lnTo>
                  <a:pt x="626138" y="56514"/>
                </a:lnTo>
                <a:lnTo>
                  <a:pt x="666468" y="83104"/>
                </a:lnTo>
                <a:lnTo>
                  <a:pt x="704307" y="114708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6382258" y="3197161"/>
            <a:ext cx="1991360" cy="1381760"/>
            <a:chOff x="6382258" y="3197161"/>
            <a:chExt cx="1991360" cy="1381760"/>
          </a:xfrm>
        </p:grpSpPr>
        <p:sp>
          <p:nvSpPr>
            <p:cNvPr id="54" name="object 54"/>
            <p:cNvSpPr/>
            <p:nvPr/>
          </p:nvSpPr>
          <p:spPr>
            <a:xfrm>
              <a:off x="6987540" y="3201923"/>
              <a:ext cx="1381125" cy="1248410"/>
            </a:xfrm>
            <a:custGeom>
              <a:avLst/>
              <a:gdLst/>
              <a:ahLst/>
              <a:cxnLst/>
              <a:rect l="l" t="t" r="r" b="b"/>
              <a:pathLst>
                <a:path w="1381125" h="1248410">
                  <a:moveTo>
                    <a:pt x="487679" y="1248156"/>
                  </a:moveTo>
                  <a:lnTo>
                    <a:pt x="0" y="736092"/>
                  </a:lnTo>
                </a:path>
                <a:path w="1381125" h="1248410">
                  <a:moveTo>
                    <a:pt x="1380743" y="768095"/>
                  </a:moveTo>
                  <a:lnTo>
                    <a:pt x="6477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48628" y="3276599"/>
              <a:ext cx="1211580" cy="1173480"/>
            </a:xfrm>
            <a:custGeom>
              <a:avLst/>
              <a:gdLst/>
              <a:ahLst/>
              <a:cxnLst/>
              <a:rect l="l" t="t" r="r" b="b"/>
              <a:pathLst>
                <a:path w="1211579" h="1173479">
                  <a:moveTo>
                    <a:pt x="0" y="1173480"/>
                  </a:moveTo>
                  <a:lnTo>
                    <a:pt x="121157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88608" y="4251959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019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19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19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39" y="160019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88608" y="4251959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39" y="160019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19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474078" y="425665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839457" y="3803650"/>
            <a:ext cx="332740" cy="332740"/>
            <a:chOff x="6839457" y="3803650"/>
            <a:chExt cx="332740" cy="332740"/>
          </a:xfrm>
        </p:grpSpPr>
        <p:sp>
          <p:nvSpPr>
            <p:cNvPr id="60" name="object 60"/>
            <p:cNvSpPr/>
            <p:nvPr/>
          </p:nvSpPr>
          <p:spPr>
            <a:xfrm>
              <a:off x="6845807" y="381000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020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19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20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40" y="160019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845807" y="381000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40" y="160019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20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931279" y="381533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7296657" y="4245609"/>
            <a:ext cx="332740" cy="332740"/>
            <a:chOff x="7296657" y="4245609"/>
            <a:chExt cx="332740" cy="332740"/>
          </a:xfrm>
        </p:grpSpPr>
        <p:sp>
          <p:nvSpPr>
            <p:cNvPr id="64" name="object 64"/>
            <p:cNvSpPr/>
            <p:nvPr/>
          </p:nvSpPr>
          <p:spPr>
            <a:xfrm>
              <a:off x="7303007" y="4251959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020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19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20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40" y="160019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303007" y="4251959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40" y="160019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20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388732" y="425665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7563357" y="3117850"/>
            <a:ext cx="332740" cy="332740"/>
            <a:chOff x="7563357" y="3117850"/>
            <a:chExt cx="332740" cy="332740"/>
          </a:xfrm>
        </p:grpSpPr>
        <p:sp>
          <p:nvSpPr>
            <p:cNvPr id="68" name="object 68"/>
            <p:cNvSpPr/>
            <p:nvPr/>
          </p:nvSpPr>
          <p:spPr>
            <a:xfrm>
              <a:off x="7569707" y="312420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020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20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40" y="160020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569707" y="312420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40" y="160020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20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7655432" y="312915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8208264" y="3803903"/>
            <a:ext cx="332740" cy="332740"/>
            <a:chOff x="8208264" y="3803903"/>
            <a:chExt cx="332740" cy="332740"/>
          </a:xfrm>
        </p:grpSpPr>
        <p:sp>
          <p:nvSpPr>
            <p:cNvPr id="72" name="object 72"/>
            <p:cNvSpPr/>
            <p:nvPr/>
          </p:nvSpPr>
          <p:spPr>
            <a:xfrm>
              <a:off x="8214360" y="3809999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020" y="0"/>
                  </a:move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19"/>
                  </a:lnTo>
                  <a:lnTo>
                    <a:pt x="8156" y="210604"/>
                  </a:lnTo>
                  <a:lnTo>
                    <a:pt x="30870" y="254532"/>
                  </a:lnTo>
                  <a:lnTo>
                    <a:pt x="65507" y="289169"/>
                  </a:lnTo>
                  <a:lnTo>
                    <a:pt x="109435" y="311883"/>
                  </a:lnTo>
                  <a:lnTo>
                    <a:pt x="160020" y="320039"/>
                  </a:lnTo>
                  <a:lnTo>
                    <a:pt x="210604" y="311883"/>
                  </a:lnTo>
                  <a:lnTo>
                    <a:pt x="254532" y="289169"/>
                  </a:lnTo>
                  <a:lnTo>
                    <a:pt x="289169" y="254532"/>
                  </a:lnTo>
                  <a:lnTo>
                    <a:pt x="311883" y="210604"/>
                  </a:lnTo>
                  <a:lnTo>
                    <a:pt x="320040" y="160019"/>
                  </a:lnTo>
                  <a:lnTo>
                    <a:pt x="311883" y="109435"/>
                  </a:lnTo>
                  <a:lnTo>
                    <a:pt x="289169" y="65507"/>
                  </a:lnTo>
                  <a:lnTo>
                    <a:pt x="254532" y="30870"/>
                  </a:lnTo>
                  <a:lnTo>
                    <a:pt x="210604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214360" y="3809999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210604" y="8156"/>
                  </a:lnTo>
                  <a:lnTo>
                    <a:pt x="254532" y="30870"/>
                  </a:lnTo>
                  <a:lnTo>
                    <a:pt x="289169" y="65507"/>
                  </a:lnTo>
                  <a:lnTo>
                    <a:pt x="311883" y="109435"/>
                  </a:lnTo>
                  <a:lnTo>
                    <a:pt x="320040" y="160019"/>
                  </a:lnTo>
                  <a:lnTo>
                    <a:pt x="311883" y="210604"/>
                  </a:lnTo>
                  <a:lnTo>
                    <a:pt x="289169" y="254532"/>
                  </a:lnTo>
                  <a:lnTo>
                    <a:pt x="254532" y="289169"/>
                  </a:lnTo>
                  <a:lnTo>
                    <a:pt x="210604" y="311883"/>
                  </a:lnTo>
                  <a:lnTo>
                    <a:pt x="160020" y="320039"/>
                  </a:lnTo>
                  <a:lnTo>
                    <a:pt x="109435" y="311883"/>
                  </a:lnTo>
                  <a:lnTo>
                    <a:pt x="65507" y="289169"/>
                  </a:lnTo>
                  <a:lnTo>
                    <a:pt x="30870" y="254532"/>
                  </a:lnTo>
                  <a:lnTo>
                    <a:pt x="8156" y="210604"/>
                  </a:lnTo>
                  <a:lnTo>
                    <a:pt x="0" y="1600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8300084" y="381533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404228" y="3685413"/>
            <a:ext cx="337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=2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6" name="object 3"/>
          <p:cNvSpPr txBox="1"/>
          <p:nvPr/>
        </p:nvSpPr>
        <p:spPr>
          <a:xfrm>
            <a:off x="420116" y="5635088"/>
            <a:ext cx="7879967" cy="4597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900" spc="-65" dirty="0">
                <a:solidFill>
                  <a:srgbClr val="585858"/>
                </a:solidFill>
                <a:latin typeface="Arial MT"/>
                <a:cs typeface="Arial MT"/>
              </a:rPr>
              <a:t>The Max heap is built </a:t>
            </a:r>
            <a:r>
              <a:rPr lang="en-US" sz="2900" spc="-65" dirty="0">
                <a:solidFill>
                  <a:srgbClr val="585858"/>
                </a:solidFill>
                <a:latin typeface="Arial MT"/>
                <a:cs typeface="Arial MT"/>
                <a:sym typeface="Wingdings" panose="05000000000000000000" pitchFamily="2" charset="2"/>
              </a:rPr>
              <a:t>	</a:t>
            </a:r>
            <a:r>
              <a:rPr sz="2900" spc="-65" dirty="0">
                <a:solidFill>
                  <a:srgbClr val="585858"/>
                </a:solidFill>
                <a:latin typeface="Arial MT"/>
                <a:cs typeface="Arial MT"/>
              </a:rPr>
              <a:t>A=[</a:t>
            </a:r>
            <a:r>
              <a:rPr lang="en-US" sz="2900" spc="-60" dirty="0">
                <a:solidFill>
                  <a:srgbClr val="585858"/>
                </a:solidFill>
                <a:latin typeface="Arial MT"/>
                <a:cs typeface="Arial MT"/>
              </a:rPr>
              <a:t>7</a:t>
            </a:r>
            <a:r>
              <a:rPr sz="2900" dirty="0">
                <a:solidFill>
                  <a:srgbClr val="585858"/>
                </a:solidFill>
                <a:latin typeface="Arial MT"/>
                <a:cs typeface="Arial MT"/>
              </a:rPr>
              <a:t>,</a:t>
            </a:r>
            <a:r>
              <a:rPr sz="2900" spc="-15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lang="en-US" sz="2900" spc="-55" dirty="0">
                <a:solidFill>
                  <a:srgbClr val="585858"/>
                </a:solidFill>
                <a:latin typeface="Arial MT"/>
                <a:cs typeface="Arial MT"/>
              </a:rPr>
              <a:t>4</a:t>
            </a:r>
            <a:r>
              <a:rPr sz="2900" dirty="0">
                <a:solidFill>
                  <a:srgbClr val="585858"/>
                </a:solidFill>
                <a:latin typeface="Arial MT"/>
                <a:cs typeface="Arial MT"/>
              </a:rPr>
              <a:t>,</a:t>
            </a:r>
            <a:r>
              <a:rPr sz="2900" spc="-1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900" spc="-60" dirty="0">
                <a:solidFill>
                  <a:srgbClr val="585858"/>
                </a:solidFill>
                <a:latin typeface="Arial MT"/>
                <a:cs typeface="Arial MT"/>
              </a:rPr>
              <a:t>3</a:t>
            </a:r>
            <a:r>
              <a:rPr sz="2900" dirty="0">
                <a:solidFill>
                  <a:srgbClr val="585858"/>
                </a:solidFill>
                <a:latin typeface="Arial MT"/>
                <a:cs typeface="Arial MT"/>
              </a:rPr>
              <a:t>,</a:t>
            </a:r>
            <a:r>
              <a:rPr sz="2900" spc="-1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900" spc="-60" dirty="0">
                <a:solidFill>
                  <a:srgbClr val="585858"/>
                </a:solidFill>
                <a:latin typeface="Arial MT"/>
                <a:cs typeface="Arial MT"/>
              </a:rPr>
              <a:t>1</a:t>
            </a:r>
            <a:r>
              <a:rPr sz="2900" dirty="0">
                <a:solidFill>
                  <a:srgbClr val="585858"/>
                </a:solidFill>
                <a:latin typeface="Arial MT"/>
                <a:cs typeface="Arial MT"/>
              </a:rPr>
              <a:t>,</a:t>
            </a:r>
            <a:r>
              <a:rPr sz="2900" spc="-1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900" spc="-60" dirty="0">
                <a:solidFill>
                  <a:srgbClr val="585858"/>
                </a:solidFill>
                <a:latin typeface="Arial MT"/>
                <a:cs typeface="Arial MT"/>
              </a:rPr>
              <a:t>2</a:t>
            </a:r>
            <a:r>
              <a:rPr sz="2900" dirty="0">
                <a:solidFill>
                  <a:srgbClr val="585858"/>
                </a:solidFill>
                <a:latin typeface="Arial MT"/>
                <a:cs typeface="Arial MT"/>
              </a:rPr>
              <a:t>]</a:t>
            </a:r>
            <a:endParaRPr sz="29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50607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7" name="Rectangle 3"/>
          <p:cNvSpPr>
            <a:spLocks noGrp="1" noChangeArrowheads="1"/>
          </p:cNvSpPr>
          <p:nvPr>
            <p:ph type="title" sz="quarter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Example2: </a:t>
            </a:r>
            <a:r>
              <a:rPr lang="en-US" dirty="0"/>
              <a:t>		  		A=[7, 4, 3, 1, 2]</a:t>
            </a:r>
          </a:p>
        </p:txBody>
      </p:sp>
      <p:graphicFrame>
        <p:nvGraphicFramePr>
          <p:cNvPr id="482308" name="Object 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92852170"/>
              </p:ext>
            </p:extLst>
          </p:nvPr>
        </p:nvGraphicFramePr>
        <p:xfrm>
          <a:off x="381000" y="2024061"/>
          <a:ext cx="2455863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3" imgW="3512195" imgH="2097561" progId="PaintShopPro">
                  <p:embed/>
                </p:oleObj>
              </mc:Choice>
              <mc:Fallback>
                <p:oleObj name="Paint Shop Pro Image" r:id="rId3" imgW="3512195" imgH="2097561" progId="PaintShopPro">
                  <p:embed/>
                  <p:pic>
                    <p:nvPicPr>
                      <p:cNvPr id="4823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24061"/>
                        <a:ext cx="2455863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09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901839950"/>
              </p:ext>
            </p:extLst>
          </p:nvPr>
        </p:nvGraphicFramePr>
        <p:xfrm>
          <a:off x="3209925" y="2024061"/>
          <a:ext cx="2435225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5" imgW="3482927" imgH="2107317" progId="PaintShopPro">
                  <p:embed/>
                </p:oleObj>
              </mc:Choice>
              <mc:Fallback>
                <p:oleObj name="Paint Shop Pro Image" r:id="rId5" imgW="3482927" imgH="2107317" progId="PaintShopPro">
                  <p:embed/>
                  <p:pic>
                    <p:nvPicPr>
                      <p:cNvPr id="4823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925" y="2024061"/>
                        <a:ext cx="2435225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974863409"/>
              </p:ext>
            </p:extLst>
          </p:nvPr>
        </p:nvGraphicFramePr>
        <p:xfrm>
          <a:off x="6019800" y="2024061"/>
          <a:ext cx="2581275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7" imgW="3687805" imgH="2078049" progId="PaintShopPro">
                  <p:embed/>
                </p:oleObj>
              </mc:Choice>
              <mc:Fallback>
                <p:oleObj name="Paint Shop Pro Image" r:id="rId7" imgW="3687805" imgH="2078049" progId="PaintShopPro">
                  <p:embed/>
                  <p:pic>
                    <p:nvPicPr>
                      <p:cNvPr id="4823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024061"/>
                        <a:ext cx="2581275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06" name="Object 2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028722883"/>
              </p:ext>
            </p:extLst>
          </p:nvPr>
        </p:nvGraphicFramePr>
        <p:xfrm>
          <a:off x="381000" y="4576761"/>
          <a:ext cx="2670175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9" imgW="3814634" imgH="2126829" progId="PaintShopPro">
                  <p:embed/>
                </p:oleObj>
              </mc:Choice>
              <mc:Fallback>
                <p:oleObj name="Paint Shop Pro Image" r:id="rId9" imgW="3814634" imgH="2126829" progId="PaintShopPro">
                  <p:embed/>
                  <p:pic>
                    <p:nvPicPr>
                      <p:cNvPr id="4823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576761"/>
                        <a:ext cx="2670175" cy="148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609E13-58E5-49E7-8A82-A1E7C98D6F63}" type="slidenum">
              <a:rPr lang="en-US"/>
              <a:pPr/>
              <a:t>20</a:t>
            </a:fld>
            <a:endParaRPr lang="en-US"/>
          </a:p>
        </p:txBody>
      </p:sp>
      <p:graphicFrame>
        <p:nvGraphicFramePr>
          <p:cNvPr id="4823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492989"/>
              </p:ext>
            </p:extLst>
          </p:nvPr>
        </p:nvGraphicFramePr>
        <p:xfrm>
          <a:off x="3362325" y="4591049"/>
          <a:ext cx="24511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11" imgW="3502439" imgH="2087805" progId="PaintShopPro">
                  <p:embed/>
                </p:oleObj>
              </mc:Choice>
              <mc:Fallback>
                <p:oleObj name="Paint Shop Pro Image" r:id="rId11" imgW="3502439" imgH="2087805" progId="PaintShopPro">
                  <p:embed/>
                  <p:pic>
                    <p:nvPicPr>
                      <p:cNvPr id="4823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4591049"/>
                        <a:ext cx="24511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00428"/>
              </p:ext>
            </p:extLst>
          </p:nvPr>
        </p:nvGraphicFramePr>
        <p:xfrm>
          <a:off x="6124575" y="5029199"/>
          <a:ext cx="24765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13" imgW="3551220" imgH="839252" progId="PaintShopPro">
                  <p:embed/>
                </p:oleObj>
              </mc:Choice>
              <mc:Fallback>
                <p:oleObj name="Paint Shop Pro Image" r:id="rId13" imgW="3551220" imgH="839252" progId="PaintShopPro">
                  <p:embed/>
                  <p:pic>
                    <p:nvPicPr>
                      <p:cNvPr id="4823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4575" y="5029199"/>
                        <a:ext cx="247650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2313" name="Group 9"/>
          <p:cNvGrpSpPr>
            <a:grpSpLocks/>
          </p:cNvGrpSpPr>
          <p:nvPr/>
        </p:nvGrpSpPr>
        <p:grpSpPr bwMode="auto">
          <a:xfrm>
            <a:off x="533400" y="2481262"/>
            <a:ext cx="1339851" cy="1481138"/>
            <a:chOff x="336" y="1152"/>
            <a:chExt cx="844" cy="933"/>
          </a:xfrm>
        </p:grpSpPr>
        <p:sp>
          <p:nvSpPr>
            <p:cNvPr id="482314" name="Line 10"/>
            <p:cNvSpPr>
              <a:spLocks noChangeShapeType="1"/>
            </p:cNvSpPr>
            <p:nvPr/>
          </p:nvSpPr>
          <p:spPr bwMode="auto">
            <a:xfrm flipH="1">
              <a:off x="1057" y="1152"/>
              <a:ext cx="96" cy="384"/>
            </a:xfrm>
            <a:prstGeom prst="line">
              <a:avLst/>
            </a:pr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315" name="Text Box 11"/>
            <p:cNvSpPr txBox="1">
              <a:spLocks noChangeArrowheads="1"/>
            </p:cNvSpPr>
            <p:nvPr/>
          </p:nvSpPr>
          <p:spPr bwMode="auto">
            <a:xfrm>
              <a:off x="336" y="1872"/>
              <a:ext cx="84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DD0111"/>
                  </a:solidFill>
                </a:rPr>
                <a:t>Heap-size=5</a:t>
              </a:r>
            </a:p>
          </p:txBody>
        </p:sp>
      </p:grpSp>
      <p:grpSp>
        <p:nvGrpSpPr>
          <p:cNvPr id="482316" name="Group 12"/>
          <p:cNvGrpSpPr>
            <a:grpSpLocks/>
          </p:cNvGrpSpPr>
          <p:nvPr/>
        </p:nvGrpSpPr>
        <p:grpSpPr bwMode="auto">
          <a:xfrm>
            <a:off x="3352801" y="2252661"/>
            <a:ext cx="1949451" cy="1709738"/>
            <a:chOff x="2112" y="1008"/>
            <a:chExt cx="1228" cy="1077"/>
          </a:xfrm>
        </p:grpSpPr>
        <p:sp>
          <p:nvSpPr>
            <p:cNvPr id="482317" name="Text Box 13"/>
            <p:cNvSpPr txBox="1">
              <a:spLocks noChangeArrowheads="1"/>
            </p:cNvSpPr>
            <p:nvPr/>
          </p:nvSpPr>
          <p:spPr bwMode="auto">
            <a:xfrm>
              <a:off x="2496" y="1872"/>
              <a:ext cx="84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DD0111"/>
                  </a:solidFill>
                </a:rPr>
                <a:t>Heap-size=4</a:t>
              </a:r>
            </a:p>
          </p:txBody>
        </p:sp>
        <p:sp>
          <p:nvSpPr>
            <p:cNvPr id="482318" name="Freeform 14"/>
            <p:cNvSpPr>
              <a:spLocks/>
            </p:cNvSpPr>
            <p:nvPr/>
          </p:nvSpPr>
          <p:spPr bwMode="auto">
            <a:xfrm>
              <a:off x="2112" y="1008"/>
              <a:ext cx="720" cy="528"/>
            </a:xfrm>
            <a:custGeom>
              <a:avLst/>
              <a:gdLst>
                <a:gd name="T0" fmla="*/ 0 w 720"/>
                <a:gd name="T1" fmla="*/ 528 h 528"/>
                <a:gd name="T2" fmla="*/ 192 w 720"/>
                <a:gd name="T3" fmla="*/ 144 h 528"/>
                <a:gd name="T4" fmla="*/ 720 w 720"/>
                <a:gd name="T5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528">
                  <a:moveTo>
                    <a:pt x="0" y="528"/>
                  </a:moveTo>
                  <a:cubicBezTo>
                    <a:pt x="36" y="380"/>
                    <a:pt x="72" y="232"/>
                    <a:pt x="192" y="144"/>
                  </a:cubicBezTo>
                  <a:cubicBezTo>
                    <a:pt x="312" y="56"/>
                    <a:pt x="516" y="28"/>
                    <a:pt x="720" y="0"/>
                  </a:cubicBezTo>
                </a:path>
              </a:pathLst>
            </a:cu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2319" name="Group 15"/>
          <p:cNvGrpSpPr>
            <a:grpSpLocks/>
          </p:cNvGrpSpPr>
          <p:nvPr/>
        </p:nvGrpSpPr>
        <p:grpSpPr bwMode="auto">
          <a:xfrm>
            <a:off x="6813549" y="2176461"/>
            <a:ext cx="1492250" cy="1785938"/>
            <a:chOff x="4292" y="960"/>
            <a:chExt cx="940" cy="1125"/>
          </a:xfrm>
        </p:grpSpPr>
        <p:sp>
          <p:nvSpPr>
            <p:cNvPr id="482320" name="Text Box 16"/>
            <p:cNvSpPr txBox="1">
              <a:spLocks noChangeArrowheads="1"/>
            </p:cNvSpPr>
            <p:nvPr/>
          </p:nvSpPr>
          <p:spPr bwMode="auto">
            <a:xfrm>
              <a:off x="4292" y="1872"/>
              <a:ext cx="84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DD0111"/>
                  </a:solidFill>
                </a:rPr>
                <a:t>Heap-size=3</a:t>
              </a:r>
            </a:p>
          </p:txBody>
        </p:sp>
        <p:sp>
          <p:nvSpPr>
            <p:cNvPr id="482321" name="Freeform 17"/>
            <p:cNvSpPr>
              <a:spLocks/>
            </p:cNvSpPr>
            <p:nvPr/>
          </p:nvSpPr>
          <p:spPr bwMode="auto">
            <a:xfrm>
              <a:off x="4944" y="960"/>
              <a:ext cx="288" cy="192"/>
            </a:xfrm>
            <a:custGeom>
              <a:avLst/>
              <a:gdLst>
                <a:gd name="T0" fmla="*/ 0 w 288"/>
                <a:gd name="T1" fmla="*/ 0 h 192"/>
                <a:gd name="T2" fmla="*/ 192 w 288"/>
                <a:gd name="T3" fmla="*/ 48 h 192"/>
                <a:gd name="T4" fmla="*/ 288 w 288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192">
                  <a:moveTo>
                    <a:pt x="0" y="0"/>
                  </a:moveTo>
                  <a:cubicBezTo>
                    <a:pt x="72" y="8"/>
                    <a:pt x="144" y="16"/>
                    <a:pt x="192" y="48"/>
                  </a:cubicBezTo>
                  <a:cubicBezTo>
                    <a:pt x="240" y="80"/>
                    <a:pt x="264" y="136"/>
                    <a:pt x="288" y="192"/>
                  </a:cubicBezTo>
                </a:path>
              </a:pathLst>
            </a:cu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2322" name="Group 18"/>
          <p:cNvGrpSpPr>
            <a:grpSpLocks/>
          </p:cNvGrpSpPr>
          <p:nvPr/>
        </p:nvGrpSpPr>
        <p:grpSpPr bwMode="auto">
          <a:xfrm>
            <a:off x="1022350" y="4767262"/>
            <a:ext cx="1339851" cy="1862138"/>
            <a:chOff x="644" y="2592"/>
            <a:chExt cx="844" cy="1173"/>
          </a:xfrm>
        </p:grpSpPr>
        <p:sp>
          <p:nvSpPr>
            <p:cNvPr id="482323" name="Text Box 19"/>
            <p:cNvSpPr txBox="1">
              <a:spLocks noChangeArrowheads="1"/>
            </p:cNvSpPr>
            <p:nvPr/>
          </p:nvSpPr>
          <p:spPr bwMode="auto">
            <a:xfrm>
              <a:off x="644" y="3552"/>
              <a:ext cx="84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DD0111"/>
                  </a:solidFill>
                </a:rPr>
                <a:t>Heap-size=2</a:t>
              </a:r>
            </a:p>
          </p:txBody>
        </p:sp>
        <p:sp>
          <p:nvSpPr>
            <p:cNvPr id="482324" name="Freeform 20"/>
            <p:cNvSpPr>
              <a:spLocks/>
            </p:cNvSpPr>
            <p:nvPr/>
          </p:nvSpPr>
          <p:spPr bwMode="auto">
            <a:xfrm>
              <a:off x="768" y="2592"/>
              <a:ext cx="288" cy="192"/>
            </a:xfrm>
            <a:custGeom>
              <a:avLst/>
              <a:gdLst>
                <a:gd name="T0" fmla="*/ 0 w 288"/>
                <a:gd name="T1" fmla="*/ 192 h 192"/>
                <a:gd name="T2" fmla="*/ 96 w 288"/>
                <a:gd name="T3" fmla="*/ 48 h 192"/>
                <a:gd name="T4" fmla="*/ 288 w 288"/>
                <a:gd name="T5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192">
                  <a:moveTo>
                    <a:pt x="0" y="192"/>
                  </a:moveTo>
                  <a:cubicBezTo>
                    <a:pt x="24" y="136"/>
                    <a:pt x="48" y="80"/>
                    <a:pt x="96" y="48"/>
                  </a:cubicBezTo>
                  <a:cubicBezTo>
                    <a:pt x="144" y="16"/>
                    <a:pt x="216" y="8"/>
                    <a:pt x="288" y="0"/>
                  </a:cubicBezTo>
                </a:path>
              </a:pathLst>
            </a:cu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04268" y="1143000"/>
            <a:ext cx="8382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5" dirty="0">
                <a:solidFill>
                  <a:srgbClr val="00B050"/>
                </a:solidFill>
                <a:cs typeface="Arial"/>
              </a:rPr>
              <a:t>2-</a:t>
            </a:r>
            <a:r>
              <a:rPr lang="en-US" b="1" spc="-30" dirty="0">
                <a:solidFill>
                  <a:srgbClr val="00B050"/>
                </a:solidFill>
                <a:cs typeface="Arial"/>
              </a:rPr>
              <a:t> </a:t>
            </a:r>
            <a:r>
              <a:rPr lang="en-US" b="1" spc="-5" dirty="0">
                <a:solidFill>
                  <a:srgbClr val="00B050"/>
                </a:solidFill>
                <a:cs typeface="Arial"/>
              </a:rPr>
              <a:t>Heap</a:t>
            </a:r>
            <a:r>
              <a:rPr lang="en-US" b="1" spc="-25" dirty="0">
                <a:solidFill>
                  <a:srgbClr val="00B050"/>
                </a:solidFill>
                <a:cs typeface="Arial"/>
              </a:rPr>
              <a:t> </a:t>
            </a:r>
            <a:r>
              <a:rPr lang="en-US" b="1" dirty="0">
                <a:solidFill>
                  <a:srgbClr val="00B050"/>
                </a:solidFill>
                <a:cs typeface="Arial"/>
              </a:rPr>
              <a:t>Sort</a:t>
            </a:r>
            <a:endParaRPr lang="en-US" dirty="0">
              <a:solidFill>
                <a:srgbClr val="00B050"/>
              </a:solidFill>
              <a:cs typeface="Arial"/>
            </a:endParaRPr>
          </a:p>
          <a:p>
            <a:r>
              <a:rPr lang="en-US" b="1" dirty="0"/>
              <a:t>Note: Max heap property is applied on each step (</a:t>
            </a:r>
            <a:r>
              <a:rPr lang="en-US" b="1" dirty="0">
                <a:cs typeface="Arial"/>
              </a:rPr>
              <a:t>Call</a:t>
            </a:r>
            <a:r>
              <a:rPr lang="en-US" b="1" spc="-5" dirty="0">
                <a:cs typeface="Arial"/>
              </a:rPr>
              <a:t> </a:t>
            </a:r>
            <a:r>
              <a:rPr lang="en-US" b="1" spc="-5" dirty="0" err="1">
                <a:solidFill>
                  <a:srgbClr val="C00000"/>
                </a:solidFill>
                <a:cs typeface="Arial"/>
              </a:rPr>
              <a:t>MaxHeapify</a:t>
            </a:r>
            <a:r>
              <a:rPr lang="en-US" b="1" spc="-5" dirty="0">
                <a:solidFill>
                  <a:srgbClr val="C00000"/>
                </a:solidFill>
                <a:cs typeface="Arial"/>
              </a:rPr>
              <a:t>)</a:t>
            </a:r>
            <a:endParaRPr lang="en-US" dirty="0">
              <a:solidFill>
                <a:srgbClr val="C00000"/>
              </a:solidFill>
              <a:cs typeface="Arial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7263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charset="-122"/>
              </a:rPr>
              <a:t>HeapSort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1262"/>
            <a:ext cx="8458200" cy="5265738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Use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max-heap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for sorting</a:t>
            </a:r>
            <a:r>
              <a:rPr lang="en-US" altLang="zh-CN" sz="2800" dirty="0">
                <a:ea typeface="宋体" charset="-122"/>
              </a:rPr>
              <a:t>.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Sort by maintaining the as yet unsorted elements as a max-heap.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zh-CN" sz="2400" b="1" dirty="0">
                <a:solidFill>
                  <a:srgbClr val="C00000"/>
                </a:solidFill>
                <a:ea typeface="宋体" charset="-122"/>
              </a:rPr>
              <a:t>Start by building a max-heap on all elements in </a:t>
            </a:r>
            <a:r>
              <a:rPr lang="en-US" altLang="zh-CN" sz="2400" b="1" i="1" dirty="0">
                <a:solidFill>
                  <a:srgbClr val="C00000"/>
                </a:solidFill>
                <a:ea typeface="宋体" charset="-122"/>
              </a:rPr>
              <a:t>A.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Maximum element is in the root, 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[1].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CN" sz="2400" b="1" dirty="0">
                <a:solidFill>
                  <a:srgbClr val="C00000"/>
                </a:solidFill>
                <a:ea typeface="宋体" charset="-122"/>
              </a:rPr>
              <a:t>Move the maximum element to its correct final position.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Exchange 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[1] with 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[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].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CN" sz="2400" b="1" dirty="0">
                <a:solidFill>
                  <a:srgbClr val="C00000"/>
                </a:solidFill>
                <a:ea typeface="宋体" charset="-122"/>
              </a:rPr>
              <a:t>Discard A[n] – it is now sorted. 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Decrement heap-size[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].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CN" sz="2400" b="1" dirty="0">
                <a:solidFill>
                  <a:srgbClr val="C00000"/>
                </a:solidFill>
                <a:ea typeface="宋体" charset="-122"/>
              </a:rPr>
              <a:t>Restore the max-heap property on A[1..n–1].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Call </a:t>
            </a:r>
            <a:r>
              <a:rPr lang="en-US" altLang="zh-CN" sz="2400" i="1" dirty="0" err="1">
                <a:solidFill>
                  <a:schemeClr val="tx1"/>
                </a:solidFill>
                <a:ea typeface="宋体" charset="-122"/>
              </a:rPr>
              <a:t>MaxHeapify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, that maintains the array as a max-heap 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CN" sz="2400" b="1" dirty="0">
                <a:solidFill>
                  <a:srgbClr val="C00000"/>
                </a:solidFill>
                <a:ea typeface="宋体" charset="-122"/>
              </a:rPr>
              <a:t>Repeat until heap-size[A] is reduced to 2.</a:t>
            </a:r>
          </a:p>
          <a:p>
            <a:pPr marL="0" lvl="1" indent="0">
              <a:lnSpc>
                <a:spcPct val="90000"/>
              </a:lnSpc>
              <a:spcAft>
                <a:spcPts val="600"/>
              </a:spcAft>
              <a:buNone/>
            </a:pPr>
            <a:endParaRPr lang="en-US" altLang="zh-CN" sz="2400" b="1" dirty="0">
              <a:solidFill>
                <a:srgbClr val="C00000"/>
              </a:solidFill>
              <a:ea typeface="宋体" charset="-122"/>
            </a:endParaRPr>
          </a:p>
          <a:p>
            <a:pPr lvl="1">
              <a:lnSpc>
                <a:spcPct val="90000"/>
              </a:lnSpc>
            </a:pPr>
            <a:endParaRPr lang="en-US" altLang="zh-CN" sz="24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3411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charset="-122"/>
              </a:rPr>
              <a:t>Heapsort</a:t>
            </a:r>
            <a:r>
              <a:rPr lang="en-US" altLang="zh-CN" dirty="0">
                <a:ea typeface="宋体" charset="-122"/>
              </a:rPr>
              <a:t> Algorithm</a:t>
            </a:r>
          </a:p>
        </p:txBody>
      </p:sp>
      <p:sp>
        <p:nvSpPr>
          <p:cNvPr id="36966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04812" y="1231900"/>
            <a:ext cx="7900988" cy="4406900"/>
          </a:xfr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i="1" dirty="0">
                <a:ea typeface="宋体" charset="-122"/>
              </a:rPr>
              <a:t>Algorithm </a:t>
            </a:r>
            <a:r>
              <a:rPr lang="en-US" altLang="zh-CN" sz="3200" b="1" i="1" dirty="0" err="1">
                <a:ea typeface="宋体" charset="-122"/>
              </a:rPr>
              <a:t>HeapSort</a:t>
            </a:r>
            <a:r>
              <a:rPr lang="en-US" altLang="zh-CN" sz="3200" b="1" i="1" dirty="0">
                <a:ea typeface="宋体" charset="-122"/>
              </a:rPr>
              <a:t> </a:t>
            </a:r>
            <a:r>
              <a:rPr lang="en-US" altLang="zh-CN" sz="3200" dirty="0">
                <a:ea typeface="宋体" charset="-122"/>
              </a:rPr>
              <a:t>(</a:t>
            </a:r>
            <a:r>
              <a:rPr lang="en-US" altLang="zh-CN" sz="3200" i="1" dirty="0">
                <a:ea typeface="宋体" charset="-122"/>
              </a:rPr>
              <a:t>A</a:t>
            </a:r>
            <a:r>
              <a:rPr lang="en-US" altLang="zh-CN" sz="3200" dirty="0">
                <a:ea typeface="宋体" charset="-122"/>
              </a:rPr>
              <a:t>)</a:t>
            </a:r>
            <a:endParaRPr lang="en-US" altLang="zh-CN" sz="3200" i="1" dirty="0">
              <a:ea typeface="宋体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3200" dirty="0">
                <a:ea typeface="宋体" charset="-122"/>
              </a:rPr>
              <a:t>1.  </a:t>
            </a:r>
            <a:r>
              <a:rPr lang="en-US" altLang="zh-CN" sz="3200" b="1" dirty="0">
                <a:solidFill>
                  <a:srgbClr val="C00000"/>
                </a:solidFill>
                <a:ea typeface="宋体" charset="-122"/>
              </a:rPr>
              <a:t>Build-Max-Heap</a:t>
            </a:r>
            <a:r>
              <a:rPr lang="en-US" altLang="zh-CN" sz="3200" dirty="0">
                <a:ea typeface="宋体" charset="-122"/>
              </a:rPr>
              <a:t>(</a:t>
            </a:r>
            <a:r>
              <a:rPr lang="en-US" altLang="zh-CN" sz="3200" i="1" dirty="0">
                <a:ea typeface="宋体" charset="-122"/>
              </a:rPr>
              <a:t>A</a:t>
            </a:r>
            <a:r>
              <a:rPr lang="en-US" altLang="zh-CN" sz="3200" dirty="0">
                <a:ea typeface="宋体" charset="-122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en-US" altLang="zh-CN" sz="3200" dirty="0">
                <a:ea typeface="宋体" charset="-122"/>
              </a:rPr>
              <a:t>2.  </a:t>
            </a:r>
            <a:r>
              <a:rPr lang="en-US" altLang="zh-CN" sz="3200" b="1" dirty="0">
                <a:solidFill>
                  <a:schemeClr val="tx1"/>
                </a:solidFill>
                <a:ea typeface="宋体" charset="-122"/>
              </a:rPr>
              <a:t>for</a:t>
            </a:r>
            <a:r>
              <a:rPr lang="en-US" altLang="zh-CN" sz="3200" dirty="0">
                <a:ea typeface="宋体" charset="-122"/>
              </a:rPr>
              <a:t> </a:t>
            </a:r>
            <a:r>
              <a:rPr lang="en-US" altLang="zh-CN" sz="3200" i="1" dirty="0">
                <a:ea typeface="宋体" charset="-122"/>
              </a:rPr>
              <a:t>i</a:t>
            </a:r>
            <a:r>
              <a:rPr lang="en-US" altLang="zh-CN" sz="3200" dirty="0">
                <a:ea typeface="宋体" charset="-122"/>
              </a:rPr>
              <a:t> </a:t>
            </a:r>
            <a:r>
              <a:rPr lang="en-US" altLang="zh-CN" sz="3200" dirty="0">
                <a:ea typeface="宋体" charset="-122"/>
                <a:sym typeface="Symbol" pitchFamily="18" charset="2"/>
              </a:rPr>
              <a:t></a:t>
            </a:r>
            <a:r>
              <a:rPr lang="en-US" altLang="zh-CN" sz="3200" dirty="0">
                <a:ea typeface="宋体" charset="-122"/>
              </a:rPr>
              <a:t> </a:t>
            </a:r>
            <a:r>
              <a:rPr lang="en-US" altLang="zh-CN" sz="3200" i="1" dirty="0">
                <a:ea typeface="宋体" charset="-122"/>
              </a:rPr>
              <a:t>length </a:t>
            </a:r>
            <a:r>
              <a:rPr lang="en-US" altLang="zh-CN" sz="3200" dirty="0">
                <a:ea typeface="宋体" charset="-122"/>
              </a:rPr>
              <a:t>[</a:t>
            </a:r>
            <a:r>
              <a:rPr lang="en-US" altLang="zh-CN" sz="3200" i="1" dirty="0">
                <a:ea typeface="宋体" charset="-122"/>
              </a:rPr>
              <a:t>A</a:t>
            </a:r>
            <a:r>
              <a:rPr lang="en-US" altLang="zh-CN" sz="3200" dirty="0">
                <a:ea typeface="宋体" charset="-122"/>
              </a:rPr>
              <a:t>] </a:t>
            </a:r>
            <a:r>
              <a:rPr lang="en-US" altLang="zh-CN" sz="3200" b="1" dirty="0" err="1">
                <a:ea typeface="宋体" charset="-122"/>
              </a:rPr>
              <a:t>downto</a:t>
            </a:r>
            <a:r>
              <a:rPr lang="en-US" altLang="zh-CN" sz="3200" dirty="0">
                <a:ea typeface="宋体" charset="-122"/>
              </a:rPr>
              <a:t> 2</a:t>
            </a:r>
          </a:p>
          <a:p>
            <a:pPr>
              <a:buFont typeface="Wingdings" pitchFamily="2" charset="2"/>
              <a:buNone/>
            </a:pPr>
            <a:r>
              <a:rPr lang="en-US" altLang="zh-CN" sz="3200" dirty="0">
                <a:ea typeface="宋体" charset="-122"/>
              </a:rPr>
              <a:t>3.       </a:t>
            </a:r>
            <a:r>
              <a:rPr lang="en-US" altLang="zh-CN" sz="3200" b="1" dirty="0">
                <a:solidFill>
                  <a:schemeClr val="tx1"/>
                </a:solidFill>
                <a:ea typeface="宋体" charset="-122"/>
              </a:rPr>
              <a:t>do</a:t>
            </a:r>
            <a:r>
              <a:rPr lang="en-US" altLang="zh-CN" sz="3200" dirty="0">
                <a:ea typeface="宋体" charset="-122"/>
              </a:rPr>
              <a:t> exchange </a:t>
            </a:r>
            <a:r>
              <a:rPr lang="en-US" altLang="zh-CN" sz="2800" i="1" dirty="0">
                <a:ea typeface="宋体" charset="-122"/>
                <a:sym typeface="Symbol" pitchFamily="18" charset="2"/>
              </a:rPr>
              <a:t>A</a:t>
            </a:r>
            <a:r>
              <a:rPr lang="en-US" altLang="zh-CN" sz="2800" dirty="0">
                <a:ea typeface="宋体" charset="-122"/>
                <a:sym typeface="Symbol" pitchFamily="18" charset="2"/>
              </a:rPr>
              <a:t>[1]  </a:t>
            </a:r>
            <a:r>
              <a:rPr lang="en-US" altLang="zh-CN" sz="2800" i="1" dirty="0">
                <a:ea typeface="宋体" charset="-122"/>
                <a:sym typeface="Symbol" pitchFamily="18" charset="2"/>
              </a:rPr>
              <a:t>A</a:t>
            </a:r>
            <a:r>
              <a:rPr lang="en-US" altLang="zh-CN" sz="2800" dirty="0">
                <a:ea typeface="宋体" charset="-122"/>
                <a:sym typeface="Symbol" pitchFamily="18" charset="2"/>
              </a:rPr>
              <a:t>[</a:t>
            </a:r>
            <a:r>
              <a:rPr lang="en-US" altLang="zh-CN" sz="2800" i="1" dirty="0" err="1">
                <a:ea typeface="宋体" charset="-122"/>
                <a:sym typeface="Symbol" pitchFamily="18" charset="2"/>
              </a:rPr>
              <a:t>i</a:t>
            </a:r>
            <a:r>
              <a:rPr lang="en-US" altLang="zh-CN" sz="2800" i="1" dirty="0">
                <a:ea typeface="宋体" charset="-122"/>
                <a:sym typeface="Symbol" pitchFamily="18" charset="2"/>
              </a:rPr>
              <a:t> </a:t>
            </a:r>
            <a:r>
              <a:rPr lang="en-US" altLang="zh-CN" sz="2800" dirty="0">
                <a:ea typeface="宋体" charset="-122"/>
                <a:sym typeface="Symbol" pitchFamily="18" charset="2"/>
              </a:rPr>
              <a:t>]</a:t>
            </a:r>
            <a:r>
              <a:rPr lang="en-US" altLang="zh-CN" sz="3200" dirty="0">
                <a:ea typeface="宋体" charset="-122"/>
                <a:sym typeface="Symbol" pitchFamily="18" charset="2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zh-CN" sz="3200" dirty="0">
                <a:ea typeface="宋体" charset="-122"/>
                <a:sym typeface="Symbol" pitchFamily="18" charset="2"/>
              </a:rPr>
              <a:t>4.              </a:t>
            </a:r>
            <a:r>
              <a:rPr lang="en-US" altLang="zh-CN" sz="3200" i="1" dirty="0">
                <a:ea typeface="宋体" charset="-122"/>
                <a:sym typeface="Symbol" pitchFamily="18" charset="2"/>
              </a:rPr>
              <a:t>heap-size</a:t>
            </a:r>
            <a:r>
              <a:rPr lang="en-US" altLang="zh-CN" sz="3200" dirty="0">
                <a:ea typeface="宋体" charset="-122"/>
                <a:sym typeface="Symbol" pitchFamily="18" charset="2"/>
              </a:rPr>
              <a:t>[</a:t>
            </a:r>
            <a:r>
              <a:rPr lang="en-US" altLang="zh-CN" sz="3200" i="1" dirty="0">
                <a:ea typeface="宋体" charset="-122"/>
                <a:sym typeface="Symbol" pitchFamily="18" charset="2"/>
              </a:rPr>
              <a:t>A</a:t>
            </a:r>
            <a:r>
              <a:rPr lang="en-US" altLang="zh-CN" sz="3200" dirty="0">
                <a:ea typeface="宋体" charset="-122"/>
                <a:sym typeface="Symbol" pitchFamily="18" charset="2"/>
              </a:rPr>
              <a:t>]  </a:t>
            </a:r>
            <a:r>
              <a:rPr lang="en-US" altLang="zh-CN" sz="3200" i="1" dirty="0">
                <a:ea typeface="宋体" charset="-122"/>
                <a:sym typeface="Symbol" pitchFamily="18" charset="2"/>
              </a:rPr>
              <a:t>heap-size</a:t>
            </a:r>
            <a:r>
              <a:rPr lang="en-US" altLang="zh-CN" sz="3200" dirty="0">
                <a:ea typeface="宋体" charset="-122"/>
                <a:sym typeface="Symbol" pitchFamily="18" charset="2"/>
              </a:rPr>
              <a:t>[</a:t>
            </a:r>
            <a:r>
              <a:rPr lang="en-US" altLang="zh-CN" sz="3200" i="1" dirty="0">
                <a:ea typeface="宋体" charset="-122"/>
                <a:sym typeface="Symbol" pitchFamily="18" charset="2"/>
              </a:rPr>
              <a:t>A</a:t>
            </a:r>
            <a:r>
              <a:rPr lang="en-US" altLang="zh-CN" sz="3200" dirty="0">
                <a:ea typeface="宋体" charset="-122"/>
                <a:sym typeface="Symbol" pitchFamily="18" charset="2"/>
              </a:rPr>
              <a:t>] – 1</a:t>
            </a:r>
          </a:p>
          <a:p>
            <a:pPr>
              <a:buFont typeface="Wingdings" pitchFamily="2" charset="2"/>
              <a:buNone/>
            </a:pPr>
            <a:r>
              <a:rPr lang="en-US" altLang="zh-CN" sz="3200" dirty="0">
                <a:ea typeface="宋体" charset="-122"/>
                <a:sym typeface="Symbol" pitchFamily="18" charset="2"/>
              </a:rPr>
              <a:t>5.              </a:t>
            </a:r>
            <a:r>
              <a:rPr lang="en-US" altLang="zh-CN" sz="3200" b="1" i="1" dirty="0" err="1">
                <a:solidFill>
                  <a:srgbClr val="C00000"/>
                </a:solidFill>
                <a:ea typeface="宋体" charset="-122"/>
                <a:sym typeface="Symbol" pitchFamily="18" charset="2"/>
              </a:rPr>
              <a:t>MaxHeapify</a:t>
            </a:r>
            <a:r>
              <a:rPr lang="en-US" altLang="zh-CN" sz="3200" b="1" i="1" dirty="0">
                <a:ea typeface="宋体" charset="-122"/>
                <a:sym typeface="Symbol" pitchFamily="18" charset="2"/>
              </a:rPr>
              <a:t> </a:t>
            </a:r>
            <a:r>
              <a:rPr lang="en-US" altLang="zh-CN" sz="3200" dirty="0">
                <a:ea typeface="宋体" charset="-122"/>
                <a:sym typeface="Symbol" pitchFamily="18" charset="2"/>
              </a:rPr>
              <a:t>(</a:t>
            </a:r>
            <a:r>
              <a:rPr lang="en-US" altLang="zh-CN" sz="3200" i="1" dirty="0">
                <a:ea typeface="宋体" charset="-122"/>
                <a:sym typeface="Symbol" pitchFamily="18" charset="2"/>
              </a:rPr>
              <a:t>A</a:t>
            </a:r>
            <a:r>
              <a:rPr lang="en-US" altLang="zh-CN" sz="3200" dirty="0">
                <a:ea typeface="宋体" charset="-122"/>
                <a:sym typeface="Symbol" pitchFamily="18" charset="2"/>
              </a:rPr>
              <a:t>, 1)</a:t>
            </a:r>
            <a:endParaRPr lang="en-US" altLang="zh-CN" sz="2800" i="1" dirty="0">
              <a:ea typeface="宋体" charset="-122"/>
              <a:sym typeface="Symbol" pitchFamily="18" charset="2"/>
            </a:endParaRPr>
          </a:p>
          <a:p>
            <a:pPr algn="ctr">
              <a:buFont typeface="Wingdings" pitchFamily="2" charset="2"/>
              <a:buNone/>
            </a:pPr>
            <a:endParaRPr lang="en-US" altLang="zh-CN" sz="3200" i="1" baseline="300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8142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Building a heap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088" y="993775"/>
            <a:ext cx="8458200" cy="2162175"/>
          </a:xfrm>
        </p:spPr>
        <p:txBody>
          <a:bodyPr/>
          <a:lstStyle/>
          <a:p>
            <a:endParaRPr lang="en-US" altLang="zh-CN" sz="2800" dirty="0">
              <a:solidFill>
                <a:schemeClr val="tx1"/>
              </a:solidFill>
              <a:ea typeface="宋体" charset="-122"/>
            </a:endParaRPr>
          </a:p>
          <a:p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Use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i="1" dirty="0" err="1">
                <a:solidFill>
                  <a:srgbClr val="CC0000"/>
                </a:solidFill>
                <a:ea typeface="宋体" charset="-122"/>
              </a:rPr>
              <a:t>MaxHeapify</a:t>
            </a:r>
            <a:r>
              <a:rPr lang="en-US" altLang="zh-CN" sz="2800" dirty="0">
                <a:ea typeface="宋体" charset="-122"/>
              </a:rPr>
              <a:t> to </a:t>
            </a:r>
            <a:r>
              <a:rPr lang="en-US" altLang="zh-CN" sz="2800" dirty="0">
                <a:solidFill>
                  <a:schemeClr val="hlink"/>
                </a:solidFill>
                <a:ea typeface="宋体" charset="-122"/>
              </a:rPr>
              <a:t>convert an array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i="1" dirty="0">
                <a:ea typeface="宋体" charset="-122"/>
              </a:rPr>
              <a:t>A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ea typeface="宋体" charset="-122"/>
              </a:rPr>
              <a:t>into a max-heap</a:t>
            </a:r>
            <a:r>
              <a:rPr lang="en-US" altLang="zh-CN" sz="2800" dirty="0">
                <a:ea typeface="宋体" charset="-122"/>
              </a:rPr>
              <a:t>.</a:t>
            </a:r>
          </a:p>
          <a:p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Call </a:t>
            </a:r>
            <a:r>
              <a:rPr lang="en-US" altLang="zh-CN" sz="2800" dirty="0" err="1">
                <a:solidFill>
                  <a:schemeClr val="tx1"/>
                </a:solidFill>
                <a:ea typeface="宋体" charset="-122"/>
              </a:rPr>
              <a:t>MaxHeapify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 on each element in a bottom-up manner.</a:t>
            </a:r>
          </a:p>
        </p:txBody>
      </p:sp>
      <p:sp>
        <p:nvSpPr>
          <p:cNvPr id="417796" name="Rectangle 4"/>
          <p:cNvSpPr>
            <a:spLocks noChangeArrowheads="1"/>
          </p:cNvSpPr>
          <p:nvPr/>
        </p:nvSpPr>
        <p:spPr bwMode="auto">
          <a:xfrm>
            <a:off x="593725" y="3454400"/>
            <a:ext cx="6670675" cy="2314575"/>
          </a:xfrm>
          <a:prstGeom prst="rect">
            <a:avLst/>
          </a:prstGeom>
          <a:ln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i="1" u="sng" dirty="0" err="1">
                <a:solidFill>
                  <a:srgbClr val="010000"/>
                </a:solidFill>
                <a:ea typeface="宋体" charset="-122"/>
              </a:rPr>
              <a:t>BuildMaxHeap</a:t>
            </a:r>
            <a:r>
              <a:rPr lang="en-US" altLang="zh-CN" sz="2800" u="sng" dirty="0">
                <a:solidFill>
                  <a:srgbClr val="010000"/>
                </a:solidFill>
                <a:ea typeface="宋体" charset="-122"/>
              </a:rPr>
              <a:t>(</a:t>
            </a:r>
            <a:r>
              <a:rPr lang="en-US" altLang="zh-CN" sz="2800" i="1" u="sng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800" u="sng" dirty="0">
                <a:solidFill>
                  <a:srgbClr val="010000"/>
                </a:solidFill>
                <a:ea typeface="宋体" charset="-122"/>
              </a:rPr>
              <a:t>)</a:t>
            </a:r>
            <a:endParaRPr lang="en-US" altLang="zh-CN" sz="2800" i="1" u="sng" dirty="0">
              <a:solidFill>
                <a:srgbClr val="010000"/>
              </a:solidFill>
              <a:ea typeface="宋体" charset="-12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1.  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heap-size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[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] 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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length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[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]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2.  </a:t>
            </a:r>
            <a:r>
              <a:rPr lang="en-US" altLang="zh-CN" sz="2800" b="1" dirty="0">
                <a:solidFill>
                  <a:srgbClr val="010000"/>
                </a:solidFill>
                <a:ea typeface="宋体" charset="-122"/>
              </a:rPr>
              <a:t>for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i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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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length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[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]/2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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b="1" dirty="0" err="1">
                <a:solidFill>
                  <a:srgbClr val="010000"/>
                </a:solidFill>
                <a:ea typeface="宋体" charset="-122"/>
              </a:rPr>
              <a:t>downto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1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3.       </a:t>
            </a:r>
            <a:r>
              <a:rPr lang="en-US" altLang="zh-CN" sz="2800" b="1" dirty="0">
                <a:solidFill>
                  <a:srgbClr val="010000"/>
                </a:solidFill>
                <a:ea typeface="宋体" charset="-122"/>
              </a:rPr>
              <a:t>do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i="1" dirty="0" err="1">
                <a:solidFill>
                  <a:srgbClr val="010000"/>
                </a:solidFill>
                <a:ea typeface="宋体" charset="-122"/>
              </a:rPr>
              <a:t>Max</a:t>
            </a:r>
            <a:r>
              <a:rPr lang="en-US" altLang="zh-CN" sz="28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Heapify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A, </a:t>
            </a:r>
            <a:r>
              <a:rPr lang="en-US" altLang="zh-CN" sz="28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) </a:t>
            </a:r>
            <a:endParaRPr lang="en-US" altLang="zh-CN" sz="28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endParaRPr lang="en-US" altLang="zh-CN" dirty="0">
              <a:solidFill>
                <a:srgbClr val="01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0875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Procedure MaxHeapify</a:t>
            </a:r>
          </a:p>
        </p:txBody>
      </p:sp>
      <p:sp>
        <p:nvSpPr>
          <p:cNvPr id="381956" name="Rectangle 4"/>
          <p:cNvSpPr>
            <a:spLocks noChangeArrowheads="1"/>
          </p:cNvSpPr>
          <p:nvPr/>
        </p:nvSpPr>
        <p:spPr bwMode="auto">
          <a:xfrm>
            <a:off x="152400" y="1219200"/>
            <a:ext cx="6381750" cy="5562600"/>
          </a:xfrm>
          <a:prstGeom prst="rect">
            <a:avLst/>
          </a:prstGeom>
          <a:ln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i="1" u="sng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MaxHeapify</a:t>
            </a:r>
            <a:r>
              <a:rPr lang="en-US" altLang="zh-CN" sz="2600" u="sng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600" i="1" u="sng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600" u="sng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, </a:t>
            </a:r>
            <a:r>
              <a:rPr lang="en-US" altLang="zh-CN" sz="2600" i="1" u="sng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600" i="1" u="sng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u="sng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)</a:t>
            </a:r>
            <a:endParaRPr lang="en-US" altLang="zh-CN" sz="2600" i="1" u="sng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1. 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 left(</a:t>
            </a:r>
            <a:r>
              <a:rPr lang="en-US" altLang="zh-CN" sz="26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)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2. 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 right(</a:t>
            </a:r>
            <a:r>
              <a:rPr lang="en-US" altLang="zh-CN" sz="26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)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3.  </a:t>
            </a:r>
            <a:r>
              <a:rPr lang="en-US" altLang="zh-CN" sz="26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if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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heap-size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and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 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&gt;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6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4.     </a:t>
            </a:r>
            <a:r>
              <a:rPr lang="en-US" altLang="zh-CN" sz="26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then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largest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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5.     </a:t>
            </a:r>
            <a:r>
              <a:rPr lang="en-US" altLang="zh-CN" sz="26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else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largest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 </a:t>
            </a:r>
            <a:r>
              <a:rPr lang="en-US" altLang="zh-CN" sz="26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endParaRPr lang="en-US" altLang="zh-CN" sz="26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6.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 </a:t>
            </a:r>
            <a:r>
              <a:rPr lang="en-US" altLang="zh-CN" sz="26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if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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heap-size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</a:t>
            </a:r>
            <a:r>
              <a:rPr lang="en-US" altLang="zh-CN" sz="26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and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r 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&gt;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largest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7.     </a:t>
            </a:r>
            <a:r>
              <a:rPr lang="en-US" altLang="zh-CN" sz="26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then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largest 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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r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8.  </a:t>
            </a:r>
            <a:r>
              <a:rPr lang="en-US" altLang="zh-CN" sz="26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if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largest   </a:t>
            </a:r>
            <a:r>
              <a:rPr lang="en-US" altLang="zh-CN" sz="26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endParaRPr lang="en-US" altLang="zh-CN" sz="26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9.     </a:t>
            </a:r>
            <a:r>
              <a:rPr lang="en-US" altLang="zh-CN" sz="26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then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exchange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A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6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 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largest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</a:t>
            </a:r>
            <a:endParaRPr lang="en-US" altLang="zh-CN" sz="26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10.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            </a:t>
            </a:r>
            <a:r>
              <a:rPr lang="en-US" altLang="zh-CN" sz="26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MaxHeapify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6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A, largest</a:t>
            </a:r>
            <a:r>
              <a:rPr lang="en-US" altLang="zh-CN" sz="26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)</a:t>
            </a:r>
            <a:endParaRPr lang="en-US" altLang="zh-CN" sz="26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14340" name="Text Box 6"/>
          <p:cNvSpPr txBox="1">
            <a:spLocks noChangeArrowheads="1"/>
          </p:cNvSpPr>
          <p:nvPr/>
        </p:nvSpPr>
        <p:spPr bwMode="auto">
          <a:xfrm>
            <a:off x="6534150" y="1560513"/>
            <a:ext cx="26098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u="sng" dirty="0">
                <a:solidFill>
                  <a:srgbClr val="CC0000"/>
                </a:solidFill>
                <a:ea typeface="宋体" charset="-122"/>
              </a:rPr>
              <a:t>Assumption:</a:t>
            </a:r>
          </a:p>
          <a:p>
            <a:r>
              <a:rPr lang="en-US" altLang="zh-CN" dirty="0">
                <a:solidFill>
                  <a:schemeClr val="hlink"/>
                </a:solidFill>
                <a:ea typeface="宋体" charset="-122"/>
              </a:rPr>
              <a:t>Left(</a:t>
            </a:r>
            <a:r>
              <a:rPr lang="en-US" altLang="zh-CN" i="1" dirty="0" err="1">
                <a:solidFill>
                  <a:schemeClr val="hlink"/>
                </a:solidFill>
                <a:ea typeface="宋体" charset="-122"/>
              </a:rPr>
              <a:t>i</a:t>
            </a:r>
            <a:r>
              <a:rPr lang="en-US" altLang="zh-CN" dirty="0">
                <a:solidFill>
                  <a:schemeClr val="hlink"/>
                </a:solidFill>
                <a:ea typeface="宋体" charset="-122"/>
              </a:rPr>
              <a:t>) and Right(</a:t>
            </a:r>
            <a:r>
              <a:rPr lang="en-US" altLang="zh-CN" i="1" dirty="0" err="1">
                <a:solidFill>
                  <a:schemeClr val="hlink"/>
                </a:solidFill>
                <a:ea typeface="宋体" charset="-122"/>
              </a:rPr>
              <a:t>i</a:t>
            </a:r>
            <a:r>
              <a:rPr lang="en-US" altLang="zh-CN" dirty="0">
                <a:solidFill>
                  <a:schemeClr val="hlink"/>
                </a:solidFill>
                <a:ea typeface="宋体" charset="-122"/>
              </a:rPr>
              <a:t>) are max-heaps.</a:t>
            </a:r>
          </a:p>
        </p:txBody>
      </p:sp>
    </p:spTree>
    <p:extLst>
      <p:ext uri="{BB962C8B-B14F-4D97-AF65-F5344CB8AC3E}">
        <p14:creationId xmlns:p14="http://schemas.microsoft.com/office/powerpoint/2010/main" val="3944385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7620000" cy="8382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Running Time for </a:t>
            </a:r>
            <a:r>
              <a:rPr lang="en-US" altLang="zh-CN" dirty="0" err="1">
                <a:ea typeface="宋体" charset="-122"/>
              </a:rPr>
              <a:t>MaxHeapify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372225" y="2624138"/>
            <a:ext cx="24780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dirty="0">
                <a:solidFill>
                  <a:schemeClr val="tx2"/>
                </a:solidFill>
                <a:ea typeface="宋体" charset="-122"/>
              </a:rPr>
              <a:t>Time to fix node </a:t>
            </a:r>
            <a:r>
              <a:rPr lang="en-US" altLang="zh-CN" i="1" dirty="0" err="1">
                <a:solidFill>
                  <a:schemeClr val="tx2"/>
                </a:solidFill>
                <a:ea typeface="宋体" charset="-122"/>
              </a:rPr>
              <a:t>i</a:t>
            </a:r>
            <a:r>
              <a:rPr lang="en-US" altLang="zh-CN" dirty="0">
                <a:solidFill>
                  <a:schemeClr val="tx2"/>
                </a:solidFill>
                <a:ea typeface="宋体" charset="-122"/>
              </a:rPr>
              <a:t> and its children </a:t>
            </a:r>
            <a:r>
              <a:rPr lang="en-US" altLang="zh-CN" dirty="0">
                <a:ea typeface="宋体" charset="-122"/>
              </a:rPr>
              <a:t>= </a:t>
            </a:r>
            <a:r>
              <a:rPr kumimoji="1" lang="en-US" altLang="zh-CN" b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</a:t>
            </a:r>
            <a:r>
              <a:rPr kumimoji="1" lang="en-US" altLang="zh-CN" b="1" dirty="0">
                <a:solidFill>
                  <a:srgbClr val="CC0000"/>
                </a:solidFill>
                <a:ea typeface="宋体" charset="-122"/>
              </a:rPr>
              <a:t>(1)</a:t>
            </a:r>
          </a:p>
        </p:txBody>
      </p:sp>
      <p:sp>
        <p:nvSpPr>
          <p:cNvPr id="15365" name="AutoShape 5"/>
          <p:cNvSpPr>
            <a:spLocks/>
          </p:cNvSpPr>
          <p:nvPr/>
        </p:nvSpPr>
        <p:spPr bwMode="auto">
          <a:xfrm>
            <a:off x="6161088" y="2316163"/>
            <a:ext cx="77787" cy="3032125"/>
          </a:xfrm>
          <a:prstGeom prst="rightBrace">
            <a:avLst>
              <a:gd name="adj1" fmla="val 324832"/>
              <a:gd name="adj2" fmla="val 50671"/>
            </a:avLst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6342063" y="4913313"/>
            <a:ext cx="247808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dirty="0">
                <a:solidFill>
                  <a:schemeClr val="tx2"/>
                </a:solidFill>
                <a:ea typeface="宋体" charset="-122"/>
              </a:rPr>
              <a:t>Time to fix the </a:t>
            </a:r>
            <a:r>
              <a:rPr lang="en-US" altLang="zh-CN" dirty="0" err="1">
                <a:solidFill>
                  <a:schemeClr val="tx2"/>
                </a:solidFill>
                <a:ea typeface="宋体" charset="-122"/>
              </a:rPr>
              <a:t>subtree</a:t>
            </a:r>
            <a:r>
              <a:rPr lang="en-US" altLang="zh-CN" dirty="0">
                <a:solidFill>
                  <a:schemeClr val="tx2"/>
                </a:solidFill>
                <a:ea typeface="宋体" charset="-122"/>
              </a:rPr>
              <a:t> rooted at one of </a:t>
            </a:r>
            <a:r>
              <a:rPr lang="en-US" altLang="zh-CN" i="1" dirty="0">
                <a:solidFill>
                  <a:schemeClr val="tx2"/>
                </a:solidFill>
                <a:ea typeface="宋体" charset="-122"/>
              </a:rPr>
              <a:t>i</a:t>
            </a:r>
            <a:r>
              <a:rPr lang="en-US" altLang="zh-CN" dirty="0">
                <a:solidFill>
                  <a:schemeClr val="tx2"/>
                </a:solidFill>
                <a:ea typeface="宋体" charset="-122"/>
              </a:rPr>
              <a:t>’s children </a:t>
            </a:r>
            <a:r>
              <a:rPr lang="en-US" altLang="zh-CN" dirty="0">
                <a:ea typeface="宋体" charset="-122"/>
              </a:rPr>
              <a:t>= </a:t>
            </a:r>
            <a:r>
              <a:rPr kumimoji="1" lang="en-US" altLang="zh-CN" i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T</a:t>
            </a:r>
            <a:r>
              <a:rPr kumimoji="1" lang="en-US" altLang="zh-CN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(size of </a:t>
            </a:r>
            <a:r>
              <a:rPr kumimoji="1" lang="en-US" altLang="zh-CN" dirty="0" err="1">
                <a:solidFill>
                  <a:srgbClr val="CC0000"/>
                </a:solidFill>
                <a:ea typeface="宋体" charset="-122"/>
                <a:sym typeface="Symbol" pitchFamily="18" charset="2"/>
              </a:rPr>
              <a:t>subree</a:t>
            </a:r>
            <a:r>
              <a:rPr kumimoji="1" lang="en-US" altLang="zh-CN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 at </a:t>
            </a:r>
            <a:r>
              <a:rPr kumimoji="1" lang="en-US" altLang="zh-CN" i="1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largest</a:t>
            </a:r>
            <a:r>
              <a:rPr kumimoji="1" lang="en-US" altLang="zh-CN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)</a:t>
            </a:r>
            <a:endParaRPr kumimoji="1" lang="en-US" altLang="zh-CN" dirty="0">
              <a:solidFill>
                <a:srgbClr val="CC0000"/>
              </a:solidFill>
              <a:ea typeface="宋体" charset="-122"/>
            </a:endParaRPr>
          </a:p>
        </p:txBody>
      </p:sp>
      <p:sp>
        <p:nvSpPr>
          <p:cNvPr id="15367" name="AutoShape 7"/>
          <p:cNvSpPr>
            <a:spLocks/>
          </p:cNvSpPr>
          <p:nvPr/>
        </p:nvSpPr>
        <p:spPr bwMode="auto">
          <a:xfrm>
            <a:off x="6091238" y="5500688"/>
            <a:ext cx="88900" cy="560387"/>
          </a:xfrm>
          <a:prstGeom prst="rightBrace">
            <a:avLst>
              <a:gd name="adj1" fmla="val 52530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7115968" y="4000500"/>
            <a:ext cx="4475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3600" b="1" dirty="0">
                <a:ea typeface="宋体" charset="-122"/>
              </a:rPr>
              <a:t>+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6200" y="1219200"/>
            <a:ext cx="5993761" cy="5562600"/>
          </a:xfrm>
          <a:prstGeom prst="rect">
            <a:avLst/>
          </a:prstGeom>
          <a:ln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i="1" u="sng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MaxHeapify</a:t>
            </a:r>
            <a:r>
              <a:rPr lang="en-US" altLang="zh-CN" sz="2400" u="sng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400" i="1" u="sng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u="sng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, </a:t>
            </a:r>
            <a:r>
              <a:rPr lang="en-US" altLang="zh-CN" sz="2400" i="1" u="sng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u="sng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u="sng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)</a:t>
            </a:r>
            <a:endParaRPr lang="en-US" altLang="zh-CN" sz="2400" i="1" u="sng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1. 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 left(</a:t>
            </a:r>
            <a:r>
              <a:rPr lang="en-US" altLang="zh-CN" sz="24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)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2. 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 right(</a:t>
            </a:r>
            <a:r>
              <a:rPr lang="en-US" altLang="zh-CN" sz="24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)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3.  </a:t>
            </a:r>
            <a:r>
              <a:rPr lang="en-US" altLang="zh-CN" sz="24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if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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heap-size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and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 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&gt;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4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4.     </a:t>
            </a:r>
            <a:r>
              <a:rPr lang="en-US" altLang="zh-CN" sz="24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then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largest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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5.     </a:t>
            </a:r>
            <a:r>
              <a:rPr lang="en-US" altLang="zh-CN" sz="24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else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largest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 </a:t>
            </a:r>
            <a:r>
              <a:rPr lang="en-US" altLang="zh-CN" sz="24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endParaRPr lang="en-US" altLang="zh-CN" sz="24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6.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 </a:t>
            </a:r>
            <a:r>
              <a:rPr lang="en-US" altLang="zh-CN" sz="24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if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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heap-size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</a:t>
            </a:r>
            <a:r>
              <a:rPr lang="en-US" altLang="zh-CN" sz="24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and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r 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&gt;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largest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7.     </a:t>
            </a:r>
            <a:r>
              <a:rPr lang="en-US" altLang="zh-CN" sz="24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then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largest 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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r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8.  </a:t>
            </a:r>
            <a:r>
              <a:rPr lang="en-US" altLang="zh-CN" sz="24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if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largest   </a:t>
            </a:r>
            <a:r>
              <a:rPr lang="en-US" altLang="zh-CN" sz="24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endParaRPr lang="en-US" altLang="zh-CN" sz="24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9.     </a:t>
            </a:r>
            <a:r>
              <a:rPr lang="en-US" altLang="zh-CN" sz="2400" b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then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exchange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4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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largest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</a:t>
            </a:r>
            <a:endParaRPr lang="en-US" altLang="zh-CN" sz="24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10.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            </a:t>
            </a:r>
            <a:r>
              <a:rPr lang="en-US" altLang="zh-CN" sz="24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MaxHeapify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A, largest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)</a:t>
            </a:r>
            <a:endParaRPr lang="en-US" altLang="zh-CN" sz="24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19666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Running Time for MaxHeapify(</a:t>
            </a:r>
            <a:r>
              <a:rPr lang="en-US" altLang="zh-CN" i="1">
                <a:ea typeface="宋体" charset="-122"/>
              </a:rPr>
              <a:t>A</a:t>
            </a:r>
            <a:r>
              <a:rPr lang="en-US" altLang="zh-CN">
                <a:ea typeface="宋体" charset="-122"/>
              </a:rPr>
              <a:t>, </a:t>
            </a:r>
            <a:r>
              <a:rPr lang="en-US" altLang="zh-CN" i="1">
                <a:ea typeface="宋体" charset="-122"/>
              </a:rPr>
              <a:t>n</a:t>
            </a:r>
            <a:r>
              <a:rPr lang="en-US" altLang="zh-CN">
                <a:ea typeface="宋体" charset="-122"/>
              </a:rPr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563" y="1284288"/>
            <a:ext cx="8248650" cy="4975225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zh-CN" sz="2800" i="1" dirty="0">
                <a:ea typeface="宋体" charset="-122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T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 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T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largest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 +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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(1) </a:t>
            </a:r>
            <a:endParaRPr lang="en-US" altLang="zh-CN" sz="2800" i="1" dirty="0">
              <a:solidFill>
                <a:schemeClr val="tx1"/>
              </a:solidFill>
              <a:ea typeface="宋体" charset="-122"/>
            </a:endParaRPr>
          </a:p>
          <a:p>
            <a:pPr>
              <a:spcBef>
                <a:spcPct val="60000"/>
              </a:spcBef>
            </a:pPr>
            <a:r>
              <a:rPr lang="en-US" altLang="zh-CN" sz="2800" i="1" dirty="0">
                <a:solidFill>
                  <a:srgbClr val="CC0000"/>
                </a:solidFill>
                <a:ea typeface="宋体" charset="-122"/>
              </a:rPr>
              <a:t>largest 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 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2</a:t>
            </a:r>
            <a:r>
              <a:rPr lang="en-US" altLang="zh-CN" sz="2800" i="1" dirty="0">
                <a:solidFill>
                  <a:srgbClr val="CC0000"/>
                </a:solidFill>
                <a:ea typeface="宋体" charset="-122"/>
              </a:rPr>
              <a:t>n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/3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(worst case occurs when the last row of tree is exactly half full)</a:t>
            </a:r>
          </a:p>
          <a:p>
            <a:pPr>
              <a:spcBef>
                <a:spcPct val="60000"/>
              </a:spcBef>
            </a:pP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T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 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T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(2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/3)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+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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(1)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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sz="2800" i="1" dirty="0">
                <a:solidFill>
                  <a:srgbClr val="CC0000"/>
                </a:solidFill>
                <a:ea typeface="宋体" charset="-122"/>
              </a:rPr>
              <a:t>T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(</a:t>
            </a:r>
            <a:r>
              <a:rPr lang="en-US" altLang="zh-CN" sz="2800" i="1" dirty="0">
                <a:solidFill>
                  <a:srgbClr val="CC0000"/>
                </a:solidFill>
                <a:ea typeface="宋体" charset="-122"/>
              </a:rPr>
              <a:t>n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)</a:t>
            </a:r>
            <a:r>
              <a:rPr lang="en-US" altLang="zh-CN" sz="2800" i="1" dirty="0">
                <a:solidFill>
                  <a:srgbClr val="CC0000"/>
                </a:solidFill>
                <a:ea typeface="宋体" charset="-122"/>
              </a:rPr>
              <a:t> 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800" i="1" dirty="0">
                <a:solidFill>
                  <a:srgbClr val="CC0000"/>
                </a:solidFill>
                <a:ea typeface="宋体" charset="-122"/>
              </a:rPr>
              <a:t> O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(</a:t>
            </a:r>
            <a:r>
              <a:rPr lang="en-US" altLang="zh-CN" sz="2800" dirty="0" err="1">
                <a:solidFill>
                  <a:srgbClr val="CC0000"/>
                </a:solidFill>
                <a:ea typeface="宋体" charset="-122"/>
              </a:rPr>
              <a:t>lg</a:t>
            </a:r>
            <a:r>
              <a:rPr lang="en-US" altLang="zh-CN" sz="2800" i="1" dirty="0">
                <a:solidFill>
                  <a:srgbClr val="CC0000"/>
                </a:solidFill>
                <a:ea typeface="宋体" charset="-122"/>
              </a:rPr>
              <a:t> n</a:t>
            </a:r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)</a:t>
            </a:r>
            <a:r>
              <a:rPr lang="en-US" altLang="zh-CN" sz="2800" i="1" dirty="0">
                <a:ea typeface="宋体" charset="-122"/>
              </a:rPr>
              <a:t> </a:t>
            </a:r>
            <a:endParaRPr lang="en-US" altLang="zh-CN" dirty="0">
              <a:ea typeface="宋体" charset="-122"/>
            </a:endParaRPr>
          </a:p>
          <a:p>
            <a:pPr>
              <a:spcBef>
                <a:spcPct val="60000"/>
              </a:spcBef>
            </a:pP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Alternately, </a:t>
            </a:r>
            <a:r>
              <a:rPr lang="en-US" altLang="zh-CN" sz="2800" dirty="0" err="1">
                <a:solidFill>
                  <a:schemeClr val="tx1"/>
                </a:solidFill>
                <a:ea typeface="宋体" charset="-122"/>
              </a:rPr>
              <a:t>MaxHeapify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 takes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O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h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where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h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is the height of the node where </a:t>
            </a:r>
            <a:r>
              <a:rPr lang="en-US" altLang="zh-CN" sz="2800" dirty="0" err="1">
                <a:solidFill>
                  <a:schemeClr val="tx1"/>
                </a:solidFill>
                <a:ea typeface="宋体" charset="-122"/>
              </a:rPr>
              <a:t>MaxHeapify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 is applied</a:t>
            </a:r>
            <a:endParaRPr lang="en-US" altLang="zh-CN" sz="2400" dirty="0">
              <a:solidFill>
                <a:schemeClr val="tx1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1247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Running Time of </a:t>
            </a:r>
            <a:r>
              <a:rPr lang="en-US" altLang="zh-CN" i="1">
                <a:ea typeface="宋体" charset="-122"/>
              </a:rPr>
              <a:t>BuildMaxHeap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414962"/>
          </a:xfrm>
        </p:spPr>
        <p:txBody>
          <a:bodyPr/>
          <a:lstStyle/>
          <a:p>
            <a:endParaRPr lang="en-US" altLang="zh-CN" sz="2800" dirty="0">
              <a:solidFill>
                <a:srgbClr val="CC0000"/>
              </a:solidFill>
              <a:ea typeface="宋体" charset="-122"/>
            </a:endParaRPr>
          </a:p>
          <a:p>
            <a:endParaRPr lang="en-US" altLang="zh-CN" sz="2800" dirty="0">
              <a:solidFill>
                <a:srgbClr val="CC0000"/>
              </a:solidFill>
              <a:ea typeface="宋体" charset="-122"/>
            </a:endParaRPr>
          </a:p>
          <a:p>
            <a:endParaRPr lang="en-US" altLang="zh-CN" sz="2800" dirty="0">
              <a:solidFill>
                <a:srgbClr val="CC0000"/>
              </a:solidFill>
              <a:ea typeface="宋体" charset="-122"/>
            </a:endParaRPr>
          </a:p>
          <a:p>
            <a:endParaRPr lang="en-US" altLang="zh-CN" sz="2800" dirty="0">
              <a:solidFill>
                <a:srgbClr val="CC0000"/>
              </a:solidFill>
              <a:ea typeface="宋体" charset="-122"/>
            </a:endParaRPr>
          </a:p>
          <a:p>
            <a:r>
              <a:rPr lang="en-US" altLang="zh-CN" sz="2800" dirty="0">
                <a:solidFill>
                  <a:srgbClr val="CC0000"/>
                </a:solidFill>
                <a:ea typeface="宋体" charset="-122"/>
              </a:rPr>
              <a:t>Loose upper bound:</a:t>
            </a:r>
          </a:p>
          <a:p>
            <a:pPr lvl="1"/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Cost of a </a:t>
            </a:r>
            <a:r>
              <a:rPr lang="en-US" altLang="zh-CN" sz="2400" i="1" dirty="0" err="1">
                <a:solidFill>
                  <a:schemeClr val="tx1"/>
                </a:solidFill>
                <a:ea typeface="宋体" charset="-122"/>
              </a:rPr>
              <a:t>MaxHeapify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 call 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 No. of calls to </a:t>
            </a:r>
            <a:r>
              <a:rPr lang="en-US" altLang="zh-CN" sz="2400" i="1" dirty="0" err="1">
                <a:solidFill>
                  <a:schemeClr val="tx1"/>
                </a:solidFill>
                <a:ea typeface="宋体" charset="-122"/>
              </a:rPr>
              <a:t>MaxHeapify</a:t>
            </a:r>
            <a:endParaRPr lang="en-US" altLang="zh-CN" sz="2400" dirty="0">
              <a:solidFill>
                <a:schemeClr val="tx1"/>
              </a:solidFill>
              <a:ea typeface="宋体" charset="-122"/>
            </a:endParaRPr>
          </a:p>
          <a:p>
            <a:pPr lvl="1"/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O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  <a:ea typeface="宋体" charset="-122"/>
              </a:rPr>
              <a:t>lg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</a:rPr>
              <a:t>) 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 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O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 = </a:t>
            </a:r>
            <a:r>
              <a:rPr lang="en-US" altLang="zh-CN" sz="2400" b="1" i="1" dirty="0">
                <a:solidFill>
                  <a:srgbClr val="002060"/>
                </a:solidFill>
                <a:ea typeface="宋体" charset="-122"/>
                <a:sym typeface="Symbol" pitchFamily="18" charset="2"/>
              </a:rPr>
              <a:t>O</a:t>
            </a:r>
            <a:r>
              <a:rPr lang="en-US" altLang="zh-CN" sz="2400" b="1" dirty="0">
                <a:solidFill>
                  <a:srgbClr val="002060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2060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2400" b="1" dirty="0" err="1">
                <a:solidFill>
                  <a:srgbClr val="002060"/>
                </a:solidFill>
                <a:ea typeface="宋体" charset="-122"/>
                <a:sym typeface="Symbol" pitchFamily="18" charset="2"/>
              </a:rPr>
              <a:t>lg</a:t>
            </a:r>
            <a:r>
              <a:rPr lang="en-US" altLang="zh-CN" sz="2400" b="1" dirty="0">
                <a:solidFill>
                  <a:srgbClr val="00206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400" b="1" i="1" dirty="0">
                <a:solidFill>
                  <a:srgbClr val="002060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2400" b="1" dirty="0">
                <a:solidFill>
                  <a:srgbClr val="002060"/>
                </a:solidFill>
                <a:ea typeface="宋体" charset="-122"/>
                <a:sym typeface="Symbol" pitchFamily="18" charset="2"/>
              </a:rPr>
              <a:t>)</a:t>
            </a:r>
          </a:p>
          <a:p>
            <a:r>
              <a:rPr lang="en-US" altLang="zh-CN" sz="2800" dirty="0">
                <a:solidFill>
                  <a:srgbClr val="CC0000"/>
                </a:solidFill>
                <a:ea typeface="宋体" charset="-122"/>
                <a:sym typeface="Symbol" pitchFamily="18" charset="2"/>
              </a:rPr>
              <a:t>Tighter bound:</a:t>
            </a:r>
          </a:p>
          <a:p>
            <a:pPr lvl="1"/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Build-Max-Heap takes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O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</a:p>
          <a:p>
            <a:pPr lvl="1">
              <a:buFontTx/>
              <a:buNone/>
            </a:pPr>
            <a:endParaRPr lang="en-US" altLang="zh-CN" sz="2400" dirty="0">
              <a:ea typeface="宋体" charset="-122"/>
              <a:sym typeface="Symbol" pitchFamily="18" charset="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96925" y="1219200"/>
            <a:ext cx="6670675" cy="2314575"/>
          </a:xfrm>
          <a:prstGeom prst="rect">
            <a:avLst/>
          </a:prstGeom>
          <a:ln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i="1" u="sng" dirty="0" err="1">
                <a:solidFill>
                  <a:srgbClr val="010000"/>
                </a:solidFill>
                <a:ea typeface="宋体" charset="-122"/>
              </a:rPr>
              <a:t>BuildMaxHeap</a:t>
            </a:r>
            <a:r>
              <a:rPr lang="en-US" altLang="zh-CN" sz="2800" u="sng" dirty="0">
                <a:solidFill>
                  <a:srgbClr val="010000"/>
                </a:solidFill>
                <a:ea typeface="宋体" charset="-122"/>
              </a:rPr>
              <a:t>(</a:t>
            </a:r>
            <a:r>
              <a:rPr lang="en-US" altLang="zh-CN" sz="2800" i="1" u="sng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800" u="sng" dirty="0">
                <a:solidFill>
                  <a:srgbClr val="010000"/>
                </a:solidFill>
                <a:ea typeface="宋体" charset="-122"/>
              </a:rPr>
              <a:t>)</a:t>
            </a:r>
            <a:endParaRPr lang="en-US" altLang="zh-CN" sz="2800" i="1" u="sng" dirty="0">
              <a:solidFill>
                <a:srgbClr val="010000"/>
              </a:solidFill>
              <a:ea typeface="宋体" charset="-12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1.  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heap-size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[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] 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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length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[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]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2.  </a:t>
            </a:r>
            <a:r>
              <a:rPr lang="en-US" altLang="zh-CN" sz="2800" b="1" dirty="0">
                <a:solidFill>
                  <a:srgbClr val="010000"/>
                </a:solidFill>
                <a:ea typeface="宋体" charset="-122"/>
              </a:rPr>
              <a:t>for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i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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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length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[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]/2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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b="1" dirty="0" err="1">
                <a:solidFill>
                  <a:srgbClr val="010000"/>
                </a:solidFill>
                <a:ea typeface="宋体" charset="-122"/>
              </a:rPr>
              <a:t>downto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1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3.       </a:t>
            </a:r>
            <a:r>
              <a:rPr lang="en-US" altLang="zh-CN" sz="2800" b="1" dirty="0">
                <a:solidFill>
                  <a:srgbClr val="010000"/>
                </a:solidFill>
                <a:ea typeface="宋体" charset="-122"/>
              </a:rPr>
              <a:t>do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800" i="1" dirty="0" err="1">
                <a:solidFill>
                  <a:srgbClr val="010000"/>
                </a:solidFill>
                <a:ea typeface="宋体" charset="-122"/>
              </a:rPr>
              <a:t>Max</a:t>
            </a:r>
            <a:r>
              <a:rPr lang="en-US" altLang="zh-CN" sz="28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Heapify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A, </a:t>
            </a:r>
            <a:r>
              <a:rPr lang="en-US" altLang="zh-CN" sz="28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) </a:t>
            </a:r>
            <a:endParaRPr lang="en-US" altLang="zh-CN" sz="28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endParaRPr lang="en-US" altLang="zh-CN" dirty="0">
              <a:solidFill>
                <a:srgbClr val="01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1085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Algorithm Analysis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1057275"/>
            <a:ext cx="8375650" cy="534352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None/>
            </a:pPr>
            <a:endParaRPr lang="en-US" altLang="zh-CN" sz="2400" i="1" baseline="30000" dirty="0">
              <a:ea typeface="宋体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2400" i="1" baseline="30000" dirty="0">
              <a:ea typeface="宋体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2400" i="1" baseline="30000" dirty="0">
              <a:ea typeface="宋体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2400" i="1" baseline="30000" dirty="0">
              <a:ea typeface="宋体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2400" i="1" baseline="30000" dirty="0">
              <a:ea typeface="宋体" charset="-122"/>
            </a:endParaRPr>
          </a:p>
          <a:p>
            <a:r>
              <a:rPr lang="en-US" altLang="zh-CN" sz="2800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In-place</a:t>
            </a:r>
          </a:p>
          <a:p>
            <a:endParaRPr lang="en-US" altLang="zh-CN" sz="2000" dirty="0">
              <a:solidFill>
                <a:srgbClr val="C00000"/>
              </a:solidFill>
              <a:ea typeface="宋体" charset="-122"/>
              <a:sym typeface="Symbol" pitchFamily="18" charset="2"/>
            </a:endParaRPr>
          </a:p>
          <a:p>
            <a:r>
              <a:rPr lang="en-US" altLang="zh-CN" sz="2800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Not Stable</a:t>
            </a:r>
          </a:p>
          <a:p>
            <a:endParaRPr lang="en-US" altLang="zh-CN" sz="2000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  <a:p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Build-Max-Heap takes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O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and each of the 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n-1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calls to Max-</a:t>
            </a:r>
            <a:r>
              <a:rPr lang="en-US" altLang="zh-CN" sz="28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Heapify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takes time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O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sz="2800" dirty="0" err="1">
                <a:solidFill>
                  <a:schemeClr val="tx1"/>
                </a:solidFill>
                <a:ea typeface="宋体" charset="-122"/>
              </a:rPr>
              <a:t>lg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 n</a:t>
            </a:r>
            <a:r>
              <a:rPr lang="en-US" altLang="zh-CN" sz="2800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</a:rPr>
              <a:t>.</a:t>
            </a:r>
          </a:p>
          <a:p>
            <a:endParaRPr lang="en-US" altLang="zh-CN" sz="2000" i="1" dirty="0">
              <a:solidFill>
                <a:schemeClr val="tx1"/>
              </a:solidFill>
              <a:ea typeface="宋体" charset="-122"/>
            </a:endParaRPr>
          </a:p>
          <a:p>
            <a:r>
              <a:rPr lang="en-US" altLang="zh-CN" sz="28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Therefore,</a:t>
            </a:r>
            <a:r>
              <a:rPr lang="en-US" altLang="zh-CN" sz="2800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2800" b="1" i="1" dirty="0">
                <a:solidFill>
                  <a:schemeClr val="tx2"/>
                </a:solidFill>
                <a:ea typeface="宋体" charset="-122"/>
                <a:sym typeface="Symbol" pitchFamily="18" charset="2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2800" b="1" dirty="0">
                <a:solidFill>
                  <a:schemeClr val="tx2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800" b="1" i="1" dirty="0">
                <a:solidFill>
                  <a:schemeClr val="tx2"/>
                </a:solidFill>
                <a:ea typeface="宋体" charset="-122"/>
                <a:sym typeface="Symbol" pitchFamily="18" charset="2"/>
              </a:rPr>
              <a:t> = O</a:t>
            </a:r>
            <a:r>
              <a:rPr lang="en-US" altLang="zh-CN" sz="2800" b="1" dirty="0">
                <a:solidFill>
                  <a:schemeClr val="tx2"/>
                </a:solidFill>
                <a:ea typeface="宋体" charset="-122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ea typeface="宋体" charset="-122"/>
              </a:rPr>
              <a:t>n </a:t>
            </a:r>
            <a:r>
              <a:rPr lang="en-US" altLang="zh-CN" sz="2800" b="1" dirty="0" err="1">
                <a:solidFill>
                  <a:schemeClr val="tx2"/>
                </a:solidFill>
                <a:ea typeface="宋体" charset="-122"/>
              </a:rPr>
              <a:t>lg</a:t>
            </a:r>
            <a:r>
              <a:rPr lang="en-US" altLang="zh-CN" sz="2800" b="1" i="1" dirty="0">
                <a:solidFill>
                  <a:schemeClr val="tx2"/>
                </a:solidFill>
                <a:ea typeface="宋体" charset="-122"/>
              </a:rPr>
              <a:t> n</a:t>
            </a:r>
            <a:r>
              <a:rPr lang="en-US" altLang="zh-CN" sz="2800" b="1" dirty="0">
                <a:solidFill>
                  <a:schemeClr val="tx2"/>
                </a:solidFill>
                <a:ea typeface="宋体" charset="-122"/>
              </a:rPr>
              <a:t>)</a:t>
            </a:r>
          </a:p>
          <a:p>
            <a:endParaRPr lang="en-US" altLang="zh-CN" sz="2800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370694" name="Rectangle 6"/>
          <p:cNvSpPr>
            <a:spLocks noChangeArrowheads="1"/>
          </p:cNvSpPr>
          <p:nvPr/>
        </p:nvSpPr>
        <p:spPr bwMode="auto">
          <a:xfrm>
            <a:off x="2627313" y="1317625"/>
            <a:ext cx="6189662" cy="2873375"/>
          </a:xfrm>
          <a:prstGeom prst="rect">
            <a:avLst/>
          </a:prstGeom>
          <a:ln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i="1" u="sng" dirty="0" err="1">
                <a:solidFill>
                  <a:srgbClr val="010000"/>
                </a:solidFill>
                <a:ea typeface="宋体" charset="-122"/>
              </a:rPr>
              <a:t>HeapSort</a:t>
            </a:r>
            <a:r>
              <a:rPr lang="en-US" altLang="zh-CN" sz="2400" u="sng" dirty="0">
                <a:solidFill>
                  <a:srgbClr val="010000"/>
                </a:solidFill>
                <a:ea typeface="宋体" charset="-122"/>
              </a:rPr>
              <a:t>(</a:t>
            </a:r>
            <a:r>
              <a:rPr lang="en-US" altLang="zh-CN" sz="2400" i="1" u="sng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400" u="sng" dirty="0">
                <a:solidFill>
                  <a:srgbClr val="010000"/>
                </a:solidFill>
                <a:ea typeface="宋体" charset="-122"/>
              </a:rPr>
              <a:t>)</a:t>
            </a:r>
            <a:endParaRPr lang="en-US" altLang="zh-CN" sz="2400" i="1" u="sng" dirty="0">
              <a:solidFill>
                <a:srgbClr val="010000"/>
              </a:solidFill>
              <a:ea typeface="宋体" charset="-12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1.  Build-Max-Heap(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)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2.  </a:t>
            </a:r>
            <a:r>
              <a:rPr lang="en-US" altLang="zh-CN" sz="2400" b="1" dirty="0">
                <a:ea typeface="宋体" charset="-122"/>
              </a:rPr>
              <a:t>for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400" i="1" dirty="0" err="1">
                <a:solidFill>
                  <a:srgbClr val="010000"/>
                </a:solidFill>
                <a:ea typeface="宋体" charset="-122"/>
              </a:rPr>
              <a:t>i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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</a:rPr>
              <a:t>length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[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] </a:t>
            </a:r>
            <a:r>
              <a:rPr lang="en-US" altLang="zh-CN" sz="2400" b="1" dirty="0" err="1">
                <a:solidFill>
                  <a:srgbClr val="010000"/>
                </a:solidFill>
                <a:ea typeface="宋体" charset="-122"/>
              </a:rPr>
              <a:t>downto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 2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3.       </a:t>
            </a:r>
            <a:r>
              <a:rPr lang="en-US" altLang="zh-CN" sz="2400" b="1" dirty="0">
                <a:ea typeface="宋体" charset="-122"/>
              </a:rPr>
              <a:t>do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</a:rPr>
              <a:t> exchange 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[1]  </a:t>
            </a:r>
            <a:r>
              <a:rPr lang="en-US" altLang="zh-CN" sz="28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8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i</a:t>
            </a:r>
            <a:r>
              <a:rPr lang="en-US" altLang="zh-CN" sz="28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 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4.             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heap-size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 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heap-size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[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] – 1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5.              </a:t>
            </a:r>
            <a:r>
              <a:rPr lang="en-US" altLang="zh-CN" sz="2400" i="1" dirty="0" err="1">
                <a:solidFill>
                  <a:srgbClr val="010000"/>
                </a:solidFill>
                <a:ea typeface="宋体" charset="-122"/>
                <a:sym typeface="Symbol" pitchFamily="18" charset="2"/>
              </a:rPr>
              <a:t>MaxHeapify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sz="2400" i="1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sz="2400" dirty="0">
                <a:solidFill>
                  <a:srgbClr val="010000"/>
                </a:solidFill>
                <a:ea typeface="宋体" charset="-122"/>
                <a:sym typeface="Symbol" pitchFamily="18" charset="2"/>
              </a:rPr>
              <a:t>, 1)</a:t>
            </a:r>
            <a:endParaRPr lang="en-US" altLang="zh-CN" sz="2800" i="1" dirty="0">
              <a:solidFill>
                <a:srgbClr val="010000"/>
              </a:solidFill>
              <a:ea typeface="宋体" charset="-122"/>
              <a:sym typeface="Symbol" pitchFamily="18" charset="2"/>
            </a:endParaRPr>
          </a:p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</a:pPr>
            <a:endParaRPr lang="en-US" altLang="zh-CN" sz="2400" i="1" baseline="30000" dirty="0">
              <a:solidFill>
                <a:srgbClr val="01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6155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Heap Procedures for Sorting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chemeClr val="tx1"/>
                </a:solidFill>
                <a:ea typeface="宋体" charset="-122"/>
              </a:rPr>
              <a:t>MaxHeapify</a:t>
            </a:r>
            <a:r>
              <a:rPr lang="en-US" altLang="zh-CN" dirty="0">
                <a:solidFill>
                  <a:schemeClr val="tx1"/>
                </a:solidFill>
                <a:ea typeface="宋体" charset="-122"/>
              </a:rPr>
              <a:t>  </a:t>
            </a:r>
            <a:r>
              <a:rPr lang="en-US" altLang="zh-CN" dirty="0">
                <a:ea typeface="宋体" charset="-122"/>
              </a:rPr>
              <a:t>          </a:t>
            </a:r>
            <a:r>
              <a:rPr lang="en-US" altLang="zh-CN" i="1" dirty="0">
                <a:solidFill>
                  <a:srgbClr val="CC0000"/>
                </a:solidFill>
                <a:ea typeface="宋体" charset="-122"/>
              </a:rPr>
              <a:t>O</a:t>
            </a:r>
            <a:r>
              <a:rPr lang="en-US" altLang="zh-CN" dirty="0">
                <a:solidFill>
                  <a:srgbClr val="CC0000"/>
                </a:solidFill>
                <a:ea typeface="宋体" charset="-122"/>
              </a:rPr>
              <a:t>(</a:t>
            </a:r>
            <a:r>
              <a:rPr lang="en-US" altLang="zh-CN" dirty="0" err="1">
                <a:solidFill>
                  <a:srgbClr val="CC0000"/>
                </a:solidFill>
                <a:ea typeface="宋体" charset="-122"/>
              </a:rPr>
              <a:t>lg</a:t>
            </a:r>
            <a:r>
              <a:rPr lang="en-US" altLang="zh-CN" dirty="0">
                <a:solidFill>
                  <a:srgbClr val="CC0000"/>
                </a:solidFill>
                <a:ea typeface="宋体" charset="-122"/>
              </a:rPr>
              <a:t> </a:t>
            </a:r>
            <a:r>
              <a:rPr lang="en-US" altLang="zh-CN" i="1" dirty="0">
                <a:solidFill>
                  <a:srgbClr val="CC0000"/>
                </a:solidFill>
                <a:ea typeface="宋体" charset="-122"/>
              </a:rPr>
              <a:t>n</a:t>
            </a:r>
            <a:r>
              <a:rPr lang="en-US" altLang="zh-CN" dirty="0">
                <a:solidFill>
                  <a:srgbClr val="CC0000"/>
                </a:solidFill>
                <a:ea typeface="宋体" charset="-122"/>
              </a:rPr>
              <a:t>)</a:t>
            </a:r>
          </a:p>
          <a:p>
            <a:r>
              <a:rPr lang="en-US" altLang="zh-CN" dirty="0" err="1">
                <a:solidFill>
                  <a:schemeClr val="tx1"/>
                </a:solidFill>
                <a:ea typeface="宋体" charset="-122"/>
              </a:rPr>
              <a:t>BuildMaxHeap</a:t>
            </a:r>
            <a:r>
              <a:rPr lang="en-US" altLang="zh-CN" dirty="0">
                <a:ea typeface="宋体" charset="-122"/>
              </a:rPr>
              <a:t>       </a:t>
            </a:r>
            <a:r>
              <a:rPr lang="en-US" altLang="zh-CN" i="1" dirty="0">
                <a:solidFill>
                  <a:srgbClr val="CC0000"/>
                </a:solidFill>
                <a:ea typeface="宋体" charset="-122"/>
              </a:rPr>
              <a:t>O</a:t>
            </a:r>
            <a:r>
              <a:rPr lang="en-US" altLang="zh-CN" dirty="0">
                <a:solidFill>
                  <a:srgbClr val="CC0000"/>
                </a:solidFill>
                <a:ea typeface="宋体" charset="-122"/>
              </a:rPr>
              <a:t>(</a:t>
            </a:r>
            <a:r>
              <a:rPr lang="en-US" altLang="zh-CN" i="1" dirty="0">
                <a:solidFill>
                  <a:srgbClr val="CC0000"/>
                </a:solidFill>
                <a:ea typeface="宋体" charset="-122"/>
              </a:rPr>
              <a:t>n</a:t>
            </a:r>
            <a:r>
              <a:rPr lang="en-US" altLang="zh-CN" dirty="0">
                <a:solidFill>
                  <a:srgbClr val="CC0000"/>
                </a:solidFill>
                <a:ea typeface="宋体" charset="-122"/>
              </a:rPr>
              <a:t>)</a:t>
            </a:r>
          </a:p>
          <a:p>
            <a:r>
              <a:rPr lang="en-US" altLang="zh-CN" dirty="0" err="1">
                <a:solidFill>
                  <a:schemeClr val="tx1"/>
                </a:solidFill>
                <a:ea typeface="宋体" charset="-122"/>
              </a:rPr>
              <a:t>HeapSort</a:t>
            </a:r>
            <a:r>
              <a:rPr lang="en-US" altLang="zh-CN" dirty="0">
                <a:ea typeface="宋体" charset="-122"/>
              </a:rPr>
              <a:t>                </a:t>
            </a:r>
            <a:r>
              <a:rPr lang="en-US" altLang="zh-CN" i="1" dirty="0">
                <a:solidFill>
                  <a:srgbClr val="CC0000"/>
                </a:solidFill>
                <a:ea typeface="宋体" charset="-122"/>
              </a:rPr>
              <a:t>O</a:t>
            </a:r>
            <a:r>
              <a:rPr lang="en-US" altLang="zh-CN" dirty="0">
                <a:solidFill>
                  <a:srgbClr val="CC0000"/>
                </a:solidFill>
                <a:ea typeface="宋体" charset="-122"/>
              </a:rPr>
              <a:t>(</a:t>
            </a:r>
            <a:r>
              <a:rPr lang="en-US" altLang="zh-CN" i="1" dirty="0">
                <a:solidFill>
                  <a:srgbClr val="CC0000"/>
                </a:solidFill>
                <a:ea typeface="宋体" charset="-122"/>
              </a:rPr>
              <a:t>n </a:t>
            </a:r>
            <a:r>
              <a:rPr lang="en-US" altLang="zh-CN" dirty="0" err="1">
                <a:solidFill>
                  <a:srgbClr val="CC0000"/>
                </a:solidFill>
                <a:ea typeface="宋体" charset="-122"/>
              </a:rPr>
              <a:t>lg</a:t>
            </a:r>
            <a:r>
              <a:rPr lang="en-US" altLang="zh-CN" dirty="0">
                <a:solidFill>
                  <a:srgbClr val="CC0000"/>
                </a:solidFill>
                <a:ea typeface="宋体" charset="-122"/>
              </a:rPr>
              <a:t> </a:t>
            </a:r>
            <a:r>
              <a:rPr lang="en-US" altLang="zh-CN" i="1" dirty="0">
                <a:solidFill>
                  <a:srgbClr val="CC0000"/>
                </a:solidFill>
                <a:ea typeface="宋体" charset="-122"/>
              </a:rPr>
              <a:t>n</a:t>
            </a:r>
            <a:r>
              <a:rPr lang="en-US" altLang="zh-CN" dirty="0">
                <a:solidFill>
                  <a:srgbClr val="CC0000"/>
                </a:solidFill>
                <a:ea typeface="宋体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93677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900" b="1">
                <a:latin typeface="Arial" charset="0"/>
                <a:ea typeface="宋体" charset="-122"/>
              </a:rPr>
              <a:t>Copyright </a:t>
            </a:r>
            <a:r>
              <a:rPr lang="en-US" altLang="zh-CN" sz="900" b="1">
                <a:latin typeface="Arial" charset="0"/>
                <a:ea typeface="宋体" charset="-122"/>
                <a:cs typeface="Arial" charset="0"/>
              </a:rPr>
              <a:t>© The McGraw-Hill Companies, Inc. Permission required for reproduction or display.</a:t>
            </a:r>
            <a:endParaRPr lang="en-US" altLang="zh-CN" sz="900" b="1">
              <a:latin typeface="Arial" charset="0"/>
              <a:ea typeface="宋体" charset="-122"/>
            </a:endParaRPr>
          </a:p>
          <a:p>
            <a:pPr>
              <a:spcBef>
                <a:spcPct val="50000"/>
              </a:spcBef>
            </a:pPr>
            <a:endParaRPr lang="en-US" altLang="zh-CN">
              <a:ea typeface="宋体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12" y="0"/>
            <a:ext cx="7554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66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 to Algorithms, Second Edition by Thomas H. </a:t>
            </a:r>
            <a:r>
              <a:rPr lang="en-US" dirty="0" err="1">
                <a:solidFill>
                  <a:schemeClr val="tx1"/>
                </a:solidFill>
              </a:rPr>
              <a:t>Cormen</a:t>
            </a:r>
            <a:r>
              <a:rPr lang="en-US" dirty="0">
                <a:solidFill>
                  <a:schemeClr val="tx1"/>
                </a:solidFill>
              </a:rPr>
              <a:t>, Charles E. </a:t>
            </a:r>
            <a:r>
              <a:rPr lang="en-US" dirty="0" err="1">
                <a:solidFill>
                  <a:schemeClr val="tx1"/>
                </a:solidFill>
              </a:rPr>
              <a:t>Leiserson</a:t>
            </a:r>
            <a:r>
              <a:rPr lang="en-US" dirty="0">
                <a:solidFill>
                  <a:schemeClr val="tx1"/>
                </a:solidFill>
              </a:rPr>
              <a:t>, Ronald L. </a:t>
            </a:r>
            <a:r>
              <a:rPr lang="en-US" dirty="0" err="1">
                <a:solidFill>
                  <a:schemeClr val="tx1"/>
                </a:solidFill>
              </a:rPr>
              <a:t>Rivest</a:t>
            </a:r>
            <a:r>
              <a:rPr lang="en-US" dirty="0">
                <a:solidFill>
                  <a:schemeClr val="tx1"/>
                </a:solidFill>
              </a:rPr>
              <a:t> and Clifford Stein, The MIT Press © 2001 </a:t>
            </a:r>
          </a:p>
          <a:p>
            <a:r>
              <a:rPr lang="en-US" dirty="0">
                <a:solidFill>
                  <a:schemeClr val="tx1"/>
                </a:solidFill>
              </a:rPr>
              <a:t>Chapter 6.1, 6.2, 6.3, 6.4</a:t>
            </a:r>
          </a:p>
        </p:txBody>
      </p:sp>
    </p:spTree>
    <p:extLst>
      <p:ext uri="{BB962C8B-B14F-4D97-AF65-F5344CB8AC3E}">
        <p14:creationId xmlns:p14="http://schemas.microsoft.com/office/powerpoint/2010/main" val="7876327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Custom 2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4685DF"/>
      </a:hlink>
      <a:folHlink>
        <a:srgbClr val="9965C3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0B7603DA286A41973ED08A6E95DDF1" ma:contentTypeVersion="14" ma:contentTypeDescription="Create a new document." ma:contentTypeScope="" ma:versionID="9dbda6c21f670f81b314fde63e299b67">
  <xsd:schema xmlns:xsd="http://www.w3.org/2001/XMLSchema" xmlns:xs="http://www.w3.org/2001/XMLSchema" xmlns:p="http://schemas.microsoft.com/office/2006/metadata/properties" xmlns:ns2="b59073bf-3226-4cc2-a862-685e8fd0a4b2" xmlns:ns3="77f424dc-c8a0-4eac-a0a6-0f28ce03e3e3" targetNamespace="http://schemas.microsoft.com/office/2006/metadata/properties" ma:root="true" ma:fieldsID="3c2f63c7967b26ca995ad52a8d891f55" ns2:_="" ns3:_="">
    <xsd:import namespace="b59073bf-3226-4cc2-a862-685e8fd0a4b2"/>
    <xsd:import namespace="77f424dc-c8a0-4eac-a0a6-0f28ce03e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073bf-3226-4cc2-a862-685e8fd0a4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f14da48-c7bd-4fbb-b3d0-c28c7c6f1f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424dc-c8a0-4eac-a0a6-0f28ce03e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6a6a460-902d-4d5c-a475-b7e5fe6fe2a9}" ma:internalName="TaxCatchAll" ma:showField="CatchAllData" ma:web="77f424dc-c8a0-4eac-a0a6-0f28ce03e3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073bf-3226-4cc2-a862-685e8fd0a4b2">
      <Terms xmlns="http://schemas.microsoft.com/office/infopath/2007/PartnerControls"/>
    </lcf76f155ced4ddcb4097134ff3c332f>
    <TaxCatchAll xmlns="77f424dc-c8a0-4eac-a0a6-0f28ce03e3e3" xsi:nil="true"/>
  </documentManagement>
</p:properties>
</file>

<file path=customXml/itemProps1.xml><?xml version="1.0" encoding="utf-8"?>
<ds:datastoreItem xmlns:ds="http://schemas.openxmlformats.org/officeDocument/2006/customXml" ds:itemID="{4E379742-39E9-44FF-AE16-E29EAF01F4CA}"/>
</file>

<file path=customXml/itemProps2.xml><?xml version="1.0" encoding="utf-8"?>
<ds:datastoreItem xmlns:ds="http://schemas.openxmlformats.org/officeDocument/2006/customXml" ds:itemID="{52A678C3-9EAC-4425-8C93-8FE489068C8B}"/>
</file>

<file path=customXml/itemProps3.xml><?xml version="1.0" encoding="utf-8"?>
<ds:datastoreItem xmlns:ds="http://schemas.openxmlformats.org/officeDocument/2006/customXml" ds:itemID="{AFE33B95-A941-4501-B71E-AA3F06919659}"/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1051</TotalTime>
  <Words>2216</Words>
  <Application>Microsoft Office PowerPoint</Application>
  <PresentationFormat>On-screen Show (4:3)</PresentationFormat>
  <Paragraphs>417</Paragraphs>
  <Slides>31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宋体</vt:lpstr>
      <vt:lpstr>Arial</vt:lpstr>
      <vt:lpstr>Arial MT</vt:lpstr>
      <vt:lpstr>Calibri</vt:lpstr>
      <vt:lpstr>Cambria Math</vt:lpstr>
      <vt:lpstr>Nunito</vt:lpstr>
      <vt:lpstr>Segoe</vt:lpstr>
      <vt:lpstr>Segoe UI Light</vt:lpstr>
      <vt:lpstr>Wingdings</vt:lpstr>
      <vt:lpstr>Essential</vt:lpstr>
      <vt:lpstr>Paint Shop Pro Image</vt:lpstr>
      <vt:lpstr>Equation</vt:lpstr>
      <vt:lpstr>Cs 316: Algorithms  Lecture 6: Heap Sort</vt:lpstr>
      <vt:lpstr>Heapsort</vt:lpstr>
      <vt:lpstr>Binary Heap</vt:lpstr>
      <vt:lpstr>Binary Heap</vt:lpstr>
      <vt:lpstr>Data Structure Binary Heap:   Shape property</vt:lpstr>
      <vt:lpstr>Data Structure Binary Heap:   Shape property</vt:lpstr>
      <vt:lpstr>Data Structure Binary Heap:   Shape property</vt:lpstr>
      <vt:lpstr>Data Structure Binary Heap:   Heap property</vt:lpstr>
      <vt:lpstr>Heaps – Example </vt:lpstr>
      <vt:lpstr>Tree Characteristics</vt:lpstr>
      <vt:lpstr>Example</vt:lpstr>
      <vt:lpstr>Other Heap Characteristics</vt:lpstr>
      <vt:lpstr>Other Heap Characteristics</vt:lpstr>
      <vt:lpstr>Heap SORT </vt:lpstr>
      <vt:lpstr>Example 1: Heap Sort</vt:lpstr>
      <vt:lpstr>Example 1: BuildMaxHeap ()</vt:lpstr>
      <vt:lpstr>Example 2: MaxHeapify(A,1)</vt:lpstr>
      <vt:lpstr>Maintaining the heap property</vt:lpstr>
      <vt:lpstr>EXAMPLE2:</vt:lpstr>
      <vt:lpstr>Example2:       A=[7, 4, 3, 1, 2]</vt:lpstr>
      <vt:lpstr>HeapSort</vt:lpstr>
      <vt:lpstr>Heapsort Algorithm</vt:lpstr>
      <vt:lpstr>Building a heap</vt:lpstr>
      <vt:lpstr>Procedure MaxHeapify</vt:lpstr>
      <vt:lpstr>Running Time for MaxHeapify</vt:lpstr>
      <vt:lpstr>Running Time for MaxHeapify(A, n)</vt:lpstr>
      <vt:lpstr>Running Time of BuildMaxHeap</vt:lpstr>
      <vt:lpstr>Algorithm Analysis</vt:lpstr>
      <vt:lpstr>Heap Procedures for Sorting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316: Algorithms  Lecture 8</dc:title>
  <dc:creator>EHM</dc:creator>
  <cp:lastModifiedBy>Mohammed El-Said</cp:lastModifiedBy>
  <cp:revision>117</cp:revision>
  <dcterms:created xsi:type="dcterms:W3CDTF">2014-12-10T08:59:30Z</dcterms:created>
  <dcterms:modified xsi:type="dcterms:W3CDTF">2024-04-01T19:28:49Z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0x010100350B7603DA286A41973ED08A6E95DDF1</vt:lpwstr>
  </property>
</Properties>
</file>