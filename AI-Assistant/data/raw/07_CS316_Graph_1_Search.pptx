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392" r:id="rId2"/>
    <p:sldId id="376" r:id="rId3"/>
    <p:sldId id="377" r:id="rId4"/>
    <p:sldId id="359" r:id="rId5"/>
    <p:sldId id="260" r:id="rId6"/>
    <p:sldId id="380" r:id="rId7"/>
    <p:sldId id="360" r:id="rId8"/>
    <p:sldId id="361" r:id="rId9"/>
    <p:sldId id="308" r:id="rId10"/>
    <p:sldId id="378" r:id="rId11"/>
    <p:sldId id="309" r:id="rId12"/>
    <p:sldId id="313" r:id="rId13"/>
    <p:sldId id="363" r:id="rId14"/>
    <p:sldId id="365" r:id="rId15"/>
    <p:sldId id="314" r:id="rId16"/>
    <p:sldId id="261" r:id="rId17"/>
    <p:sldId id="386" r:id="rId18"/>
    <p:sldId id="263" r:id="rId19"/>
    <p:sldId id="264" r:id="rId20"/>
    <p:sldId id="265" r:id="rId21"/>
    <p:sldId id="266" r:id="rId22"/>
    <p:sldId id="267" r:id="rId23"/>
    <p:sldId id="372" r:id="rId24"/>
    <p:sldId id="393" r:id="rId25"/>
    <p:sldId id="269" r:id="rId26"/>
    <p:sldId id="375" r:id="rId27"/>
    <p:sldId id="270" r:id="rId28"/>
    <p:sldId id="271" r:id="rId29"/>
    <p:sldId id="273" r:id="rId30"/>
    <p:sldId id="387" r:id="rId31"/>
    <p:sldId id="390" r:id="rId32"/>
    <p:sldId id="389" r:id="rId33"/>
    <p:sldId id="388" r:id="rId34"/>
    <p:sldId id="335" r:id="rId35"/>
    <p:sldId id="336" r:id="rId36"/>
    <p:sldId id="337" r:id="rId37"/>
    <p:sldId id="338" r:id="rId38"/>
    <p:sldId id="339" r:id="rId39"/>
    <p:sldId id="340" r:id="rId40"/>
    <p:sldId id="285" r:id="rId41"/>
    <p:sldId id="373" r:id="rId42"/>
    <p:sldId id="284" r:id="rId43"/>
    <p:sldId id="286" r:id="rId44"/>
    <p:sldId id="287" r:id="rId45"/>
    <p:sldId id="391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48" r:id="rId54"/>
    <p:sldId id="349" r:id="rId55"/>
    <p:sldId id="350" r:id="rId56"/>
    <p:sldId id="351" r:id="rId57"/>
    <p:sldId id="352" r:id="rId58"/>
    <p:sldId id="353" r:id="rId59"/>
    <p:sldId id="354" r:id="rId60"/>
    <p:sldId id="355" r:id="rId61"/>
    <p:sldId id="356" r:id="rId62"/>
    <p:sldId id="332" r:id="rId63"/>
    <p:sldId id="374" r:id="rId64"/>
    <p:sldId id="305" r:id="rId65"/>
    <p:sldId id="315" r:id="rId66"/>
    <p:sldId id="357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343" autoAdjust="0"/>
  </p:normalViewPr>
  <p:slideViewPr>
    <p:cSldViewPr>
      <p:cViewPr varScale="1">
        <p:scale>
          <a:sx n="77" d="100"/>
          <a:sy n="77" d="100"/>
        </p:scale>
        <p:origin x="11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52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B100E-1B10-4026-A837-718250C37990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9FA32-A7E7-433D-9806-7C101BF74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EE0E20-839E-4B5F-826A-8D4EF457E3B2}" type="slidenum">
              <a:rPr lang="en-US"/>
              <a:pPr/>
              <a:t>5</a:t>
            </a:fld>
            <a:endParaRPr lang="en-US"/>
          </a:p>
        </p:txBody>
      </p:sp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1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Recursive call as I push in a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1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 node: difference between discover</a:t>
            </a:r>
            <a:r>
              <a:rPr lang="en-US" baseline="0" dirty="0"/>
              <a:t> </a:t>
            </a:r>
            <a:r>
              <a:rPr lang="en-US" dirty="0"/>
              <a:t>time and finish time is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1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B0C2-0C7E-4864-8B9D-4B7B8548A421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E06D99-C250-4484-88F0-6DE275A91A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6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14-Apr-24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rtlCol="0"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2296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BDE5647-3BF7-4A19-BEBA-D67B1F0ECC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94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10BB0C2-0C7E-4864-8B9D-4B7B8548A421}" type="datetimeFigureOut">
              <a:rPr lang="en-US" smtClean="0"/>
              <a:t>14-Apr-24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65300"/>
            <a:ext cx="7543800" cy="2273300"/>
          </a:xfrm>
        </p:spPr>
        <p:txBody>
          <a:bodyPr/>
          <a:lstStyle/>
          <a:p>
            <a:pPr algn="ctr"/>
            <a:r>
              <a:rPr lang="en-US" sz="3600" dirty="0"/>
              <a:t>Cs 316: Algorithms </a:t>
            </a:r>
            <a:br>
              <a:rPr lang="en-US" sz="3600" dirty="0"/>
            </a:br>
            <a:r>
              <a:rPr lang="en-US" cap="none" dirty="0">
                <a:solidFill>
                  <a:srgbClr val="FF3300"/>
                </a:solidFill>
              </a:rPr>
              <a:t>Lecture 7: </a:t>
            </a:r>
            <a:r>
              <a:rPr lang="en-US" cap="none" dirty="0">
                <a:solidFill>
                  <a:srgbClr val="0070C0"/>
                </a:solidFill>
              </a:rPr>
              <a:t>Graph Representation and Search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200" y="40386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rgbClr val="FE5815"/>
                </a:solidFill>
                <a:latin typeface="Segoe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cap="none">
                <a:solidFill>
                  <a:srgbClr val="FF0000"/>
                </a:solidFill>
              </a:rPr>
              <a:t>Prepared by: Assoc. Prof. Ensaf Hussein</a:t>
            </a:r>
          </a:p>
          <a:p>
            <a:pPr algn="ctr"/>
            <a:r>
              <a:rPr lang="en-US" cap="none">
                <a:solidFill>
                  <a:srgbClr val="0000CC"/>
                </a:solidFill>
              </a:rPr>
              <a:t>Presented by:</a:t>
            </a:r>
            <a:r>
              <a:rPr lang="en-US" cap="none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Assoc. Prof. Wessam El-Behaidy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Dr. Mohammed El-Said</a:t>
            </a:r>
            <a:endParaRPr lang="ar-EG" sz="2400" b="1" cap="none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998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data structures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3228975" cy="828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209800"/>
            <a:ext cx="3714750" cy="7097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648200"/>
            <a:ext cx="3333750" cy="885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8287" y="3385042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9275" y="3429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6248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9275" y="6245352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Queue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798332"/>
            <a:ext cx="1795463" cy="208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1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data structures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3585046" cy="2786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90725"/>
            <a:ext cx="3758853" cy="2876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35122" y="5344597"/>
            <a:ext cx="602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6553200" y="5334000"/>
            <a:ext cx="117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30133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B6B857-772C-43CD-B0D3-EDD96E0B5208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0688" y="1219200"/>
            <a:ext cx="8723312" cy="2971800"/>
          </a:xfrm>
          <a:prstGeom prst="rect">
            <a:avLst/>
          </a:prstGeom>
        </p:spPr>
        <p:txBody>
          <a:bodyPr/>
          <a:lstStyle/>
          <a:p>
            <a:pPr marL="342900" indent="-34290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en-US" sz="2800" b="1" kern="0" dirty="0">
                <a:solidFill>
                  <a:srgbClr val="7030A0"/>
                </a:solidFill>
                <a:latin typeface="+mn-lt"/>
                <a:cs typeface="+mn-cs"/>
              </a:rPr>
              <a:t>Graph</a:t>
            </a:r>
            <a:r>
              <a:rPr lang="en-US" sz="2800" kern="0" dirty="0">
                <a:latin typeface="+mn-lt"/>
                <a:cs typeface="+mn-cs"/>
              </a:rPr>
              <a:t> – mathematical object consisting of a set of:</a:t>
            </a: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sz="2400" kern="0" dirty="0"/>
              <a:t>Denoted by</a:t>
            </a:r>
            <a:endParaRPr lang="en-US" sz="2400" i="1" kern="0" dirty="0"/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sz="2400" i="1" kern="0" dirty="0">
                <a:latin typeface="+mn-lt"/>
                <a:cs typeface="+mn-cs"/>
              </a:rPr>
              <a:t>V</a:t>
            </a:r>
            <a:r>
              <a:rPr lang="en-US" sz="2400" kern="0" dirty="0">
                <a:latin typeface="+mn-lt"/>
                <a:cs typeface="+mn-cs"/>
              </a:rPr>
              <a:t> = </a:t>
            </a:r>
            <a:r>
              <a:rPr lang="en-US" sz="2400" b="1" kern="0" dirty="0">
                <a:solidFill>
                  <a:srgbClr val="7030A0"/>
                </a:solidFill>
                <a:latin typeface="+mn-lt"/>
                <a:cs typeface="+mn-cs"/>
              </a:rPr>
              <a:t>nodes</a:t>
            </a:r>
            <a:r>
              <a:rPr lang="en-US" sz="2400" kern="0" dirty="0">
                <a:latin typeface="+mn-lt"/>
                <a:cs typeface="+mn-cs"/>
              </a:rPr>
              <a:t> (vertices, points).</a:t>
            </a: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sz="2400" i="1" kern="0" dirty="0">
                <a:latin typeface="+mn-lt"/>
                <a:cs typeface="+mn-cs"/>
              </a:rPr>
              <a:t>E</a:t>
            </a:r>
            <a:r>
              <a:rPr lang="en-US" sz="2400" kern="0" dirty="0">
                <a:latin typeface="+mn-lt"/>
                <a:cs typeface="+mn-cs"/>
              </a:rPr>
              <a:t> = </a:t>
            </a:r>
            <a:r>
              <a:rPr lang="en-US" sz="2400" b="1" kern="0" dirty="0">
                <a:solidFill>
                  <a:srgbClr val="7030A0"/>
                </a:solidFill>
                <a:latin typeface="+mn-lt"/>
                <a:cs typeface="+mn-cs"/>
              </a:rPr>
              <a:t>edges</a:t>
            </a:r>
            <a:r>
              <a:rPr lang="en-US" sz="2400" kern="0" dirty="0">
                <a:latin typeface="+mn-lt"/>
                <a:cs typeface="+mn-cs"/>
              </a:rPr>
              <a:t> (links, arcs) between pairs of nodes, </a:t>
            </a:r>
            <a:r>
              <a:rPr lang="en-US" sz="2400" dirty="0">
                <a:latin typeface="Segoe"/>
              </a:rPr>
              <a:t>where     each edge is a pair (</a:t>
            </a:r>
            <a:r>
              <a:rPr lang="en-US" sz="2400" dirty="0" err="1">
                <a:latin typeface="Segoe"/>
              </a:rPr>
              <a:t>v,w</a:t>
            </a:r>
            <a:r>
              <a:rPr lang="en-US" sz="2400" dirty="0">
                <a:latin typeface="Segoe"/>
              </a:rPr>
              <a:t>) </a:t>
            </a:r>
            <a:r>
              <a:rPr lang="en-US" sz="2400" dirty="0" err="1">
                <a:latin typeface="Segoe"/>
              </a:rPr>
              <a:t>s.t.</a:t>
            </a:r>
            <a:r>
              <a:rPr lang="en-US" sz="2400" dirty="0">
                <a:latin typeface="Segoe"/>
              </a:rPr>
              <a:t> </a:t>
            </a:r>
            <a:r>
              <a:rPr lang="en-US" sz="2400" dirty="0" err="1">
                <a:latin typeface="Segoe"/>
              </a:rPr>
              <a:t>v,w</a:t>
            </a:r>
            <a:r>
              <a:rPr lang="en-US" sz="2400" dirty="0">
                <a:latin typeface="Segoe"/>
              </a:rPr>
              <a:t> </a:t>
            </a:r>
            <a:r>
              <a:rPr lang="en-US" sz="2400" dirty="0">
                <a:latin typeface="Segoe"/>
                <a:sym typeface="Symbol" pitchFamily="18" charset="2"/>
              </a:rPr>
              <a:t> </a:t>
            </a:r>
            <a:r>
              <a:rPr lang="en-US" sz="2400" dirty="0">
                <a:latin typeface="Segoe"/>
              </a:rPr>
              <a:t>V</a:t>
            </a: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742950" lvl="1" indent="-28575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L="342900" indent="-342900" defTabSz="300038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endParaRPr lang="en-US" sz="2800" kern="0" dirty="0">
              <a:latin typeface="+mn-lt"/>
              <a:cs typeface="+mn-cs"/>
            </a:endParaRPr>
          </a:p>
        </p:txBody>
      </p:sp>
      <p:pic>
        <p:nvPicPr>
          <p:cNvPr id="10245" name="Picture 47" descr="kleinberg_03F0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2362200" y="3421996"/>
            <a:ext cx="3124200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95600" y="1676400"/>
            <a:ext cx="18288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i="1" kern="0" dirty="0">
                <a:latin typeface="Arial" charset="0"/>
                <a:cs typeface="Arial" charset="0"/>
              </a:rPr>
              <a:t>G = (V, E)</a:t>
            </a:r>
            <a:endParaRPr lang="en-US" sz="2800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152400"/>
            <a:ext cx="7620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spc="-6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Graph – Definitions</a:t>
            </a:r>
          </a:p>
        </p:txBody>
      </p:sp>
    </p:spTree>
    <p:extLst>
      <p:ext uri="{BB962C8B-B14F-4D97-AF65-F5344CB8AC3E}">
        <p14:creationId xmlns:p14="http://schemas.microsoft.com/office/powerpoint/2010/main" val="20139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214438"/>
            <a:ext cx="8602662" cy="1654175"/>
          </a:xfrm>
        </p:spPr>
        <p:txBody>
          <a:bodyPr/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Applications that involve not only a set of items, but also the connections between them</a:t>
            </a:r>
          </a:p>
        </p:txBody>
      </p:sp>
      <p:pic>
        <p:nvPicPr>
          <p:cNvPr id="691204" name="Picture 4" descr="BasicHyperText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1238" y="4160838"/>
            <a:ext cx="1357312" cy="177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91211" name="Picture 11" descr="cla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7250" y="2252663"/>
            <a:ext cx="1997075" cy="13604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91205" name="Picture 5" descr="BS00369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838" y="2163763"/>
            <a:ext cx="1920875" cy="139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1206" name="Picture 6" descr="BS00892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2147888"/>
            <a:ext cx="1679575" cy="154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1207" name="Text Box 7"/>
          <p:cNvSpPr txBox="1">
            <a:spLocks noChangeArrowheads="1"/>
          </p:cNvSpPr>
          <p:nvPr/>
        </p:nvSpPr>
        <p:spPr bwMode="auto">
          <a:xfrm>
            <a:off x="6169025" y="3635375"/>
            <a:ext cx="2165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Computer networks</a:t>
            </a:r>
          </a:p>
        </p:txBody>
      </p:sp>
      <p:sp>
        <p:nvSpPr>
          <p:cNvPr id="691208" name="Text Box 8"/>
          <p:cNvSpPr txBox="1">
            <a:spLocks noChangeArrowheads="1"/>
          </p:cNvSpPr>
          <p:nvPr/>
        </p:nvSpPr>
        <p:spPr bwMode="auto">
          <a:xfrm>
            <a:off x="5532438" y="6048375"/>
            <a:ext cx="94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Circuits</a:t>
            </a:r>
          </a:p>
        </p:txBody>
      </p:sp>
      <p:sp>
        <p:nvSpPr>
          <p:cNvPr id="691209" name="Text Box 9"/>
          <p:cNvSpPr txBox="1">
            <a:spLocks noChangeArrowheads="1"/>
          </p:cNvSpPr>
          <p:nvPr/>
        </p:nvSpPr>
        <p:spPr bwMode="auto">
          <a:xfrm>
            <a:off x="3917950" y="3635375"/>
            <a:ext cx="1250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Schedules</a:t>
            </a:r>
          </a:p>
        </p:txBody>
      </p:sp>
      <p:sp>
        <p:nvSpPr>
          <p:cNvPr id="691210" name="Text Box 10"/>
          <p:cNvSpPr txBox="1">
            <a:spLocks noChangeArrowheads="1"/>
          </p:cNvSpPr>
          <p:nvPr/>
        </p:nvSpPr>
        <p:spPr bwMode="auto">
          <a:xfrm>
            <a:off x="2354263" y="6048375"/>
            <a:ext cx="1162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Hypertext</a:t>
            </a:r>
          </a:p>
        </p:txBody>
      </p:sp>
      <p:sp>
        <p:nvSpPr>
          <p:cNvPr id="691212" name="Text Box 12"/>
          <p:cNvSpPr txBox="1">
            <a:spLocks noChangeArrowheads="1"/>
          </p:cNvSpPr>
          <p:nvPr/>
        </p:nvSpPr>
        <p:spPr bwMode="auto">
          <a:xfrm>
            <a:off x="1319213" y="3635375"/>
            <a:ext cx="742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Maps</a:t>
            </a:r>
          </a:p>
        </p:txBody>
      </p:sp>
      <p:pic>
        <p:nvPicPr>
          <p:cNvPr id="691213" name="Picture 13" descr="circuit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4160838"/>
            <a:ext cx="1154112" cy="178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93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24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620000" cy="838200"/>
          </a:xfrm>
        </p:spPr>
        <p:txBody>
          <a:bodyPr/>
          <a:lstStyle/>
          <a:p>
            <a:r>
              <a:rPr lang="en-US" altLang="en-US" dirty="0">
                <a:ea typeface="MS Mincho" panose="02020609040205080304" pitchFamily="49" charset="-128"/>
              </a:rPr>
              <a:t>Graphs - definitions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399" cy="22098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Segoe"/>
              </a:rPr>
              <a:t>If </a:t>
            </a:r>
            <a:r>
              <a:rPr lang="en-US" sz="2000" u="sng" dirty="0">
                <a:solidFill>
                  <a:schemeClr val="tx1"/>
                </a:solidFill>
                <a:latin typeface="Segoe"/>
              </a:rPr>
              <a:t>the edge pair is ordered 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then the graph is called a </a:t>
            </a:r>
            <a:r>
              <a:rPr lang="en-US" sz="2400" b="1" kern="0" dirty="0">
                <a:solidFill>
                  <a:srgbClr val="7030A0"/>
                </a:solidFill>
                <a:latin typeface="+mn-lt"/>
              </a:rPr>
              <a:t>directed graph </a:t>
            </a:r>
            <a:r>
              <a:rPr lang="en-US" sz="2000" b="1" dirty="0">
                <a:solidFill>
                  <a:schemeClr val="tx1"/>
                </a:solidFill>
                <a:latin typeface="Segoe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also called</a:t>
            </a:r>
            <a:r>
              <a:rPr lang="en-US" sz="2000" b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b="1" kern="0" dirty="0">
                <a:solidFill>
                  <a:srgbClr val="7030A0"/>
                </a:solidFill>
                <a:latin typeface="+mn-lt"/>
              </a:rPr>
              <a:t>digraphs</a:t>
            </a:r>
            <a:r>
              <a:rPr lang="en-US" sz="2000" i="1" dirty="0">
                <a:solidFill>
                  <a:schemeClr val="tx1"/>
                </a:solidFill>
                <a:latin typeface="Segoe"/>
              </a:rPr>
              <a:t>)</a:t>
            </a:r>
            <a:r>
              <a:rPr lang="en-US" sz="2000" b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.</a:t>
            </a:r>
          </a:p>
          <a:p>
            <a:r>
              <a:rPr lang="en-US" sz="2400" b="1" kern="0" dirty="0">
                <a:solidFill>
                  <a:srgbClr val="7030A0"/>
                </a:solidFill>
                <a:latin typeface="+mn-lt"/>
              </a:rPr>
              <a:t>Undirected graph</a:t>
            </a:r>
            <a:r>
              <a:rPr lang="en-US" sz="2000" b="1" kern="0" dirty="0">
                <a:solidFill>
                  <a:srgbClr val="7030A0"/>
                </a:solidFill>
              </a:rPr>
              <a:t>, 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which is not a directed graph, also called a </a:t>
            </a:r>
            <a:r>
              <a:rPr lang="en-US" sz="2000" b="1" dirty="0">
                <a:solidFill>
                  <a:schemeClr val="tx1"/>
                </a:solidFill>
                <a:latin typeface="Segoe"/>
              </a:rPr>
              <a:t>normal graph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 or just a </a:t>
            </a:r>
            <a:r>
              <a:rPr lang="en-US" sz="2000" b="1" dirty="0">
                <a:solidFill>
                  <a:schemeClr val="tx1"/>
                </a:solidFill>
                <a:latin typeface="Segoe"/>
              </a:rPr>
              <a:t>graph</a:t>
            </a:r>
            <a:r>
              <a:rPr lang="en-US" sz="2000" dirty="0">
                <a:solidFill>
                  <a:schemeClr val="tx1"/>
                </a:solidFill>
                <a:latin typeface="Segoe"/>
              </a:rPr>
              <a:t>.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267200" y="6197025"/>
            <a:ext cx="4876800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sz="1600" b="1" dirty="0"/>
              <a:t>V = { 1, 3,5,7,9,11}</a:t>
            </a:r>
          </a:p>
          <a:p>
            <a:r>
              <a:rPr lang="en-US" altLang="en-US" sz="1600" b="1" dirty="0"/>
              <a:t>E = {(1,3) (3,1) (11,1) (9,11) (9,9) (5,9) (5,7) }</a:t>
            </a:r>
            <a:endParaRPr lang="en-US" alt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37" y="3505200"/>
            <a:ext cx="3695700" cy="2743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71875"/>
            <a:ext cx="2409825" cy="2524125"/>
          </a:xfrm>
          <a:prstGeom prst="rect">
            <a:avLst/>
          </a:prstGeom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33400" y="5968425"/>
            <a:ext cx="32766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sz="1600" b="1" dirty="0"/>
              <a:t>V = { A,B,C,D }</a:t>
            </a:r>
          </a:p>
          <a:p>
            <a:r>
              <a:rPr lang="en-US" altLang="en-US" sz="1600" b="1" dirty="0"/>
              <a:t>E = {(A,B), (B,A), (A,D), (D,A) (B,D), (D,B), (B,C), (C,B)}</a:t>
            </a:r>
            <a:endParaRPr lang="en-US" altLang="en-US" b="1" dirty="0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297780" y="3162182"/>
            <a:ext cx="24104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/>
              <a:t>Undirected graph</a:t>
            </a:r>
            <a:endParaRPr lang="en-US" altLang="en-US" sz="2000" b="1" dirty="0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411390" y="3162598"/>
            <a:ext cx="198001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/>
              <a:t>Directed graph</a:t>
            </a:r>
            <a:endParaRPr lang="en-US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222283" y="4972615"/>
            <a:ext cx="1702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edge</a:t>
            </a:r>
          </a:p>
        </p:txBody>
      </p:sp>
    </p:spTree>
    <p:extLst>
      <p:ext uri="{BB962C8B-B14F-4D97-AF65-F5344CB8AC3E}">
        <p14:creationId xmlns:p14="http://schemas.microsoft.com/office/powerpoint/2010/main" val="9720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33846" y="6477000"/>
            <a:ext cx="1905000" cy="228600"/>
          </a:xfrm>
          <a:prstGeom prst="rect">
            <a:avLst/>
          </a:prstGeom>
        </p:spPr>
        <p:txBody>
          <a:bodyPr/>
          <a:lstStyle/>
          <a:p>
            <a:fld id="{9A4445BF-2BDC-4F08-A8C7-D6925B3E561D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838200"/>
          </a:xfrm>
        </p:spPr>
        <p:txBody>
          <a:bodyPr/>
          <a:lstStyle/>
          <a:p>
            <a:r>
              <a:rPr lang="en-US" dirty="0"/>
              <a:t>Graph – Definitions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0292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Segoe"/>
              </a:rPr>
              <a:t>Two vertices of a graph are </a:t>
            </a:r>
            <a:r>
              <a:rPr lang="en-US" dirty="0">
                <a:solidFill>
                  <a:srgbClr val="C00000"/>
                </a:solidFill>
                <a:latin typeface="Segoe"/>
              </a:rPr>
              <a:t>adjacent</a:t>
            </a:r>
            <a:r>
              <a:rPr lang="en-US" dirty="0">
                <a:solidFill>
                  <a:schemeClr val="tx1"/>
                </a:solidFill>
                <a:latin typeface="Segoe"/>
              </a:rPr>
              <a:t> if they are joined by an edge.</a:t>
            </a:r>
          </a:p>
          <a:p>
            <a:r>
              <a:rPr lang="en-US" dirty="0">
                <a:solidFill>
                  <a:schemeClr val="tx1"/>
                </a:solidFill>
                <a:latin typeface="Segoe"/>
              </a:rPr>
              <a:t>	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076700"/>
            <a:ext cx="2772508" cy="1638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711988"/>
            <a:ext cx="1466850" cy="24574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99105" y="1798290"/>
            <a:ext cx="6120073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Segoe"/>
              </a:rPr>
              <a:t>Vertex </a:t>
            </a:r>
            <a:r>
              <a:rPr lang="en-US" sz="2400" b="1" dirty="0">
                <a:latin typeface="Segoe"/>
              </a:rPr>
              <a:t>w</a:t>
            </a:r>
            <a:r>
              <a:rPr lang="en-US" sz="2400" dirty="0">
                <a:latin typeface="Segoe"/>
              </a:rPr>
              <a:t> is adjacent to </a:t>
            </a:r>
            <a:r>
              <a:rPr lang="en-US" sz="2400" b="1" dirty="0">
                <a:latin typeface="Segoe"/>
              </a:rPr>
              <a:t>v</a:t>
            </a:r>
            <a:r>
              <a:rPr lang="en-US" sz="2400" dirty="0">
                <a:latin typeface="Segoe"/>
              </a:rPr>
              <a:t>  </a:t>
            </a:r>
            <a:r>
              <a:rPr lang="en-US" sz="2400" dirty="0" err="1">
                <a:latin typeface="Segoe"/>
              </a:rPr>
              <a:t>iff</a:t>
            </a:r>
            <a:r>
              <a:rPr lang="en-US" sz="2400" dirty="0">
                <a:latin typeface="Segoe"/>
              </a:rPr>
              <a:t> edge (</a:t>
            </a:r>
            <a:r>
              <a:rPr lang="en-US" sz="2400" dirty="0" err="1">
                <a:latin typeface="Segoe"/>
              </a:rPr>
              <a:t>v,w</a:t>
            </a:r>
            <a:r>
              <a:rPr lang="en-US" sz="2400" dirty="0">
                <a:latin typeface="Segoe"/>
              </a:rPr>
              <a:t>) </a:t>
            </a:r>
            <a:r>
              <a:rPr lang="en-US" sz="2400" dirty="0">
                <a:latin typeface="Segoe"/>
                <a:sym typeface="Symbol" pitchFamily="18" charset="2"/>
              </a:rPr>
              <a:t></a:t>
            </a:r>
            <a:r>
              <a:rPr lang="en-US" sz="2400" dirty="0">
                <a:latin typeface="Segoe"/>
              </a:rPr>
              <a:t> E.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97780" y="2514600"/>
            <a:ext cx="24104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/>
              <a:t>Undirected graph</a:t>
            </a:r>
            <a:endParaRPr lang="en-US" altLang="en-US" sz="2000" b="1" dirty="0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411390" y="2515016"/>
            <a:ext cx="198001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en-US" b="1" dirty="0"/>
              <a:t>Directed graph</a:t>
            </a:r>
            <a:endParaRPr lang="en-US" alt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702101" y="2949785"/>
            <a:ext cx="365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"/>
              </a:rPr>
              <a:t>- An edge is enough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0246" y="4690408"/>
            <a:ext cx="426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"/>
              </a:rPr>
              <a:t>Ex: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"/>
              </a:rPr>
              <a:t>3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 </a:t>
            </a:r>
            <a:r>
              <a:rPr lang="en-US" sz="2400" dirty="0">
                <a:latin typeface="Segoe"/>
              </a:rPr>
              <a:t>1 </a:t>
            </a:r>
            <a:r>
              <a:rPr lang="en-US" sz="2400" dirty="0">
                <a:latin typeface="Segoe"/>
                <a:sym typeface="Wingdings" panose="05000000000000000000" pitchFamily="2" charset="2"/>
              </a:rPr>
              <a:t> (1,3)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"/>
              </a:rPr>
              <a:t>1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</a:t>
            </a:r>
            <a:r>
              <a:rPr lang="en-US" sz="2400" dirty="0">
                <a:latin typeface="Segoe"/>
              </a:rPr>
              <a:t> 3 </a:t>
            </a:r>
            <a:r>
              <a:rPr lang="en-US" sz="2400" dirty="0">
                <a:latin typeface="Segoe"/>
                <a:sym typeface="Wingdings" panose="05000000000000000000" pitchFamily="2" charset="2"/>
              </a:rPr>
              <a:t> (3,1)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"/>
                <a:sym typeface="Wingdings" panose="05000000000000000000" pitchFamily="2" charset="2"/>
              </a:rPr>
              <a:t>1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  <a:sym typeface="Wingdings" panose="05000000000000000000" pitchFamily="2" charset="2"/>
              </a:rPr>
              <a:t>adjacent to</a:t>
            </a:r>
            <a:r>
              <a:rPr lang="en-US" sz="2400" dirty="0">
                <a:latin typeface="Segoe"/>
                <a:sym typeface="Wingdings" panose="05000000000000000000" pitchFamily="2" charset="2"/>
              </a:rPr>
              <a:t> 11(11,1)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Segoe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390" y="421552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Segoe"/>
              </a:rPr>
              <a:t>Ex:</a:t>
            </a:r>
          </a:p>
          <a:p>
            <a:r>
              <a:rPr lang="en-US" sz="2400" dirty="0">
                <a:latin typeface="Segoe"/>
              </a:rPr>
              <a:t>With 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Edge (B,D) </a:t>
            </a:r>
          </a:p>
          <a:p>
            <a:r>
              <a:rPr lang="en-US" sz="2400" dirty="0">
                <a:latin typeface="Segoe"/>
              </a:rPr>
              <a:t>. B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</a:t>
            </a:r>
            <a:r>
              <a:rPr lang="en-US" sz="2400" dirty="0">
                <a:latin typeface="Segoe"/>
              </a:rPr>
              <a:t> D  </a:t>
            </a:r>
          </a:p>
          <a:p>
            <a:r>
              <a:rPr lang="en-US" sz="2400" dirty="0">
                <a:latin typeface="Segoe"/>
              </a:rPr>
              <a:t>. D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 </a:t>
            </a:r>
            <a:r>
              <a:rPr lang="en-US" sz="2400" dirty="0">
                <a:latin typeface="Segoe"/>
              </a:rPr>
              <a:t>B.</a:t>
            </a:r>
          </a:p>
          <a:p>
            <a:r>
              <a:rPr lang="en-US" sz="2400" dirty="0">
                <a:latin typeface="Segoe"/>
              </a:rPr>
              <a:t>With </a:t>
            </a:r>
            <a:r>
              <a:rPr lang="en-US" sz="2400" dirty="0">
                <a:solidFill>
                  <a:srgbClr val="0070C0"/>
                </a:solidFill>
                <a:latin typeface="Segoe"/>
              </a:rPr>
              <a:t>Edge (B,C) </a:t>
            </a:r>
          </a:p>
          <a:p>
            <a:r>
              <a:rPr lang="en-US" sz="2400" dirty="0">
                <a:latin typeface="Segoe"/>
              </a:rPr>
              <a:t>. B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</a:t>
            </a:r>
            <a:r>
              <a:rPr lang="en-US" sz="2400" dirty="0">
                <a:latin typeface="Segoe"/>
              </a:rPr>
              <a:t> C  </a:t>
            </a:r>
          </a:p>
          <a:p>
            <a:r>
              <a:rPr lang="en-US" sz="2400" dirty="0">
                <a:latin typeface="Segoe"/>
              </a:rPr>
              <a:t>. C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Segoe"/>
              </a:rPr>
              <a:t>adjacent to </a:t>
            </a:r>
            <a:r>
              <a:rPr lang="en-US" sz="2400" dirty="0">
                <a:latin typeface="Segoe"/>
              </a:rPr>
              <a:t>B.</a:t>
            </a:r>
          </a:p>
          <a:p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419600" y="3082170"/>
            <a:ext cx="48768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sz="2200" dirty="0">
                <a:latin typeface="Segoe"/>
              </a:rPr>
              <a:t>- </a:t>
            </a:r>
            <a:r>
              <a:rPr lang="en-US" sz="2200" dirty="0" err="1">
                <a:latin typeface="Segoe"/>
              </a:rPr>
              <a:t>iff</a:t>
            </a:r>
            <a:r>
              <a:rPr lang="en-US" sz="2200" dirty="0">
                <a:latin typeface="Segoe"/>
              </a:rPr>
              <a:t> there is a </a:t>
            </a:r>
            <a:r>
              <a:rPr lang="en-US" sz="2200" u="sng" dirty="0">
                <a:latin typeface="Segoe"/>
              </a:rPr>
              <a:t>direct edge </a:t>
            </a:r>
            <a:r>
              <a:rPr lang="en-US" sz="2200" dirty="0">
                <a:latin typeface="Segoe"/>
              </a:rPr>
              <a:t>from  v to w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Segoe"/>
              </a:rPr>
              <a:t>w is </a:t>
            </a:r>
            <a:r>
              <a:rPr lang="en-US" sz="2200" b="1" i="1" dirty="0">
                <a:latin typeface="Segoe"/>
              </a:rPr>
              <a:t>successor</a:t>
            </a:r>
            <a:r>
              <a:rPr lang="en-US" sz="2200" dirty="0">
                <a:latin typeface="Segoe"/>
              </a:rPr>
              <a:t> of v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Segoe"/>
              </a:rPr>
              <a:t>v is </a:t>
            </a:r>
            <a:r>
              <a:rPr lang="en-US" sz="2200" b="1" i="1" dirty="0">
                <a:latin typeface="Segoe"/>
              </a:rPr>
              <a:t>predecessor</a:t>
            </a:r>
            <a:r>
              <a:rPr lang="en-US" sz="2200" dirty="0">
                <a:latin typeface="Segoe"/>
              </a:rPr>
              <a:t> of w</a:t>
            </a:r>
          </a:p>
        </p:txBody>
      </p:sp>
    </p:spTree>
    <p:extLst>
      <p:ext uri="{BB962C8B-B14F-4D97-AF65-F5344CB8AC3E}">
        <p14:creationId xmlns:p14="http://schemas.microsoft.com/office/powerpoint/2010/main" val="264722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33846" y="6477000"/>
            <a:ext cx="1905000" cy="228600"/>
          </a:xfrm>
          <a:prstGeom prst="rect">
            <a:avLst/>
          </a:prstGeom>
        </p:spPr>
        <p:txBody>
          <a:bodyPr/>
          <a:lstStyle/>
          <a:p>
            <a:fld id="{9A4445BF-2BDC-4F08-A8C7-D6925B3E561D}" type="slidenum">
              <a:rPr lang="en-US"/>
              <a:pPr/>
              <a:t>9</a:t>
            </a:fld>
            <a:endParaRPr lang="en-US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838200"/>
          </a:xfrm>
        </p:spPr>
        <p:txBody>
          <a:bodyPr/>
          <a:lstStyle/>
          <a:p>
            <a:r>
              <a:rPr lang="en-US" dirty="0"/>
              <a:t>Graph – Definitions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91600" cy="4876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Segoe"/>
              </a:rPr>
              <a:t>A</a:t>
            </a:r>
            <a:r>
              <a:rPr lang="en-US" dirty="0">
                <a:solidFill>
                  <a:srgbClr val="C00000"/>
                </a:solidFill>
                <a:latin typeface="Segoe"/>
              </a:rPr>
              <a:t> (directed) path </a:t>
            </a:r>
            <a:r>
              <a:rPr lang="en-US" dirty="0">
                <a:solidFill>
                  <a:schemeClr val="tx1"/>
                </a:solidFill>
                <a:latin typeface="Segoe"/>
              </a:rPr>
              <a:t>between two vertices is a sequence of edges that begins at one vertex and ends at another vertex.	</a:t>
            </a:r>
          </a:p>
          <a:p>
            <a:endParaRPr lang="en-US" dirty="0">
              <a:solidFill>
                <a:srgbClr val="C00000"/>
              </a:solidFill>
              <a:latin typeface="Segoe"/>
            </a:endParaRPr>
          </a:p>
          <a:p>
            <a:r>
              <a:rPr lang="en-US" dirty="0">
                <a:solidFill>
                  <a:srgbClr val="C00000"/>
                </a:solidFill>
                <a:latin typeface="Segoe"/>
              </a:rPr>
              <a:t>A simple path </a:t>
            </a:r>
            <a:r>
              <a:rPr lang="en-US" dirty="0">
                <a:solidFill>
                  <a:schemeClr val="tx1"/>
                </a:solidFill>
                <a:latin typeface="Segoe"/>
              </a:rPr>
              <a:t>passes through a vertex only once.</a:t>
            </a:r>
          </a:p>
          <a:p>
            <a:r>
              <a:rPr lang="en-US" dirty="0">
                <a:solidFill>
                  <a:schemeClr val="tx1"/>
                </a:solidFill>
                <a:latin typeface="Segoe"/>
              </a:rPr>
              <a:t>Example: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2133600"/>
            <a:ext cx="7239000" cy="43088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indent="0">
              <a:spcAft>
                <a:spcPts val="600"/>
              </a:spcAft>
              <a:buNone/>
            </a:pPr>
            <a:r>
              <a:rPr lang="en-US" sz="2200" dirty="0">
                <a:latin typeface="Segoe"/>
              </a:rPr>
              <a:t> w1, w2, …, </a:t>
            </a:r>
            <a:r>
              <a:rPr lang="en-US" sz="2200" dirty="0" err="1">
                <a:latin typeface="Segoe"/>
              </a:rPr>
              <a:t>w</a:t>
            </a:r>
            <a:r>
              <a:rPr lang="en-US" sz="2200" baseline="-25000" dirty="0" err="1">
                <a:latin typeface="Segoe"/>
              </a:rPr>
              <a:t>N</a:t>
            </a:r>
            <a:r>
              <a:rPr lang="en-US" sz="2200" dirty="0">
                <a:latin typeface="Segoe"/>
              </a:rPr>
              <a:t> is a path if (</a:t>
            </a:r>
            <a:r>
              <a:rPr lang="en-US" sz="2200" dirty="0" err="1">
                <a:latin typeface="Segoe"/>
              </a:rPr>
              <a:t>w</a:t>
            </a:r>
            <a:r>
              <a:rPr lang="en-US" sz="2200" baseline="-25000" dirty="0" err="1">
                <a:latin typeface="Segoe"/>
              </a:rPr>
              <a:t>i</a:t>
            </a:r>
            <a:r>
              <a:rPr lang="en-US" sz="2200" dirty="0">
                <a:latin typeface="Segoe"/>
              </a:rPr>
              <a:t>, w</a:t>
            </a:r>
            <a:r>
              <a:rPr lang="en-US" sz="2200" baseline="-25000" dirty="0">
                <a:latin typeface="Segoe"/>
              </a:rPr>
              <a:t>i+1</a:t>
            </a:r>
            <a:r>
              <a:rPr lang="en-US" sz="2200" dirty="0">
                <a:latin typeface="Segoe"/>
              </a:rPr>
              <a:t>) </a:t>
            </a:r>
            <a:r>
              <a:rPr lang="en-US" sz="2200" dirty="0">
                <a:latin typeface="Segoe"/>
                <a:sym typeface="Symbol" pitchFamily="18" charset="2"/>
              </a:rPr>
              <a:t></a:t>
            </a:r>
            <a:r>
              <a:rPr lang="en-US" sz="2200" dirty="0">
                <a:latin typeface="Segoe"/>
              </a:rPr>
              <a:t> E for 1 </a:t>
            </a:r>
            <a:r>
              <a:rPr lang="en-US" sz="2200" dirty="0">
                <a:latin typeface="Segoe"/>
                <a:sym typeface="Symbol" pitchFamily="18" charset="2"/>
              </a:rPr>
              <a:t> </a:t>
            </a:r>
            <a:r>
              <a:rPr lang="en-US" sz="2200" dirty="0" err="1">
                <a:latin typeface="Segoe"/>
                <a:sym typeface="Symbol" pitchFamily="18" charset="2"/>
              </a:rPr>
              <a:t>i</a:t>
            </a:r>
            <a:r>
              <a:rPr lang="en-US" sz="2200" dirty="0">
                <a:latin typeface="Segoe"/>
                <a:sym typeface="Symbol" pitchFamily="18" charset="2"/>
              </a:rPr>
              <a:t> </a:t>
            </a:r>
            <a:r>
              <a:rPr lang="en-US" sz="2200" dirty="0">
                <a:latin typeface="Segoe"/>
              </a:rPr>
              <a:t>. N-1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943708" y="3505200"/>
            <a:ext cx="5849815" cy="1584325"/>
            <a:chOff x="816" y="960"/>
            <a:chExt cx="3992" cy="998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2041" y="1232"/>
              <a:ext cx="635" cy="45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086" y="1141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3882" y="1259"/>
              <a:ext cx="590" cy="4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1179" y="1776"/>
              <a:ext cx="145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2993" y="1776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1134" y="1232"/>
              <a:ext cx="635" cy="42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1723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 dirty="0">
                  <a:latin typeface="Arial" charset="0"/>
                </a:rPr>
                <a:t>1</a:t>
              </a:r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2630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3537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4445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5</a:t>
              </a:r>
            </a:p>
          </p:txBody>
        </p:sp>
        <p:sp>
          <p:nvSpPr>
            <p:cNvPr id="17" name="Oval 14"/>
            <p:cNvSpPr>
              <a:spLocks noChangeArrowheads="1"/>
            </p:cNvSpPr>
            <p:nvPr/>
          </p:nvSpPr>
          <p:spPr bwMode="auto">
            <a:xfrm>
              <a:off x="816" y="1594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3</a:t>
              </a:r>
            </a:p>
          </p:txBody>
        </p:sp>
      </p:grp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6289431" y="3733799"/>
            <a:ext cx="25074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A graph G (undirected)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533401" y="5181600"/>
            <a:ext cx="883919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latin typeface="Segoe"/>
              </a:rPr>
              <a:t>The graph G= (V,E) has 5 vertices and 12 edges:</a:t>
            </a:r>
          </a:p>
          <a:p>
            <a:pPr algn="l" eaLnBrk="1" hangingPunct="1"/>
            <a:r>
              <a:rPr lang="en-US" sz="2000" dirty="0">
                <a:latin typeface="Segoe"/>
              </a:rPr>
              <a:t>   V = {1,2,3,4,5}</a:t>
            </a:r>
          </a:p>
          <a:p>
            <a:pPr algn="l" eaLnBrk="1" hangingPunct="1"/>
            <a:r>
              <a:rPr lang="en-US" sz="2000" dirty="0">
                <a:latin typeface="Segoe"/>
              </a:rPr>
              <a:t>   E = { (1,2),(1,3),(1,4),(2,5),(3,4),(4,5), (2,1),(3,1),(4,1),(5,2),(4,3),(5,4) }</a:t>
            </a:r>
          </a:p>
          <a:p>
            <a:pPr algn="l" eaLnBrk="1" hangingPunct="1"/>
            <a:r>
              <a:rPr lang="en-US" sz="2000" dirty="0">
                <a:solidFill>
                  <a:srgbClr val="C00000"/>
                </a:solidFill>
                <a:latin typeface="Segoe"/>
              </a:rPr>
              <a:t>Path:</a:t>
            </a:r>
          </a:p>
          <a:p>
            <a:pPr lvl="1" algn="l" eaLnBrk="1" hangingPunct="1"/>
            <a:r>
              <a:rPr lang="en-US" sz="2000" dirty="0">
                <a:latin typeface="Segoe"/>
              </a:rPr>
              <a:t>1,2,5 ( a </a:t>
            </a:r>
            <a:r>
              <a:rPr lang="en-US" sz="2000" dirty="0">
                <a:solidFill>
                  <a:srgbClr val="0070C0"/>
                </a:solidFill>
                <a:latin typeface="Segoe"/>
              </a:rPr>
              <a:t>simple path</a:t>
            </a:r>
            <a:r>
              <a:rPr lang="en-US" sz="2000" dirty="0">
                <a:latin typeface="Segoe"/>
              </a:rPr>
              <a:t>),     1,3,4,1,2,5 (a </a:t>
            </a:r>
            <a:r>
              <a:rPr lang="en-US" sz="2000" dirty="0">
                <a:solidFill>
                  <a:srgbClr val="0070C0"/>
                </a:solidFill>
                <a:latin typeface="Segoe"/>
              </a:rPr>
              <a:t>path</a:t>
            </a:r>
            <a:r>
              <a:rPr lang="en-US" sz="2000" dirty="0">
                <a:latin typeface="Segoe"/>
              </a:rPr>
              <a:t> but not a simple path)</a:t>
            </a:r>
          </a:p>
        </p:txBody>
      </p:sp>
    </p:spTree>
    <p:extLst>
      <p:ext uri="{BB962C8B-B14F-4D97-AF65-F5344CB8AC3E}">
        <p14:creationId xmlns:p14="http://schemas.microsoft.com/office/powerpoint/2010/main" val="422795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33846" y="6477000"/>
            <a:ext cx="1905000" cy="228600"/>
          </a:xfrm>
          <a:prstGeom prst="rect">
            <a:avLst/>
          </a:prstGeom>
        </p:spPr>
        <p:txBody>
          <a:bodyPr/>
          <a:lstStyle/>
          <a:p>
            <a:fld id="{9A4445BF-2BDC-4F08-A8C7-D6925B3E561D}" type="slidenum">
              <a:rPr lang="en-US"/>
              <a:pPr/>
              <a:t>10</a:t>
            </a:fld>
            <a:endParaRPr lang="en-US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838200"/>
          </a:xfrm>
        </p:spPr>
        <p:txBody>
          <a:bodyPr/>
          <a:lstStyle/>
          <a:p>
            <a:r>
              <a:rPr lang="en-US" dirty="0"/>
              <a:t>Graph – Definitions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91600" cy="4876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  <a:latin typeface="Segoe"/>
              </a:rPr>
              <a:t>A cycle </a:t>
            </a:r>
            <a:r>
              <a:rPr lang="en-US" dirty="0">
                <a:solidFill>
                  <a:schemeClr val="tx1"/>
                </a:solidFill>
                <a:latin typeface="Segoe"/>
              </a:rPr>
              <a:t>is a path that begins and ends at the same vertex.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Segoe"/>
              </a:rPr>
              <a:t>For undirected graphs, the edges must be distinct</a:t>
            </a:r>
            <a:r>
              <a:rPr lang="en-US" sz="22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 </a:t>
            </a:r>
            <a:r>
              <a:rPr lang="en-US" sz="2200" dirty="0">
                <a:solidFill>
                  <a:srgbClr val="0070C0"/>
                </a:solidFill>
                <a:latin typeface="Segoe"/>
                <a:sym typeface="Wingdings" panose="05000000000000000000" pitchFamily="2" charset="2"/>
              </a:rPr>
              <a:t>No 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Self loops</a:t>
            </a:r>
            <a:endParaRPr lang="en-US" sz="2200" dirty="0">
              <a:solidFill>
                <a:srgbClr val="0070C0"/>
              </a:solidFill>
              <a:latin typeface="Segoe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In a directed graph is a path of length </a:t>
            </a:r>
            <a:r>
              <a:rPr lang="en-US" sz="2400" u="sng" dirty="0">
                <a:solidFill>
                  <a:schemeClr val="tx1"/>
                </a:solidFill>
                <a:latin typeface="Segoe"/>
              </a:rPr>
              <a:t>at least 1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such that        w</a:t>
            </a:r>
            <a:r>
              <a:rPr lang="en-US" sz="2400" baseline="-25000" dirty="0">
                <a:solidFill>
                  <a:schemeClr val="tx1"/>
                </a:solidFill>
                <a:latin typeface="Segoe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Segoe"/>
              </a:rPr>
              <a:t>w</a:t>
            </a:r>
            <a:r>
              <a:rPr lang="en-US" sz="2400" baseline="-25000" dirty="0" err="1">
                <a:solidFill>
                  <a:schemeClr val="tx1"/>
                </a:solidFill>
                <a:latin typeface="Segoe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.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 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Self loops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A 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directed acyclic graph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DAG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 is a type of directed graph having no cycles.</a:t>
            </a:r>
          </a:p>
          <a:p>
            <a:r>
              <a:rPr lang="en-US" dirty="0">
                <a:solidFill>
                  <a:srgbClr val="C00000"/>
                </a:solidFill>
                <a:latin typeface="Segoe"/>
              </a:rPr>
              <a:t>A simple cycle </a:t>
            </a:r>
            <a:r>
              <a:rPr lang="en-US" dirty="0">
                <a:solidFill>
                  <a:schemeClr val="tx1"/>
                </a:solidFill>
                <a:latin typeface="Segoe"/>
              </a:rPr>
              <a:t>is a cycle that does not pass through other vertices more than once.</a:t>
            </a:r>
          </a:p>
        </p:txBody>
      </p:sp>
    </p:spTree>
    <p:extLst>
      <p:ext uri="{BB962C8B-B14F-4D97-AF65-F5344CB8AC3E}">
        <p14:creationId xmlns:p14="http://schemas.microsoft.com/office/powerpoint/2010/main" val="266790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1E7F8-7E1A-4BD4-A081-D5B28880DBCD}" type="slidenum">
              <a:rPr lang="en-US"/>
              <a:pPr/>
              <a:t>11</a:t>
            </a:fld>
            <a:endParaRPr lang="en-US"/>
          </a:p>
        </p:txBody>
      </p:sp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4482"/>
            <a:ext cx="7620000" cy="1371282"/>
          </a:xfrm>
        </p:spPr>
        <p:txBody>
          <a:bodyPr/>
          <a:lstStyle/>
          <a:p>
            <a:r>
              <a:rPr lang="en-US" dirty="0"/>
              <a:t>Graph – An Example</a:t>
            </a:r>
          </a:p>
        </p:txBody>
      </p:sp>
      <p:grpSp>
        <p:nvGrpSpPr>
          <p:cNvPr id="703491" name="Group 3"/>
          <p:cNvGrpSpPr>
            <a:grpSpLocks/>
          </p:cNvGrpSpPr>
          <p:nvPr/>
        </p:nvGrpSpPr>
        <p:grpSpPr bwMode="auto">
          <a:xfrm>
            <a:off x="562708" y="1143001"/>
            <a:ext cx="5849815" cy="1584325"/>
            <a:chOff x="816" y="960"/>
            <a:chExt cx="3992" cy="998"/>
          </a:xfrm>
        </p:grpSpPr>
        <p:sp>
          <p:nvSpPr>
            <p:cNvPr id="703492" name="Line 4"/>
            <p:cNvSpPr>
              <a:spLocks noChangeShapeType="1"/>
            </p:cNvSpPr>
            <p:nvPr/>
          </p:nvSpPr>
          <p:spPr bwMode="auto">
            <a:xfrm>
              <a:off x="2041" y="1232"/>
              <a:ext cx="635" cy="45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3" name="Line 5"/>
            <p:cNvSpPr>
              <a:spLocks noChangeShapeType="1"/>
            </p:cNvSpPr>
            <p:nvPr/>
          </p:nvSpPr>
          <p:spPr bwMode="auto">
            <a:xfrm>
              <a:off x="2086" y="1141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4" name="Line 6"/>
            <p:cNvSpPr>
              <a:spLocks noChangeShapeType="1"/>
            </p:cNvSpPr>
            <p:nvPr/>
          </p:nvSpPr>
          <p:spPr bwMode="auto">
            <a:xfrm>
              <a:off x="3882" y="1259"/>
              <a:ext cx="590" cy="4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5" name="Line 7"/>
            <p:cNvSpPr>
              <a:spLocks noChangeShapeType="1"/>
            </p:cNvSpPr>
            <p:nvPr/>
          </p:nvSpPr>
          <p:spPr bwMode="auto">
            <a:xfrm flipH="1">
              <a:off x="1179" y="1776"/>
              <a:ext cx="145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6" name="Line 8"/>
            <p:cNvSpPr>
              <a:spLocks noChangeShapeType="1"/>
            </p:cNvSpPr>
            <p:nvPr/>
          </p:nvSpPr>
          <p:spPr bwMode="auto">
            <a:xfrm flipH="1">
              <a:off x="2993" y="1776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7" name="Line 9"/>
            <p:cNvSpPr>
              <a:spLocks noChangeShapeType="1"/>
            </p:cNvSpPr>
            <p:nvPr/>
          </p:nvSpPr>
          <p:spPr bwMode="auto">
            <a:xfrm flipH="1">
              <a:off x="1134" y="1232"/>
              <a:ext cx="635" cy="42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3498" name="Oval 10"/>
            <p:cNvSpPr>
              <a:spLocks noChangeArrowheads="1"/>
            </p:cNvSpPr>
            <p:nvPr/>
          </p:nvSpPr>
          <p:spPr bwMode="auto">
            <a:xfrm>
              <a:off x="1723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 dirty="0">
                  <a:latin typeface="Arial" charset="0"/>
                </a:rPr>
                <a:t>1</a:t>
              </a:r>
            </a:p>
          </p:txBody>
        </p:sp>
        <p:sp>
          <p:nvSpPr>
            <p:cNvPr id="703499" name="Oval 11"/>
            <p:cNvSpPr>
              <a:spLocks noChangeArrowheads="1"/>
            </p:cNvSpPr>
            <p:nvPr/>
          </p:nvSpPr>
          <p:spPr bwMode="auto">
            <a:xfrm>
              <a:off x="2630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703500" name="Oval 12"/>
            <p:cNvSpPr>
              <a:spLocks noChangeArrowheads="1"/>
            </p:cNvSpPr>
            <p:nvPr/>
          </p:nvSpPr>
          <p:spPr bwMode="auto">
            <a:xfrm>
              <a:off x="3537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703501" name="Oval 13"/>
            <p:cNvSpPr>
              <a:spLocks noChangeArrowheads="1"/>
            </p:cNvSpPr>
            <p:nvPr/>
          </p:nvSpPr>
          <p:spPr bwMode="auto">
            <a:xfrm>
              <a:off x="4445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5</a:t>
              </a:r>
            </a:p>
          </p:txBody>
        </p:sp>
        <p:sp>
          <p:nvSpPr>
            <p:cNvPr id="703502" name="Oval 14"/>
            <p:cNvSpPr>
              <a:spLocks noChangeArrowheads="1"/>
            </p:cNvSpPr>
            <p:nvPr/>
          </p:nvSpPr>
          <p:spPr bwMode="auto">
            <a:xfrm>
              <a:off x="816" y="1594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3</a:t>
              </a:r>
            </a:p>
          </p:txBody>
        </p:sp>
      </p:grpSp>
      <p:sp>
        <p:nvSpPr>
          <p:cNvPr id="703503" name="Text Box 15"/>
          <p:cNvSpPr txBox="1">
            <a:spLocks noChangeArrowheads="1"/>
          </p:cNvSpPr>
          <p:nvPr/>
        </p:nvSpPr>
        <p:spPr bwMode="auto">
          <a:xfrm>
            <a:off x="5908431" y="1371600"/>
            <a:ext cx="25074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A graph G (undirected)</a:t>
            </a:r>
          </a:p>
        </p:txBody>
      </p:sp>
      <p:sp>
        <p:nvSpPr>
          <p:cNvPr id="703504" name="Text Box 16"/>
          <p:cNvSpPr txBox="1">
            <a:spLocks noChangeArrowheads="1"/>
          </p:cNvSpPr>
          <p:nvPr/>
        </p:nvSpPr>
        <p:spPr bwMode="auto">
          <a:xfrm>
            <a:off x="152401" y="2819400"/>
            <a:ext cx="88391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latin typeface="Segoe"/>
              </a:rPr>
              <a:t>The graph G= (V,E) has 5 vertices and 12 edges:</a:t>
            </a:r>
          </a:p>
          <a:p>
            <a:pPr algn="l" eaLnBrk="1" hangingPunct="1"/>
            <a:r>
              <a:rPr lang="en-US" sz="2000" dirty="0">
                <a:latin typeface="Segoe"/>
              </a:rPr>
              <a:t>   V = {1,2,3,4,5}</a:t>
            </a:r>
          </a:p>
          <a:p>
            <a:pPr algn="l" eaLnBrk="1" hangingPunct="1"/>
            <a:r>
              <a:rPr lang="en-US" sz="2000" dirty="0">
                <a:latin typeface="Segoe"/>
              </a:rPr>
              <a:t>   E = { (1,2),(1,3),(1,4),(2,5),(3,4),(4,5), (2,1),(3,1),(4,1),(5,2),(4,3),(5,4) }</a:t>
            </a:r>
          </a:p>
          <a:p>
            <a:pPr algn="l" eaLnBrk="1" hangingPunct="1"/>
            <a:r>
              <a:rPr lang="en-US" sz="2000" dirty="0">
                <a:latin typeface="Segoe"/>
              </a:rPr>
              <a:t> </a:t>
            </a:r>
          </a:p>
          <a:p>
            <a:pPr algn="l" eaLnBrk="1" hangingPunct="1">
              <a:buFontTx/>
              <a:buChar char="•"/>
            </a:pPr>
            <a:r>
              <a:rPr lang="en-US" sz="2000" dirty="0">
                <a:solidFill>
                  <a:srgbClr val="C00000"/>
                </a:solidFill>
                <a:latin typeface="Segoe"/>
              </a:rPr>
              <a:t>  Adjacent:</a:t>
            </a:r>
          </a:p>
          <a:p>
            <a:pPr lvl="1" algn="l" eaLnBrk="1" hangingPunct="1"/>
            <a:r>
              <a:rPr lang="en-US" sz="2000" dirty="0">
                <a:latin typeface="Segoe"/>
              </a:rPr>
              <a:t>1 and 2 are adjacent  -- 1 is adjacent to 2 and 2 is adjacent to 1</a:t>
            </a:r>
          </a:p>
          <a:p>
            <a:pPr algn="l" eaLnBrk="1" hangingPunct="1">
              <a:buFontTx/>
              <a:buChar char="•"/>
            </a:pPr>
            <a:endParaRPr lang="en-US" sz="2000" dirty="0">
              <a:solidFill>
                <a:srgbClr val="C00000"/>
              </a:solidFill>
              <a:latin typeface="Segoe"/>
            </a:endParaRPr>
          </a:p>
          <a:p>
            <a:pPr algn="l" eaLnBrk="1" hangingPunct="1">
              <a:buFontTx/>
              <a:buChar char="•"/>
            </a:pPr>
            <a:r>
              <a:rPr lang="en-US" sz="2000" dirty="0">
                <a:solidFill>
                  <a:srgbClr val="C00000"/>
                </a:solidFill>
                <a:latin typeface="Segoe"/>
              </a:rPr>
              <a:t>  Cycle:</a:t>
            </a:r>
          </a:p>
          <a:p>
            <a:r>
              <a:rPr lang="en-US" sz="2000" dirty="0">
                <a:latin typeface="Segoe"/>
              </a:rPr>
              <a:t>       2,5,4,1,2 (a </a:t>
            </a:r>
            <a:r>
              <a:rPr lang="en-US" sz="2000" dirty="0">
                <a:solidFill>
                  <a:srgbClr val="0070C0"/>
                </a:solidFill>
                <a:latin typeface="Segoe"/>
              </a:rPr>
              <a:t>simple cycle</a:t>
            </a:r>
            <a:r>
              <a:rPr lang="en-US" sz="2000" dirty="0">
                <a:latin typeface="Segoe"/>
              </a:rPr>
              <a:t>), 1,3,4,1,4,1 (a </a:t>
            </a:r>
            <a:r>
              <a:rPr lang="en-US" sz="2000" dirty="0">
                <a:solidFill>
                  <a:srgbClr val="0070C0"/>
                </a:solidFill>
                <a:latin typeface="Segoe"/>
              </a:rPr>
              <a:t>cycle</a:t>
            </a:r>
            <a:r>
              <a:rPr lang="en-US" sz="2000" dirty="0">
                <a:latin typeface="Segoe"/>
              </a:rPr>
              <a:t>, but not simple cycle)</a:t>
            </a:r>
          </a:p>
        </p:txBody>
      </p:sp>
    </p:spTree>
    <p:extLst>
      <p:ext uri="{BB962C8B-B14F-4D97-AF65-F5344CB8AC3E}">
        <p14:creationId xmlns:p14="http://schemas.microsoft.com/office/powerpoint/2010/main" val="210468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9AFE-C4CC-4B5B-A951-48EE3A59A62B}" type="slidenum">
              <a:rPr lang="en-US"/>
              <a:pPr/>
              <a:t>12</a:t>
            </a:fld>
            <a:endParaRPr lang="en-US"/>
          </a:p>
        </p:txBody>
      </p:sp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4800"/>
            <a:ext cx="7620000" cy="1371282"/>
          </a:xfrm>
        </p:spPr>
        <p:txBody>
          <a:bodyPr/>
          <a:lstStyle/>
          <a:p>
            <a:r>
              <a:rPr lang="en-US" dirty="0"/>
              <a:t>Directed Graph – An Example</a:t>
            </a:r>
          </a:p>
        </p:txBody>
      </p:sp>
      <p:grpSp>
        <p:nvGrpSpPr>
          <p:cNvPr id="707600" name="Group 16"/>
          <p:cNvGrpSpPr>
            <a:grpSpLocks/>
          </p:cNvGrpSpPr>
          <p:nvPr/>
        </p:nvGrpSpPr>
        <p:grpSpPr bwMode="auto">
          <a:xfrm>
            <a:off x="562708" y="1143001"/>
            <a:ext cx="5849815" cy="1584325"/>
            <a:chOff x="384" y="720"/>
            <a:chExt cx="3992" cy="998"/>
          </a:xfrm>
        </p:grpSpPr>
        <p:sp>
          <p:nvSpPr>
            <p:cNvPr id="707588" name="Line 4"/>
            <p:cNvSpPr>
              <a:spLocks noChangeShapeType="1"/>
            </p:cNvSpPr>
            <p:nvPr/>
          </p:nvSpPr>
          <p:spPr bwMode="auto">
            <a:xfrm>
              <a:off x="1609" y="992"/>
              <a:ext cx="635" cy="45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89" name="Line 5"/>
            <p:cNvSpPr>
              <a:spLocks noChangeShapeType="1"/>
            </p:cNvSpPr>
            <p:nvPr/>
          </p:nvSpPr>
          <p:spPr bwMode="auto">
            <a:xfrm>
              <a:off x="1654" y="901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90" name="Line 6"/>
            <p:cNvSpPr>
              <a:spLocks noChangeShapeType="1"/>
            </p:cNvSpPr>
            <p:nvPr/>
          </p:nvSpPr>
          <p:spPr bwMode="auto">
            <a:xfrm>
              <a:off x="3450" y="1019"/>
              <a:ext cx="590" cy="4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91" name="Line 7"/>
            <p:cNvSpPr>
              <a:spLocks noChangeShapeType="1"/>
            </p:cNvSpPr>
            <p:nvPr/>
          </p:nvSpPr>
          <p:spPr bwMode="auto">
            <a:xfrm flipH="1">
              <a:off x="747" y="1536"/>
              <a:ext cx="145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92" name="Line 8"/>
            <p:cNvSpPr>
              <a:spLocks noChangeShapeType="1"/>
            </p:cNvSpPr>
            <p:nvPr/>
          </p:nvSpPr>
          <p:spPr bwMode="auto">
            <a:xfrm flipH="1">
              <a:off x="2561" y="1536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93" name="Line 9"/>
            <p:cNvSpPr>
              <a:spLocks noChangeShapeType="1"/>
            </p:cNvSpPr>
            <p:nvPr/>
          </p:nvSpPr>
          <p:spPr bwMode="auto">
            <a:xfrm flipH="1">
              <a:off x="702" y="992"/>
              <a:ext cx="635" cy="42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7594" name="Oval 10"/>
            <p:cNvSpPr>
              <a:spLocks noChangeArrowheads="1"/>
            </p:cNvSpPr>
            <p:nvPr/>
          </p:nvSpPr>
          <p:spPr bwMode="auto">
            <a:xfrm>
              <a:off x="1291" y="72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1</a:t>
              </a:r>
            </a:p>
          </p:txBody>
        </p:sp>
        <p:sp>
          <p:nvSpPr>
            <p:cNvPr id="707595" name="Oval 11"/>
            <p:cNvSpPr>
              <a:spLocks noChangeArrowheads="1"/>
            </p:cNvSpPr>
            <p:nvPr/>
          </p:nvSpPr>
          <p:spPr bwMode="auto">
            <a:xfrm>
              <a:off x="2198" y="135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707596" name="Oval 12"/>
            <p:cNvSpPr>
              <a:spLocks noChangeArrowheads="1"/>
            </p:cNvSpPr>
            <p:nvPr/>
          </p:nvSpPr>
          <p:spPr bwMode="auto">
            <a:xfrm>
              <a:off x="3105" y="72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707597" name="Oval 13"/>
            <p:cNvSpPr>
              <a:spLocks noChangeArrowheads="1"/>
            </p:cNvSpPr>
            <p:nvPr/>
          </p:nvSpPr>
          <p:spPr bwMode="auto">
            <a:xfrm>
              <a:off x="4013" y="135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5</a:t>
              </a:r>
            </a:p>
          </p:txBody>
        </p:sp>
        <p:sp>
          <p:nvSpPr>
            <p:cNvPr id="707598" name="Oval 14"/>
            <p:cNvSpPr>
              <a:spLocks noChangeArrowheads="1"/>
            </p:cNvSpPr>
            <p:nvPr/>
          </p:nvSpPr>
          <p:spPr bwMode="auto">
            <a:xfrm>
              <a:off x="384" y="1354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3</a:t>
              </a:r>
            </a:p>
          </p:txBody>
        </p:sp>
      </p:grpSp>
      <p:sp>
        <p:nvSpPr>
          <p:cNvPr id="707599" name="Text Box 15"/>
          <p:cNvSpPr txBox="1">
            <a:spLocks noChangeArrowheads="1"/>
          </p:cNvSpPr>
          <p:nvPr/>
        </p:nvSpPr>
        <p:spPr bwMode="auto">
          <a:xfrm>
            <a:off x="567104" y="2819400"/>
            <a:ext cx="735769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200" dirty="0">
                <a:latin typeface="Segoe"/>
              </a:rPr>
              <a:t>The graph G= (V,E) has 5 vertices </a:t>
            </a:r>
            <a:r>
              <a:rPr lang="en-US" sz="2200">
                <a:latin typeface="Segoe"/>
              </a:rPr>
              <a:t>and 7 </a:t>
            </a:r>
            <a:r>
              <a:rPr lang="en-US" sz="2200" dirty="0">
                <a:latin typeface="Segoe"/>
              </a:rPr>
              <a:t>edges:</a:t>
            </a:r>
          </a:p>
          <a:p>
            <a:pPr algn="l" eaLnBrk="1" hangingPunct="1"/>
            <a:r>
              <a:rPr lang="en-US" sz="2200" dirty="0">
                <a:latin typeface="Segoe"/>
              </a:rPr>
              <a:t>   V = {1,2,3,4,5}</a:t>
            </a:r>
          </a:p>
          <a:p>
            <a:pPr algn="l" eaLnBrk="1" hangingPunct="1"/>
            <a:r>
              <a:rPr lang="en-US" sz="2200" dirty="0">
                <a:latin typeface="Segoe"/>
              </a:rPr>
              <a:t>   E = { (1,2),(1,4),(2,5),(4,5),(3,1),(4,3),(5,5) }</a:t>
            </a:r>
          </a:p>
          <a:p>
            <a:pPr algn="l" eaLnBrk="1" hangingPunct="1"/>
            <a:r>
              <a:rPr lang="en-US" sz="2200" dirty="0">
                <a:latin typeface="Segoe"/>
              </a:rPr>
              <a:t> </a:t>
            </a:r>
          </a:p>
          <a:p>
            <a:pPr algn="l" eaLnBrk="1" hangingPunct="1">
              <a:buFontTx/>
              <a:buChar char="•"/>
            </a:pPr>
            <a:r>
              <a:rPr lang="en-US" sz="2200" dirty="0">
                <a:latin typeface="Segoe"/>
              </a:rPr>
              <a:t>  </a:t>
            </a:r>
            <a:r>
              <a:rPr lang="en-US" sz="2200" i="1" dirty="0">
                <a:solidFill>
                  <a:srgbClr val="C00000"/>
                </a:solidFill>
                <a:latin typeface="Segoe"/>
              </a:rPr>
              <a:t>Adjacent:</a:t>
            </a:r>
          </a:p>
          <a:p>
            <a:pPr lvl="1" algn="l" eaLnBrk="1" hangingPunct="1"/>
            <a:r>
              <a:rPr lang="en-US" sz="2200" dirty="0">
                <a:latin typeface="Segoe"/>
              </a:rPr>
              <a:t>2 is adjacent to 1, but 1 is NOT adjacent to 2</a:t>
            </a:r>
          </a:p>
          <a:p>
            <a:pPr algn="l" eaLnBrk="1" hangingPunct="1">
              <a:buFontTx/>
              <a:buChar char="•"/>
            </a:pPr>
            <a:r>
              <a:rPr lang="en-US" sz="2200" dirty="0">
                <a:solidFill>
                  <a:srgbClr val="C00000"/>
                </a:solidFill>
                <a:latin typeface="Segoe"/>
              </a:rPr>
              <a:t>  </a:t>
            </a:r>
            <a:r>
              <a:rPr lang="en-US" sz="2200" i="1" dirty="0">
                <a:solidFill>
                  <a:srgbClr val="C00000"/>
                </a:solidFill>
                <a:latin typeface="Segoe"/>
              </a:rPr>
              <a:t>Path:</a:t>
            </a:r>
          </a:p>
          <a:p>
            <a:pPr lvl="1" algn="l" eaLnBrk="1" hangingPunct="1"/>
            <a:r>
              <a:rPr lang="en-US" sz="2200" dirty="0">
                <a:latin typeface="Segoe"/>
              </a:rPr>
              <a:t>1,2,5 ( a </a:t>
            </a:r>
            <a:r>
              <a:rPr lang="en-US" sz="2200" dirty="0">
                <a:solidFill>
                  <a:srgbClr val="0070C0"/>
                </a:solidFill>
                <a:latin typeface="Segoe"/>
              </a:rPr>
              <a:t>directed path</a:t>
            </a:r>
            <a:r>
              <a:rPr lang="en-US" sz="2200" dirty="0">
                <a:latin typeface="Segoe"/>
              </a:rPr>
              <a:t>),     </a:t>
            </a:r>
          </a:p>
          <a:p>
            <a:pPr algn="l" eaLnBrk="1" hangingPunct="1">
              <a:buFontTx/>
              <a:buChar char="•"/>
            </a:pPr>
            <a:r>
              <a:rPr lang="en-US" sz="2200" dirty="0">
                <a:solidFill>
                  <a:srgbClr val="C00000"/>
                </a:solidFill>
                <a:latin typeface="Segoe"/>
              </a:rPr>
              <a:t>  </a:t>
            </a:r>
            <a:r>
              <a:rPr lang="en-US" sz="2200" i="1" dirty="0">
                <a:solidFill>
                  <a:srgbClr val="C00000"/>
                </a:solidFill>
                <a:latin typeface="Segoe"/>
              </a:rPr>
              <a:t>Cycle:</a:t>
            </a:r>
          </a:p>
          <a:p>
            <a:pPr algn="l" eaLnBrk="1" hangingPunct="1"/>
            <a:r>
              <a:rPr lang="en-US" sz="2200" dirty="0">
                <a:latin typeface="Segoe"/>
              </a:rPr>
              <a:t>       1,4,3,1 (a </a:t>
            </a:r>
            <a:r>
              <a:rPr lang="en-US" sz="2200" dirty="0">
                <a:solidFill>
                  <a:srgbClr val="0070C0"/>
                </a:solidFill>
                <a:latin typeface="Segoe"/>
              </a:rPr>
              <a:t>directed cycle</a:t>
            </a:r>
            <a:r>
              <a:rPr lang="en-US" sz="2200" dirty="0">
                <a:latin typeface="Segoe"/>
              </a:rPr>
              <a:t>),  5,5 (a </a:t>
            </a:r>
            <a:r>
              <a:rPr lang="en-US" sz="2200" dirty="0">
                <a:solidFill>
                  <a:srgbClr val="0070C0"/>
                </a:solidFill>
                <a:latin typeface="Segoe"/>
              </a:rPr>
              <a:t>Self loop</a:t>
            </a:r>
            <a:r>
              <a:rPr lang="en-US" sz="2200" dirty="0">
                <a:latin typeface="Segoe"/>
              </a:rPr>
              <a:t>)</a:t>
            </a:r>
          </a:p>
        </p:txBody>
      </p:sp>
      <p:cxnSp>
        <p:nvCxnSpPr>
          <p:cNvPr id="3" name="Curved Connector 2"/>
          <p:cNvCxnSpPr>
            <a:stCxn id="707597" idx="6"/>
            <a:endCxn id="707597" idx="7"/>
          </p:cNvCxnSpPr>
          <p:nvPr/>
        </p:nvCxnSpPr>
        <p:spPr>
          <a:xfrm flipH="1" flipV="1">
            <a:off x="6334623" y="2230925"/>
            <a:ext cx="77900" cy="204301"/>
          </a:xfrm>
          <a:prstGeom prst="curvedConnector4">
            <a:avLst>
              <a:gd name="adj1" fmla="val -293453"/>
              <a:gd name="adj2" fmla="val 253315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57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33846" y="6477000"/>
            <a:ext cx="1905000" cy="228600"/>
          </a:xfrm>
          <a:prstGeom prst="rect">
            <a:avLst/>
          </a:prstGeom>
        </p:spPr>
        <p:txBody>
          <a:bodyPr/>
          <a:lstStyle/>
          <a:p>
            <a:fld id="{31EEBEDF-6CEF-4D6B-AA11-03BC191238C8}" type="slidenum">
              <a:rPr lang="en-US"/>
              <a:pPr/>
              <a:t>13</a:t>
            </a:fld>
            <a:endParaRPr lang="en-US"/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-- Definitions</a:t>
            </a:r>
          </a:p>
        </p:txBody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448800" cy="1676400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dirty="0">
                <a:solidFill>
                  <a:srgbClr val="C00000"/>
                </a:solidFill>
                <a:latin typeface="Segoe"/>
              </a:rPr>
              <a:t>A connected graph </a:t>
            </a:r>
            <a:r>
              <a:rPr lang="en-US" dirty="0">
                <a:solidFill>
                  <a:schemeClr val="tx1"/>
                </a:solidFill>
                <a:latin typeface="Segoe"/>
              </a:rPr>
              <a:t>has a path between each pair of distinct vertices.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dirty="0">
                <a:solidFill>
                  <a:srgbClr val="C00000"/>
                </a:solidFill>
                <a:latin typeface="Segoe"/>
              </a:rPr>
              <a:t>A complete graph</a:t>
            </a:r>
            <a:r>
              <a:rPr lang="en-US" dirty="0">
                <a:solidFill>
                  <a:schemeClr val="tx1"/>
                </a:solidFill>
                <a:latin typeface="Segoe"/>
              </a:rPr>
              <a:t> has an edge between each pair of distinct vertices.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Segoe"/>
              </a:rPr>
              <a:t>A complete graph is also a connected graph. But a connected graph may not be a complete graph.</a:t>
            </a:r>
          </a:p>
        </p:txBody>
      </p:sp>
      <p:grpSp>
        <p:nvGrpSpPr>
          <p:cNvPr id="705544" name="Group 8"/>
          <p:cNvGrpSpPr>
            <a:grpSpLocks/>
          </p:cNvGrpSpPr>
          <p:nvPr/>
        </p:nvGrpSpPr>
        <p:grpSpPr bwMode="auto">
          <a:xfrm>
            <a:off x="914400" y="3276600"/>
            <a:ext cx="7790864" cy="2840673"/>
            <a:chOff x="528" y="1968"/>
            <a:chExt cx="5557" cy="1931"/>
          </a:xfrm>
        </p:grpSpPr>
        <p:pic>
          <p:nvPicPr>
            <p:cNvPr id="70554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968"/>
              <a:ext cx="5280" cy="19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5541" name="Text Box 5"/>
            <p:cNvSpPr txBox="1">
              <a:spLocks noChangeArrowheads="1"/>
            </p:cNvSpPr>
            <p:nvPr/>
          </p:nvSpPr>
          <p:spPr bwMode="auto">
            <a:xfrm>
              <a:off x="1152" y="3648"/>
              <a:ext cx="93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b="1"/>
                <a:t>connected</a:t>
              </a:r>
            </a:p>
          </p:txBody>
        </p:sp>
        <p:sp>
          <p:nvSpPr>
            <p:cNvPr id="705542" name="Text Box 6"/>
            <p:cNvSpPr txBox="1">
              <a:spLocks noChangeArrowheads="1"/>
            </p:cNvSpPr>
            <p:nvPr/>
          </p:nvSpPr>
          <p:spPr bwMode="auto">
            <a:xfrm>
              <a:off x="3264" y="3648"/>
              <a:ext cx="115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b="1"/>
                <a:t>disconnected</a:t>
              </a:r>
            </a:p>
          </p:txBody>
        </p:sp>
        <p:sp>
          <p:nvSpPr>
            <p:cNvPr id="705543" name="Text Box 7"/>
            <p:cNvSpPr txBox="1">
              <a:spLocks noChangeArrowheads="1"/>
            </p:cNvSpPr>
            <p:nvPr/>
          </p:nvSpPr>
          <p:spPr bwMode="auto">
            <a:xfrm>
              <a:off x="5232" y="3648"/>
              <a:ext cx="85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b="1"/>
                <a:t>complete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385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–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525963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In graph, </a:t>
            </a:r>
            <a:r>
              <a:rPr lang="en-US" altLang="en-US" sz="2400" b="1" dirty="0">
                <a:solidFill>
                  <a:schemeClr val="tx1"/>
                </a:solidFill>
                <a:latin typeface="+mn-lt"/>
              </a:rPr>
              <a:t>degree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 is the number of edges incident on a node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In digraph, </a:t>
            </a:r>
            <a:r>
              <a:rPr lang="en-US" altLang="en-US" sz="2400" dirty="0">
                <a:solidFill>
                  <a:schemeClr val="tx1"/>
                </a:solidFill>
              </a:rPr>
              <a:t>Degree = in-degree + out-degree</a:t>
            </a:r>
          </a:p>
          <a:p>
            <a:pPr marL="342900" indent="39687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In-degree: Number of edges entering</a:t>
            </a:r>
          </a:p>
          <a:p>
            <a:pPr marL="342900" indent="39687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Out-degree: Number of edges leaving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+mn-lt"/>
            </a:endParaRPr>
          </a:p>
          <a:p>
            <a:endParaRPr lang="en-US" altLang="en-US" sz="2400" dirty="0">
              <a:solidFill>
                <a:schemeClr val="tx1"/>
              </a:solidFill>
              <a:latin typeface="+mn-lt"/>
            </a:endParaRP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657303"/>
              </p:ext>
            </p:extLst>
          </p:nvPr>
        </p:nvGraphicFramePr>
        <p:xfrm>
          <a:off x="533400" y="3400425"/>
          <a:ext cx="3810000" cy="284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247619" imgH="2429214" progId="Paint.Picture">
                  <p:embed/>
                </p:oleObj>
              </mc:Choice>
              <mc:Fallback>
                <p:oleObj name="Bitmap Image" r:id="rId2" imgW="3247619" imgH="242921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400425"/>
                        <a:ext cx="3810000" cy="284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201706" y="4703534"/>
            <a:ext cx="12747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deg</a:t>
            </a:r>
            <a:r>
              <a:rPr lang="en-US" altLang="en-US" dirty="0"/>
              <a:t>(1) = 2</a:t>
            </a:r>
          </a:p>
          <a:p>
            <a:r>
              <a:rPr lang="en-US" altLang="en-US" dirty="0" err="1"/>
              <a:t>deg</a:t>
            </a:r>
            <a:r>
              <a:rPr lang="en-US" altLang="en-US" dirty="0"/>
              <a:t>(2) = 3</a:t>
            </a:r>
          </a:p>
          <a:p>
            <a:r>
              <a:rPr lang="en-US" altLang="en-US" dirty="0" err="1"/>
              <a:t>deg</a:t>
            </a:r>
            <a:r>
              <a:rPr lang="en-US" altLang="en-US" dirty="0"/>
              <a:t>(5) = 3</a:t>
            </a:r>
          </a:p>
          <a:p>
            <a:endParaRPr lang="es-ES" altLang="en-US" dirty="0"/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7620000" y="3734038"/>
            <a:ext cx="14975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outdeg</a:t>
            </a:r>
            <a:r>
              <a:rPr lang="en-US" altLang="en-US" dirty="0"/>
              <a:t>(1)=2</a:t>
            </a:r>
          </a:p>
          <a:p>
            <a:r>
              <a:rPr lang="en-US" altLang="en-US" dirty="0"/>
              <a:t>  </a:t>
            </a:r>
            <a:r>
              <a:rPr lang="en-US" altLang="en-US" dirty="0" err="1"/>
              <a:t>indeg</a:t>
            </a:r>
            <a:r>
              <a:rPr lang="en-US" altLang="en-US" dirty="0"/>
              <a:t>(1)=0</a:t>
            </a:r>
          </a:p>
          <a:p>
            <a:endParaRPr lang="en-US" altLang="en-US" dirty="0"/>
          </a:p>
          <a:p>
            <a:r>
              <a:rPr lang="en-US" altLang="en-US" dirty="0" err="1"/>
              <a:t>outdeg</a:t>
            </a:r>
            <a:r>
              <a:rPr lang="en-US" altLang="en-US" dirty="0"/>
              <a:t>(2)=2</a:t>
            </a:r>
          </a:p>
          <a:p>
            <a:r>
              <a:rPr lang="en-US" altLang="en-US" dirty="0"/>
              <a:t>  </a:t>
            </a:r>
            <a:r>
              <a:rPr lang="en-US" altLang="en-US" dirty="0" err="1"/>
              <a:t>indeg</a:t>
            </a:r>
            <a:r>
              <a:rPr lang="en-US" altLang="en-US" dirty="0"/>
              <a:t>(2)=2 </a:t>
            </a:r>
          </a:p>
          <a:p>
            <a:endParaRPr lang="en-US" altLang="en-US" dirty="0"/>
          </a:p>
          <a:p>
            <a:r>
              <a:rPr lang="en-US" altLang="en-US" dirty="0" err="1"/>
              <a:t>outdeg</a:t>
            </a:r>
            <a:r>
              <a:rPr lang="en-US" altLang="en-US" dirty="0"/>
              <a:t>(3)=1</a:t>
            </a:r>
          </a:p>
          <a:p>
            <a:r>
              <a:rPr lang="en-US" altLang="en-US" dirty="0"/>
              <a:t>  </a:t>
            </a:r>
            <a:r>
              <a:rPr lang="en-US" altLang="en-US" dirty="0" err="1"/>
              <a:t>indeg</a:t>
            </a:r>
            <a:r>
              <a:rPr lang="en-US" altLang="en-US" dirty="0"/>
              <a:t>(3)=4</a:t>
            </a:r>
            <a:endParaRPr lang="es-ES" altLang="en-US" dirty="0"/>
          </a:p>
        </p:txBody>
      </p:sp>
      <p:pic>
        <p:nvPicPr>
          <p:cNvPr id="29838" name="Picture 14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0" y="3581400"/>
            <a:ext cx="31432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66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33846" y="6477000"/>
            <a:ext cx="1905000" cy="228600"/>
          </a:xfrm>
          <a:prstGeom prst="rect">
            <a:avLst/>
          </a:prstGeom>
        </p:spPr>
        <p:txBody>
          <a:bodyPr/>
          <a:lstStyle/>
          <a:p>
            <a:fld id="{FBAA0DB9-ACC4-4EC6-96D8-B4F1FDC918F8}" type="slidenum">
              <a:rPr lang="en-US"/>
              <a:pPr/>
              <a:t>15</a:t>
            </a:fld>
            <a:endParaRPr lang="en-US"/>
          </a:p>
        </p:txBody>
      </p:sp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Graph</a:t>
            </a:r>
          </a:p>
        </p:txBody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158" y="1219200"/>
            <a:ext cx="8579826" cy="990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"/>
              </a:rPr>
              <a:t>We can label the edges of a graph with numeric values, the graph is called a </a:t>
            </a:r>
            <a:r>
              <a:rPr lang="en-US" b="1" i="1" dirty="0">
                <a:solidFill>
                  <a:srgbClr val="C00000"/>
                </a:solidFill>
                <a:latin typeface="Segoe"/>
              </a:rPr>
              <a:t>weighted graph</a:t>
            </a:r>
            <a:r>
              <a:rPr lang="en-US" dirty="0">
                <a:solidFill>
                  <a:schemeClr val="tx1"/>
                </a:solidFill>
                <a:latin typeface="Segoe"/>
              </a:rPr>
              <a:t>.</a:t>
            </a:r>
          </a:p>
        </p:txBody>
      </p:sp>
      <p:grpSp>
        <p:nvGrpSpPr>
          <p:cNvPr id="708613" name="Group 5"/>
          <p:cNvGrpSpPr>
            <a:grpSpLocks/>
          </p:cNvGrpSpPr>
          <p:nvPr/>
        </p:nvGrpSpPr>
        <p:grpSpPr bwMode="auto">
          <a:xfrm>
            <a:off x="281354" y="2362201"/>
            <a:ext cx="5849815" cy="1584325"/>
            <a:chOff x="816" y="960"/>
            <a:chExt cx="3992" cy="998"/>
          </a:xfrm>
        </p:grpSpPr>
        <p:sp>
          <p:nvSpPr>
            <p:cNvPr id="708614" name="Line 6"/>
            <p:cNvSpPr>
              <a:spLocks noChangeShapeType="1"/>
            </p:cNvSpPr>
            <p:nvPr/>
          </p:nvSpPr>
          <p:spPr bwMode="auto">
            <a:xfrm>
              <a:off x="2041" y="1232"/>
              <a:ext cx="635" cy="45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15" name="Line 7"/>
            <p:cNvSpPr>
              <a:spLocks noChangeShapeType="1"/>
            </p:cNvSpPr>
            <p:nvPr/>
          </p:nvSpPr>
          <p:spPr bwMode="auto">
            <a:xfrm>
              <a:off x="2086" y="1141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16" name="Line 8"/>
            <p:cNvSpPr>
              <a:spLocks noChangeShapeType="1"/>
            </p:cNvSpPr>
            <p:nvPr/>
          </p:nvSpPr>
          <p:spPr bwMode="auto">
            <a:xfrm>
              <a:off x="3882" y="1259"/>
              <a:ext cx="590" cy="4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17" name="Line 9"/>
            <p:cNvSpPr>
              <a:spLocks noChangeShapeType="1"/>
            </p:cNvSpPr>
            <p:nvPr/>
          </p:nvSpPr>
          <p:spPr bwMode="auto">
            <a:xfrm flipH="1">
              <a:off x="1179" y="1776"/>
              <a:ext cx="145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18" name="Line 10"/>
            <p:cNvSpPr>
              <a:spLocks noChangeShapeType="1"/>
            </p:cNvSpPr>
            <p:nvPr/>
          </p:nvSpPr>
          <p:spPr bwMode="auto">
            <a:xfrm flipH="1">
              <a:off x="2993" y="1776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19" name="Line 11"/>
            <p:cNvSpPr>
              <a:spLocks noChangeShapeType="1"/>
            </p:cNvSpPr>
            <p:nvPr/>
          </p:nvSpPr>
          <p:spPr bwMode="auto">
            <a:xfrm flipH="1">
              <a:off x="1134" y="1232"/>
              <a:ext cx="635" cy="42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20" name="Oval 12"/>
            <p:cNvSpPr>
              <a:spLocks noChangeArrowheads="1"/>
            </p:cNvSpPr>
            <p:nvPr/>
          </p:nvSpPr>
          <p:spPr bwMode="auto">
            <a:xfrm>
              <a:off x="1723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1</a:t>
              </a:r>
            </a:p>
          </p:txBody>
        </p:sp>
        <p:sp>
          <p:nvSpPr>
            <p:cNvPr id="708621" name="Oval 13"/>
            <p:cNvSpPr>
              <a:spLocks noChangeArrowheads="1"/>
            </p:cNvSpPr>
            <p:nvPr/>
          </p:nvSpPr>
          <p:spPr bwMode="auto">
            <a:xfrm>
              <a:off x="2630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708622" name="Oval 14"/>
            <p:cNvSpPr>
              <a:spLocks noChangeArrowheads="1"/>
            </p:cNvSpPr>
            <p:nvPr/>
          </p:nvSpPr>
          <p:spPr bwMode="auto">
            <a:xfrm>
              <a:off x="3537" y="96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708623" name="Oval 15"/>
            <p:cNvSpPr>
              <a:spLocks noChangeArrowheads="1"/>
            </p:cNvSpPr>
            <p:nvPr/>
          </p:nvSpPr>
          <p:spPr bwMode="auto">
            <a:xfrm>
              <a:off x="4445" y="159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5</a:t>
              </a:r>
            </a:p>
          </p:txBody>
        </p:sp>
        <p:sp>
          <p:nvSpPr>
            <p:cNvPr id="708624" name="Oval 16"/>
            <p:cNvSpPr>
              <a:spLocks noChangeArrowheads="1"/>
            </p:cNvSpPr>
            <p:nvPr/>
          </p:nvSpPr>
          <p:spPr bwMode="auto">
            <a:xfrm>
              <a:off x="816" y="1594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3</a:t>
              </a:r>
            </a:p>
          </p:txBody>
        </p:sp>
      </p:grpSp>
      <p:grpSp>
        <p:nvGrpSpPr>
          <p:cNvPr id="708625" name="Group 17"/>
          <p:cNvGrpSpPr>
            <a:grpSpLocks/>
          </p:cNvGrpSpPr>
          <p:nvPr/>
        </p:nvGrpSpPr>
        <p:grpSpPr bwMode="auto">
          <a:xfrm>
            <a:off x="492369" y="4572001"/>
            <a:ext cx="5849815" cy="1584325"/>
            <a:chOff x="384" y="720"/>
            <a:chExt cx="3992" cy="998"/>
          </a:xfrm>
        </p:grpSpPr>
        <p:sp>
          <p:nvSpPr>
            <p:cNvPr id="708626" name="Line 18"/>
            <p:cNvSpPr>
              <a:spLocks noChangeShapeType="1"/>
            </p:cNvSpPr>
            <p:nvPr/>
          </p:nvSpPr>
          <p:spPr bwMode="auto">
            <a:xfrm>
              <a:off x="1609" y="992"/>
              <a:ext cx="635" cy="45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27" name="Line 19"/>
            <p:cNvSpPr>
              <a:spLocks noChangeShapeType="1"/>
            </p:cNvSpPr>
            <p:nvPr/>
          </p:nvSpPr>
          <p:spPr bwMode="auto">
            <a:xfrm>
              <a:off x="1654" y="901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28" name="Line 20"/>
            <p:cNvSpPr>
              <a:spLocks noChangeShapeType="1"/>
            </p:cNvSpPr>
            <p:nvPr/>
          </p:nvSpPr>
          <p:spPr bwMode="auto">
            <a:xfrm>
              <a:off x="3450" y="1019"/>
              <a:ext cx="590" cy="4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29" name="Line 21"/>
            <p:cNvSpPr>
              <a:spLocks noChangeShapeType="1"/>
            </p:cNvSpPr>
            <p:nvPr/>
          </p:nvSpPr>
          <p:spPr bwMode="auto">
            <a:xfrm flipH="1">
              <a:off x="747" y="1536"/>
              <a:ext cx="145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30" name="Line 22"/>
            <p:cNvSpPr>
              <a:spLocks noChangeShapeType="1"/>
            </p:cNvSpPr>
            <p:nvPr/>
          </p:nvSpPr>
          <p:spPr bwMode="auto">
            <a:xfrm flipH="1">
              <a:off x="2561" y="1536"/>
              <a:ext cx="145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31" name="Line 23"/>
            <p:cNvSpPr>
              <a:spLocks noChangeShapeType="1"/>
            </p:cNvSpPr>
            <p:nvPr/>
          </p:nvSpPr>
          <p:spPr bwMode="auto">
            <a:xfrm flipH="1">
              <a:off x="702" y="992"/>
              <a:ext cx="635" cy="42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US"/>
            </a:p>
          </p:txBody>
        </p:sp>
        <p:sp>
          <p:nvSpPr>
            <p:cNvPr id="708632" name="Oval 24"/>
            <p:cNvSpPr>
              <a:spLocks noChangeArrowheads="1"/>
            </p:cNvSpPr>
            <p:nvPr/>
          </p:nvSpPr>
          <p:spPr bwMode="auto">
            <a:xfrm>
              <a:off x="1291" y="72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1</a:t>
              </a:r>
            </a:p>
          </p:txBody>
        </p:sp>
        <p:sp>
          <p:nvSpPr>
            <p:cNvPr id="708633" name="Oval 25"/>
            <p:cNvSpPr>
              <a:spLocks noChangeArrowheads="1"/>
            </p:cNvSpPr>
            <p:nvPr/>
          </p:nvSpPr>
          <p:spPr bwMode="auto">
            <a:xfrm>
              <a:off x="2198" y="135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4</a:t>
              </a:r>
            </a:p>
          </p:txBody>
        </p:sp>
        <p:sp>
          <p:nvSpPr>
            <p:cNvPr id="708634" name="Oval 26"/>
            <p:cNvSpPr>
              <a:spLocks noChangeArrowheads="1"/>
            </p:cNvSpPr>
            <p:nvPr/>
          </p:nvSpPr>
          <p:spPr bwMode="auto">
            <a:xfrm>
              <a:off x="3105" y="720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2</a:t>
              </a:r>
            </a:p>
          </p:txBody>
        </p:sp>
        <p:sp>
          <p:nvSpPr>
            <p:cNvPr id="708635" name="Oval 27"/>
            <p:cNvSpPr>
              <a:spLocks noChangeArrowheads="1"/>
            </p:cNvSpPr>
            <p:nvPr/>
          </p:nvSpPr>
          <p:spPr bwMode="auto">
            <a:xfrm>
              <a:off x="4013" y="1352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5</a:t>
              </a:r>
            </a:p>
          </p:txBody>
        </p:sp>
        <p:sp>
          <p:nvSpPr>
            <p:cNvPr id="708636" name="Oval 28"/>
            <p:cNvSpPr>
              <a:spLocks noChangeArrowheads="1"/>
            </p:cNvSpPr>
            <p:nvPr/>
          </p:nvSpPr>
          <p:spPr bwMode="auto">
            <a:xfrm>
              <a:off x="384" y="1354"/>
              <a:ext cx="363" cy="3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69804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1" hangingPunct="1"/>
              <a:r>
                <a:rPr lang="en-US" sz="1800">
                  <a:latin typeface="Arial" charset="0"/>
                </a:rPr>
                <a:t>3</a:t>
              </a:r>
            </a:p>
          </p:txBody>
        </p:sp>
      </p:grpSp>
      <p:sp>
        <p:nvSpPr>
          <p:cNvPr id="708637" name="Text Box 29"/>
          <p:cNvSpPr txBox="1">
            <a:spLocks noChangeArrowheads="1"/>
          </p:cNvSpPr>
          <p:nvPr/>
        </p:nvSpPr>
        <p:spPr bwMode="auto">
          <a:xfrm>
            <a:off x="2602523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708638" name="Text Box 30"/>
          <p:cNvSpPr txBox="1">
            <a:spLocks noChangeArrowheads="1"/>
          </p:cNvSpPr>
          <p:nvPr/>
        </p:nvSpPr>
        <p:spPr bwMode="auto">
          <a:xfrm>
            <a:off x="4149969" y="32766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708639" name="Text Box 31"/>
          <p:cNvSpPr txBox="1">
            <a:spLocks noChangeArrowheads="1"/>
          </p:cNvSpPr>
          <p:nvPr/>
        </p:nvSpPr>
        <p:spPr bwMode="auto">
          <a:xfrm>
            <a:off x="829408" y="2784475"/>
            <a:ext cx="4347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708640" name="Text Box 32"/>
          <p:cNvSpPr txBox="1">
            <a:spLocks noChangeArrowheads="1"/>
          </p:cNvSpPr>
          <p:nvPr/>
        </p:nvSpPr>
        <p:spPr bwMode="auto">
          <a:xfrm>
            <a:off x="1603131" y="3241675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708641" name="Text Box 33"/>
          <p:cNvSpPr txBox="1">
            <a:spLocks noChangeArrowheads="1"/>
          </p:cNvSpPr>
          <p:nvPr/>
        </p:nvSpPr>
        <p:spPr bwMode="auto">
          <a:xfrm>
            <a:off x="2532184" y="28194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708642" name="Text Box 34"/>
          <p:cNvSpPr txBox="1">
            <a:spLocks noChangeArrowheads="1"/>
          </p:cNvSpPr>
          <p:nvPr/>
        </p:nvSpPr>
        <p:spPr bwMode="auto">
          <a:xfrm>
            <a:off x="4994031" y="27432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708643" name="Text Box 35"/>
          <p:cNvSpPr txBox="1">
            <a:spLocks noChangeArrowheads="1"/>
          </p:cNvSpPr>
          <p:nvPr/>
        </p:nvSpPr>
        <p:spPr bwMode="auto">
          <a:xfrm>
            <a:off x="984739" y="5029200"/>
            <a:ext cx="4347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708644" name="Text Box 36"/>
          <p:cNvSpPr txBox="1">
            <a:spLocks noChangeArrowheads="1"/>
          </p:cNvSpPr>
          <p:nvPr/>
        </p:nvSpPr>
        <p:spPr bwMode="auto">
          <a:xfrm>
            <a:off x="1814146" y="5486400"/>
            <a:ext cx="3106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708645" name="Text Box 37"/>
          <p:cNvSpPr txBox="1">
            <a:spLocks noChangeArrowheads="1"/>
          </p:cNvSpPr>
          <p:nvPr/>
        </p:nvSpPr>
        <p:spPr bwMode="auto">
          <a:xfrm>
            <a:off x="3024554" y="44958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708646" name="Text Box 38"/>
          <p:cNvSpPr txBox="1">
            <a:spLocks noChangeArrowheads="1"/>
          </p:cNvSpPr>
          <p:nvPr/>
        </p:nvSpPr>
        <p:spPr bwMode="auto">
          <a:xfrm>
            <a:off x="4149969" y="54864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708647" name="Text Box 39"/>
          <p:cNvSpPr txBox="1">
            <a:spLocks noChangeArrowheads="1"/>
          </p:cNvSpPr>
          <p:nvPr/>
        </p:nvSpPr>
        <p:spPr bwMode="auto">
          <a:xfrm>
            <a:off x="2743200" y="50292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708648" name="Text Box 40"/>
          <p:cNvSpPr txBox="1">
            <a:spLocks noChangeArrowheads="1"/>
          </p:cNvSpPr>
          <p:nvPr/>
        </p:nvSpPr>
        <p:spPr bwMode="auto">
          <a:xfrm>
            <a:off x="5205046" y="4953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708649" name="Text Box 41"/>
          <p:cNvSpPr txBox="1">
            <a:spLocks noChangeArrowheads="1"/>
          </p:cNvSpPr>
          <p:nvPr/>
        </p:nvSpPr>
        <p:spPr bwMode="auto">
          <a:xfrm>
            <a:off x="5416061" y="2438400"/>
            <a:ext cx="33595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b="1" i="1"/>
              <a:t>Weighted (Undirected) Graph</a:t>
            </a:r>
          </a:p>
        </p:txBody>
      </p:sp>
      <p:sp>
        <p:nvSpPr>
          <p:cNvPr id="708650" name="Text Box 42"/>
          <p:cNvSpPr txBox="1">
            <a:spLocks noChangeArrowheads="1"/>
          </p:cNvSpPr>
          <p:nvPr/>
        </p:nvSpPr>
        <p:spPr bwMode="auto">
          <a:xfrm>
            <a:off x="5556739" y="4724400"/>
            <a:ext cx="29218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b="1" i="1"/>
              <a:t>Weighted Directed Graph</a:t>
            </a:r>
          </a:p>
        </p:txBody>
      </p:sp>
    </p:spTree>
    <p:extLst>
      <p:ext uri="{BB962C8B-B14F-4D97-AF65-F5344CB8AC3E}">
        <p14:creationId xmlns:p14="http://schemas.microsoft.com/office/powerpoint/2010/main" val="237262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4676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Types of graphs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991600" cy="53340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Undirected:</a:t>
            </a:r>
            <a:r>
              <a:rPr lang="en-US" sz="2400" dirty="0">
                <a:latin typeface="Segoe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edge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) =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); for all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) 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(No self loops.)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Directed:</a:t>
            </a:r>
            <a:r>
              <a:rPr lang="en-US" sz="2400" dirty="0">
                <a:latin typeface="Segoe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) is edge from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to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, denoted as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u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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. Self loops are allowed.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Weighted</a:t>
            </a:r>
            <a:r>
              <a:rPr lang="en-US" sz="2400" dirty="0">
                <a:latin typeface="Segoe"/>
                <a:sym typeface="Symbol" pitchFamily="18" charset="2"/>
              </a:rPr>
              <a:t>: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each edge has an associated weight, given by a weight function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w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: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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Dense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: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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</a:t>
            </a:r>
            <a:r>
              <a:rPr lang="en-US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2</a:t>
            </a:r>
            <a:r>
              <a:rPr lang="en-US" sz="2400" dirty="0">
                <a:latin typeface="Segoe"/>
                <a:sym typeface="Symbol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Sparse:</a:t>
            </a:r>
            <a:r>
              <a:rPr lang="en-US" sz="2400" dirty="0">
                <a:latin typeface="Segoe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&lt;&lt;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</a:t>
            </a:r>
            <a:r>
              <a:rPr lang="en-US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.</a:t>
            </a:r>
          </a:p>
          <a:p>
            <a:r>
              <a:rPr lang="en-US" sz="2400" dirty="0">
                <a:solidFill>
                  <a:srgbClr val="C00000"/>
                </a:solidFill>
                <a:latin typeface="Segoe"/>
                <a:sym typeface="Symbol" pitchFamily="18" charset="2"/>
              </a:rPr>
              <a:t>Adjacency relationship is: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Symmetric if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is undirected.</a:t>
            </a:r>
          </a:p>
          <a:p>
            <a:pPr lvl="1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Not necessarily symmetric if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is directed.</a:t>
            </a:r>
          </a:p>
          <a:p>
            <a:r>
              <a:rPr lang="en-US" sz="2800" dirty="0">
                <a:solidFill>
                  <a:srgbClr val="C00000"/>
                </a:solidFill>
                <a:latin typeface="Segoe"/>
              </a:rPr>
              <a:t>If </a:t>
            </a:r>
            <a:r>
              <a:rPr lang="en-US" sz="2800" i="1" dirty="0">
                <a:solidFill>
                  <a:srgbClr val="C00000"/>
                </a:solidFill>
                <a:latin typeface="Segoe"/>
              </a:rPr>
              <a:t>G</a:t>
            </a:r>
            <a:r>
              <a:rPr lang="en-US" sz="2800" dirty="0">
                <a:solidFill>
                  <a:srgbClr val="C00000"/>
                </a:solidFill>
                <a:latin typeface="Segoe"/>
              </a:rPr>
              <a:t> is connected</a:t>
            </a:r>
            <a:r>
              <a:rPr lang="en-US" sz="2800" dirty="0">
                <a:latin typeface="Segoe"/>
              </a:rPr>
              <a:t>: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There is a path between every pair of vertices.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|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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– 1.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Furthermore, if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|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=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– 1, then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is a tree</a:t>
            </a:r>
            <a:r>
              <a:rPr lang="en-US" sz="2400" dirty="0">
                <a:latin typeface="Segoe"/>
                <a:sym typeface="Symbol" pitchFamily="18" charset="2"/>
              </a:rPr>
              <a:t>.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5519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Representations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How to represent a graph, in memory?</a:t>
            </a:r>
          </a:p>
        </p:txBody>
      </p:sp>
    </p:spTree>
    <p:extLst>
      <p:ext uri="{BB962C8B-B14F-4D97-AF65-F5344CB8AC3E}">
        <p14:creationId xmlns:p14="http://schemas.microsoft.com/office/powerpoint/2010/main" val="153019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US" dirty="0"/>
              <a:t>Representation of Graphs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" y="1219200"/>
            <a:ext cx="7467600" cy="4873752"/>
          </a:xfrm>
        </p:spPr>
        <p:txBody>
          <a:bodyPr/>
          <a:lstStyle/>
          <a:p>
            <a:r>
              <a:rPr lang="en-US" dirty="0">
                <a:solidFill>
                  <a:srgbClr val="CC3300"/>
                </a:solidFill>
                <a:latin typeface="Segoe"/>
              </a:rPr>
              <a:t>Two standard ways</a:t>
            </a:r>
            <a:r>
              <a:rPr lang="en-US" dirty="0">
                <a:latin typeface="Segoe"/>
              </a:rPr>
              <a:t>.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Adjacency Lists.</a:t>
            </a:r>
          </a:p>
          <a:p>
            <a:pPr lvl="1"/>
            <a:endParaRPr lang="en-US" dirty="0">
              <a:latin typeface="Segoe"/>
            </a:endParaRPr>
          </a:p>
          <a:p>
            <a:pPr lvl="1"/>
            <a:endParaRPr lang="en-US" dirty="0">
              <a:latin typeface="Segoe"/>
            </a:endParaRPr>
          </a:p>
          <a:p>
            <a:pPr lvl="1"/>
            <a:endParaRPr lang="en-US" dirty="0">
              <a:latin typeface="Segoe"/>
            </a:endParaRPr>
          </a:p>
          <a:p>
            <a:pPr lvl="1"/>
            <a:endParaRPr lang="en-US" dirty="0">
              <a:latin typeface="Segoe"/>
            </a:endParaRPr>
          </a:p>
          <a:p>
            <a:pPr lvl="1"/>
            <a:endParaRPr lang="en-US" dirty="0">
              <a:latin typeface="Segoe"/>
            </a:endParaRP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Adjacency Matrix.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2901950" y="1600200"/>
            <a:ext cx="5708650" cy="1644650"/>
            <a:chOff x="336" y="2880"/>
            <a:chExt cx="3596" cy="1036"/>
          </a:xfrm>
        </p:grpSpPr>
        <p:sp>
          <p:nvSpPr>
            <p:cNvPr id="19461" name="Oval 5"/>
            <p:cNvSpPr>
              <a:spLocks noChangeArrowheads="1"/>
            </p:cNvSpPr>
            <p:nvPr/>
          </p:nvSpPr>
          <p:spPr bwMode="auto">
            <a:xfrm>
              <a:off x="33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19462" name="Oval 6"/>
            <p:cNvSpPr>
              <a:spLocks noChangeArrowheads="1"/>
            </p:cNvSpPr>
            <p:nvPr/>
          </p:nvSpPr>
          <p:spPr bwMode="auto">
            <a:xfrm>
              <a:off x="81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19463" name="Oval 7"/>
            <p:cNvSpPr>
              <a:spLocks noChangeArrowheads="1"/>
            </p:cNvSpPr>
            <p:nvPr/>
          </p:nvSpPr>
          <p:spPr bwMode="auto">
            <a:xfrm>
              <a:off x="33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19464" name="Oval 8"/>
            <p:cNvSpPr>
              <a:spLocks noChangeArrowheads="1"/>
            </p:cNvSpPr>
            <p:nvPr/>
          </p:nvSpPr>
          <p:spPr bwMode="auto">
            <a:xfrm>
              <a:off x="81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19465" name="AutoShape 9"/>
            <p:cNvCxnSpPr>
              <a:cxnSpLocks noChangeShapeType="1"/>
              <a:stCxn id="19461" idx="6"/>
              <a:endCxn id="19464" idx="2"/>
            </p:cNvCxnSpPr>
            <p:nvPr/>
          </p:nvCxnSpPr>
          <p:spPr bwMode="auto">
            <a:xfrm>
              <a:off x="528" y="2976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66" name="AutoShape 10"/>
            <p:cNvCxnSpPr>
              <a:cxnSpLocks noChangeShapeType="1"/>
              <a:stCxn id="19464" idx="4"/>
              <a:endCxn id="19463" idx="7"/>
            </p:cNvCxnSpPr>
            <p:nvPr/>
          </p:nvCxnSpPr>
          <p:spPr bwMode="auto">
            <a:xfrm flipH="1">
              <a:off x="500" y="3072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67" name="AutoShape 11"/>
            <p:cNvCxnSpPr>
              <a:cxnSpLocks noChangeShapeType="1"/>
              <a:stCxn id="19461" idx="4"/>
              <a:endCxn id="19463" idx="0"/>
            </p:cNvCxnSpPr>
            <p:nvPr/>
          </p:nvCxnSpPr>
          <p:spPr bwMode="auto">
            <a:xfrm>
              <a:off x="432" y="3072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68" name="AutoShape 12"/>
            <p:cNvCxnSpPr>
              <a:cxnSpLocks noChangeShapeType="1"/>
              <a:stCxn id="19461" idx="5"/>
              <a:endCxn id="19462" idx="1"/>
            </p:cNvCxnSpPr>
            <p:nvPr/>
          </p:nvCxnSpPr>
          <p:spPr bwMode="auto">
            <a:xfrm>
              <a:off x="500" y="3044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69" name="Text Box 13"/>
            <p:cNvSpPr txBox="1">
              <a:spLocks noChangeArrowheads="1"/>
            </p:cNvSpPr>
            <p:nvPr/>
          </p:nvSpPr>
          <p:spPr bwMode="auto">
            <a:xfrm>
              <a:off x="1728" y="2880"/>
              <a:ext cx="204" cy="102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 dirty="0"/>
                <a:t> </a:t>
              </a:r>
            </a:p>
            <a:p>
              <a:endParaRPr lang="en-US" sz="2000" u="none" dirty="0"/>
            </a:p>
            <a:p>
              <a:endParaRPr lang="en-US" sz="2000" u="none" dirty="0"/>
            </a:p>
            <a:p>
              <a:r>
                <a:rPr lang="en-US" sz="2000" u="none" dirty="0"/>
                <a:t>  </a:t>
              </a:r>
            </a:p>
            <a:p>
              <a:endParaRPr lang="en-US" sz="2000" u="none" dirty="0"/>
            </a:p>
          </p:txBody>
        </p:sp>
        <p:sp>
          <p:nvSpPr>
            <p:cNvPr id="19470" name="Text Box 14"/>
            <p:cNvSpPr txBox="1">
              <a:spLocks noChangeArrowheads="1"/>
            </p:cNvSpPr>
            <p:nvPr/>
          </p:nvSpPr>
          <p:spPr bwMode="auto">
            <a:xfrm>
              <a:off x="1526" y="288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a</a:t>
              </a:r>
            </a:p>
          </p:txBody>
        </p:sp>
        <p:sp>
          <p:nvSpPr>
            <p:cNvPr id="19471" name="Text Box 15"/>
            <p:cNvSpPr txBox="1">
              <a:spLocks noChangeArrowheads="1"/>
            </p:cNvSpPr>
            <p:nvPr/>
          </p:nvSpPr>
          <p:spPr bwMode="auto">
            <a:xfrm>
              <a:off x="1536" y="316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b</a:t>
              </a:r>
            </a:p>
          </p:txBody>
        </p:sp>
        <p:sp>
          <p:nvSpPr>
            <p:cNvPr id="19472" name="Text Box 16"/>
            <p:cNvSpPr txBox="1">
              <a:spLocks noChangeArrowheads="1"/>
            </p:cNvSpPr>
            <p:nvPr/>
          </p:nvSpPr>
          <p:spPr bwMode="auto">
            <a:xfrm>
              <a:off x="1536" y="3408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c</a:t>
              </a:r>
            </a:p>
          </p:txBody>
        </p:sp>
        <p:sp>
          <p:nvSpPr>
            <p:cNvPr id="19473" name="Text Box 17"/>
            <p:cNvSpPr txBox="1">
              <a:spLocks noChangeArrowheads="1"/>
            </p:cNvSpPr>
            <p:nvPr/>
          </p:nvSpPr>
          <p:spPr bwMode="auto">
            <a:xfrm>
              <a:off x="1536" y="364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d</a:t>
              </a:r>
            </a:p>
          </p:txBody>
        </p:sp>
        <p:sp>
          <p:nvSpPr>
            <p:cNvPr id="19474" name="Line 18"/>
            <p:cNvSpPr>
              <a:spLocks noChangeShapeType="1"/>
            </p:cNvSpPr>
            <p:nvPr/>
          </p:nvSpPr>
          <p:spPr bwMode="auto">
            <a:xfrm>
              <a:off x="1728" y="31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Line 19"/>
            <p:cNvSpPr>
              <a:spLocks noChangeShapeType="1"/>
            </p:cNvSpPr>
            <p:nvPr/>
          </p:nvSpPr>
          <p:spPr bwMode="auto">
            <a:xfrm>
              <a:off x="1728" y="340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Line 20"/>
            <p:cNvSpPr>
              <a:spLocks noChangeShapeType="1"/>
            </p:cNvSpPr>
            <p:nvPr/>
          </p:nvSpPr>
          <p:spPr bwMode="auto">
            <a:xfrm>
              <a:off x="1728" y="36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7" name="Text Box 21"/>
            <p:cNvSpPr txBox="1">
              <a:spLocks noChangeArrowheads="1"/>
            </p:cNvSpPr>
            <p:nvPr/>
          </p:nvSpPr>
          <p:spPr bwMode="auto">
            <a:xfrm>
              <a:off x="2064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19478" name="Text Box 22"/>
            <p:cNvSpPr txBox="1">
              <a:spLocks noChangeArrowheads="1"/>
            </p:cNvSpPr>
            <p:nvPr/>
          </p:nvSpPr>
          <p:spPr bwMode="auto">
            <a:xfrm>
              <a:off x="2064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19479" name="Text Box 23"/>
            <p:cNvSpPr txBox="1">
              <a:spLocks noChangeArrowheads="1"/>
            </p:cNvSpPr>
            <p:nvPr/>
          </p:nvSpPr>
          <p:spPr bwMode="auto">
            <a:xfrm>
              <a:off x="2064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cxnSp>
          <p:nvCxnSpPr>
            <p:cNvPr id="19480" name="AutoShape 24"/>
            <p:cNvCxnSpPr>
              <a:cxnSpLocks noChangeShapeType="1"/>
              <a:stCxn id="19463" idx="6"/>
              <a:endCxn id="19462" idx="2"/>
            </p:cNvCxnSpPr>
            <p:nvPr/>
          </p:nvCxnSpPr>
          <p:spPr bwMode="auto">
            <a:xfrm>
              <a:off x="528" y="3552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81" name="Line 25"/>
            <p:cNvSpPr>
              <a:spLocks noChangeShapeType="1"/>
            </p:cNvSpPr>
            <p:nvPr/>
          </p:nvSpPr>
          <p:spPr bwMode="auto">
            <a:xfrm>
              <a:off x="230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Line 26"/>
            <p:cNvSpPr>
              <a:spLocks noChangeShapeType="1"/>
            </p:cNvSpPr>
            <p:nvPr/>
          </p:nvSpPr>
          <p:spPr bwMode="auto">
            <a:xfrm>
              <a:off x="2304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3" name="Line 27"/>
            <p:cNvSpPr>
              <a:spLocks noChangeShapeType="1"/>
            </p:cNvSpPr>
            <p:nvPr/>
          </p:nvSpPr>
          <p:spPr bwMode="auto">
            <a:xfrm>
              <a:off x="2304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4" name="Text Box 28"/>
            <p:cNvSpPr txBox="1">
              <a:spLocks noChangeArrowheads="1"/>
            </p:cNvSpPr>
            <p:nvPr/>
          </p:nvSpPr>
          <p:spPr bwMode="auto">
            <a:xfrm>
              <a:off x="2736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sp>
          <p:nvSpPr>
            <p:cNvPr id="19485" name="Line 29"/>
            <p:cNvSpPr>
              <a:spLocks noChangeShapeType="1"/>
            </p:cNvSpPr>
            <p:nvPr/>
          </p:nvSpPr>
          <p:spPr bwMode="auto">
            <a:xfrm>
              <a:off x="297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Text Box 30"/>
            <p:cNvSpPr txBox="1">
              <a:spLocks noChangeArrowheads="1"/>
            </p:cNvSpPr>
            <p:nvPr/>
          </p:nvSpPr>
          <p:spPr bwMode="auto">
            <a:xfrm>
              <a:off x="3456" y="2880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>
              <a:off x="369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32"/>
            <p:cNvSpPr>
              <a:spLocks noChangeShapeType="1"/>
            </p:cNvSpPr>
            <p:nvPr/>
          </p:nvSpPr>
          <p:spPr bwMode="auto">
            <a:xfrm>
              <a:off x="1872" y="297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33"/>
            <p:cNvSpPr>
              <a:spLocks noChangeShapeType="1"/>
            </p:cNvSpPr>
            <p:nvPr/>
          </p:nvSpPr>
          <p:spPr bwMode="auto">
            <a:xfrm>
              <a:off x="2448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34"/>
            <p:cNvSpPr>
              <a:spLocks noChangeShapeType="1"/>
            </p:cNvSpPr>
            <p:nvPr/>
          </p:nvSpPr>
          <p:spPr bwMode="auto">
            <a:xfrm>
              <a:off x="3120" y="297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Line 35"/>
            <p:cNvSpPr>
              <a:spLocks noChangeShapeType="1"/>
            </p:cNvSpPr>
            <p:nvPr/>
          </p:nvSpPr>
          <p:spPr bwMode="auto">
            <a:xfrm flipH="1">
              <a:off x="3744" y="2928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2" name="Line 36"/>
            <p:cNvSpPr>
              <a:spLocks noChangeShapeType="1"/>
            </p:cNvSpPr>
            <p:nvPr/>
          </p:nvSpPr>
          <p:spPr bwMode="auto">
            <a:xfrm>
              <a:off x="1872" y="326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3" name="Line 37"/>
            <p:cNvSpPr>
              <a:spLocks noChangeShapeType="1"/>
            </p:cNvSpPr>
            <p:nvPr/>
          </p:nvSpPr>
          <p:spPr bwMode="auto">
            <a:xfrm>
              <a:off x="1872" y="350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4" name="Text Box 38"/>
            <p:cNvSpPr txBox="1">
              <a:spLocks noChangeArrowheads="1"/>
            </p:cNvSpPr>
            <p:nvPr/>
          </p:nvSpPr>
          <p:spPr bwMode="auto">
            <a:xfrm>
              <a:off x="2736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19495" name="Line 39"/>
            <p:cNvSpPr>
              <a:spLocks noChangeShapeType="1"/>
            </p:cNvSpPr>
            <p:nvPr/>
          </p:nvSpPr>
          <p:spPr bwMode="auto">
            <a:xfrm>
              <a:off x="2976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Text Box 40"/>
            <p:cNvSpPr txBox="1">
              <a:spLocks noChangeArrowheads="1"/>
            </p:cNvSpPr>
            <p:nvPr/>
          </p:nvSpPr>
          <p:spPr bwMode="auto">
            <a:xfrm>
              <a:off x="2760" y="3408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19497" name="Line 41"/>
            <p:cNvSpPr>
              <a:spLocks noChangeShapeType="1"/>
            </p:cNvSpPr>
            <p:nvPr/>
          </p:nvSpPr>
          <p:spPr bwMode="auto">
            <a:xfrm>
              <a:off x="297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8" name="Text Box 42"/>
            <p:cNvSpPr txBox="1">
              <a:spLocks noChangeArrowheads="1"/>
            </p:cNvSpPr>
            <p:nvPr/>
          </p:nvSpPr>
          <p:spPr bwMode="auto">
            <a:xfrm>
              <a:off x="3456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19499" name="Line 43"/>
            <p:cNvSpPr>
              <a:spLocks noChangeShapeType="1"/>
            </p:cNvSpPr>
            <p:nvPr/>
          </p:nvSpPr>
          <p:spPr bwMode="auto">
            <a:xfrm>
              <a:off x="369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0" name="Text Box 44"/>
            <p:cNvSpPr txBox="1">
              <a:spLocks noChangeArrowheads="1"/>
            </p:cNvSpPr>
            <p:nvPr/>
          </p:nvSpPr>
          <p:spPr bwMode="auto">
            <a:xfrm>
              <a:off x="2064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19501" name="Line 45"/>
            <p:cNvSpPr>
              <a:spLocks noChangeShapeType="1"/>
            </p:cNvSpPr>
            <p:nvPr/>
          </p:nvSpPr>
          <p:spPr bwMode="auto">
            <a:xfrm>
              <a:off x="2304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2" name="Text Box 46"/>
            <p:cNvSpPr txBox="1">
              <a:spLocks noChangeArrowheads="1"/>
            </p:cNvSpPr>
            <p:nvPr/>
          </p:nvSpPr>
          <p:spPr bwMode="auto">
            <a:xfrm>
              <a:off x="2760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19503" name="Line 47"/>
            <p:cNvSpPr>
              <a:spLocks noChangeShapeType="1"/>
            </p:cNvSpPr>
            <p:nvPr/>
          </p:nvSpPr>
          <p:spPr bwMode="auto">
            <a:xfrm>
              <a:off x="2976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4" name="Line 48"/>
            <p:cNvSpPr>
              <a:spLocks noChangeShapeType="1"/>
            </p:cNvSpPr>
            <p:nvPr/>
          </p:nvSpPr>
          <p:spPr bwMode="auto">
            <a:xfrm>
              <a:off x="2448" y="326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5" name="Line 49"/>
            <p:cNvSpPr>
              <a:spLocks noChangeShapeType="1"/>
            </p:cNvSpPr>
            <p:nvPr/>
          </p:nvSpPr>
          <p:spPr bwMode="auto">
            <a:xfrm>
              <a:off x="3120" y="3504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6" name="Line 50"/>
            <p:cNvSpPr>
              <a:spLocks noChangeShapeType="1"/>
            </p:cNvSpPr>
            <p:nvPr/>
          </p:nvSpPr>
          <p:spPr bwMode="auto">
            <a:xfrm>
              <a:off x="2448" y="350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7" name="Line 51"/>
            <p:cNvSpPr>
              <a:spLocks noChangeShapeType="1"/>
            </p:cNvSpPr>
            <p:nvPr/>
          </p:nvSpPr>
          <p:spPr bwMode="auto">
            <a:xfrm>
              <a:off x="2448" y="37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8" name="Line 52"/>
            <p:cNvSpPr>
              <a:spLocks noChangeShapeType="1"/>
            </p:cNvSpPr>
            <p:nvPr/>
          </p:nvSpPr>
          <p:spPr bwMode="auto">
            <a:xfrm flipH="1">
              <a:off x="3024" y="3168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9" name="Line 53"/>
            <p:cNvSpPr>
              <a:spLocks noChangeShapeType="1"/>
            </p:cNvSpPr>
            <p:nvPr/>
          </p:nvSpPr>
          <p:spPr bwMode="auto">
            <a:xfrm flipH="1">
              <a:off x="3072" y="3744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0" name="Line 54"/>
            <p:cNvSpPr>
              <a:spLocks noChangeShapeType="1"/>
            </p:cNvSpPr>
            <p:nvPr/>
          </p:nvSpPr>
          <p:spPr bwMode="auto">
            <a:xfrm>
              <a:off x="1872" y="379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11" name="Group 55"/>
          <p:cNvGrpSpPr>
            <a:grpSpLocks/>
          </p:cNvGrpSpPr>
          <p:nvPr/>
        </p:nvGrpSpPr>
        <p:grpSpPr bwMode="auto">
          <a:xfrm>
            <a:off x="3032125" y="4343400"/>
            <a:ext cx="3444875" cy="1692275"/>
            <a:chOff x="240" y="2928"/>
            <a:chExt cx="2170" cy="1066"/>
          </a:xfrm>
        </p:grpSpPr>
        <p:sp>
          <p:nvSpPr>
            <p:cNvPr id="19512" name="Oval 56"/>
            <p:cNvSpPr>
              <a:spLocks noChangeArrowheads="1"/>
            </p:cNvSpPr>
            <p:nvPr/>
          </p:nvSpPr>
          <p:spPr bwMode="auto">
            <a:xfrm>
              <a:off x="33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19513" name="Oval 57"/>
            <p:cNvSpPr>
              <a:spLocks noChangeArrowheads="1"/>
            </p:cNvSpPr>
            <p:nvPr/>
          </p:nvSpPr>
          <p:spPr bwMode="auto">
            <a:xfrm>
              <a:off x="81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19514" name="Oval 58"/>
            <p:cNvSpPr>
              <a:spLocks noChangeArrowheads="1"/>
            </p:cNvSpPr>
            <p:nvPr/>
          </p:nvSpPr>
          <p:spPr bwMode="auto">
            <a:xfrm>
              <a:off x="33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19515" name="Oval 59"/>
            <p:cNvSpPr>
              <a:spLocks noChangeArrowheads="1"/>
            </p:cNvSpPr>
            <p:nvPr/>
          </p:nvSpPr>
          <p:spPr bwMode="auto">
            <a:xfrm>
              <a:off x="81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19516" name="AutoShape 60"/>
            <p:cNvCxnSpPr>
              <a:cxnSpLocks noChangeShapeType="1"/>
              <a:stCxn id="19512" idx="6"/>
              <a:endCxn id="19515" idx="2"/>
            </p:cNvCxnSpPr>
            <p:nvPr/>
          </p:nvCxnSpPr>
          <p:spPr bwMode="auto">
            <a:xfrm>
              <a:off x="528" y="3168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7" name="AutoShape 61"/>
            <p:cNvCxnSpPr>
              <a:cxnSpLocks noChangeShapeType="1"/>
              <a:stCxn id="19515" idx="4"/>
              <a:endCxn id="19514" idx="7"/>
            </p:cNvCxnSpPr>
            <p:nvPr/>
          </p:nvCxnSpPr>
          <p:spPr bwMode="auto">
            <a:xfrm flipH="1">
              <a:off x="500" y="3264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8" name="AutoShape 62"/>
            <p:cNvCxnSpPr>
              <a:cxnSpLocks noChangeShapeType="1"/>
              <a:stCxn id="19512" idx="4"/>
              <a:endCxn id="19514" idx="0"/>
            </p:cNvCxnSpPr>
            <p:nvPr/>
          </p:nvCxnSpPr>
          <p:spPr bwMode="auto">
            <a:xfrm>
              <a:off x="432" y="3264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9" name="AutoShape 63"/>
            <p:cNvCxnSpPr>
              <a:cxnSpLocks noChangeShapeType="1"/>
              <a:stCxn id="19512" idx="5"/>
              <a:endCxn id="19513" idx="1"/>
            </p:cNvCxnSpPr>
            <p:nvPr/>
          </p:nvCxnSpPr>
          <p:spPr bwMode="auto">
            <a:xfrm>
              <a:off x="500" y="3236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20" name="AutoShape 64"/>
            <p:cNvCxnSpPr>
              <a:cxnSpLocks noChangeShapeType="1"/>
              <a:stCxn id="19514" idx="6"/>
              <a:endCxn id="19513" idx="2"/>
            </p:cNvCxnSpPr>
            <p:nvPr/>
          </p:nvCxnSpPr>
          <p:spPr bwMode="auto">
            <a:xfrm>
              <a:off x="528" y="3744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21" name="Text Box 65"/>
            <p:cNvSpPr txBox="1">
              <a:spLocks noChangeArrowheads="1"/>
            </p:cNvSpPr>
            <p:nvPr/>
          </p:nvSpPr>
          <p:spPr bwMode="auto">
            <a:xfrm>
              <a:off x="240" y="292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1</a:t>
              </a:r>
            </a:p>
          </p:txBody>
        </p:sp>
        <p:sp>
          <p:nvSpPr>
            <p:cNvPr id="19522" name="Text Box 66"/>
            <p:cNvSpPr txBox="1">
              <a:spLocks noChangeArrowheads="1"/>
            </p:cNvSpPr>
            <p:nvPr/>
          </p:nvSpPr>
          <p:spPr bwMode="auto">
            <a:xfrm>
              <a:off x="960" y="292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2</a:t>
              </a:r>
            </a:p>
          </p:txBody>
        </p:sp>
        <p:sp>
          <p:nvSpPr>
            <p:cNvPr id="19523" name="Text Box 67"/>
            <p:cNvSpPr txBox="1">
              <a:spLocks noChangeArrowheads="1"/>
            </p:cNvSpPr>
            <p:nvPr/>
          </p:nvSpPr>
          <p:spPr bwMode="auto">
            <a:xfrm>
              <a:off x="240" y="37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3</a:t>
              </a:r>
            </a:p>
          </p:txBody>
        </p:sp>
        <p:sp>
          <p:nvSpPr>
            <p:cNvPr id="19524" name="Text Box 68"/>
            <p:cNvSpPr txBox="1">
              <a:spLocks noChangeArrowheads="1"/>
            </p:cNvSpPr>
            <p:nvPr/>
          </p:nvSpPr>
          <p:spPr bwMode="auto">
            <a:xfrm>
              <a:off x="960" y="37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4</a:t>
              </a:r>
            </a:p>
          </p:txBody>
        </p:sp>
        <p:sp>
          <p:nvSpPr>
            <p:cNvPr id="19525" name="Text Box 69"/>
            <p:cNvSpPr txBox="1">
              <a:spLocks noChangeArrowheads="1"/>
            </p:cNvSpPr>
            <p:nvPr/>
          </p:nvSpPr>
          <p:spPr bwMode="auto">
            <a:xfrm>
              <a:off x="1440" y="2976"/>
              <a:ext cx="956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/>
                <a:t>    1   2   3   4</a:t>
              </a:r>
            </a:p>
            <a:p>
              <a:r>
                <a:rPr lang="en-US" sz="2000" u="none"/>
                <a:t>1  0   1   1   1</a:t>
              </a:r>
            </a:p>
            <a:p>
              <a:r>
                <a:rPr lang="en-US" sz="2000" u="none"/>
                <a:t>2  1   0   1   0</a:t>
              </a:r>
            </a:p>
            <a:p>
              <a:r>
                <a:rPr lang="en-US" sz="2000" u="none"/>
                <a:t>3  1   1   0   1</a:t>
              </a:r>
            </a:p>
            <a:p>
              <a:r>
                <a:rPr lang="en-US" sz="2000" u="none"/>
                <a:t>4  1   0   1   0</a:t>
              </a:r>
            </a:p>
          </p:txBody>
        </p:sp>
        <p:sp>
          <p:nvSpPr>
            <p:cNvPr id="19526" name="Line 70"/>
            <p:cNvSpPr>
              <a:spLocks noChangeShapeType="1"/>
            </p:cNvSpPr>
            <p:nvPr/>
          </p:nvSpPr>
          <p:spPr bwMode="auto">
            <a:xfrm>
              <a:off x="1498" y="3207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27" name="Line 71"/>
            <p:cNvSpPr>
              <a:spLocks noChangeShapeType="1"/>
            </p:cNvSpPr>
            <p:nvPr/>
          </p:nvSpPr>
          <p:spPr bwMode="auto">
            <a:xfrm>
              <a:off x="1594" y="3063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624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467600" cy="731838"/>
          </a:xfrm>
        </p:spPr>
        <p:txBody>
          <a:bodyPr/>
          <a:lstStyle/>
          <a:p>
            <a:r>
              <a:rPr lang="en-US" dirty="0"/>
              <a:t>Adjacency Lists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990600"/>
            <a:ext cx="8839200" cy="1600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Consists of an array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Adj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of |V| lists. One list per vertex.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 u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V,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Adj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[u] consists of all vertices adjacent to u.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473075" y="27289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a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1235075" y="36433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d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473075" y="36433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c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1235075" y="27289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b</a:t>
            </a:r>
          </a:p>
        </p:txBody>
      </p:sp>
      <p:cxnSp>
        <p:nvCxnSpPr>
          <p:cNvPr id="20488" name="AutoShape 8"/>
          <p:cNvCxnSpPr>
            <a:cxnSpLocks noChangeShapeType="1"/>
            <a:stCxn id="20484" idx="6"/>
            <a:endCxn id="20487" idx="2"/>
          </p:cNvCxnSpPr>
          <p:nvPr/>
        </p:nvCxnSpPr>
        <p:spPr bwMode="auto">
          <a:xfrm>
            <a:off x="777875" y="2881313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89" name="AutoShape 9"/>
          <p:cNvCxnSpPr>
            <a:cxnSpLocks noChangeShapeType="1"/>
            <a:stCxn id="20487" idx="4"/>
            <a:endCxn id="20486" idx="7"/>
          </p:cNvCxnSpPr>
          <p:nvPr/>
        </p:nvCxnSpPr>
        <p:spPr bwMode="auto">
          <a:xfrm flipH="1">
            <a:off x="733425" y="3033713"/>
            <a:ext cx="654050" cy="6540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90" name="AutoShape 10"/>
          <p:cNvCxnSpPr>
            <a:cxnSpLocks noChangeShapeType="1"/>
            <a:stCxn id="20484" idx="4"/>
            <a:endCxn id="20486" idx="0"/>
          </p:cNvCxnSpPr>
          <p:nvPr/>
        </p:nvCxnSpPr>
        <p:spPr bwMode="auto">
          <a:xfrm>
            <a:off x="625475" y="3033713"/>
            <a:ext cx="0" cy="609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91" name="AutoShape 11"/>
          <p:cNvCxnSpPr>
            <a:cxnSpLocks noChangeShapeType="1"/>
            <a:stCxn id="20484" idx="5"/>
            <a:endCxn id="20485" idx="1"/>
          </p:cNvCxnSpPr>
          <p:nvPr/>
        </p:nvCxnSpPr>
        <p:spPr bwMode="auto">
          <a:xfrm>
            <a:off x="733425" y="2989263"/>
            <a:ext cx="546100" cy="6985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2682875" y="2728913"/>
            <a:ext cx="323850" cy="162877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none" dirty="0"/>
              <a:t> </a:t>
            </a:r>
          </a:p>
          <a:p>
            <a:endParaRPr lang="en-US" sz="2000" u="none" dirty="0"/>
          </a:p>
          <a:p>
            <a:endParaRPr lang="en-US" sz="2000" u="none" dirty="0"/>
          </a:p>
          <a:p>
            <a:r>
              <a:rPr lang="en-US" sz="2000" u="none" dirty="0"/>
              <a:t>  </a:t>
            </a:r>
          </a:p>
          <a:p>
            <a:endParaRPr lang="en-US" sz="2000" u="none" dirty="0"/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236220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u="none"/>
              <a:t>a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2378075" y="3186113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u="none"/>
              <a:t>b</a:t>
            </a: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2378075" y="35671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u="none"/>
              <a:t>c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2378075" y="3948113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u="none"/>
              <a:t>d</a:t>
            </a:r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2682875" y="31861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2682875" y="35671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8" name="Line 28"/>
          <p:cNvSpPr>
            <a:spLocks noChangeShapeType="1"/>
          </p:cNvSpPr>
          <p:nvPr/>
        </p:nvSpPr>
        <p:spPr bwMode="auto">
          <a:xfrm>
            <a:off x="2682875" y="39481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3216275" y="2728913"/>
            <a:ext cx="755650" cy="3492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u="none"/>
              <a:t>b</a:t>
            </a:r>
            <a:r>
              <a:rPr lang="en-US" sz="1600"/>
              <a:t>         </a:t>
            </a:r>
          </a:p>
        </p:txBody>
      </p:sp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3216275" y="3148013"/>
            <a:ext cx="744538" cy="3492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u="none"/>
              <a:t>c</a:t>
            </a:r>
            <a:r>
              <a:rPr lang="en-US" sz="1600"/>
              <a:t>         </a:t>
            </a:r>
          </a:p>
        </p:txBody>
      </p:sp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3216275" y="3567113"/>
            <a:ext cx="755650" cy="3492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u="none"/>
              <a:t>d</a:t>
            </a:r>
            <a:r>
              <a:rPr lang="en-US" sz="1600"/>
              <a:t>         </a:t>
            </a:r>
          </a:p>
        </p:txBody>
      </p:sp>
      <p:cxnSp>
        <p:nvCxnSpPr>
          <p:cNvPr id="20513" name="AutoShape 33"/>
          <p:cNvCxnSpPr>
            <a:cxnSpLocks noChangeShapeType="1"/>
            <a:stCxn id="20486" idx="6"/>
            <a:endCxn id="20485" idx="2"/>
          </p:cNvCxnSpPr>
          <p:nvPr/>
        </p:nvCxnSpPr>
        <p:spPr bwMode="auto">
          <a:xfrm>
            <a:off x="777875" y="3795713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4" name="Line 34"/>
          <p:cNvSpPr>
            <a:spLocks noChangeShapeType="1"/>
          </p:cNvSpPr>
          <p:nvPr/>
        </p:nvSpPr>
        <p:spPr bwMode="auto">
          <a:xfrm>
            <a:off x="3597275" y="2728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3597275" y="31861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3597275" y="35671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8" name="Text Box 38"/>
          <p:cNvSpPr txBox="1">
            <a:spLocks noChangeArrowheads="1"/>
          </p:cNvSpPr>
          <p:nvPr/>
        </p:nvSpPr>
        <p:spPr bwMode="auto">
          <a:xfrm>
            <a:off x="4283075" y="2728913"/>
            <a:ext cx="755650" cy="3492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u="none"/>
              <a:t>d</a:t>
            </a:r>
            <a:r>
              <a:rPr lang="en-US" sz="1600"/>
              <a:t>         </a:t>
            </a:r>
          </a:p>
        </p:txBody>
      </p:sp>
      <p:sp>
        <p:nvSpPr>
          <p:cNvPr id="20519" name="Line 39"/>
          <p:cNvSpPr>
            <a:spLocks noChangeShapeType="1"/>
          </p:cNvSpPr>
          <p:nvPr/>
        </p:nvSpPr>
        <p:spPr bwMode="auto">
          <a:xfrm>
            <a:off x="4664075" y="2728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5426075" y="2728913"/>
            <a:ext cx="744538" cy="3492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u="none"/>
              <a:t>c</a:t>
            </a:r>
            <a:r>
              <a:rPr lang="en-US" sz="1600"/>
              <a:t>         </a:t>
            </a:r>
          </a:p>
        </p:txBody>
      </p:sp>
      <p:sp>
        <p:nvSpPr>
          <p:cNvPr id="20521" name="Line 41"/>
          <p:cNvSpPr>
            <a:spLocks noChangeShapeType="1"/>
          </p:cNvSpPr>
          <p:nvPr/>
        </p:nvSpPr>
        <p:spPr bwMode="auto">
          <a:xfrm>
            <a:off x="5807075" y="27289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3" name="Line 43"/>
          <p:cNvSpPr>
            <a:spLocks noChangeShapeType="1"/>
          </p:cNvSpPr>
          <p:nvPr/>
        </p:nvSpPr>
        <p:spPr bwMode="auto">
          <a:xfrm>
            <a:off x="2911475" y="28813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5" name="Line 45"/>
          <p:cNvSpPr>
            <a:spLocks noChangeShapeType="1"/>
          </p:cNvSpPr>
          <p:nvPr/>
        </p:nvSpPr>
        <p:spPr bwMode="auto">
          <a:xfrm>
            <a:off x="3825875" y="2881313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6" name="Line 46"/>
          <p:cNvSpPr>
            <a:spLocks noChangeShapeType="1"/>
          </p:cNvSpPr>
          <p:nvPr/>
        </p:nvSpPr>
        <p:spPr bwMode="auto">
          <a:xfrm>
            <a:off x="4892675" y="2881313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7" name="Line 47"/>
          <p:cNvSpPr>
            <a:spLocks noChangeShapeType="1"/>
          </p:cNvSpPr>
          <p:nvPr/>
        </p:nvSpPr>
        <p:spPr bwMode="auto">
          <a:xfrm flipH="1">
            <a:off x="5883275" y="2805113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9" name="Line 49"/>
          <p:cNvSpPr>
            <a:spLocks noChangeShapeType="1"/>
          </p:cNvSpPr>
          <p:nvPr/>
        </p:nvSpPr>
        <p:spPr bwMode="auto">
          <a:xfrm>
            <a:off x="2911475" y="33385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1" name="Line 51"/>
          <p:cNvSpPr>
            <a:spLocks noChangeShapeType="1"/>
          </p:cNvSpPr>
          <p:nvPr/>
        </p:nvSpPr>
        <p:spPr bwMode="auto">
          <a:xfrm>
            <a:off x="2911475" y="37195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2" name="Line 52"/>
          <p:cNvSpPr>
            <a:spLocks noChangeShapeType="1"/>
          </p:cNvSpPr>
          <p:nvPr/>
        </p:nvSpPr>
        <p:spPr bwMode="auto">
          <a:xfrm flipH="1">
            <a:off x="2759075" y="4100513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3" name="Line 53"/>
          <p:cNvSpPr>
            <a:spLocks noChangeShapeType="1"/>
          </p:cNvSpPr>
          <p:nvPr/>
        </p:nvSpPr>
        <p:spPr bwMode="auto">
          <a:xfrm flipH="1">
            <a:off x="3749675" y="3262313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4" name="Line 54"/>
          <p:cNvSpPr>
            <a:spLocks noChangeShapeType="1"/>
          </p:cNvSpPr>
          <p:nvPr/>
        </p:nvSpPr>
        <p:spPr bwMode="auto">
          <a:xfrm flipH="1">
            <a:off x="3673475" y="3643313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593" name="Group 113"/>
          <p:cNvGrpSpPr>
            <a:grpSpLocks/>
          </p:cNvGrpSpPr>
          <p:nvPr/>
        </p:nvGrpSpPr>
        <p:grpSpPr bwMode="auto">
          <a:xfrm>
            <a:off x="533400" y="4572000"/>
            <a:ext cx="5708650" cy="1644650"/>
            <a:chOff x="336" y="2880"/>
            <a:chExt cx="3596" cy="1036"/>
          </a:xfrm>
        </p:grpSpPr>
        <p:sp>
          <p:nvSpPr>
            <p:cNvPr id="20535" name="Oval 55"/>
            <p:cNvSpPr>
              <a:spLocks noChangeArrowheads="1"/>
            </p:cNvSpPr>
            <p:nvPr/>
          </p:nvSpPr>
          <p:spPr bwMode="auto">
            <a:xfrm>
              <a:off x="33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20536" name="Oval 56"/>
            <p:cNvSpPr>
              <a:spLocks noChangeArrowheads="1"/>
            </p:cNvSpPr>
            <p:nvPr/>
          </p:nvSpPr>
          <p:spPr bwMode="auto">
            <a:xfrm>
              <a:off x="81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20537" name="Oval 57"/>
            <p:cNvSpPr>
              <a:spLocks noChangeArrowheads="1"/>
            </p:cNvSpPr>
            <p:nvPr/>
          </p:nvSpPr>
          <p:spPr bwMode="auto">
            <a:xfrm>
              <a:off x="33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20538" name="Oval 58"/>
            <p:cNvSpPr>
              <a:spLocks noChangeArrowheads="1"/>
            </p:cNvSpPr>
            <p:nvPr/>
          </p:nvSpPr>
          <p:spPr bwMode="auto">
            <a:xfrm>
              <a:off x="81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20539" name="AutoShape 59"/>
            <p:cNvCxnSpPr>
              <a:cxnSpLocks noChangeShapeType="1"/>
              <a:stCxn id="20535" idx="6"/>
              <a:endCxn id="20538" idx="2"/>
            </p:cNvCxnSpPr>
            <p:nvPr/>
          </p:nvCxnSpPr>
          <p:spPr bwMode="auto">
            <a:xfrm>
              <a:off x="528" y="2976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40" name="AutoShape 60"/>
            <p:cNvCxnSpPr>
              <a:cxnSpLocks noChangeShapeType="1"/>
              <a:stCxn id="20538" idx="4"/>
              <a:endCxn id="20537" idx="7"/>
            </p:cNvCxnSpPr>
            <p:nvPr/>
          </p:nvCxnSpPr>
          <p:spPr bwMode="auto">
            <a:xfrm flipH="1">
              <a:off x="500" y="3072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41" name="AutoShape 61"/>
            <p:cNvCxnSpPr>
              <a:cxnSpLocks noChangeShapeType="1"/>
              <a:stCxn id="20535" idx="4"/>
              <a:endCxn id="20537" idx="0"/>
            </p:cNvCxnSpPr>
            <p:nvPr/>
          </p:nvCxnSpPr>
          <p:spPr bwMode="auto">
            <a:xfrm>
              <a:off x="432" y="3072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42" name="AutoShape 62"/>
            <p:cNvCxnSpPr>
              <a:cxnSpLocks noChangeShapeType="1"/>
              <a:stCxn id="20535" idx="5"/>
              <a:endCxn id="20536" idx="1"/>
            </p:cNvCxnSpPr>
            <p:nvPr/>
          </p:nvCxnSpPr>
          <p:spPr bwMode="auto">
            <a:xfrm>
              <a:off x="500" y="3044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543" name="Text Box 63"/>
            <p:cNvSpPr txBox="1">
              <a:spLocks noChangeArrowheads="1"/>
            </p:cNvSpPr>
            <p:nvPr/>
          </p:nvSpPr>
          <p:spPr bwMode="auto">
            <a:xfrm>
              <a:off x="1728" y="2880"/>
              <a:ext cx="204" cy="102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/>
                <a:t> </a:t>
              </a:r>
            </a:p>
            <a:p>
              <a:endParaRPr lang="en-US" sz="2000" u="none"/>
            </a:p>
            <a:p>
              <a:endParaRPr lang="en-US" sz="2000" u="none"/>
            </a:p>
            <a:p>
              <a:r>
                <a:rPr lang="en-US" sz="2000" u="none"/>
                <a:t>  </a:t>
              </a:r>
            </a:p>
            <a:p>
              <a:endParaRPr lang="en-US" sz="2000" u="none"/>
            </a:p>
          </p:txBody>
        </p:sp>
        <p:sp>
          <p:nvSpPr>
            <p:cNvPr id="20544" name="Text Box 64"/>
            <p:cNvSpPr txBox="1">
              <a:spLocks noChangeArrowheads="1"/>
            </p:cNvSpPr>
            <p:nvPr/>
          </p:nvSpPr>
          <p:spPr bwMode="auto">
            <a:xfrm>
              <a:off x="1526" y="288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a</a:t>
              </a:r>
            </a:p>
          </p:txBody>
        </p:sp>
        <p:sp>
          <p:nvSpPr>
            <p:cNvPr id="20545" name="Text Box 65"/>
            <p:cNvSpPr txBox="1">
              <a:spLocks noChangeArrowheads="1"/>
            </p:cNvSpPr>
            <p:nvPr/>
          </p:nvSpPr>
          <p:spPr bwMode="auto">
            <a:xfrm>
              <a:off x="1536" y="316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b</a:t>
              </a:r>
            </a:p>
          </p:txBody>
        </p:sp>
        <p:sp>
          <p:nvSpPr>
            <p:cNvPr id="20546" name="Text Box 66"/>
            <p:cNvSpPr txBox="1">
              <a:spLocks noChangeArrowheads="1"/>
            </p:cNvSpPr>
            <p:nvPr/>
          </p:nvSpPr>
          <p:spPr bwMode="auto">
            <a:xfrm>
              <a:off x="1536" y="3408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c</a:t>
              </a:r>
            </a:p>
          </p:txBody>
        </p:sp>
        <p:sp>
          <p:nvSpPr>
            <p:cNvPr id="20547" name="Text Box 67"/>
            <p:cNvSpPr txBox="1">
              <a:spLocks noChangeArrowheads="1"/>
            </p:cNvSpPr>
            <p:nvPr/>
          </p:nvSpPr>
          <p:spPr bwMode="auto">
            <a:xfrm>
              <a:off x="1536" y="364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d</a:t>
              </a:r>
            </a:p>
          </p:txBody>
        </p:sp>
        <p:sp>
          <p:nvSpPr>
            <p:cNvPr id="20548" name="Line 68"/>
            <p:cNvSpPr>
              <a:spLocks noChangeShapeType="1"/>
            </p:cNvSpPr>
            <p:nvPr/>
          </p:nvSpPr>
          <p:spPr bwMode="auto">
            <a:xfrm>
              <a:off x="1728" y="31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9" name="Line 69"/>
            <p:cNvSpPr>
              <a:spLocks noChangeShapeType="1"/>
            </p:cNvSpPr>
            <p:nvPr/>
          </p:nvSpPr>
          <p:spPr bwMode="auto">
            <a:xfrm>
              <a:off x="1728" y="340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0" name="Line 70"/>
            <p:cNvSpPr>
              <a:spLocks noChangeShapeType="1"/>
            </p:cNvSpPr>
            <p:nvPr/>
          </p:nvSpPr>
          <p:spPr bwMode="auto">
            <a:xfrm>
              <a:off x="1728" y="36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1" name="Text Box 71"/>
            <p:cNvSpPr txBox="1">
              <a:spLocks noChangeArrowheads="1"/>
            </p:cNvSpPr>
            <p:nvPr/>
          </p:nvSpPr>
          <p:spPr bwMode="auto">
            <a:xfrm>
              <a:off x="2064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20552" name="Text Box 72"/>
            <p:cNvSpPr txBox="1">
              <a:spLocks noChangeArrowheads="1"/>
            </p:cNvSpPr>
            <p:nvPr/>
          </p:nvSpPr>
          <p:spPr bwMode="auto">
            <a:xfrm>
              <a:off x="2064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20553" name="Text Box 73"/>
            <p:cNvSpPr txBox="1">
              <a:spLocks noChangeArrowheads="1"/>
            </p:cNvSpPr>
            <p:nvPr/>
          </p:nvSpPr>
          <p:spPr bwMode="auto">
            <a:xfrm>
              <a:off x="2064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cxnSp>
          <p:nvCxnSpPr>
            <p:cNvPr id="20554" name="AutoShape 74"/>
            <p:cNvCxnSpPr>
              <a:cxnSpLocks noChangeShapeType="1"/>
              <a:stCxn id="20537" idx="6"/>
              <a:endCxn id="20536" idx="2"/>
            </p:cNvCxnSpPr>
            <p:nvPr/>
          </p:nvCxnSpPr>
          <p:spPr bwMode="auto">
            <a:xfrm>
              <a:off x="528" y="3552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555" name="Line 75"/>
            <p:cNvSpPr>
              <a:spLocks noChangeShapeType="1"/>
            </p:cNvSpPr>
            <p:nvPr/>
          </p:nvSpPr>
          <p:spPr bwMode="auto">
            <a:xfrm>
              <a:off x="230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6" name="Line 76"/>
            <p:cNvSpPr>
              <a:spLocks noChangeShapeType="1"/>
            </p:cNvSpPr>
            <p:nvPr/>
          </p:nvSpPr>
          <p:spPr bwMode="auto">
            <a:xfrm>
              <a:off x="2304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7" name="Line 77"/>
            <p:cNvSpPr>
              <a:spLocks noChangeShapeType="1"/>
            </p:cNvSpPr>
            <p:nvPr/>
          </p:nvSpPr>
          <p:spPr bwMode="auto">
            <a:xfrm>
              <a:off x="2304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8" name="Text Box 78"/>
            <p:cNvSpPr txBox="1">
              <a:spLocks noChangeArrowheads="1"/>
            </p:cNvSpPr>
            <p:nvPr/>
          </p:nvSpPr>
          <p:spPr bwMode="auto">
            <a:xfrm>
              <a:off x="2736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sp>
          <p:nvSpPr>
            <p:cNvPr id="20559" name="Line 79"/>
            <p:cNvSpPr>
              <a:spLocks noChangeShapeType="1"/>
            </p:cNvSpPr>
            <p:nvPr/>
          </p:nvSpPr>
          <p:spPr bwMode="auto">
            <a:xfrm>
              <a:off x="297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0" name="Text Box 80"/>
            <p:cNvSpPr txBox="1">
              <a:spLocks noChangeArrowheads="1"/>
            </p:cNvSpPr>
            <p:nvPr/>
          </p:nvSpPr>
          <p:spPr bwMode="auto">
            <a:xfrm>
              <a:off x="3456" y="2880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20561" name="Line 81"/>
            <p:cNvSpPr>
              <a:spLocks noChangeShapeType="1"/>
            </p:cNvSpPr>
            <p:nvPr/>
          </p:nvSpPr>
          <p:spPr bwMode="auto">
            <a:xfrm>
              <a:off x="369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2" name="Line 82"/>
            <p:cNvSpPr>
              <a:spLocks noChangeShapeType="1"/>
            </p:cNvSpPr>
            <p:nvPr/>
          </p:nvSpPr>
          <p:spPr bwMode="auto">
            <a:xfrm>
              <a:off x="1872" y="297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3" name="Line 83"/>
            <p:cNvSpPr>
              <a:spLocks noChangeShapeType="1"/>
            </p:cNvSpPr>
            <p:nvPr/>
          </p:nvSpPr>
          <p:spPr bwMode="auto">
            <a:xfrm>
              <a:off x="2448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4" name="Line 84"/>
            <p:cNvSpPr>
              <a:spLocks noChangeShapeType="1"/>
            </p:cNvSpPr>
            <p:nvPr/>
          </p:nvSpPr>
          <p:spPr bwMode="auto">
            <a:xfrm>
              <a:off x="3120" y="297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5" name="Line 85"/>
            <p:cNvSpPr>
              <a:spLocks noChangeShapeType="1"/>
            </p:cNvSpPr>
            <p:nvPr/>
          </p:nvSpPr>
          <p:spPr bwMode="auto">
            <a:xfrm flipH="1">
              <a:off x="3744" y="2928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6" name="Line 86"/>
            <p:cNvSpPr>
              <a:spLocks noChangeShapeType="1"/>
            </p:cNvSpPr>
            <p:nvPr/>
          </p:nvSpPr>
          <p:spPr bwMode="auto">
            <a:xfrm>
              <a:off x="1872" y="326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7" name="Line 87"/>
            <p:cNvSpPr>
              <a:spLocks noChangeShapeType="1"/>
            </p:cNvSpPr>
            <p:nvPr/>
          </p:nvSpPr>
          <p:spPr bwMode="auto">
            <a:xfrm>
              <a:off x="1872" y="350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1" name="Text Box 91"/>
            <p:cNvSpPr txBox="1">
              <a:spLocks noChangeArrowheads="1"/>
            </p:cNvSpPr>
            <p:nvPr/>
          </p:nvSpPr>
          <p:spPr bwMode="auto">
            <a:xfrm>
              <a:off x="2736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20572" name="Line 92"/>
            <p:cNvSpPr>
              <a:spLocks noChangeShapeType="1"/>
            </p:cNvSpPr>
            <p:nvPr/>
          </p:nvSpPr>
          <p:spPr bwMode="auto">
            <a:xfrm>
              <a:off x="2976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3" name="Text Box 93"/>
            <p:cNvSpPr txBox="1">
              <a:spLocks noChangeArrowheads="1"/>
            </p:cNvSpPr>
            <p:nvPr/>
          </p:nvSpPr>
          <p:spPr bwMode="auto">
            <a:xfrm>
              <a:off x="2760" y="3408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20574" name="Line 94"/>
            <p:cNvSpPr>
              <a:spLocks noChangeShapeType="1"/>
            </p:cNvSpPr>
            <p:nvPr/>
          </p:nvSpPr>
          <p:spPr bwMode="auto">
            <a:xfrm>
              <a:off x="297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5" name="Text Box 95"/>
            <p:cNvSpPr txBox="1">
              <a:spLocks noChangeArrowheads="1"/>
            </p:cNvSpPr>
            <p:nvPr/>
          </p:nvSpPr>
          <p:spPr bwMode="auto">
            <a:xfrm>
              <a:off x="3456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20576" name="Line 96"/>
            <p:cNvSpPr>
              <a:spLocks noChangeShapeType="1"/>
            </p:cNvSpPr>
            <p:nvPr/>
          </p:nvSpPr>
          <p:spPr bwMode="auto">
            <a:xfrm>
              <a:off x="369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7" name="Text Box 97"/>
            <p:cNvSpPr txBox="1">
              <a:spLocks noChangeArrowheads="1"/>
            </p:cNvSpPr>
            <p:nvPr/>
          </p:nvSpPr>
          <p:spPr bwMode="auto">
            <a:xfrm>
              <a:off x="2064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20578" name="Line 98"/>
            <p:cNvSpPr>
              <a:spLocks noChangeShapeType="1"/>
            </p:cNvSpPr>
            <p:nvPr/>
          </p:nvSpPr>
          <p:spPr bwMode="auto">
            <a:xfrm>
              <a:off x="2304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9" name="Text Box 99"/>
            <p:cNvSpPr txBox="1">
              <a:spLocks noChangeArrowheads="1"/>
            </p:cNvSpPr>
            <p:nvPr/>
          </p:nvSpPr>
          <p:spPr bwMode="auto">
            <a:xfrm>
              <a:off x="2760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20580" name="Line 100"/>
            <p:cNvSpPr>
              <a:spLocks noChangeShapeType="1"/>
            </p:cNvSpPr>
            <p:nvPr/>
          </p:nvSpPr>
          <p:spPr bwMode="auto">
            <a:xfrm>
              <a:off x="2976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1" name="Line 101"/>
            <p:cNvSpPr>
              <a:spLocks noChangeShapeType="1"/>
            </p:cNvSpPr>
            <p:nvPr/>
          </p:nvSpPr>
          <p:spPr bwMode="auto">
            <a:xfrm>
              <a:off x="2448" y="326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2" name="Line 102"/>
            <p:cNvSpPr>
              <a:spLocks noChangeShapeType="1"/>
            </p:cNvSpPr>
            <p:nvPr/>
          </p:nvSpPr>
          <p:spPr bwMode="auto">
            <a:xfrm>
              <a:off x="3120" y="3504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5" name="Line 105"/>
            <p:cNvSpPr>
              <a:spLocks noChangeShapeType="1"/>
            </p:cNvSpPr>
            <p:nvPr/>
          </p:nvSpPr>
          <p:spPr bwMode="auto">
            <a:xfrm>
              <a:off x="2448" y="350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6" name="Line 106"/>
            <p:cNvSpPr>
              <a:spLocks noChangeShapeType="1"/>
            </p:cNvSpPr>
            <p:nvPr/>
          </p:nvSpPr>
          <p:spPr bwMode="auto">
            <a:xfrm>
              <a:off x="2448" y="37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7" name="Line 107"/>
            <p:cNvSpPr>
              <a:spLocks noChangeShapeType="1"/>
            </p:cNvSpPr>
            <p:nvPr/>
          </p:nvSpPr>
          <p:spPr bwMode="auto">
            <a:xfrm flipH="1">
              <a:off x="3024" y="3168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8" name="Line 108"/>
            <p:cNvSpPr>
              <a:spLocks noChangeShapeType="1"/>
            </p:cNvSpPr>
            <p:nvPr/>
          </p:nvSpPr>
          <p:spPr bwMode="auto">
            <a:xfrm flipH="1">
              <a:off x="3072" y="3744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9" name="Line 109"/>
            <p:cNvSpPr>
              <a:spLocks noChangeShapeType="1"/>
            </p:cNvSpPr>
            <p:nvPr/>
          </p:nvSpPr>
          <p:spPr bwMode="auto">
            <a:xfrm>
              <a:off x="1872" y="379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91" name="Text Box 111"/>
          <p:cNvSpPr txBox="1">
            <a:spLocks noChangeArrowheads="1"/>
          </p:cNvSpPr>
          <p:nvPr/>
        </p:nvSpPr>
        <p:spPr bwMode="auto">
          <a:xfrm>
            <a:off x="4900613" y="3352800"/>
            <a:ext cx="42433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u="none">
                <a:solidFill>
                  <a:srgbClr val="CC3300"/>
                </a:solidFill>
              </a:rPr>
              <a:t>If weighted, store weights also in adjacency lists.</a:t>
            </a:r>
          </a:p>
        </p:txBody>
      </p:sp>
      <p:sp>
        <p:nvSpPr>
          <p:cNvPr id="20592" name="Text Box 112"/>
          <p:cNvSpPr txBox="1">
            <a:spLocks noChangeArrowheads="1"/>
          </p:cNvSpPr>
          <p:nvPr/>
        </p:nvSpPr>
        <p:spPr bwMode="auto">
          <a:xfrm>
            <a:off x="1905000" y="2667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90800" y="23622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Adj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2339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7467600" cy="1143000"/>
          </a:xfrm>
        </p:spPr>
        <p:txBody>
          <a:bodyPr/>
          <a:lstStyle/>
          <a:p>
            <a:r>
              <a:rPr lang="en-US" dirty="0"/>
              <a:t>Storage Requirement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914400"/>
            <a:ext cx="7467600" cy="487375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C3300"/>
                </a:solidFill>
                <a:latin typeface="Segoe"/>
              </a:rPr>
              <a:t>For directed graphs: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Sum of lengths of all adj. lists is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          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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out-degree(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)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= |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|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            </a:t>
            </a:r>
            <a:r>
              <a:rPr lang="en-US" sz="2400" i="1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baseline="620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Total storage: 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(</a:t>
            </a:r>
            <a:r>
              <a:rPr lang="en-US" sz="2400" i="1" dirty="0">
                <a:solidFill>
                  <a:srgbClr val="0070C0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+</a:t>
            </a:r>
            <a:r>
              <a:rPr lang="en-US" sz="2400" i="1" dirty="0">
                <a:solidFill>
                  <a:srgbClr val="0070C0"/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)</a:t>
            </a:r>
          </a:p>
          <a:p>
            <a:r>
              <a:rPr lang="en-US" sz="2400" dirty="0">
                <a:solidFill>
                  <a:srgbClr val="CC3300"/>
                </a:solidFill>
                <a:latin typeface="Segoe"/>
              </a:rPr>
              <a:t>For undirected graphs: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Sum of lengths of all adj. lists is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          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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degree(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= 2|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|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            </a:t>
            </a:r>
            <a:r>
              <a:rPr lang="en-US" sz="2400" i="1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baseline="620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baseline="620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Total storage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: (</a:t>
            </a:r>
            <a:r>
              <a:rPr lang="en-US" sz="2400" i="1" dirty="0">
                <a:solidFill>
                  <a:srgbClr val="0070C0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+</a:t>
            </a:r>
            <a:r>
              <a:rPr lang="en-US" sz="2400" i="1" dirty="0">
                <a:solidFill>
                  <a:srgbClr val="0070C0"/>
                </a:solidFill>
                <a:latin typeface="Segoe"/>
                <a:sym typeface="Symbol" pitchFamily="18" charset="2"/>
              </a:rPr>
              <a:t>E</a:t>
            </a:r>
            <a:r>
              <a:rPr lang="en-US" sz="2400" dirty="0">
                <a:solidFill>
                  <a:srgbClr val="0070C0"/>
                </a:solidFill>
                <a:latin typeface="Segoe"/>
                <a:sym typeface="Symbol" pitchFamily="18" charset="2"/>
              </a:rPr>
              <a:t>)</a:t>
            </a:r>
          </a:p>
          <a:p>
            <a:pPr lvl="1"/>
            <a:endParaRPr lang="en-US" sz="2400" dirty="0">
              <a:latin typeface="Segoe"/>
              <a:sym typeface="Symbol" pitchFamily="18" charset="2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810000" y="2514600"/>
            <a:ext cx="2460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none">
                <a:solidFill>
                  <a:srgbClr val="FF3300"/>
                </a:solidFill>
              </a:rPr>
              <a:t>No. of edges leaving </a:t>
            </a:r>
            <a:r>
              <a:rPr lang="en-US" sz="2000" i="1" u="none">
                <a:solidFill>
                  <a:srgbClr val="FF3300"/>
                </a:solidFill>
              </a:rPr>
              <a:t>v</a:t>
            </a:r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H="1" flipV="1">
            <a:off x="2819400" y="2362200"/>
            <a:ext cx="1219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3657600" y="4849813"/>
            <a:ext cx="5157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u="none">
                <a:solidFill>
                  <a:srgbClr val="FF3300"/>
                </a:solidFill>
              </a:rPr>
              <a:t>No. of edges incident on </a:t>
            </a:r>
            <a:r>
              <a:rPr lang="en-US" sz="2000" i="1" u="none">
                <a:solidFill>
                  <a:srgbClr val="FF3300"/>
                </a:solidFill>
              </a:rPr>
              <a:t>v. </a:t>
            </a:r>
            <a:r>
              <a:rPr lang="en-US" sz="2000" u="none">
                <a:solidFill>
                  <a:srgbClr val="FF3300"/>
                </a:solidFill>
              </a:rPr>
              <a:t>Edge (</a:t>
            </a:r>
            <a:r>
              <a:rPr lang="en-US" sz="2000" i="1" u="none">
                <a:solidFill>
                  <a:srgbClr val="FF3300"/>
                </a:solidFill>
              </a:rPr>
              <a:t>u</a:t>
            </a:r>
            <a:r>
              <a:rPr lang="en-US" sz="2000" u="none">
                <a:solidFill>
                  <a:srgbClr val="FF3300"/>
                </a:solidFill>
              </a:rPr>
              <a:t>,</a:t>
            </a:r>
            <a:r>
              <a:rPr lang="en-US" sz="2000" i="1" u="none">
                <a:solidFill>
                  <a:srgbClr val="FF3300"/>
                </a:solidFill>
              </a:rPr>
              <a:t>v</a:t>
            </a:r>
            <a:r>
              <a:rPr lang="en-US" sz="2000" u="none">
                <a:solidFill>
                  <a:srgbClr val="FF3300"/>
                </a:solidFill>
              </a:rPr>
              <a:t>) is incident on vertices </a:t>
            </a:r>
            <a:r>
              <a:rPr lang="en-US" sz="2000" i="1" u="none">
                <a:solidFill>
                  <a:srgbClr val="FF3300"/>
                </a:solidFill>
              </a:rPr>
              <a:t>u</a:t>
            </a:r>
            <a:r>
              <a:rPr lang="en-US" sz="2000" u="none">
                <a:solidFill>
                  <a:srgbClr val="FF3300"/>
                </a:solidFill>
              </a:rPr>
              <a:t> and </a:t>
            </a:r>
            <a:r>
              <a:rPr lang="en-US" sz="2000" i="1" u="none">
                <a:solidFill>
                  <a:srgbClr val="FF3300"/>
                </a:solidFill>
              </a:rPr>
              <a:t>v</a:t>
            </a:r>
            <a:r>
              <a:rPr lang="en-US" sz="2000" u="none">
                <a:solidFill>
                  <a:srgbClr val="FF3300"/>
                </a:solidFill>
              </a:rPr>
              <a:t>.</a:t>
            </a:r>
            <a:endParaRPr lang="en-US" sz="2000" i="1" u="none">
              <a:solidFill>
                <a:srgbClr val="FF3300"/>
              </a:solidFill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H="1" flipV="1">
            <a:off x="2362200" y="4724400"/>
            <a:ext cx="1447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9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4" grpId="0" animBg="1"/>
      <p:bldP spid="22535" grpId="0"/>
      <p:bldP spid="225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and Cons: adj list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Pros</a:t>
            </a:r>
          </a:p>
          <a:p>
            <a:pPr lvl="1"/>
            <a:r>
              <a:rPr lang="en-US" sz="2400" dirty="0">
                <a:solidFill>
                  <a:srgbClr val="CC3300"/>
                </a:solidFill>
                <a:latin typeface="Segoe"/>
              </a:rPr>
              <a:t>Space-efficient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when a graph is sparse.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Can be modified to support many graph variants.</a:t>
            </a:r>
          </a:p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Cons</a:t>
            </a:r>
          </a:p>
          <a:p>
            <a:pPr lvl="1"/>
            <a:r>
              <a:rPr lang="en-US" sz="2400" dirty="0">
                <a:solidFill>
                  <a:srgbClr val="CC3300"/>
                </a:solidFill>
                <a:latin typeface="Segoe"/>
              </a:rPr>
              <a:t>Determining if an edge (</a:t>
            </a:r>
            <a:r>
              <a:rPr lang="en-US" sz="2400" i="1" dirty="0" err="1">
                <a:solidFill>
                  <a:srgbClr val="CC3300"/>
                </a:solidFill>
                <a:latin typeface="Segoe"/>
              </a:rPr>
              <a:t>u</a:t>
            </a:r>
            <a:r>
              <a:rPr lang="en-US" sz="2400" dirty="0" err="1">
                <a:solidFill>
                  <a:srgbClr val="CC3300"/>
                </a:solidFill>
                <a:latin typeface="Segoe"/>
              </a:rPr>
              <a:t>,</a:t>
            </a:r>
            <a:r>
              <a:rPr lang="en-US" sz="2400" i="1" dirty="0" err="1">
                <a:solidFill>
                  <a:srgbClr val="CC3300"/>
                </a:solidFill>
                <a:latin typeface="Segoe"/>
              </a:rPr>
              <a:t>v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) </a:t>
            </a: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G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 is not efficient</a:t>
            </a:r>
            <a:r>
              <a:rPr lang="en-US" sz="2400" dirty="0">
                <a:latin typeface="Segoe"/>
              </a:rPr>
              <a:t>.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latin typeface="Segoe"/>
              </a:rPr>
              <a:t>Have to search in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’s adjacency list.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(degree(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)) time.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(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) in the worst case.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endParaRPr lang="en-US" sz="2400" dirty="0">
              <a:solidFill>
                <a:schemeClr val="tx1"/>
              </a:solidFill>
              <a:latin typeface="Segoe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181600" y="4765531"/>
            <a:ext cx="3819525" cy="1644650"/>
            <a:chOff x="5089525" y="4751677"/>
            <a:chExt cx="3819525" cy="1644650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410200" y="4751677"/>
              <a:ext cx="323850" cy="162877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 dirty="0"/>
                <a:t> </a:t>
              </a:r>
            </a:p>
            <a:p>
              <a:endParaRPr lang="en-US" sz="2000" u="none" dirty="0"/>
            </a:p>
            <a:p>
              <a:endParaRPr lang="en-US" sz="2000" u="none" dirty="0"/>
            </a:p>
            <a:p>
              <a:r>
                <a:rPr lang="en-US" sz="2000" u="none" dirty="0"/>
                <a:t>  </a:t>
              </a:r>
            </a:p>
            <a:p>
              <a:endParaRPr lang="en-US" sz="2000" u="none" dirty="0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089525" y="4765965"/>
              <a:ext cx="311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a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5105400" y="5208877"/>
              <a:ext cx="325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b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5105400" y="5589877"/>
              <a:ext cx="2968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c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5105400" y="5970877"/>
              <a:ext cx="325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u="none"/>
                <a:t>d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5410200" y="52088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5410200" y="55898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5410200" y="59708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5943600" y="4751677"/>
              <a:ext cx="755650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5943600" y="51707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5943600" y="5589877"/>
              <a:ext cx="755650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6324600" y="47516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6324600" y="52088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6324600" y="55898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7010400" y="4751677"/>
              <a:ext cx="755650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7391400" y="47516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8153400" y="47516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8534400" y="47516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5638800" y="49040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6553200" y="4904077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7620000" y="4904077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8610600" y="4827877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5638800" y="53612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5638800" y="57422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7010400" y="51707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7391400" y="52088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7048500" y="55898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7391400" y="55898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8153400" y="5589877"/>
              <a:ext cx="755650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8534400" y="55898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5943600" y="60470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6324600" y="60470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46"/>
            <p:cNvSpPr txBox="1">
              <a:spLocks noChangeArrowheads="1"/>
            </p:cNvSpPr>
            <p:nvPr/>
          </p:nvSpPr>
          <p:spPr bwMode="auto">
            <a:xfrm>
              <a:off x="7048500" y="6047077"/>
              <a:ext cx="744538" cy="3492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7391400" y="6047077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6553200" y="5361277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49"/>
            <p:cNvSpPr>
              <a:spLocks noChangeShapeType="1"/>
            </p:cNvSpPr>
            <p:nvPr/>
          </p:nvSpPr>
          <p:spPr bwMode="auto">
            <a:xfrm>
              <a:off x="7620000" y="5742277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6553200" y="5742277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6553200" y="6199477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 flipH="1">
              <a:off x="7467600" y="5208877"/>
              <a:ext cx="2286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 flipH="1">
              <a:off x="7543800" y="6123277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>
              <a:off x="5638800" y="6199477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607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467600" cy="762000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841248"/>
            <a:ext cx="8229600" cy="487375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|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|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 |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| matrix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Number vertices from 1 to |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| in some arbitrary manner.</a:t>
            </a:r>
          </a:p>
          <a:p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is then given by:</a:t>
            </a:r>
            <a:endParaRPr lang="en-US" sz="2400" i="1" dirty="0">
              <a:solidFill>
                <a:schemeClr val="tx1"/>
              </a:solidFill>
              <a:latin typeface="Segoe"/>
              <a:sym typeface="Symbol" pitchFamily="18" charset="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733800" y="2133600"/>
          <a:ext cx="360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06480" imgH="838080" progId="Equation.3">
                  <p:embed/>
                </p:oleObj>
              </mc:Choice>
              <mc:Fallback>
                <p:oleObj name="Equation" r:id="rId2" imgW="3606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133600"/>
                        <a:ext cx="360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473075" y="30337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a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1235075" y="39481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d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473075" y="39481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c</a:t>
            </a:r>
          </a:p>
        </p:txBody>
      </p:sp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1235075" y="3033713"/>
            <a:ext cx="304800" cy="304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b</a:t>
            </a:r>
          </a:p>
        </p:txBody>
      </p:sp>
      <p:cxnSp>
        <p:nvCxnSpPr>
          <p:cNvPr id="21513" name="AutoShape 9"/>
          <p:cNvCxnSpPr>
            <a:cxnSpLocks noChangeShapeType="1"/>
            <a:stCxn id="21509" idx="6"/>
            <a:endCxn id="21512" idx="2"/>
          </p:cNvCxnSpPr>
          <p:nvPr/>
        </p:nvCxnSpPr>
        <p:spPr bwMode="auto">
          <a:xfrm>
            <a:off x="777875" y="3186113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14" name="AutoShape 10"/>
          <p:cNvCxnSpPr>
            <a:cxnSpLocks noChangeShapeType="1"/>
            <a:stCxn id="21512" idx="4"/>
            <a:endCxn id="21511" idx="7"/>
          </p:cNvCxnSpPr>
          <p:nvPr/>
        </p:nvCxnSpPr>
        <p:spPr bwMode="auto">
          <a:xfrm flipH="1">
            <a:off x="733425" y="3338513"/>
            <a:ext cx="654050" cy="6540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15" name="AutoShape 11"/>
          <p:cNvCxnSpPr>
            <a:cxnSpLocks noChangeShapeType="1"/>
            <a:stCxn id="21509" idx="4"/>
            <a:endCxn id="21511" idx="0"/>
          </p:cNvCxnSpPr>
          <p:nvPr/>
        </p:nvCxnSpPr>
        <p:spPr bwMode="auto">
          <a:xfrm>
            <a:off x="625475" y="3338513"/>
            <a:ext cx="0" cy="609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16" name="AutoShape 12"/>
          <p:cNvCxnSpPr>
            <a:cxnSpLocks noChangeShapeType="1"/>
            <a:stCxn id="21509" idx="5"/>
            <a:endCxn id="21510" idx="1"/>
          </p:cNvCxnSpPr>
          <p:nvPr/>
        </p:nvCxnSpPr>
        <p:spPr bwMode="auto">
          <a:xfrm>
            <a:off x="733425" y="3294063"/>
            <a:ext cx="546100" cy="6985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17" name="AutoShape 13"/>
          <p:cNvCxnSpPr>
            <a:cxnSpLocks noChangeShapeType="1"/>
            <a:stCxn id="21511" idx="6"/>
            <a:endCxn id="21510" idx="2"/>
          </p:cNvCxnSpPr>
          <p:nvPr/>
        </p:nvCxnSpPr>
        <p:spPr bwMode="auto">
          <a:xfrm>
            <a:off x="777875" y="4100513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288925" y="27813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u="none"/>
              <a:t>1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1447800" y="2819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u="none" dirty="0"/>
              <a:t>2</a:t>
            </a: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304800" y="4114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u="none"/>
              <a:t>3</a:t>
            </a:r>
          </a:p>
        </p:txBody>
      </p:sp>
      <p:sp>
        <p:nvSpPr>
          <p:cNvPr id="21530" name="Text Box 26"/>
          <p:cNvSpPr txBox="1">
            <a:spLocks noChangeArrowheads="1"/>
          </p:cNvSpPr>
          <p:nvPr/>
        </p:nvSpPr>
        <p:spPr bwMode="auto">
          <a:xfrm>
            <a:off x="1447800" y="4038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u="none"/>
              <a:t>4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2286000" y="2895600"/>
            <a:ext cx="15176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none" dirty="0"/>
              <a:t>    1   2   3   4</a:t>
            </a:r>
          </a:p>
          <a:p>
            <a:r>
              <a:rPr lang="en-US" sz="2000" u="none" dirty="0"/>
              <a:t>1  0   1   1   1</a:t>
            </a:r>
          </a:p>
          <a:p>
            <a:r>
              <a:rPr lang="en-US" sz="2000" u="none" dirty="0"/>
              <a:t>2  0   0   1   0</a:t>
            </a:r>
          </a:p>
          <a:p>
            <a:r>
              <a:rPr lang="en-US" sz="2000" u="none" dirty="0"/>
              <a:t>3  0   0   0   1</a:t>
            </a:r>
          </a:p>
          <a:p>
            <a:r>
              <a:rPr lang="en-US" sz="2000" u="none" dirty="0"/>
              <a:t>4  0   0   0   0</a:t>
            </a: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>
            <a:off x="2378075" y="3262313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>
            <a:off x="2530475" y="3033713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42" name="Group 38"/>
          <p:cNvGrpSpPr>
            <a:grpSpLocks/>
          </p:cNvGrpSpPr>
          <p:nvPr/>
        </p:nvGrpSpPr>
        <p:grpSpPr bwMode="auto">
          <a:xfrm>
            <a:off x="381000" y="4648200"/>
            <a:ext cx="3444875" cy="1692275"/>
            <a:chOff x="240" y="2928"/>
            <a:chExt cx="2170" cy="1066"/>
          </a:xfrm>
        </p:grpSpPr>
        <p:sp>
          <p:nvSpPr>
            <p:cNvPr id="21518" name="Oval 14"/>
            <p:cNvSpPr>
              <a:spLocks noChangeArrowheads="1"/>
            </p:cNvSpPr>
            <p:nvPr/>
          </p:nvSpPr>
          <p:spPr bwMode="auto">
            <a:xfrm>
              <a:off x="33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21519" name="Oval 15"/>
            <p:cNvSpPr>
              <a:spLocks noChangeArrowheads="1"/>
            </p:cNvSpPr>
            <p:nvPr/>
          </p:nvSpPr>
          <p:spPr bwMode="auto">
            <a:xfrm>
              <a:off x="81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21520" name="Oval 16"/>
            <p:cNvSpPr>
              <a:spLocks noChangeArrowheads="1"/>
            </p:cNvSpPr>
            <p:nvPr/>
          </p:nvSpPr>
          <p:spPr bwMode="auto">
            <a:xfrm>
              <a:off x="33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21521" name="Oval 17"/>
            <p:cNvSpPr>
              <a:spLocks noChangeArrowheads="1"/>
            </p:cNvSpPr>
            <p:nvPr/>
          </p:nvSpPr>
          <p:spPr bwMode="auto">
            <a:xfrm>
              <a:off x="81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21522" name="AutoShape 18"/>
            <p:cNvCxnSpPr>
              <a:cxnSpLocks noChangeShapeType="1"/>
              <a:stCxn id="21518" idx="6"/>
              <a:endCxn id="21521" idx="2"/>
            </p:cNvCxnSpPr>
            <p:nvPr/>
          </p:nvCxnSpPr>
          <p:spPr bwMode="auto">
            <a:xfrm>
              <a:off x="528" y="3168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3" name="AutoShape 19"/>
            <p:cNvCxnSpPr>
              <a:cxnSpLocks noChangeShapeType="1"/>
              <a:stCxn id="21521" idx="4"/>
              <a:endCxn id="21520" idx="7"/>
            </p:cNvCxnSpPr>
            <p:nvPr/>
          </p:nvCxnSpPr>
          <p:spPr bwMode="auto">
            <a:xfrm flipH="1">
              <a:off x="500" y="3264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4" name="AutoShape 20"/>
            <p:cNvCxnSpPr>
              <a:cxnSpLocks noChangeShapeType="1"/>
              <a:stCxn id="21518" idx="4"/>
              <a:endCxn id="21520" idx="0"/>
            </p:cNvCxnSpPr>
            <p:nvPr/>
          </p:nvCxnSpPr>
          <p:spPr bwMode="auto">
            <a:xfrm>
              <a:off x="432" y="3264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5" name="AutoShape 21"/>
            <p:cNvCxnSpPr>
              <a:cxnSpLocks noChangeShapeType="1"/>
              <a:stCxn id="21518" idx="5"/>
              <a:endCxn id="21519" idx="1"/>
            </p:cNvCxnSpPr>
            <p:nvPr/>
          </p:nvCxnSpPr>
          <p:spPr bwMode="auto">
            <a:xfrm>
              <a:off x="500" y="3236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6" name="AutoShape 22"/>
            <p:cNvCxnSpPr>
              <a:cxnSpLocks noChangeShapeType="1"/>
              <a:stCxn id="21520" idx="6"/>
              <a:endCxn id="21519" idx="2"/>
            </p:cNvCxnSpPr>
            <p:nvPr/>
          </p:nvCxnSpPr>
          <p:spPr bwMode="auto">
            <a:xfrm>
              <a:off x="528" y="3744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31" name="Text Box 27"/>
            <p:cNvSpPr txBox="1">
              <a:spLocks noChangeArrowheads="1"/>
            </p:cNvSpPr>
            <p:nvPr/>
          </p:nvSpPr>
          <p:spPr bwMode="auto">
            <a:xfrm>
              <a:off x="240" y="292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1</a:t>
              </a:r>
            </a:p>
          </p:txBody>
        </p:sp>
        <p:sp>
          <p:nvSpPr>
            <p:cNvPr id="21532" name="Text Box 28"/>
            <p:cNvSpPr txBox="1">
              <a:spLocks noChangeArrowheads="1"/>
            </p:cNvSpPr>
            <p:nvPr/>
          </p:nvSpPr>
          <p:spPr bwMode="auto">
            <a:xfrm>
              <a:off x="960" y="292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2</a:t>
              </a:r>
            </a:p>
          </p:txBody>
        </p:sp>
        <p:sp>
          <p:nvSpPr>
            <p:cNvPr id="21533" name="Text Box 29"/>
            <p:cNvSpPr txBox="1">
              <a:spLocks noChangeArrowheads="1"/>
            </p:cNvSpPr>
            <p:nvPr/>
          </p:nvSpPr>
          <p:spPr bwMode="auto">
            <a:xfrm>
              <a:off x="240" y="37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3</a:t>
              </a:r>
            </a:p>
          </p:txBody>
        </p:sp>
        <p:sp>
          <p:nvSpPr>
            <p:cNvPr id="21534" name="Text Box 30"/>
            <p:cNvSpPr txBox="1">
              <a:spLocks noChangeArrowheads="1"/>
            </p:cNvSpPr>
            <p:nvPr/>
          </p:nvSpPr>
          <p:spPr bwMode="auto">
            <a:xfrm>
              <a:off x="960" y="37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u="none"/>
                <a:t>4</a:t>
              </a:r>
            </a:p>
          </p:txBody>
        </p:sp>
        <p:sp>
          <p:nvSpPr>
            <p:cNvPr id="21538" name="Text Box 34"/>
            <p:cNvSpPr txBox="1">
              <a:spLocks noChangeArrowheads="1"/>
            </p:cNvSpPr>
            <p:nvPr/>
          </p:nvSpPr>
          <p:spPr bwMode="auto">
            <a:xfrm>
              <a:off x="1440" y="2976"/>
              <a:ext cx="956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 dirty="0"/>
                <a:t>    1   2   3   4</a:t>
              </a:r>
            </a:p>
            <a:p>
              <a:r>
                <a:rPr lang="en-US" sz="2000" u="none" dirty="0"/>
                <a:t>1  0   1   1   1</a:t>
              </a:r>
            </a:p>
            <a:p>
              <a:r>
                <a:rPr lang="en-US" sz="2000" u="none" dirty="0"/>
                <a:t>2  1   0   1   0</a:t>
              </a:r>
            </a:p>
            <a:p>
              <a:r>
                <a:rPr lang="en-US" sz="2000" u="none" dirty="0"/>
                <a:t>3  1   1   0   1</a:t>
              </a:r>
            </a:p>
            <a:p>
              <a:r>
                <a:rPr lang="en-US" sz="2000" u="none" dirty="0"/>
                <a:t>4  1   0   1   0</a:t>
              </a:r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>
              <a:off x="1498" y="3207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1594" y="3063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41" name="Text Box 37"/>
          <p:cNvSpPr txBox="1">
            <a:spLocks noChangeArrowheads="1"/>
          </p:cNvSpPr>
          <p:nvPr/>
        </p:nvSpPr>
        <p:spPr bwMode="auto">
          <a:xfrm>
            <a:off x="4632325" y="5222875"/>
            <a:ext cx="376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1" u="none">
                <a:solidFill>
                  <a:srgbClr val="CC3300"/>
                </a:solidFill>
              </a:rPr>
              <a:t>A</a:t>
            </a:r>
            <a:r>
              <a:rPr lang="en-US" u="none">
                <a:solidFill>
                  <a:srgbClr val="CC3300"/>
                </a:solidFill>
              </a:rPr>
              <a:t> = </a:t>
            </a:r>
            <a:r>
              <a:rPr lang="en-US" i="1" u="none">
                <a:solidFill>
                  <a:srgbClr val="CC3300"/>
                </a:solidFill>
              </a:rPr>
              <a:t>A</a:t>
            </a:r>
            <a:r>
              <a:rPr lang="en-US" u="none" baseline="30000">
                <a:solidFill>
                  <a:srgbClr val="CC3300"/>
                </a:solidFill>
              </a:rPr>
              <a:t>T</a:t>
            </a:r>
            <a:r>
              <a:rPr lang="en-US" u="none">
                <a:solidFill>
                  <a:srgbClr val="CC3300"/>
                </a:solidFill>
              </a:rPr>
              <a:t> for undirected graphs.</a:t>
            </a:r>
          </a:p>
        </p:txBody>
      </p:sp>
      <p:sp>
        <p:nvSpPr>
          <p:cNvPr id="2" name="Rectangle 1"/>
          <p:cNvSpPr/>
          <p:nvPr/>
        </p:nvSpPr>
        <p:spPr>
          <a:xfrm>
            <a:off x="4337050" y="6144045"/>
            <a:ext cx="4197350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Segoe"/>
              </a:rPr>
              <a:t>For weighted graph: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>
                <a:latin typeface="Segoe"/>
              </a:rPr>
              <a:t>Weights are stored instead of 1 and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09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Space and Time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CC3300"/>
                </a:solidFill>
                <a:latin typeface="Segoe"/>
              </a:rPr>
              <a:t>Space:</a:t>
            </a:r>
            <a:r>
              <a:rPr lang="en-US" sz="2400" b="1" i="1" dirty="0"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Not memory efficient for large graphs.</a:t>
            </a:r>
          </a:p>
          <a:p>
            <a:r>
              <a:rPr lang="en-US" sz="2400" b="1" dirty="0">
                <a:solidFill>
                  <a:srgbClr val="CC3300"/>
                </a:solidFill>
                <a:latin typeface="Segoe"/>
              </a:rPr>
              <a:t>Time:</a:t>
            </a:r>
            <a:r>
              <a:rPr lang="en-US" sz="2400" b="1" i="1" dirty="0"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to list all vertices adjacent to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).</a:t>
            </a:r>
          </a:p>
          <a:p>
            <a:r>
              <a:rPr lang="en-US" sz="2400" b="1" dirty="0">
                <a:solidFill>
                  <a:srgbClr val="CC3300"/>
                </a:solidFill>
                <a:latin typeface="Segoe"/>
              </a:rPr>
              <a:t>Time:</a:t>
            </a:r>
            <a:r>
              <a:rPr lang="en-US" sz="2400" b="1" i="1" dirty="0"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to determine if 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u, 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(1).</a:t>
            </a:r>
          </a:p>
          <a:p>
            <a:endParaRPr lang="en-US" sz="2400" dirty="0">
              <a:solidFill>
                <a:schemeClr val="tx1"/>
              </a:solidFill>
              <a:latin typeface="Segoe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495800" y="4038600"/>
            <a:ext cx="1600200" cy="1616075"/>
            <a:chOff x="4495800" y="4038600"/>
            <a:chExt cx="1600200" cy="1616075"/>
          </a:xfrm>
        </p:grpSpPr>
        <p:sp>
          <p:nvSpPr>
            <p:cNvPr id="4" name="Text Box 31"/>
            <p:cNvSpPr txBox="1">
              <a:spLocks noChangeArrowheads="1"/>
            </p:cNvSpPr>
            <p:nvPr/>
          </p:nvSpPr>
          <p:spPr bwMode="auto">
            <a:xfrm>
              <a:off x="4495800" y="4038600"/>
              <a:ext cx="1517650" cy="161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u="none" dirty="0"/>
                <a:t>    1   2   3   4</a:t>
              </a:r>
            </a:p>
            <a:p>
              <a:r>
                <a:rPr lang="en-US" sz="2000" u="none" dirty="0"/>
                <a:t>1  0   1   1   1</a:t>
              </a:r>
            </a:p>
            <a:p>
              <a:r>
                <a:rPr lang="en-US" sz="2000" u="none" dirty="0"/>
                <a:t>2  0   0   1   0</a:t>
              </a:r>
            </a:p>
            <a:p>
              <a:r>
                <a:rPr lang="en-US" sz="2000" u="none" dirty="0"/>
                <a:t>3  0   0   0   1</a:t>
              </a:r>
            </a:p>
            <a:p>
              <a:r>
                <a:rPr lang="en-US" sz="2000" u="none" dirty="0"/>
                <a:t>4  0   0   0   0</a:t>
              </a:r>
            </a:p>
          </p:txBody>
        </p:sp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4648200" y="4419600"/>
              <a:ext cx="1447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>
              <a:off x="4800600" y="4191000"/>
              <a:ext cx="0" cy="1371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3009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Searching a graph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Graph-searching Algorithms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C3300"/>
                </a:solidFill>
                <a:latin typeface="Segoe"/>
              </a:rPr>
              <a:t>Searching a graph</a:t>
            </a:r>
            <a:r>
              <a:rPr lang="en-US" sz="2400" dirty="0">
                <a:latin typeface="Segoe"/>
              </a:rPr>
              <a:t>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Systematically follow the edges of a graph </a:t>
            </a:r>
            <a:br>
              <a:rPr lang="en-US" sz="2400" dirty="0">
                <a:solidFill>
                  <a:schemeClr val="tx1"/>
                </a:solidFill>
                <a:latin typeface="Segoe"/>
              </a:rPr>
            </a:br>
            <a:r>
              <a:rPr lang="en-US" sz="2400" dirty="0">
                <a:solidFill>
                  <a:schemeClr val="tx1"/>
                </a:solidFill>
                <a:latin typeface="Segoe"/>
              </a:rPr>
              <a:t>to visit the vertices of the graph.</a:t>
            </a:r>
          </a:p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Used to 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discover the structure of a graph</a:t>
            </a:r>
            <a:r>
              <a:rPr lang="en-US" sz="2400" dirty="0">
                <a:latin typeface="Segoe"/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Standard graph-searching algorithms.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Breadth-first Search </a:t>
            </a:r>
            <a:r>
              <a:rPr lang="en-US" sz="2400" dirty="0">
                <a:solidFill>
                  <a:schemeClr val="hlink"/>
                </a:solidFill>
                <a:latin typeface="Segoe"/>
              </a:rPr>
              <a:t>(BFS)</a:t>
            </a:r>
            <a:r>
              <a:rPr lang="en-US" sz="2400" dirty="0">
                <a:latin typeface="Segoe"/>
              </a:rPr>
              <a:t>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</a:rPr>
              <a:t>Depth-first Search </a:t>
            </a:r>
            <a:r>
              <a:rPr lang="en-US" sz="2400" dirty="0">
                <a:solidFill>
                  <a:schemeClr val="hlink"/>
                </a:solidFill>
                <a:latin typeface="Segoe"/>
              </a:rPr>
              <a:t>(DFS)</a:t>
            </a:r>
            <a:r>
              <a:rPr lang="en-US" sz="2400" dirty="0">
                <a:latin typeface="Sego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975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Graph-searching Algorithms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924800" cy="3918697"/>
          </a:xfrm>
        </p:spPr>
      </p:pic>
    </p:spTree>
    <p:extLst>
      <p:ext uri="{BB962C8B-B14F-4D97-AF65-F5344CB8AC3E}">
        <p14:creationId xmlns:p14="http://schemas.microsoft.com/office/powerpoint/2010/main" val="2545870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4800"/>
            <a:ext cx="7467600" cy="1143000"/>
          </a:xfrm>
        </p:spPr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" y="914400"/>
            <a:ext cx="8991600" cy="373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C3300"/>
                </a:solidFill>
                <a:latin typeface="Segoe"/>
              </a:rPr>
              <a:t>Input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Graph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G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= 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V, E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), either directed or undirected, </a:t>
            </a:r>
            <a:br>
              <a:rPr lang="en-US" sz="2400" dirty="0">
                <a:solidFill>
                  <a:schemeClr val="tx1"/>
                </a:solidFill>
                <a:latin typeface="Segoe"/>
              </a:rPr>
            </a:br>
            <a:r>
              <a:rPr lang="en-US" sz="2400" dirty="0">
                <a:solidFill>
                  <a:schemeClr val="tx1"/>
                </a:solidFill>
                <a:latin typeface="Segoe"/>
              </a:rPr>
              <a:t>and </a:t>
            </a:r>
            <a:r>
              <a:rPr lang="en-US" sz="2400" b="1" i="1" dirty="0">
                <a:solidFill>
                  <a:schemeClr val="tx1"/>
                </a:solidFill>
                <a:latin typeface="Segoe"/>
              </a:rPr>
              <a:t>source vertex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s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C3300"/>
                </a:solidFill>
                <a:latin typeface="Segoe"/>
              </a:rPr>
              <a:t>Output:</a:t>
            </a:r>
            <a:r>
              <a:rPr lang="en-US" sz="2400" b="1" dirty="0">
                <a:latin typeface="Segoe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chemeClr val="tx1"/>
                </a:solidFill>
                <a:latin typeface="Segoe"/>
              </a:rPr>
              <a:t>d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= distance (smallest # of edges, or shortest path) from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s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to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for all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.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d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=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 if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is not reachable from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s.</a:t>
            </a:r>
            <a:endParaRPr lang="en-US" sz="2400" dirty="0">
              <a:solidFill>
                <a:schemeClr val="tx1"/>
              </a:solidFill>
              <a:latin typeface="Segoe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=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such that 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u, 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is last edge on shortest path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s      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is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’s predecessor.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Builds breadth-first tree with root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that contains all reachable vertices.</a:t>
            </a:r>
          </a:p>
          <a:p>
            <a:pPr lvl="2">
              <a:lnSpc>
                <a:spcPct val="90000"/>
              </a:lnSpc>
            </a:pPr>
            <a:endParaRPr lang="en-US" sz="2400" i="1" dirty="0">
              <a:latin typeface="Segoe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Segoe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Segoe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441325" y="40036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6" name="Freeform 16"/>
          <p:cNvSpPr>
            <a:spLocks/>
          </p:cNvSpPr>
          <p:nvPr/>
        </p:nvSpPr>
        <p:spPr bwMode="auto">
          <a:xfrm>
            <a:off x="7924800" y="3124200"/>
            <a:ext cx="381000" cy="76200"/>
          </a:xfrm>
          <a:custGeom>
            <a:avLst/>
            <a:gdLst>
              <a:gd name="T0" fmla="*/ 0 w 240"/>
              <a:gd name="T1" fmla="*/ 48 h 48"/>
              <a:gd name="T2" fmla="*/ 48 w 240"/>
              <a:gd name="T3" fmla="*/ 0 h 48"/>
              <a:gd name="T4" fmla="*/ 96 w 240"/>
              <a:gd name="T5" fmla="*/ 48 h 48"/>
              <a:gd name="T6" fmla="*/ 144 w 240"/>
              <a:gd name="T7" fmla="*/ 0 h 48"/>
              <a:gd name="T8" fmla="*/ 240 w 240"/>
              <a:gd name="T9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71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04800"/>
            <a:ext cx="7467600" cy="1143000"/>
          </a:xfrm>
        </p:spPr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990600"/>
            <a:ext cx="8839200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Expands the frontier between discovered and undiscovered vertices uniformly across the breadth of the frontier.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A vertex is </a:t>
            </a:r>
            <a:r>
              <a:rPr lang="en-US" sz="2400" dirty="0">
                <a:solidFill>
                  <a:srgbClr val="C00000"/>
                </a:solidFill>
                <a:latin typeface="Segoe"/>
              </a:rPr>
              <a:t>“discovered”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the first time it is encountered during the search.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A vertex is </a:t>
            </a:r>
            <a:r>
              <a:rPr lang="en-US" sz="2400" dirty="0">
                <a:solidFill>
                  <a:srgbClr val="C00000"/>
                </a:solidFill>
                <a:latin typeface="Segoe"/>
              </a:rPr>
              <a:t>“finished”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if all vertices adjacent to it have been discovered.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Colors the vertices to keep track of progress.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Segoe"/>
              </a:rPr>
              <a:t>White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– Undiscovered.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Segoe"/>
              </a:rPr>
              <a:t>Gray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– Discovered but not finished.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Black – Finished.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Colors are required only to reason about the algorithm. Can be implemented without colors.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2123750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6858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20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b="1" dirty="0">
                <a:solidFill>
                  <a:schemeClr val="tx1"/>
                </a:solidFill>
                <a:latin typeface="Segoe"/>
              </a:rPr>
              <a:t>	for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each vertex u in V[G] –  {s}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color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    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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	 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d[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0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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while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Q 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u 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dequeue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(Q)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for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each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in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Adj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=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then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+ 1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        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,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black</a:t>
            </a:r>
          </a:p>
          <a:p>
            <a:pPr marL="800100" lvl="1" indent="-342900" defTabSz="280988">
              <a:buFont typeface="+mj-lt"/>
              <a:buAutoNum type="arabicPeriod"/>
              <a:tabLst>
                <a:tab pos="176213" algn="l"/>
                <a:tab pos="236538" algn="l"/>
              </a:tabLst>
            </a:pPr>
            <a:endParaRPr lang="en-US" sz="34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7010400" y="1383139"/>
            <a:ext cx="2057400" cy="830997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en-US" sz="1600" u="none" dirty="0">
                <a:latin typeface="Segoe"/>
              </a:rPr>
              <a:t>white: undiscovered</a:t>
            </a:r>
          </a:p>
          <a:p>
            <a:r>
              <a:rPr kumimoji="1" lang="en-US" sz="1600" u="none" dirty="0">
                <a:latin typeface="Segoe"/>
              </a:rPr>
              <a:t>gray: discovered</a:t>
            </a:r>
          </a:p>
          <a:p>
            <a:r>
              <a:rPr kumimoji="1" lang="en-US" sz="1600" u="none" dirty="0">
                <a:latin typeface="Segoe"/>
              </a:rPr>
              <a:t>black: finished</a:t>
            </a:r>
            <a:endParaRPr kumimoji="1" lang="en-US" u="none" dirty="0">
              <a:latin typeface="Segoe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010400" y="2370247"/>
            <a:ext cx="2133600" cy="1815882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en-US" sz="1600" b="1" i="1" u="none" dirty="0">
                <a:latin typeface="Segoe"/>
              </a:rPr>
              <a:t>Q</a:t>
            </a:r>
            <a:r>
              <a:rPr kumimoji="1" lang="en-US" sz="1600" b="1" u="none" dirty="0">
                <a:latin typeface="Segoe"/>
              </a:rPr>
              <a:t>:</a:t>
            </a:r>
            <a:r>
              <a:rPr kumimoji="1" lang="en-US" sz="1600" u="none" dirty="0">
                <a:latin typeface="Segoe"/>
              </a:rPr>
              <a:t> a queue of discovered vertices</a:t>
            </a:r>
          </a:p>
          <a:p>
            <a:r>
              <a:rPr kumimoji="1" lang="en-US" sz="1600" b="1" u="none" dirty="0">
                <a:latin typeface="Segoe"/>
              </a:rPr>
              <a:t>color[</a:t>
            </a:r>
            <a:r>
              <a:rPr kumimoji="1" lang="en-US" sz="1600" b="1" i="1" u="none" dirty="0">
                <a:latin typeface="Segoe"/>
              </a:rPr>
              <a:t>v</a:t>
            </a:r>
            <a:r>
              <a:rPr kumimoji="1" lang="en-US" sz="1600" b="1" u="none" dirty="0">
                <a:latin typeface="Segoe"/>
              </a:rPr>
              <a:t>]</a:t>
            </a:r>
            <a:r>
              <a:rPr kumimoji="1" lang="en-US" sz="1600" u="none" dirty="0">
                <a:latin typeface="Segoe"/>
              </a:rPr>
              <a:t>: color of v</a:t>
            </a:r>
          </a:p>
          <a:p>
            <a:r>
              <a:rPr kumimoji="1" lang="en-US" sz="1600" b="1" u="none" dirty="0">
                <a:latin typeface="Segoe"/>
              </a:rPr>
              <a:t>d[</a:t>
            </a:r>
            <a:r>
              <a:rPr kumimoji="1" lang="en-US" sz="1600" b="1" i="1" u="none" dirty="0">
                <a:latin typeface="Segoe"/>
              </a:rPr>
              <a:t>v</a:t>
            </a:r>
            <a:r>
              <a:rPr kumimoji="1" lang="en-US" sz="1600" b="1" u="none" dirty="0">
                <a:latin typeface="Segoe"/>
              </a:rPr>
              <a:t>]</a:t>
            </a:r>
            <a:r>
              <a:rPr kumimoji="1" lang="en-US" sz="1600" u="none" dirty="0">
                <a:latin typeface="Segoe"/>
              </a:rPr>
              <a:t>: distance from s to v</a:t>
            </a:r>
          </a:p>
          <a:p>
            <a:r>
              <a:rPr kumimoji="1" lang="en-US" sz="1600" b="1" u="none" dirty="0">
                <a:latin typeface="Segoe"/>
                <a:sym typeface="Symbol" pitchFamily="18" charset="2"/>
              </a:rPr>
              <a:t>[</a:t>
            </a:r>
            <a:r>
              <a:rPr kumimoji="1" lang="en-US" sz="1600" b="1" i="1" u="none" dirty="0">
                <a:latin typeface="Segoe"/>
                <a:sym typeface="Symbol" pitchFamily="18" charset="2"/>
              </a:rPr>
              <a:t>u</a:t>
            </a:r>
            <a:r>
              <a:rPr kumimoji="1" lang="en-US" sz="1600" b="1" u="none" dirty="0">
                <a:latin typeface="Segoe"/>
                <a:sym typeface="Symbol" pitchFamily="18" charset="2"/>
              </a:rPr>
              <a:t>]</a:t>
            </a:r>
            <a:r>
              <a:rPr kumimoji="1" lang="en-US" sz="1600" u="none" dirty="0">
                <a:latin typeface="Segoe"/>
                <a:sym typeface="Symbol" pitchFamily="18" charset="2"/>
              </a:rPr>
              <a:t>: predecessor of v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381000"/>
            <a:ext cx="6705600" cy="32004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3429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16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b="1" dirty="0">
                <a:solidFill>
                  <a:schemeClr val="tx1"/>
                </a:solidFill>
                <a:latin typeface="Segoe"/>
              </a:rPr>
              <a:t>	for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 each vertex u in V[G] –  {s}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1800" b="1" dirty="0">
                <a:solidFill>
                  <a:schemeClr val="tx1"/>
                </a:solidFill>
                <a:latin typeface="Segoe"/>
              </a:rPr>
              <a:t>do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1800" i="1" dirty="0">
                <a:solidFill>
                  <a:schemeClr val="tx1"/>
                </a:solidFill>
                <a:latin typeface="Segoe"/>
              </a:rPr>
              <a:t>color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</a:rPr>
              <a:t>	      </a:t>
            </a:r>
            <a:r>
              <a:rPr lang="en-US" sz="1800" i="1" dirty="0">
                <a:solidFill>
                  <a:schemeClr val="tx1"/>
                </a:solidFill>
                <a:latin typeface="Segoe"/>
              </a:rPr>
              <a:t>d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</a:t>
            </a:r>
            <a:endParaRPr lang="en-US" sz="1800" dirty="0">
              <a:solidFill>
                <a:schemeClr val="tx1"/>
              </a:solidFill>
              <a:latin typeface="Segoe"/>
            </a:endParaRP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</a:rPr>
              <a:t>		  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[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d[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0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 [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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,s)</a:t>
            </a:r>
          </a:p>
          <a:p>
            <a:pPr marL="800100" lvl="1" indent="-342900" defTabSz="280988">
              <a:buFont typeface="+mj-lt"/>
              <a:buAutoNum type="arabicPeriod"/>
              <a:tabLst>
                <a:tab pos="176213" algn="l"/>
                <a:tab pos="236538" algn="l"/>
              </a:tabLst>
            </a:pPr>
            <a:endParaRPr lang="en-US" sz="28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876425" y="416558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71675" y="4194156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</a:t>
            </a:r>
            <a:endParaRPr lang="en-US" sz="2400" b="1" u="none" dirty="0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3357563" y="4159231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477780" y="4222731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0</a:t>
            </a:r>
            <a:endParaRPr lang="en-US" sz="2400" b="1" u="none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452688" y="4454506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357563" y="557528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452813" y="5603856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838700" y="556893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933950" y="5597506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</a:t>
            </a:r>
            <a:endParaRPr lang="en-US" sz="2400" b="1" u="none" dirty="0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3933825" y="5864206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6319838" y="5578456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6415088" y="5607031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414963" y="5873731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4833938" y="4163993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929188" y="4192568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6315075" y="4173518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410325" y="4202093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5410200" y="446879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1857375" y="557528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1952625" y="5603856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2163763" y="472755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3644900" y="4737081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5126038" y="474660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6607175" y="4756131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V="1">
            <a:off x="3852863" y="4613256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049480" y="3752831"/>
            <a:ext cx="2936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3519365" y="3762356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4967320" y="3771881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444724" y="3781406"/>
            <a:ext cx="349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2015785" y="6048356"/>
            <a:ext cx="330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3481829" y="6057881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4997158" y="6067406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6473485" y="6062643"/>
            <a:ext cx="330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86600" y="4532293"/>
            <a:ext cx="1919288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s</a:t>
            </a:r>
          </a:p>
          <a:p>
            <a:pPr algn="l" rtl="0"/>
            <a:r>
              <a:rPr lang="en-US" sz="2800" b="1" dirty="0"/>
              <a:t>d</a:t>
            </a:r>
            <a:r>
              <a:rPr lang="en-US" sz="2800" b="1" u="none" dirty="0"/>
              <a:t>:</a:t>
            </a:r>
            <a:r>
              <a:rPr lang="en-US" sz="2800" u="none" dirty="0"/>
              <a:t>  0</a:t>
            </a: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7092280" y="228600"/>
            <a:ext cx="1670720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algn="l" rtl="0"/>
            <a:r>
              <a:rPr lang="en-US" sz="2800" u="none" dirty="0"/>
              <a:t>     s    nil</a:t>
            </a:r>
          </a:p>
          <a:p>
            <a:pPr lvl="1" algn="l" rtl="0"/>
            <a:r>
              <a:rPr lang="en-IN" sz="2800" dirty="0"/>
              <a:t>r	 nil</a:t>
            </a:r>
          </a:p>
          <a:p>
            <a:pPr lvl="1" algn="l" rtl="0"/>
            <a:r>
              <a:rPr lang="en-IN" sz="2800" dirty="0"/>
              <a:t>t</a:t>
            </a:r>
            <a:r>
              <a:rPr lang="en-IN" sz="2800" u="none" dirty="0"/>
              <a:t>    nil</a:t>
            </a:r>
          </a:p>
          <a:p>
            <a:pPr lvl="1" algn="l" rtl="0"/>
            <a:r>
              <a:rPr lang="en-IN" sz="2800" dirty="0"/>
              <a:t>u</a:t>
            </a:r>
            <a:r>
              <a:rPr lang="en-IN" sz="2800" u="none" dirty="0"/>
              <a:t>   nil</a:t>
            </a:r>
          </a:p>
          <a:p>
            <a:pPr lvl="1"/>
            <a:r>
              <a:rPr lang="en-IN" sz="2800" dirty="0"/>
              <a:t>v    nil</a:t>
            </a:r>
            <a:endParaRPr lang="en-IN" sz="2800" u="none" dirty="0"/>
          </a:p>
          <a:p>
            <a:pPr lvl="1"/>
            <a:r>
              <a:rPr lang="en-IN" sz="2800" dirty="0"/>
              <a:t>w   nil</a:t>
            </a:r>
            <a:endParaRPr lang="en-IN" sz="2800" u="none" dirty="0"/>
          </a:p>
          <a:p>
            <a:pPr lvl="1"/>
            <a:r>
              <a:rPr lang="en-IN" sz="2800" dirty="0"/>
              <a:t>x    nil</a:t>
            </a:r>
            <a:endParaRPr lang="en-IN" sz="2800" u="none" dirty="0"/>
          </a:p>
          <a:p>
            <a:pPr lvl="1"/>
            <a:r>
              <a:rPr lang="en-IN" sz="2800" dirty="0"/>
              <a:t>y    nil</a:t>
            </a:r>
            <a:endParaRPr lang="en-US" sz="2800" u="none" dirty="0"/>
          </a:p>
        </p:txBody>
      </p:sp>
      <p:sp>
        <p:nvSpPr>
          <p:cNvPr id="2" name="Rectangle 1"/>
          <p:cNvSpPr/>
          <p:nvPr/>
        </p:nvSpPr>
        <p:spPr>
          <a:xfrm>
            <a:off x="229306" y="3934287"/>
            <a:ext cx="13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132086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6858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20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b="1" dirty="0">
                <a:solidFill>
                  <a:schemeClr val="tx1"/>
                </a:solidFill>
                <a:latin typeface="Segoe"/>
              </a:rPr>
              <a:t>	for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each vertex u in V[G] –  {s}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color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    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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	 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d[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0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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while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Q 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u 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dequeue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(Q)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for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each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in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Adj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=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then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+ 1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            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,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black</a:t>
            </a:r>
          </a:p>
          <a:p>
            <a:pPr marL="800100" lvl="1" indent="-342900" defTabSz="280988">
              <a:buFont typeface="+mj-lt"/>
              <a:buAutoNum type="arabicPeriod"/>
              <a:tabLst>
                <a:tab pos="176213" algn="l"/>
                <a:tab pos="236538" algn="l"/>
              </a:tabLst>
            </a:pPr>
            <a:endParaRPr lang="en-US" sz="34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7010400" y="1383139"/>
            <a:ext cx="2057400" cy="830997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en-US" sz="1600" u="none" dirty="0">
                <a:latin typeface="Segoe"/>
              </a:rPr>
              <a:t>white: undiscovered</a:t>
            </a:r>
          </a:p>
          <a:p>
            <a:r>
              <a:rPr kumimoji="1" lang="en-US" sz="1600" u="none" dirty="0">
                <a:latin typeface="Segoe"/>
              </a:rPr>
              <a:t>gray: discovered</a:t>
            </a:r>
          </a:p>
          <a:p>
            <a:r>
              <a:rPr kumimoji="1" lang="en-US" sz="1600" u="none" dirty="0">
                <a:latin typeface="Segoe"/>
              </a:rPr>
              <a:t>black: finished</a:t>
            </a:r>
            <a:endParaRPr kumimoji="1" lang="en-US" u="none" dirty="0">
              <a:latin typeface="Segoe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010400" y="2370247"/>
            <a:ext cx="2133600" cy="1815882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en-US" sz="1600" b="1" i="1" u="none" dirty="0">
                <a:latin typeface="Segoe"/>
              </a:rPr>
              <a:t>Q</a:t>
            </a:r>
            <a:r>
              <a:rPr kumimoji="1" lang="en-US" sz="1600" b="1" u="none" dirty="0">
                <a:latin typeface="Segoe"/>
              </a:rPr>
              <a:t>:</a:t>
            </a:r>
            <a:r>
              <a:rPr kumimoji="1" lang="en-US" sz="1600" u="none" dirty="0">
                <a:latin typeface="Segoe"/>
              </a:rPr>
              <a:t> a queue of discovered vertices</a:t>
            </a:r>
          </a:p>
          <a:p>
            <a:r>
              <a:rPr kumimoji="1" lang="en-US" sz="1600" b="1" u="none" dirty="0">
                <a:latin typeface="Segoe"/>
              </a:rPr>
              <a:t>color[</a:t>
            </a:r>
            <a:r>
              <a:rPr kumimoji="1" lang="en-US" sz="1600" b="1" i="1" u="none" dirty="0">
                <a:latin typeface="Segoe"/>
              </a:rPr>
              <a:t>v</a:t>
            </a:r>
            <a:r>
              <a:rPr kumimoji="1" lang="en-US" sz="1600" b="1" u="none" dirty="0">
                <a:latin typeface="Segoe"/>
              </a:rPr>
              <a:t>]</a:t>
            </a:r>
            <a:r>
              <a:rPr kumimoji="1" lang="en-US" sz="1600" u="none" dirty="0">
                <a:latin typeface="Segoe"/>
              </a:rPr>
              <a:t>: color of v</a:t>
            </a:r>
          </a:p>
          <a:p>
            <a:r>
              <a:rPr kumimoji="1" lang="en-US" sz="1600" b="1" u="none" dirty="0">
                <a:latin typeface="Segoe"/>
              </a:rPr>
              <a:t>d[</a:t>
            </a:r>
            <a:r>
              <a:rPr kumimoji="1" lang="en-US" sz="1600" b="1" i="1" u="none" dirty="0">
                <a:latin typeface="Segoe"/>
              </a:rPr>
              <a:t>v</a:t>
            </a:r>
            <a:r>
              <a:rPr kumimoji="1" lang="en-US" sz="1600" b="1" u="none" dirty="0">
                <a:latin typeface="Segoe"/>
              </a:rPr>
              <a:t>]</a:t>
            </a:r>
            <a:r>
              <a:rPr kumimoji="1" lang="en-US" sz="1600" u="none" dirty="0">
                <a:latin typeface="Segoe"/>
              </a:rPr>
              <a:t>: distance from s to v</a:t>
            </a:r>
          </a:p>
          <a:p>
            <a:r>
              <a:rPr kumimoji="1" lang="en-US" sz="1600" b="1" u="none" dirty="0">
                <a:latin typeface="Segoe"/>
                <a:sym typeface="Symbol" pitchFamily="18" charset="2"/>
              </a:rPr>
              <a:t>[</a:t>
            </a:r>
            <a:r>
              <a:rPr kumimoji="1" lang="en-US" sz="1600" b="1" i="1" u="none" dirty="0">
                <a:latin typeface="Segoe"/>
                <a:sym typeface="Symbol" pitchFamily="18" charset="2"/>
              </a:rPr>
              <a:t>u</a:t>
            </a:r>
            <a:r>
              <a:rPr kumimoji="1" lang="en-US" sz="1600" b="1" u="none" dirty="0">
                <a:latin typeface="Segoe"/>
                <a:sym typeface="Symbol" pitchFamily="18" charset="2"/>
              </a:rPr>
              <a:t>]</a:t>
            </a:r>
            <a:r>
              <a:rPr kumimoji="1" lang="en-US" sz="1600" u="none" dirty="0">
                <a:latin typeface="Segoe"/>
                <a:sym typeface="Symbol" pitchFamily="18" charset="2"/>
              </a:rPr>
              <a:t>: predecessor of v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3581400"/>
            <a:ext cx="6705600" cy="32004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90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3429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16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while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Q 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u 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dequeue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(Q)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for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each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in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Adj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if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=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then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+ 1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[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            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18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,</a:t>
            </a:r>
            <a:r>
              <a:rPr lang="en-US" sz="18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black</a:t>
            </a:r>
          </a:p>
          <a:p>
            <a:pPr marL="800100" lvl="1" indent="-342900" defTabSz="280988">
              <a:buFont typeface="+mj-lt"/>
              <a:buAutoNum type="arabicPeriod"/>
              <a:tabLst>
                <a:tab pos="176213" algn="l"/>
                <a:tab pos="236538" algn="l"/>
              </a:tabLst>
            </a:pPr>
            <a:endParaRPr lang="en-US" sz="28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049480" y="3752831"/>
            <a:ext cx="2936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3519365" y="3762356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4967320" y="3771881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444724" y="3781406"/>
            <a:ext cx="349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2015785" y="6048356"/>
            <a:ext cx="330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3481829" y="6057881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4997158" y="6067406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6473485" y="6062643"/>
            <a:ext cx="330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86600" y="4532293"/>
            <a:ext cx="1919288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s</a:t>
            </a:r>
          </a:p>
          <a:p>
            <a:pPr algn="l" rtl="0"/>
            <a:r>
              <a:rPr lang="en-US" sz="2800" b="1" dirty="0"/>
              <a:t>d</a:t>
            </a:r>
            <a:r>
              <a:rPr lang="en-US" sz="2800" b="1" u="none" dirty="0"/>
              <a:t>:</a:t>
            </a:r>
            <a:r>
              <a:rPr lang="en-US" sz="2800" u="none" dirty="0"/>
              <a:t>  0</a:t>
            </a: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7092280" y="228600"/>
            <a:ext cx="1670720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algn="l" rtl="0"/>
            <a:r>
              <a:rPr lang="en-US" sz="2800" u="none" dirty="0"/>
              <a:t>     s    nil</a:t>
            </a:r>
          </a:p>
          <a:p>
            <a:pPr lvl="1" algn="l" rtl="0"/>
            <a:r>
              <a:rPr lang="en-IN" sz="2800" dirty="0"/>
              <a:t>r	 nil</a:t>
            </a:r>
          </a:p>
          <a:p>
            <a:pPr lvl="1" algn="l" rtl="0"/>
            <a:r>
              <a:rPr lang="en-IN" sz="2800" dirty="0"/>
              <a:t>t</a:t>
            </a:r>
            <a:r>
              <a:rPr lang="en-IN" sz="2800" u="none" dirty="0"/>
              <a:t>    nil</a:t>
            </a:r>
          </a:p>
          <a:p>
            <a:pPr lvl="1" algn="l" rtl="0"/>
            <a:r>
              <a:rPr lang="en-IN" sz="2800" dirty="0"/>
              <a:t>u</a:t>
            </a:r>
            <a:r>
              <a:rPr lang="en-IN" sz="2800" u="none" dirty="0"/>
              <a:t>   nil</a:t>
            </a:r>
          </a:p>
          <a:p>
            <a:pPr lvl="1"/>
            <a:r>
              <a:rPr lang="en-IN" sz="2800" dirty="0"/>
              <a:t>v    nil</a:t>
            </a:r>
            <a:endParaRPr lang="en-IN" sz="2800" u="none" dirty="0"/>
          </a:p>
          <a:p>
            <a:pPr lvl="1"/>
            <a:r>
              <a:rPr lang="en-IN" sz="2800" dirty="0"/>
              <a:t>w   nil</a:t>
            </a:r>
            <a:endParaRPr lang="en-IN" sz="2800" u="none" dirty="0"/>
          </a:p>
          <a:p>
            <a:pPr lvl="1"/>
            <a:r>
              <a:rPr lang="en-IN" sz="2800" dirty="0"/>
              <a:t>x    nil</a:t>
            </a:r>
            <a:endParaRPr lang="en-IN" sz="2800" u="none" dirty="0"/>
          </a:p>
          <a:p>
            <a:pPr lvl="1"/>
            <a:r>
              <a:rPr lang="en-IN" sz="2800" dirty="0"/>
              <a:t>y    nil</a:t>
            </a:r>
            <a:endParaRPr lang="en-US" sz="2800" u="none" dirty="0"/>
          </a:p>
        </p:txBody>
      </p:sp>
      <p:sp>
        <p:nvSpPr>
          <p:cNvPr id="2" name="Rectangle 1"/>
          <p:cNvSpPr/>
          <p:nvPr/>
        </p:nvSpPr>
        <p:spPr>
          <a:xfrm>
            <a:off x="229306" y="3934287"/>
            <a:ext cx="13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Example: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857375" y="4159231"/>
            <a:ext cx="5053013" cy="1995487"/>
            <a:chOff x="1857375" y="4159231"/>
            <a:chExt cx="5053013" cy="1995487"/>
          </a:xfrm>
        </p:grpSpPr>
        <p:sp>
          <p:nvSpPr>
            <p:cNvPr id="41" name="Oval 3"/>
            <p:cNvSpPr>
              <a:spLocks noChangeArrowheads="1"/>
            </p:cNvSpPr>
            <p:nvPr/>
          </p:nvSpPr>
          <p:spPr bwMode="auto">
            <a:xfrm>
              <a:off x="1876425" y="4165581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1971675" y="4194156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 dirty="0">
                  <a:sym typeface="Symbol" pitchFamily="18" charset="2"/>
                </a:rPr>
                <a:t></a:t>
              </a:r>
              <a:endParaRPr lang="en-US" sz="2400" b="1" u="none" dirty="0"/>
            </a:p>
          </p:txBody>
        </p:sp>
        <p:sp>
          <p:nvSpPr>
            <p:cNvPr id="43" name="Oval 5"/>
            <p:cNvSpPr>
              <a:spLocks noChangeArrowheads="1"/>
            </p:cNvSpPr>
            <p:nvPr/>
          </p:nvSpPr>
          <p:spPr bwMode="auto">
            <a:xfrm>
              <a:off x="3357563" y="4159231"/>
              <a:ext cx="590550" cy="576262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4" name="Text Box 6"/>
            <p:cNvSpPr txBox="1">
              <a:spLocks noChangeArrowheads="1"/>
            </p:cNvSpPr>
            <p:nvPr/>
          </p:nvSpPr>
          <p:spPr bwMode="auto">
            <a:xfrm>
              <a:off x="3477780" y="4222731"/>
              <a:ext cx="34015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0</a:t>
              </a:r>
              <a:endParaRPr lang="en-US" sz="2400" b="1" u="none"/>
            </a:p>
          </p:txBody>
        </p:sp>
        <p:sp>
          <p:nvSpPr>
            <p:cNvPr id="45" name="Line 7"/>
            <p:cNvSpPr>
              <a:spLocks noChangeShapeType="1"/>
            </p:cNvSpPr>
            <p:nvPr/>
          </p:nvSpPr>
          <p:spPr bwMode="auto">
            <a:xfrm>
              <a:off x="2452688" y="4454506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6" name="Oval 8"/>
            <p:cNvSpPr>
              <a:spLocks noChangeArrowheads="1"/>
            </p:cNvSpPr>
            <p:nvPr/>
          </p:nvSpPr>
          <p:spPr bwMode="auto">
            <a:xfrm>
              <a:off x="3357563" y="5575281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3452813" y="5603856"/>
              <a:ext cx="40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48" name="Oval 10"/>
            <p:cNvSpPr>
              <a:spLocks noChangeArrowheads="1"/>
            </p:cNvSpPr>
            <p:nvPr/>
          </p:nvSpPr>
          <p:spPr bwMode="auto">
            <a:xfrm>
              <a:off x="4838700" y="5568931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9" name="Text Box 11"/>
            <p:cNvSpPr txBox="1">
              <a:spLocks noChangeArrowheads="1"/>
            </p:cNvSpPr>
            <p:nvPr/>
          </p:nvSpPr>
          <p:spPr bwMode="auto">
            <a:xfrm>
              <a:off x="4933950" y="5597506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 dirty="0">
                  <a:sym typeface="Symbol" pitchFamily="18" charset="2"/>
                </a:rPr>
                <a:t></a:t>
              </a:r>
              <a:endParaRPr lang="en-US" sz="2400" b="1" u="none" dirty="0"/>
            </a:p>
          </p:txBody>
        </p:sp>
        <p:sp>
          <p:nvSpPr>
            <p:cNvPr id="50" name="Line 12"/>
            <p:cNvSpPr>
              <a:spLocks noChangeShapeType="1"/>
            </p:cNvSpPr>
            <p:nvPr/>
          </p:nvSpPr>
          <p:spPr bwMode="auto">
            <a:xfrm>
              <a:off x="3933825" y="5864206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6319838" y="5578456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2" name="Text Box 14"/>
            <p:cNvSpPr txBox="1">
              <a:spLocks noChangeArrowheads="1"/>
            </p:cNvSpPr>
            <p:nvPr/>
          </p:nvSpPr>
          <p:spPr bwMode="auto">
            <a:xfrm>
              <a:off x="6415088" y="5607031"/>
              <a:ext cx="40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>
              <a:off x="5414963" y="5873731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4833938" y="4163993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5" name="Text Box 17"/>
            <p:cNvSpPr txBox="1">
              <a:spLocks noChangeArrowheads="1"/>
            </p:cNvSpPr>
            <p:nvPr/>
          </p:nvSpPr>
          <p:spPr bwMode="auto">
            <a:xfrm>
              <a:off x="4929188" y="4192568"/>
              <a:ext cx="40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56" name="Oval 18"/>
            <p:cNvSpPr>
              <a:spLocks noChangeArrowheads="1"/>
            </p:cNvSpPr>
            <p:nvPr/>
          </p:nvSpPr>
          <p:spPr bwMode="auto">
            <a:xfrm>
              <a:off x="6315075" y="4173518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6410325" y="4202093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58" name="Line 20"/>
            <p:cNvSpPr>
              <a:spLocks noChangeShapeType="1"/>
            </p:cNvSpPr>
            <p:nvPr/>
          </p:nvSpPr>
          <p:spPr bwMode="auto">
            <a:xfrm>
              <a:off x="5410200" y="4468793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59" name="Oval 21"/>
            <p:cNvSpPr>
              <a:spLocks noChangeArrowheads="1"/>
            </p:cNvSpPr>
            <p:nvPr/>
          </p:nvSpPr>
          <p:spPr bwMode="auto">
            <a:xfrm>
              <a:off x="1857375" y="5575281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1952625" y="5603856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61" name="Line 23"/>
            <p:cNvSpPr>
              <a:spLocks noChangeShapeType="1"/>
            </p:cNvSpPr>
            <p:nvPr/>
          </p:nvSpPr>
          <p:spPr bwMode="auto">
            <a:xfrm>
              <a:off x="2163763" y="4727556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62" name="Line 24"/>
            <p:cNvSpPr>
              <a:spLocks noChangeShapeType="1"/>
            </p:cNvSpPr>
            <p:nvPr/>
          </p:nvSpPr>
          <p:spPr bwMode="auto">
            <a:xfrm>
              <a:off x="3644900" y="4737081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63" name="Line 25"/>
            <p:cNvSpPr>
              <a:spLocks noChangeShapeType="1"/>
            </p:cNvSpPr>
            <p:nvPr/>
          </p:nvSpPr>
          <p:spPr bwMode="auto">
            <a:xfrm>
              <a:off x="5126038" y="4746606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64" name="Line 26"/>
            <p:cNvSpPr>
              <a:spLocks noChangeShapeType="1"/>
            </p:cNvSpPr>
            <p:nvPr/>
          </p:nvSpPr>
          <p:spPr bwMode="auto">
            <a:xfrm>
              <a:off x="6607175" y="4756131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65" name="Line 27"/>
            <p:cNvSpPr>
              <a:spLocks noChangeShapeType="1"/>
            </p:cNvSpPr>
            <p:nvPr/>
          </p:nvSpPr>
          <p:spPr bwMode="auto">
            <a:xfrm flipV="1">
              <a:off x="3852863" y="4613256"/>
              <a:ext cx="1023937" cy="10287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81372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3429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16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while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Q 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u 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dequeue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(Q)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for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each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in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Adj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if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=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</a:t>
            </a:r>
            <a:r>
              <a:rPr lang="en-US" sz="18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then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+ 1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[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             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18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18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,</a:t>
            </a:r>
            <a:r>
              <a:rPr lang="en-US" sz="18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color[</a:t>
            </a:r>
            <a:r>
              <a:rPr lang="en-US" sz="18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black</a:t>
            </a:r>
          </a:p>
          <a:p>
            <a:pPr marL="800100" lvl="1" indent="-342900" defTabSz="280988">
              <a:buFont typeface="+mj-lt"/>
              <a:buAutoNum type="arabicPeriod" startAt="10"/>
              <a:tabLst>
                <a:tab pos="176213" algn="l"/>
                <a:tab pos="236538" algn="l"/>
              </a:tabLst>
            </a:pPr>
            <a:endParaRPr lang="en-US" sz="28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049480" y="3752831"/>
            <a:ext cx="2936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3519365" y="3762356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4967320" y="3771881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444724" y="3781406"/>
            <a:ext cx="349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2" name="Rectangle 1"/>
          <p:cNvSpPr/>
          <p:nvPr/>
        </p:nvSpPr>
        <p:spPr>
          <a:xfrm>
            <a:off x="229306" y="3934287"/>
            <a:ext cx="1386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Example:</a:t>
            </a:r>
          </a:p>
        </p:txBody>
      </p: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2009775" y="60801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5" name="Text Box 33"/>
          <p:cNvSpPr txBox="1">
            <a:spLocks noChangeArrowheads="1"/>
          </p:cNvSpPr>
          <p:nvPr/>
        </p:nvSpPr>
        <p:spPr bwMode="auto">
          <a:xfrm>
            <a:off x="3481829" y="6089650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96" name="Text Box 34"/>
          <p:cNvSpPr txBox="1">
            <a:spLocks noChangeArrowheads="1"/>
          </p:cNvSpPr>
          <p:nvPr/>
        </p:nvSpPr>
        <p:spPr bwMode="auto">
          <a:xfrm>
            <a:off x="4997158" y="609917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7" name="Text Box 35"/>
          <p:cNvSpPr txBox="1">
            <a:spLocks noChangeArrowheads="1"/>
          </p:cNvSpPr>
          <p:nvPr/>
        </p:nvSpPr>
        <p:spPr bwMode="auto">
          <a:xfrm>
            <a:off x="6467475" y="6094412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8" name="Text Box 36"/>
          <p:cNvSpPr txBox="1">
            <a:spLocks noChangeArrowheads="1"/>
          </p:cNvSpPr>
          <p:nvPr/>
        </p:nvSpPr>
        <p:spPr bwMode="auto">
          <a:xfrm>
            <a:off x="7086600" y="4572000"/>
            <a:ext cx="2057400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w  r</a:t>
            </a:r>
          </a:p>
          <a:p>
            <a:r>
              <a:rPr lang="en-US" sz="2800" b="1" dirty="0"/>
              <a:t>d:</a:t>
            </a:r>
            <a:r>
              <a:rPr lang="en-US" sz="2800" u="none" dirty="0"/>
              <a:t>   1  1</a:t>
            </a:r>
          </a:p>
        </p:txBody>
      </p:sp>
      <p:sp>
        <p:nvSpPr>
          <p:cNvPr id="99" name="Text Box 36"/>
          <p:cNvSpPr txBox="1">
            <a:spLocks noChangeArrowheads="1"/>
          </p:cNvSpPr>
          <p:nvPr/>
        </p:nvSpPr>
        <p:spPr bwMode="auto">
          <a:xfrm>
            <a:off x="7092280" y="220682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US" sz="2800" u="none" dirty="0"/>
              <a:t>    s    nil</a:t>
            </a:r>
          </a:p>
          <a:p>
            <a:pPr lvl="1" algn="l" rtl="0"/>
            <a:r>
              <a:rPr lang="en-IN" sz="2800" b="1" dirty="0"/>
              <a:t>r	s</a:t>
            </a:r>
          </a:p>
          <a:p>
            <a:pPr lvl="1" algn="l" rtl="0"/>
            <a:r>
              <a:rPr lang="en-IN" sz="2800" u="none" dirty="0"/>
              <a:t>t</a:t>
            </a:r>
          </a:p>
          <a:p>
            <a:pPr lvl="1" algn="l" rtl="0"/>
            <a:r>
              <a:rPr lang="en-IN" sz="2800" u="none" dirty="0"/>
              <a:t>u</a:t>
            </a:r>
          </a:p>
          <a:p>
            <a:pPr lvl="1" algn="l" rtl="0"/>
            <a:r>
              <a:rPr lang="en-IN" sz="2800" u="none" dirty="0"/>
              <a:t>v</a:t>
            </a:r>
          </a:p>
          <a:p>
            <a:pPr lvl="1" algn="l" rtl="0"/>
            <a:r>
              <a:rPr lang="en-IN" sz="2800" b="1" u="none" dirty="0"/>
              <a:t>w 	s</a:t>
            </a:r>
          </a:p>
          <a:p>
            <a:pPr lvl="1" algn="l" rtl="0"/>
            <a:r>
              <a:rPr lang="en-IN" sz="2800" u="none" dirty="0"/>
              <a:t>x</a:t>
            </a:r>
          </a:p>
          <a:p>
            <a:pPr lvl="1" algn="l" rtl="0"/>
            <a:r>
              <a:rPr lang="en-IN" sz="2800" u="none" dirty="0"/>
              <a:t>y</a:t>
            </a:r>
            <a:endParaRPr lang="en-US" sz="2800" u="none" dirty="0"/>
          </a:p>
        </p:txBody>
      </p:sp>
      <p:grpSp>
        <p:nvGrpSpPr>
          <p:cNvPr id="125" name="Group 124"/>
          <p:cNvGrpSpPr/>
          <p:nvPr/>
        </p:nvGrpSpPr>
        <p:grpSpPr>
          <a:xfrm>
            <a:off x="1857375" y="4176713"/>
            <a:ext cx="5053013" cy="1995487"/>
            <a:chOff x="1857375" y="2490788"/>
            <a:chExt cx="5053013" cy="1995487"/>
          </a:xfrm>
        </p:grpSpPr>
        <p:sp>
          <p:nvSpPr>
            <p:cNvPr id="126" name="Oval 3"/>
            <p:cNvSpPr>
              <a:spLocks noChangeArrowheads="1"/>
            </p:cNvSpPr>
            <p:nvPr/>
          </p:nvSpPr>
          <p:spPr bwMode="auto">
            <a:xfrm>
              <a:off x="1876425" y="2497138"/>
              <a:ext cx="590550" cy="576262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27" name="Text Box 4"/>
            <p:cNvSpPr txBox="1">
              <a:spLocks noChangeArrowheads="1"/>
            </p:cNvSpPr>
            <p:nvPr/>
          </p:nvSpPr>
          <p:spPr bwMode="auto">
            <a:xfrm>
              <a:off x="1996642" y="2560638"/>
              <a:ext cx="34015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 dirty="0">
                  <a:sym typeface="Symbol" pitchFamily="18" charset="2"/>
                </a:rPr>
                <a:t>1</a:t>
              </a:r>
              <a:endParaRPr lang="en-US" sz="2400" b="1" u="none" dirty="0"/>
            </a:p>
          </p:txBody>
        </p:sp>
        <p:sp>
          <p:nvSpPr>
            <p:cNvPr id="128" name="Oval 5"/>
            <p:cNvSpPr>
              <a:spLocks noChangeArrowheads="1"/>
            </p:cNvSpPr>
            <p:nvPr/>
          </p:nvSpPr>
          <p:spPr bwMode="auto">
            <a:xfrm>
              <a:off x="3357563" y="2490788"/>
              <a:ext cx="590550" cy="576262"/>
            </a:xfrm>
            <a:prstGeom prst="ellipse">
              <a:avLst/>
            </a:prstGeom>
            <a:solidFill>
              <a:srgbClr val="0099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29" name="Text Box 6"/>
            <p:cNvSpPr txBox="1">
              <a:spLocks noChangeArrowheads="1"/>
            </p:cNvSpPr>
            <p:nvPr/>
          </p:nvSpPr>
          <p:spPr bwMode="auto">
            <a:xfrm>
              <a:off x="3477780" y="2554288"/>
              <a:ext cx="34015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0</a:t>
              </a:r>
              <a:endParaRPr lang="en-US" sz="2400" b="1" u="none"/>
            </a:p>
          </p:txBody>
        </p:sp>
        <p:sp>
          <p:nvSpPr>
            <p:cNvPr id="130" name="Line 7"/>
            <p:cNvSpPr>
              <a:spLocks noChangeShapeType="1"/>
            </p:cNvSpPr>
            <p:nvPr/>
          </p:nvSpPr>
          <p:spPr bwMode="auto">
            <a:xfrm>
              <a:off x="2452688" y="2786063"/>
              <a:ext cx="92392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1" name="Oval 8"/>
            <p:cNvSpPr>
              <a:spLocks noChangeArrowheads="1"/>
            </p:cNvSpPr>
            <p:nvPr/>
          </p:nvSpPr>
          <p:spPr bwMode="auto">
            <a:xfrm>
              <a:off x="3357563" y="3906838"/>
              <a:ext cx="590550" cy="576262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2" name="Text Box 9"/>
            <p:cNvSpPr txBox="1">
              <a:spLocks noChangeArrowheads="1"/>
            </p:cNvSpPr>
            <p:nvPr/>
          </p:nvSpPr>
          <p:spPr bwMode="auto">
            <a:xfrm>
              <a:off x="3477780" y="3956050"/>
              <a:ext cx="34015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1</a:t>
              </a:r>
              <a:endParaRPr lang="en-US" sz="2400" b="1" u="none"/>
            </a:p>
          </p:txBody>
        </p:sp>
        <p:sp>
          <p:nvSpPr>
            <p:cNvPr id="133" name="Oval 10"/>
            <p:cNvSpPr>
              <a:spLocks noChangeArrowheads="1"/>
            </p:cNvSpPr>
            <p:nvPr/>
          </p:nvSpPr>
          <p:spPr bwMode="auto">
            <a:xfrm>
              <a:off x="4838700" y="3900488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4" name="Text Box 11"/>
            <p:cNvSpPr txBox="1">
              <a:spLocks noChangeArrowheads="1"/>
            </p:cNvSpPr>
            <p:nvPr/>
          </p:nvSpPr>
          <p:spPr bwMode="auto">
            <a:xfrm>
              <a:off x="4933950" y="3929063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135" name="Line 12"/>
            <p:cNvSpPr>
              <a:spLocks noChangeShapeType="1"/>
            </p:cNvSpPr>
            <p:nvPr/>
          </p:nvSpPr>
          <p:spPr bwMode="auto">
            <a:xfrm>
              <a:off x="3933825" y="4195763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6" name="Oval 13"/>
            <p:cNvSpPr>
              <a:spLocks noChangeArrowheads="1"/>
            </p:cNvSpPr>
            <p:nvPr/>
          </p:nvSpPr>
          <p:spPr bwMode="auto">
            <a:xfrm>
              <a:off x="6319838" y="3910013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7" name="Text Box 14"/>
            <p:cNvSpPr txBox="1">
              <a:spLocks noChangeArrowheads="1"/>
            </p:cNvSpPr>
            <p:nvPr/>
          </p:nvSpPr>
          <p:spPr bwMode="auto">
            <a:xfrm>
              <a:off x="6415088" y="3938588"/>
              <a:ext cx="40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138" name="Line 15"/>
            <p:cNvSpPr>
              <a:spLocks noChangeShapeType="1"/>
            </p:cNvSpPr>
            <p:nvPr/>
          </p:nvSpPr>
          <p:spPr bwMode="auto">
            <a:xfrm>
              <a:off x="5414963" y="4205288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39" name="Oval 16"/>
            <p:cNvSpPr>
              <a:spLocks noChangeArrowheads="1"/>
            </p:cNvSpPr>
            <p:nvPr/>
          </p:nvSpPr>
          <p:spPr bwMode="auto">
            <a:xfrm>
              <a:off x="4833938" y="2495550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0" name="Text Box 17"/>
            <p:cNvSpPr txBox="1">
              <a:spLocks noChangeArrowheads="1"/>
            </p:cNvSpPr>
            <p:nvPr/>
          </p:nvSpPr>
          <p:spPr bwMode="auto">
            <a:xfrm>
              <a:off x="4929188" y="2524125"/>
              <a:ext cx="40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141" name="Oval 18"/>
            <p:cNvSpPr>
              <a:spLocks noChangeArrowheads="1"/>
            </p:cNvSpPr>
            <p:nvPr/>
          </p:nvSpPr>
          <p:spPr bwMode="auto">
            <a:xfrm>
              <a:off x="6315075" y="2505075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2" name="Text Box 19"/>
            <p:cNvSpPr txBox="1">
              <a:spLocks noChangeArrowheads="1"/>
            </p:cNvSpPr>
            <p:nvPr/>
          </p:nvSpPr>
          <p:spPr bwMode="auto">
            <a:xfrm>
              <a:off x="6410325" y="2533650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143" name="Line 20"/>
            <p:cNvSpPr>
              <a:spLocks noChangeShapeType="1"/>
            </p:cNvSpPr>
            <p:nvPr/>
          </p:nvSpPr>
          <p:spPr bwMode="auto">
            <a:xfrm>
              <a:off x="5410200" y="2800350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4" name="Oval 21"/>
            <p:cNvSpPr>
              <a:spLocks noChangeArrowheads="1"/>
            </p:cNvSpPr>
            <p:nvPr/>
          </p:nvSpPr>
          <p:spPr bwMode="auto">
            <a:xfrm>
              <a:off x="1857375" y="3906838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5" name="Text Box 22"/>
            <p:cNvSpPr txBox="1">
              <a:spLocks noChangeArrowheads="1"/>
            </p:cNvSpPr>
            <p:nvPr/>
          </p:nvSpPr>
          <p:spPr bwMode="auto">
            <a:xfrm>
              <a:off x="1952625" y="3935413"/>
              <a:ext cx="4016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u="none">
                  <a:sym typeface="Symbol" pitchFamily="18" charset="2"/>
                </a:rPr>
                <a:t></a:t>
              </a:r>
              <a:endParaRPr lang="en-US" sz="2400" b="1" u="none"/>
            </a:p>
          </p:txBody>
        </p:sp>
        <p:sp>
          <p:nvSpPr>
            <p:cNvPr id="146" name="Line 23"/>
            <p:cNvSpPr>
              <a:spLocks noChangeShapeType="1"/>
            </p:cNvSpPr>
            <p:nvPr/>
          </p:nvSpPr>
          <p:spPr bwMode="auto">
            <a:xfrm>
              <a:off x="2163763" y="3059113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7" name="Line 24"/>
            <p:cNvSpPr>
              <a:spLocks noChangeShapeType="1"/>
            </p:cNvSpPr>
            <p:nvPr/>
          </p:nvSpPr>
          <p:spPr bwMode="auto">
            <a:xfrm>
              <a:off x="3644900" y="3068638"/>
              <a:ext cx="0" cy="84296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8" name="Line 25"/>
            <p:cNvSpPr>
              <a:spLocks noChangeShapeType="1"/>
            </p:cNvSpPr>
            <p:nvPr/>
          </p:nvSpPr>
          <p:spPr bwMode="auto">
            <a:xfrm>
              <a:off x="5126038" y="3078163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49" name="Line 26"/>
            <p:cNvSpPr>
              <a:spLocks noChangeShapeType="1"/>
            </p:cNvSpPr>
            <p:nvPr/>
          </p:nvSpPr>
          <p:spPr bwMode="auto">
            <a:xfrm>
              <a:off x="6607175" y="3087688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150" name="Line 27"/>
            <p:cNvSpPr>
              <a:spLocks noChangeShapeType="1"/>
            </p:cNvSpPr>
            <p:nvPr/>
          </p:nvSpPr>
          <p:spPr bwMode="auto">
            <a:xfrm flipV="1">
              <a:off x="3852863" y="2944813"/>
              <a:ext cx="1023937" cy="10287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397476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(BFS)</a:t>
            </a:r>
          </a:p>
        </p:txBody>
      </p:sp>
      <p:sp>
        <p:nvSpPr>
          <p:cNvPr id="69635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1996642" y="25606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1</a:t>
            </a:r>
            <a:endParaRPr lang="en-US" sz="2400" b="1" u="none" dirty="0"/>
          </a:p>
        </p:txBody>
      </p:sp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0</a:t>
            </a:r>
            <a:endParaRPr lang="en-US" sz="2400" b="1" u="none"/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0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69644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5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69647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8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49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2</a:t>
            </a:r>
            <a:endParaRPr lang="en-US" sz="2400" b="1" u="none" dirty="0"/>
          </a:p>
        </p:txBody>
      </p:sp>
      <p:sp>
        <p:nvSpPr>
          <p:cNvPr id="69650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1" name="Text Box 19"/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69652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3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4" name="Text Box 22"/>
          <p:cNvSpPr txBox="1">
            <a:spLocks noChangeArrowheads="1"/>
          </p:cNvSpPr>
          <p:nvPr/>
        </p:nvSpPr>
        <p:spPr bwMode="auto">
          <a:xfrm>
            <a:off x="1952625" y="3935413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</a:t>
            </a:r>
            <a:endParaRPr lang="en-US" sz="2400" b="1" u="none" dirty="0"/>
          </a:p>
        </p:txBody>
      </p:sp>
      <p:sp>
        <p:nvSpPr>
          <p:cNvPr id="69655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6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7" name="Line 25"/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8" name="Line 26"/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59" name="Line 27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69660" name="Text Box 28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69661" name="Text Box 29"/>
          <p:cNvSpPr txBox="1">
            <a:spLocks noChangeArrowheads="1"/>
          </p:cNvSpPr>
          <p:nvPr/>
        </p:nvSpPr>
        <p:spPr bwMode="auto">
          <a:xfrm>
            <a:off x="3519365" y="2093913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69662" name="Text Box 30"/>
          <p:cNvSpPr txBox="1">
            <a:spLocks noChangeArrowheads="1"/>
          </p:cNvSpPr>
          <p:nvPr/>
        </p:nvSpPr>
        <p:spPr bwMode="auto">
          <a:xfrm>
            <a:off x="4967320" y="210343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69663" name="Text Box 31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69664" name="Text Box 32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69665" name="Text Box 33"/>
          <p:cNvSpPr txBox="1">
            <a:spLocks noChangeArrowheads="1"/>
          </p:cNvSpPr>
          <p:nvPr/>
        </p:nvSpPr>
        <p:spPr bwMode="auto">
          <a:xfrm>
            <a:off x="3481829" y="4389438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9666" name="Text Box 34"/>
          <p:cNvSpPr txBox="1">
            <a:spLocks noChangeArrowheads="1"/>
          </p:cNvSpPr>
          <p:nvPr/>
        </p:nvSpPr>
        <p:spPr bwMode="auto">
          <a:xfrm>
            <a:off x="4997158" y="439896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69667" name="Text Box 35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69668" name="Text Box 36"/>
          <p:cNvSpPr txBox="1">
            <a:spLocks noChangeArrowheads="1"/>
          </p:cNvSpPr>
          <p:nvPr/>
        </p:nvSpPr>
        <p:spPr bwMode="auto">
          <a:xfrm>
            <a:off x="3707904" y="5302250"/>
            <a:ext cx="2736304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r   t  x</a:t>
            </a:r>
          </a:p>
          <a:p>
            <a:r>
              <a:rPr lang="en-US" sz="2800" b="1" dirty="0"/>
              <a:t>d:</a:t>
            </a:r>
            <a:r>
              <a:rPr lang="en-US" sz="2800" u="none" dirty="0"/>
              <a:t>   1  2  2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 </a:t>
            </a:r>
            <a:r>
              <a:rPr lang="en-US" sz="2800" u="none" dirty="0"/>
              <a:t>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b="1" u="none" dirty="0"/>
              <a:t>t	w</a:t>
            </a:r>
          </a:p>
          <a:p>
            <a:pPr lvl="1" algn="l" rtl="0"/>
            <a:r>
              <a:rPr lang="en-IN" sz="2800" u="none" dirty="0"/>
              <a:t>u</a:t>
            </a:r>
          </a:p>
          <a:p>
            <a:pPr lvl="1" algn="l" rtl="0"/>
            <a:r>
              <a:rPr lang="en-IN" sz="2800" u="none" dirty="0"/>
              <a:t>v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b="1" u="none" dirty="0"/>
              <a:t>x	w</a:t>
            </a:r>
          </a:p>
          <a:p>
            <a:pPr lvl="1" algn="l" rtl="0"/>
            <a:r>
              <a:rPr lang="en-IN" sz="2800" u="none" dirty="0"/>
              <a:t>y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4043885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(BFS)</a:t>
            </a:r>
          </a:p>
        </p:txBody>
      </p:sp>
      <p:sp>
        <p:nvSpPr>
          <p:cNvPr id="70659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1996642" y="25606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1</a:t>
            </a:r>
            <a:endParaRPr lang="en-US" sz="2400" b="1" u="none" dirty="0"/>
          </a:p>
        </p:txBody>
      </p:sp>
      <p:sp>
        <p:nvSpPr>
          <p:cNvPr id="70661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0</a:t>
            </a:r>
            <a:endParaRPr lang="en-US" sz="2400" b="1" u="none"/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0666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0668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69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2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3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0674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6410325" y="2533650"/>
            <a:ext cx="40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</a:t>
            </a:r>
            <a:endParaRPr lang="en-US" sz="2400" b="1" u="none"/>
          </a:p>
        </p:txBody>
      </p:sp>
      <p:sp>
        <p:nvSpPr>
          <p:cNvPr id="70676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7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78" name="Text Box 22"/>
          <p:cNvSpPr txBox="1">
            <a:spLocks noChangeArrowheads="1"/>
          </p:cNvSpPr>
          <p:nvPr/>
        </p:nvSpPr>
        <p:spPr bwMode="auto">
          <a:xfrm>
            <a:off x="19918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0679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80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81" name="Line 25"/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82" name="Line 26"/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83" name="Line 27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0684" name="Text Box 28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0685" name="Text Box 29"/>
          <p:cNvSpPr txBox="1">
            <a:spLocks noChangeArrowheads="1"/>
          </p:cNvSpPr>
          <p:nvPr/>
        </p:nvSpPr>
        <p:spPr bwMode="auto">
          <a:xfrm>
            <a:off x="3519365" y="2093913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4967320" y="210343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0687" name="Text Box 31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0688" name="Text Box 32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0689" name="Text Box 33"/>
          <p:cNvSpPr txBox="1">
            <a:spLocks noChangeArrowheads="1"/>
          </p:cNvSpPr>
          <p:nvPr/>
        </p:nvSpPr>
        <p:spPr bwMode="auto">
          <a:xfrm>
            <a:off x="3481829" y="4389438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0690" name="Text Box 34"/>
          <p:cNvSpPr txBox="1">
            <a:spLocks noChangeArrowheads="1"/>
          </p:cNvSpPr>
          <p:nvPr/>
        </p:nvSpPr>
        <p:spPr bwMode="auto">
          <a:xfrm>
            <a:off x="4997158" y="439896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0691" name="Text Box 35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2987824" y="5302250"/>
            <a:ext cx="3168352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t  x  v</a:t>
            </a:r>
          </a:p>
          <a:p>
            <a:r>
              <a:rPr lang="en-US" sz="2800" b="1" dirty="0"/>
              <a:t>d:</a:t>
            </a:r>
            <a:r>
              <a:rPr lang="en-US" sz="2800" u="none" dirty="0"/>
              <a:t>  2  2  2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 </a:t>
            </a:r>
            <a:r>
              <a:rPr lang="en-US" sz="2800" u="none" dirty="0"/>
              <a:t>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u="none" dirty="0"/>
              <a:t>t	w</a:t>
            </a:r>
          </a:p>
          <a:p>
            <a:pPr lvl="1" algn="l" rtl="0"/>
            <a:r>
              <a:rPr lang="en-IN" sz="2800" u="none" dirty="0"/>
              <a:t>u</a:t>
            </a:r>
          </a:p>
          <a:p>
            <a:pPr lvl="1" algn="l" rtl="0"/>
            <a:r>
              <a:rPr lang="en-IN" sz="2800" b="1" u="none" dirty="0"/>
              <a:t>v	r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u="none" dirty="0"/>
              <a:t>x	w</a:t>
            </a:r>
          </a:p>
          <a:p>
            <a:pPr lvl="1" algn="l" rtl="0"/>
            <a:r>
              <a:rPr lang="en-IN" sz="2800" u="none" dirty="0"/>
              <a:t>y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113462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(BFS)</a:t>
            </a:r>
          </a:p>
        </p:txBody>
      </p:sp>
      <p:sp>
        <p:nvSpPr>
          <p:cNvPr id="71683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2000250" y="25606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</a:t>
            </a:r>
            <a:endParaRPr lang="en-US" b="1" u="none"/>
          </a:p>
        </p:txBody>
      </p:sp>
      <p:sp>
        <p:nvSpPr>
          <p:cNvPr id="71685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0</a:t>
            </a:r>
            <a:endParaRPr lang="en-US" sz="2400" u="none"/>
          </a:p>
        </p:txBody>
      </p:sp>
      <p:sp>
        <p:nvSpPr>
          <p:cNvPr id="71687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88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1</a:t>
            </a:r>
            <a:endParaRPr lang="en-US" sz="2400" u="none"/>
          </a:p>
        </p:txBody>
      </p:sp>
      <p:sp>
        <p:nvSpPr>
          <p:cNvPr id="71690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2</a:t>
            </a:r>
            <a:endParaRPr lang="en-US" sz="2400" u="none"/>
          </a:p>
        </p:txBody>
      </p:sp>
      <p:sp>
        <p:nvSpPr>
          <p:cNvPr id="71692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3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6415088" y="3938588"/>
            <a:ext cx="401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</a:t>
            </a:r>
            <a:endParaRPr lang="en-US" sz="2400" u="none"/>
          </a:p>
        </p:txBody>
      </p:sp>
      <p:sp>
        <p:nvSpPr>
          <p:cNvPr id="71695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6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2</a:t>
            </a:r>
            <a:endParaRPr lang="en-US" sz="2400" u="none"/>
          </a:p>
        </p:txBody>
      </p:sp>
      <p:sp>
        <p:nvSpPr>
          <p:cNvPr id="71698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699" name="Text Box 19"/>
          <p:cNvSpPr txBox="1">
            <a:spLocks noChangeArrowheads="1"/>
          </p:cNvSpPr>
          <p:nvPr/>
        </p:nvSpPr>
        <p:spPr bwMode="auto">
          <a:xfrm>
            <a:off x="6435292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3</a:t>
            </a:r>
            <a:endParaRPr lang="en-US" sz="2400" u="none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1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19918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ym typeface="Symbol" pitchFamily="18" charset="2"/>
              </a:rPr>
              <a:t>2</a:t>
            </a:r>
            <a:endParaRPr lang="en-US" sz="2400" u="none"/>
          </a:p>
        </p:txBody>
      </p:sp>
      <p:sp>
        <p:nvSpPr>
          <p:cNvPr id="71703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4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5" name="Line 25"/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6" name="Line 26"/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7" name="Line 27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1708" name="Text Box 28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1709" name="Text Box 29"/>
          <p:cNvSpPr txBox="1">
            <a:spLocks noChangeArrowheads="1"/>
          </p:cNvSpPr>
          <p:nvPr/>
        </p:nvSpPr>
        <p:spPr bwMode="auto">
          <a:xfrm>
            <a:off x="3524250" y="2093913"/>
            <a:ext cx="30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1710" name="Text Box 30"/>
          <p:cNvSpPr txBox="1">
            <a:spLocks noChangeArrowheads="1"/>
          </p:cNvSpPr>
          <p:nvPr/>
        </p:nvSpPr>
        <p:spPr bwMode="auto">
          <a:xfrm>
            <a:off x="4972130" y="2103438"/>
            <a:ext cx="2872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1711" name="Text Box 31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1712" name="Text Box 32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1713" name="Text Box 33"/>
          <p:cNvSpPr txBox="1">
            <a:spLocks noChangeArrowheads="1"/>
          </p:cNvSpPr>
          <p:nvPr/>
        </p:nvSpPr>
        <p:spPr bwMode="auto">
          <a:xfrm>
            <a:off x="3490913" y="438943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1714" name="Text Box 34"/>
          <p:cNvSpPr txBox="1">
            <a:spLocks noChangeArrowheads="1"/>
          </p:cNvSpPr>
          <p:nvPr/>
        </p:nvSpPr>
        <p:spPr bwMode="auto">
          <a:xfrm>
            <a:off x="5005173" y="4398963"/>
            <a:ext cx="3177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1715" name="Text Box 35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1716" name="Text Box 36"/>
          <p:cNvSpPr txBox="1">
            <a:spLocks noChangeArrowheads="1"/>
          </p:cNvSpPr>
          <p:nvPr/>
        </p:nvSpPr>
        <p:spPr bwMode="auto">
          <a:xfrm>
            <a:off x="3491880" y="5302250"/>
            <a:ext cx="2520280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x  v  u</a:t>
            </a:r>
          </a:p>
          <a:p>
            <a:r>
              <a:rPr lang="en-US" sz="2800" u="none" dirty="0"/>
              <a:t> </a:t>
            </a:r>
            <a:r>
              <a:rPr lang="en-US" sz="2800" b="1" dirty="0"/>
              <a:t>d:</a:t>
            </a:r>
            <a:r>
              <a:rPr lang="en-US" sz="2800" u="none" dirty="0"/>
              <a:t> 2  2  3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</a:t>
            </a:r>
            <a:r>
              <a:rPr lang="en-US" sz="2800" u="none" dirty="0"/>
              <a:t> 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u="none" dirty="0"/>
              <a:t>t	w</a:t>
            </a:r>
          </a:p>
          <a:p>
            <a:pPr lvl="1" algn="l" rtl="0"/>
            <a:r>
              <a:rPr lang="en-IN" sz="2800" b="1" u="none" dirty="0"/>
              <a:t>u	t</a:t>
            </a:r>
          </a:p>
          <a:p>
            <a:pPr lvl="1" algn="l" rtl="0"/>
            <a:r>
              <a:rPr lang="en-IN" sz="2800" u="none" dirty="0"/>
              <a:t>v	r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u="none" dirty="0"/>
              <a:t>x	w</a:t>
            </a:r>
          </a:p>
          <a:p>
            <a:pPr lvl="1" algn="l" rtl="0"/>
            <a:r>
              <a:rPr lang="en-IN" sz="2800" u="none" dirty="0"/>
              <a:t>y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33096917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(BFS)</a:t>
            </a:r>
          </a:p>
        </p:txBody>
      </p:sp>
      <p:sp>
        <p:nvSpPr>
          <p:cNvPr id="72707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 sz="2400" b="1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996642" y="25606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2709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0</a:t>
            </a:r>
            <a:endParaRPr lang="en-US" sz="2400" b="1" u="none"/>
          </a:p>
        </p:txBody>
      </p:sp>
      <p:sp>
        <p:nvSpPr>
          <p:cNvPr id="72711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2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2714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2716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7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6425767" y="39449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2719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0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2722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3" name="Text Box 19"/>
          <p:cNvSpPr txBox="1">
            <a:spLocks noChangeArrowheads="1"/>
          </p:cNvSpPr>
          <p:nvPr/>
        </p:nvSpPr>
        <p:spPr bwMode="auto">
          <a:xfrm>
            <a:off x="6435292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5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6" name="Text Box 22"/>
          <p:cNvSpPr txBox="1">
            <a:spLocks noChangeArrowheads="1"/>
          </p:cNvSpPr>
          <p:nvPr/>
        </p:nvSpPr>
        <p:spPr bwMode="auto">
          <a:xfrm>
            <a:off x="19918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2727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29" name="Line 25"/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30" name="Line 26"/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2732" name="Text Box 28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2733" name="Text Box 29"/>
          <p:cNvSpPr txBox="1">
            <a:spLocks noChangeArrowheads="1"/>
          </p:cNvSpPr>
          <p:nvPr/>
        </p:nvSpPr>
        <p:spPr bwMode="auto">
          <a:xfrm>
            <a:off x="3519365" y="2093913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2734" name="Text Box 30"/>
          <p:cNvSpPr txBox="1">
            <a:spLocks noChangeArrowheads="1"/>
          </p:cNvSpPr>
          <p:nvPr/>
        </p:nvSpPr>
        <p:spPr bwMode="auto">
          <a:xfrm>
            <a:off x="4967320" y="210343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2735" name="Text Box 31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2736" name="Text Box 32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2737" name="Text Box 33"/>
          <p:cNvSpPr txBox="1">
            <a:spLocks noChangeArrowheads="1"/>
          </p:cNvSpPr>
          <p:nvPr/>
        </p:nvSpPr>
        <p:spPr bwMode="auto">
          <a:xfrm>
            <a:off x="3481829" y="4389438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2738" name="Text Box 34"/>
          <p:cNvSpPr txBox="1">
            <a:spLocks noChangeArrowheads="1"/>
          </p:cNvSpPr>
          <p:nvPr/>
        </p:nvSpPr>
        <p:spPr bwMode="auto">
          <a:xfrm>
            <a:off x="4997158" y="439896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2739" name="Text Box 35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2740" name="Text Box 36"/>
          <p:cNvSpPr txBox="1">
            <a:spLocks noChangeArrowheads="1"/>
          </p:cNvSpPr>
          <p:nvPr/>
        </p:nvSpPr>
        <p:spPr bwMode="auto">
          <a:xfrm>
            <a:off x="3419872" y="5302250"/>
            <a:ext cx="2376264" cy="95410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v  u  y</a:t>
            </a:r>
          </a:p>
          <a:p>
            <a:r>
              <a:rPr lang="en-US" sz="2800" u="none" dirty="0"/>
              <a:t> </a:t>
            </a:r>
            <a:r>
              <a:rPr lang="en-US" sz="2800" b="1" dirty="0"/>
              <a:t>d:</a:t>
            </a:r>
            <a:r>
              <a:rPr lang="en-US" sz="2800" u="none" dirty="0"/>
              <a:t> 2  3  3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 </a:t>
            </a:r>
            <a:r>
              <a:rPr lang="en-US" sz="2800" u="none" dirty="0"/>
              <a:t>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u="none" dirty="0"/>
              <a:t>t	w</a:t>
            </a:r>
          </a:p>
          <a:p>
            <a:pPr lvl="1" algn="l" rtl="0"/>
            <a:r>
              <a:rPr lang="en-IN" sz="2800" u="none" dirty="0"/>
              <a:t>u	t</a:t>
            </a:r>
          </a:p>
          <a:p>
            <a:pPr lvl="1" algn="l" rtl="0"/>
            <a:r>
              <a:rPr lang="en-IN" sz="2800" u="none" dirty="0"/>
              <a:t>v	r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u="none" dirty="0"/>
              <a:t>x	w</a:t>
            </a:r>
          </a:p>
          <a:p>
            <a:pPr lvl="1" algn="l" rtl="0"/>
            <a:r>
              <a:rPr lang="en-IN" sz="2800" b="1" u="none" dirty="0"/>
              <a:t>y	x</a:t>
            </a:r>
            <a:endParaRPr lang="en-US" sz="2800" b="1" u="none" dirty="0"/>
          </a:p>
        </p:txBody>
      </p:sp>
    </p:spTree>
    <p:extLst>
      <p:ext uri="{BB962C8B-B14F-4D97-AF65-F5344CB8AC3E}">
        <p14:creationId xmlns:p14="http://schemas.microsoft.com/office/powerpoint/2010/main" val="401747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(BFS)</a:t>
            </a:r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996642" y="25606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5781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0</a:t>
            </a:r>
            <a:endParaRPr lang="en-US" sz="2400" b="1" u="none"/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5788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89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6425767" y="39449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5791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2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3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5794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6435292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5796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7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19918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5799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800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801" name="Line 25"/>
          <p:cNvSpPr>
            <a:spLocks noChangeShapeType="1"/>
          </p:cNvSpPr>
          <p:nvPr/>
        </p:nvSpPr>
        <p:spPr bwMode="auto">
          <a:xfrm>
            <a:off x="5126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802" name="Line 26"/>
          <p:cNvSpPr>
            <a:spLocks noChangeShapeType="1"/>
          </p:cNvSpPr>
          <p:nvPr/>
        </p:nvSpPr>
        <p:spPr bwMode="auto">
          <a:xfrm>
            <a:off x="6607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803" name="Line 27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5804" name="Text Box 28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5805" name="Text Box 29"/>
          <p:cNvSpPr txBox="1">
            <a:spLocks noChangeArrowheads="1"/>
          </p:cNvSpPr>
          <p:nvPr/>
        </p:nvSpPr>
        <p:spPr bwMode="auto">
          <a:xfrm>
            <a:off x="3519365" y="2093913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5806" name="Text Box 30"/>
          <p:cNvSpPr txBox="1">
            <a:spLocks noChangeArrowheads="1"/>
          </p:cNvSpPr>
          <p:nvPr/>
        </p:nvSpPr>
        <p:spPr bwMode="auto">
          <a:xfrm>
            <a:off x="4967320" y="210343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5807" name="Text Box 31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5808" name="Text Box 32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5809" name="Text Box 33"/>
          <p:cNvSpPr txBox="1">
            <a:spLocks noChangeArrowheads="1"/>
          </p:cNvSpPr>
          <p:nvPr/>
        </p:nvSpPr>
        <p:spPr bwMode="auto">
          <a:xfrm>
            <a:off x="3481829" y="4389438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5810" name="Text Box 34"/>
          <p:cNvSpPr txBox="1">
            <a:spLocks noChangeArrowheads="1"/>
          </p:cNvSpPr>
          <p:nvPr/>
        </p:nvSpPr>
        <p:spPr bwMode="auto">
          <a:xfrm>
            <a:off x="4997158" y="439896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5811" name="Text Box 35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5812" name="Text Box 36"/>
          <p:cNvSpPr txBox="1">
            <a:spLocks noChangeArrowheads="1"/>
          </p:cNvSpPr>
          <p:nvPr/>
        </p:nvSpPr>
        <p:spPr bwMode="auto">
          <a:xfrm>
            <a:off x="3347864" y="5295900"/>
            <a:ext cx="3168352" cy="52322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n-US" sz="2800" b="1" u="none" dirty="0"/>
              <a:t>Q:</a:t>
            </a:r>
            <a:r>
              <a:rPr lang="en-US" sz="2800" u="none" dirty="0"/>
              <a:t>  </a:t>
            </a:r>
            <a:r>
              <a:rPr lang="en-US" sz="2800" u="none" dirty="0">
                <a:sym typeface="Symbol" pitchFamily="18" charset="2"/>
              </a:rPr>
              <a:t>EMPTY</a:t>
            </a:r>
            <a:endParaRPr lang="en-US" sz="2800" u="none" dirty="0"/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 </a:t>
            </a:r>
            <a:r>
              <a:rPr lang="en-US" sz="2800" u="none" dirty="0"/>
              <a:t> 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u="none" dirty="0"/>
              <a:t>t	w</a:t>
            </a:r>
          </a:p>
          <a:p>
            <a:pPr lvl="1" algn="l" rtl="0"/>
            <a:r>
              <a:rPr lang="en-IN" sz="2800" u="none" dirty="0"/>
              <a:t>u	t</a:t>
            </a:r>
          </a:p>
          <a:p>
            <a:pPr lvl="1" algn="l" rtl="0"/>
            <a:r>
              <a:rPr lang="en-IN" sz="2800" u="none" dirty="0"/>
              <a:t>v	r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u="none" dirty="0"/>
              <a:t>x	w</a:t>
            </a:r>
          </a:p>
          <a:p>
            <a:pPr lvl="1" algn="l" rtl="0"/>
            <a:r>
              <a:rPr lang="en-IN" sz="2800" u="none" dirty="0"/>
              <a:t>y	x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2405062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Oval 3"/>
          <p:cNvSpPr>
            <a:spLocks noChangeArrowheads="1"/>
          </p:cNvSpPr>
          <p:nvPr/>
        </p:nvSpPr>
        <p:spPr bwMode="auto">
          <a:xfrm>
            <a:off x="1876425" y="24971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996642" y="25606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3357563" y="2490788"/>
            <a:ext cx="590550" cy="57626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ar-EG"/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3477780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ym typeface="Symbol" pitchFamily="18" charset="2"/>
              </a:rPr>
              <a:t>0</a:t>
            </a:r>
            <a:endParaRPr lang="en-US" sz="2400" b="1" u="none" dirty="0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2452688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08" name="Oval 8"/>
          <p:cNvSpPr>
            <a:spLocks noChangeArrowheads="1"/>
          </p:cNvSpPr>
          <p:nvPr/>
        </p:nvSpPr>
        <p:spPr bwMode="auto">
          <a:xfrm>
            <a:off x="3357563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34777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1</a:t>
            </a:r>
            <a:endParaRPr lang="en-US" sz="2400" b="1" u="none"/>
          </a:p>
        </p:txBody>
      </p:sp>
      <p:sp>
        <p:nvSpPr>
          <p:cNvPr id="76810" name="Oval 10"/>
          <p:cNvSpPr>
            <a:spLocks noChangeArrowheads="1"/>
          </p:cNvSpPr>
          <p:nvPr/>
        </p:nvSpPr>
        <p:spPr bwMode="auto">
          <a:xfrm>
            <a:off x="4838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4958917" y="3935413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3933825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3" name="Oval 13"/>
          <p:cNvSpPr>
            <a:spLocks noChangeArrowheads="1"/>
          </p:cNvSpPr>
          <p:nvPr/>
        </p:nvSpPr>
        <p:spPr bwMode="auto">
          <a:xfrm>
            <a:off x="6319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6425767" y="39449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6815" name="Line 15"/>
          <p:cNvSpPr>
            <a:spLocks noChangeShapeType="1"/>
          </p:cNvSpPr>
          <p:nvPr/>
        </p:nvSpPr>
        <p:spPr bwMode="auto">
          <a:xfrm>
            <a:off x="5414963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6" name="Oval 16"/>
          <p:cNvSpPr>
            <a:spLocks noChangeArrowheads="1"/>
          </p:cNvSpPr>
          <p:nvPr/>
        </p:nvSpPr>
        <p:spPr bwMode="auto">
          <a:xfrm>
            <a:off x="4833938" y="24955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4954155" y="253047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6818" name="Oval 18"/>
          <p:cNvSpPr>
            <a:spLocks noChangeArrowheads="1"/>
          </p:cNvSpPr>
          <p:nvPr/>
        </p:nvSpPr>
        <p:spPr bwMode="auto">
          <a:xfrm>
            <a:off x="6315075" y="2505075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6435292" y="255428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3</a:t>
            </a:r>
            <a:endParaRPr lang="en-US" sz="2400" b="1" u="none"/>
          </a:p>
        </p:txBody>
      </p:sp>
      <p:sp>
        <p:nvSpPr>
          <p:cNvPr id="76820" name="Line 20"/>
          <p:cNvSpPr>
            <a:spLocks noChangeShapeType="1"/>
          </p:cNvSpPr>
          <p:nvPr/>
        </p:nvSpPr>
        <p:spPr bwMode="auto">
          <a:xfrm>
            <a:off x="5410200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21" name="Oval 21"/>
          <p:cNvSpPr>
            <a:spLocks noChangeArrowheads="1"/>
          </p:cNvSpPr>
          <p:nvPr/>
        </p:nvSpPr>
        <p:spPr bwMode="auto">
          <a:xfrm>
            <a:off x="1857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1991880" y="395605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ym typeface="Symbol" pitchFamily="18" charset="2"/>
              </a:rPr>
              <a:t>2</a:t>
            </a:r>
            <a:endParaRPr lang="en-US" sz="2400" b="1" u="none"/>
          </a:p>
        </p:txBody>
      </p:sp>
      <p:sp>
        <p:nvSpPr>
          <p:cNvPr id="76823" name="Line 23"/>
          <p:cNvSpPr>
            <a:spLocks noChangeShapeType="1"/>
          </p:cNvSpPr>
          <p:nvPr/>
        </p:nvSpPr>
        <p:spPr bwMode="auto">
          <a:xfrm>
            <a:off x="2163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24" name="Line 24"/>
          <p:cNvSpPr>
            <a:spLocks noChangeShapeType="1"/>
          </p:cNvSpPr>
          <p:nvPr/>
        </p:nvSpPr>
        <p:spPr bwMode="auto">
          <a:xfrm>
            <a:off x="3644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25" name="Line 25"/>
          <p:cNvSpPr>
            <a:spLocks noChangeShapeType="1"/>
          </p:cNvSpPr>
          <p:nvPr/>
        </p:nvSpPr>
        <p:spPr bwMode="auto">
          <a:xfrm flipV="1">
            <a:off x="3852863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76826" name="Text Box 26"/>
          <p:cNvSpPr txBox="1">
            <a:spLocks noChangeArrowheads="1"/>
          </p:cNvSpPr>
          <p:nvPr/>
        </p:nvSpPr>
        <p:spPr bwMode="auto">
          <a:xfrm>
            <a:off x="2051082" y="208438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3519365" y="2093913"/>
            <a:ext cx="308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6828" name="Text Box 28"/>
          <p:cNvSpPr txBox="1">
            <a:spLocks noChangeArrowheads="1"/>
          </p:cNvSpPr>
          <p:nvPr/>
        </p:nvSpPr>
        <p:spPr bwMode="auto">
          <a:xfrm>
            <a:off x="4967320" y="2103438"/>
            <a:ext cx="292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6829" name="Text Box 29"/>
          <p:cNvSpPr txBox="1">
            <a:spLocks noChangeArrowheads="1"/>
          </p:cNvSpPr>
          <p:nvPr/>
        </p:nvSpPr>
        <p:spPr bwMode="auto">
          <a:xfrm>
            <a:off x="6447930" y="2112963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6830" name="Text Box 30"/>
          <p:cNvSpPr txBox="1">
            <a:spLocks noChangeArrowheads="1"/>
          </p:cNvSpPr>
          <p:nvPr/>
        </p:nvSpPr>
        <p:spPr bwMode="auto">
          <a:xfrm>
            <a:off x="2009775" y="43799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6831" name="Text Box 31"/>
          <p:cNvSpPr txBox="1">
            <a:spLocks noChangeArrowheads="1"/>
          </p:cNvSpPr>
          <p:nvPr/>
        </p:nvSpPr>
        <p:spPr bwMode="auto">
          <a:xfrm>
            <a:off x="3481829" y="4389438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6832" name="Text Box 32"/>
          <p:cNvSpPr txBox="1">
            <a:spLocks noChangeArrowheads="1"/>
          </p:cNvSpPr>
          <p:nvPr/>
        </p:nvSpPr>
        <p:spPr bwMode="auto">
          <a:xfrm>
            <a:off x="4997158" y="439896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6833" name="Text Box 33"/>
          <p:cNvSpPr txBox="1">
            <a:spLocks noChangeArrowheads="1"/>
          </p:cNvSpPr>
          <p:nvPr/>
        </p:nvSpPr>
        <p:spPr bwMode="auto">
          <a:xfrm>
            <a:off x="6467475" y="4394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6834" name="Text Box 34"/>
          <p:cNvSpPr txBox="1">
            <a:spLocks noChangeArrowheads="1"/>
          </p:cNvSpPr>
          <p:nvPr/>
        </p:nvSpPr>
        <p:spPr bwMode="auto">
          <a:xfrm>
            <a:off x="2606091" y="5434013"/>
            <a:ext cx="28300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u="none" dirty="0"/>
              <a:t>Breadth First Tree</a:t>
            </a: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97031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dirty="0"/>
              <a:t>π </a:t>
            </a:r>
            <a:r>
              <a:rPr lang="en-IN" sz="2800" b="1" dirty="0"/>
              <a:t>:</a:t>
            </a:r>
          </a:p>
          <a:p>
            <a:pPr algn="l" rtl="0"/>
            <a:r>
              <a:rPr lang="en-IN" sz="2800" b="1" u="none" dirty="0"/>
              <a:t>    </a:t>
            </a:r>
            <a:r>
              <a:rPr lang="en-US" sz="2800" u="none" dirty="0"/>
              <a:t> s    nil</a:t>
            </a:r>
          </a:p>
          <a:p>
            <a:pPr lvl="1" algn="l" rtl="0"/>
            <a:r>
              <a:rPr lang="en-IN" sz="2800" dirty="0"/>
              <a:t>r	s</a:t>
            </a:r>
          </a:p>
          <a:p>
            <a:pPr lvl="1" algn="l" rtl="0"/>
            <a:r>
              <a:rPr lang="en-IN" sz="2800" u="none" dirty="0"/>
              <a:t>t	w</a:t>
            </a:r>
          </a:p>
          <a:p>
            <a:pPr lvl="1" algn="l" rtl="0"/>
            <a:r>
              <a:rPr lang="en-IN" sz="2800" u="none" dirty="0"/>
              <a:t>u	t</a:t>
            </a:r>
          </a:p>
          <a:p>
            <a:pPr lvl="1" algn="l" rtl="0"/>
            <a:r>
              <a:rPr lang="en-IN" sz="2800" u="none" dirty="0"/>
              <a:t>v	r</a:t>
            </a:r>
          </a:p>
          <a:p>
            <a:pPr lvl="1" algn="l" rtl="0"/>
            <a:r>
              <a:rPr lang="en-IN" sz="2800" u="none" dirty="0"/>
              <a:t>w 	s</a:t>
            </a:r>
          </a:p>
          <a:p>
            <a:pPr lvl="1" algn="l" rtl="0"/>
            <a:r>
              <a:rPr lang="en-IN" sz="2800" u="none" dirty="0"/>
              <a:t>x	w</a:t>
            </a:r>
          </a:p>
          <a:p>
            <a:pPr lvl="1" algn="l" rtl="0"/>
            <a:r>
              <a:rPr lang="en-IN" sz="2800" u="none" dirty="0"/>
              <a:t>y	x</a:t>
            </a:r>
            <a:endParaRPr lang="en-US" sz="2800" u="none" dirty="0"/>
          </a:p>
        </p:txBody>
      </p:sp>
      <p:sp>
        <p:nvSpPr>
          <p:cNvPr id="39" name="Title 38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Breadth-first Tree</a:t>
            </a:r>
          </a:p>
        </p:txBody>
      </p:sp>
    </p:spTree>
    <p:extLst>
      <p:ext uri="{BB962C8B-B14F-4D97-AF65-F5344CB8AC3E}">
        <p14:creationId xmlns:p14="http://schemas.microsoft.com/office/powerpoint/2010/main" val="3436201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7467600" cy="762000"/>
          </a:xfrm>
        </p:spPr>
        <p:txBody>
          <a:bodyPr/>
          <a:lstStyle/>
          <a:p>
            <a:r>
              <a:rPr lang="en-US" dirty="0"/>
              <a:t>Breadth-first Tree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066800"/>
            <a:ext cx="8459788" cy="5257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 a graph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=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V, 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 with source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the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predecessor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subgraph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of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is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=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E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 where </a:t>
            </a:r>
          </a:p>
          <a:p>
            <a:pPr lvl="1"/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={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: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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NIL}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MT Extra" pitchFamily="18" charset="2"/>
              </a:rPr>
              <a:t>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{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}</a:t>
            </a:r>
          </a:p>
          <a:p>
            <a:pPr lvl="1"/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={(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],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E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: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-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{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}}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predecessor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subgraph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is a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breadth-first tree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if: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consists of the vertices reachable from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and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for all 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there is a unique simple path from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to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in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that is also a shortest path from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to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in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. 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edges in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are called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tree edges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.  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 |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| -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1.</a:t>
            </a:r>
            <a:endParaRPr lang="en-US" sz="2400" baseline="-250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99890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0"/>
            <a:ext cx="6705600" cy="6858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342900" indent="-342900" defTabSz="280988">
              <a:lnSpc>
                <a:spcPct val="90000"/>
              </a:lnSpc>
              <a:buFont typeface="Wingdings" pitchFamily="2" charset="2"/>
              <a:buNone/>
              <a:tabLst>
                <a:tab pos="176213" algn="l"/>
                <a:tab pos="236538" algn="l"/>
              </a:tabLst>
            </a:pPr>
            <a:r>
              <a:rPr lang="en-US" sz="2000" b="1" u="sng" dirty="0">
                <a:solidFill>
                  <a:schemeClr val="tx1"/>
                </a:solidFill>
                <a:latin typeface="Segoe"/>
              </a:rPr>
              <a:t>BFS(G,s)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b="1" dirty="0">
                <a:solidFill>
                  <a:schemeClr val="tx1"/>
                </a:solidFill>
                <a:latin typeface="Segoe"/>
              </a:rPr>
              <a:t>	for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each vertex u in V[G] –  {s}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color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    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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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	     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d[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0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nil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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,s)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while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Q  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u 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dequeue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(Q)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for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each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in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Adj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= white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</a:t>
            </a:r>
            <a:r>
              <a:rPr lang="en-US" sz="2400" b="1" dirty="0">
                <a:solidFill>
                  <a:schemeClr val="tx1"/>
                </a:solidFill>
                <a:latin typeface="Segoe"/>
                <a:sym typeface="Symbol" pitchFamily="18" charset="2"/>
              </a:rPr>
              <a:t>then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 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gray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d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+ 1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	         [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	         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enqueue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(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Q</a:t>
            </a:r>
            <a:r>
              <a:rPr lang="en-US" sz="2400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,</a:t>
            </a:r>
            <a:r>
              <a:rPr lang="en-US" sz="2400" i="1" dirty="0" err="1">
                <a:solidFill>
                  <a:schemeClr val="tx1"/>
                </a:solidFill>
                <a:latin typeface="Segoe"/>
                <a:sym typeface="Symbol" pitchFamily="18" charset="2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)</a:t>
            </a:r>
          </a:p>
          <a:p>
            <a:pPr marL="800100" lvl="1" indent="-342900" defTabSz="280988">
              <a:lnSpc>
                <a:spcPts val="2200"/>
              </a:lnSpc>
              <a:buFont typeface="+mj-lt"/>
              <a:buAutoNum type="arabicPeriod"/>
              <a:tabLst>
                <a:tab pos="176213" algn="l"/>
                <a:tab pos="236538" algn="l"/>
              </a:tabLst>
            </a:pP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			color[</a:t>
            </a:r>
            <a:r>
              <a:rPr lang="en-US" sz="2400" i="1" dirty="0">
                <a:solidFill>
                  <a:schemeClr val="tx1"/>
                </a:solidFill>
                <a:latin typeface="Segoe"/>
                <a:sym typeface="Symbol" pitchFamily="18" charset="2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]  black</a:t>
            </a:r>
          </a:p>
          <a:p>
            <a:pPr marL="800100" lvl="1" indent="-342900" defTabSz="280988">
              <a:buFont typeface="+mj-lt"/>
              <a:buAutoNum type="arabicPeriod"/>
              <a:tabLst>
                <a:tab pos="176213" algn="l"/>
                <a:tab pos="236538" algn="l"/>
              </a:tabLst>
            </a:pPr>
            <a:endParaRPr lang="en-US" sz="3400" dirty="0">
              <a:solidFill>
                <a:schemeClr val="tx1"/>
              </a:solidFill>
              <a:latin typeface="Segoe"/>
            </a:endParaRPr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>
            <a:off x="5623653" y="469900"/>
            <a:ext cx="91347" cy="2349500"/>
          </a:xfrm>
          <a:prstGeom prst="rightBrace">
            <a:avLst>
              <a:gd name="adj1" fmla="val 8051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880828" y="1287888"/>
            <a:ext cx="33393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Comic Sans MS" pitchFamily="66" charset="0"/>
              </a:rPr>
              <a:t>O(V)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876800" y="32368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sz="2000" dirty="0">
                <a:latin typeface="Segoe"/>
              </a:rPr>
              <a:t>Each vertex is </a:t>
            </a:r>
            <a:r>
              <a:rPr lang="en-US" sz="2000" dirty="0" err="1">
                <a:latin typeface="Segoe"/>
              </a:rPr>
              <a:t>enqueued</a:t>
            </a:r>
            <a:r>
              <a:rPr lang="en-US" sz="2000" dirty="0">
                <a:latin typeface="Segoe"/>
              </a:rPr>
              <a:t> and </a:t>
            </a:r>
            <a:r>
              <a:rPr lang="en-US" sz="2000" dirty="0" err="1">
                <a:latin typeface="Segoe"/>
              </a:rPr>
              <a:t>dequeued</a:t>
            </a:r>
            <a:r>
              <a:rPr lang="en-US" sz="2000" dirty="0">
                <a:latin typeface="Segoe"/>
              </a:rPr>
              <a:t> at most once.</a:t>
            </a:r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sz="2000" dirty="0">
                <a:latin typeface="Segoe"/>
              </a:rPr>
              <a:t>So, total time for queuing is </a:t>
            </a:r>
            <a:r>
              <a:rPr lang="en-US" sz="2000" i="1" dirty="0">
                <a:latin typeface="Segoe"/>
              </a:rPr>
              <a:t>O</a:t>
            </a:r>
            <a:r>
              <a:rPr lang="en-US" sz="2000" dirty="0">
                <a:latin typeface="Segoe"/>
              </a:rPr>
              <a:t>(</a:t>
            </a:r>
            <a:r>
              <a:rPr lang="en-US" sz="2000" i="1" dirty="0">
                <a:latin typeface="Segoe"/>
              </a:rPr>
              <a:t>V</a:t>
            </a:r>
            <a:r>
              <a:rPr lang="en-US" sz="2000" dirty="0">
                <a:latin typeface="Segoe"/>
              </a:rPr>
              <a:t>)</a:t>
            </a:r>
            <a:r>
              <a:rPr lang="en-US" sz="2000" i="1" dirty="0">
                <a:latin typeface="Segoe"/>
              </a:rPr>
              <a:t>.</a:t>
            </a:r>
            <a:endParaRPr lang="en-US" sz="2000" dirty="0">
              <a:latin typeface="Segoe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H="1" flipV="1">
            <a:off x="3602764" y="3429000"/>
            <a:ext cx="173123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H="1" flipV="1">
            <a:off x="5029200" y="62484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 flipH="1" flipV="1">
            <a:off x="4579935" y="4114800"/>
            <a:ext cx="10893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AutoShape 4"/>
          <p:cNvSpPr>
            <a:spLocks/>
          </p:cNvSpPr>
          <p:nvPr/>
        </p:nvSpPr>
        <p:spPr bwMode="auto">
          <a:xfrm>
            <a:off x="5623652" y="4399073"/>
            <a:ext cx="91347" cy="1684226"/>
          </a:xfrm>
          <a:prstGeom prst="rightBrace">
            <a:avLst>
              <a:gd name="adj1" fmla="val 8051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029200" y="4542472"/>
            <a:ext cx="3657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en-US" sz="2000" dirty="0">
                <a:latin typeface="Segoe"/>
              </a:rPr>
              <a:t>    Adjacency list of each vertex is scanned at most once.  The sum of lengths of all adjacency lists is </a:t>
            </a:r>
            <a:r>
              <a:rPr lang="en-US" sz="2000" i="1" dirty="0">
                <a:latin typeface="Segoe"/>
                <a:sym typeface="Symbol" pitchFamily="18" charset="2"/>
              </a:rPr>
              <a:t></a:t>
            </a:r>
            <a:r>
              <a:rPr lang="en-US" sz="2000" dirty="0">
                <a:latin typeface="Segoe"/>
              </a:rPr>
              <a:t>(</a:t>
            </a:r>
            <a:r>
              <a:rPr lang="en-US" sz="2000" i="1" dirty="0">
                <a:latin typeface="Segoe"/>
              </a:rPr>
              <a:t>E</a:t>
            </a:r>
            <a:r>
              <a:rPr lang="en-US" sz="2000" dirty="0">
                <a:latin typeface="Segoe"/>
              </a:rPr>
              <a:t>)</a:t>
            </a:r>
            <a:r>
              <a:rPr lang="en-US" sz="2000" i="1" dirty="0">
                <a:latin typeface="Segoe"/>
              </a:rPr>
              <a:t>.</a:t>
            </a:r>
            <a:endParaRPr lang="en-US" sz="2000" dirty="0">
              <a:latin typeface="Segoe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382" y="76200"/>
            <a:ext cx="4648200" cy="50291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             Analysis of BFS</a:t>
            </a:r>
          </a:p>
        </p:txBody>
      </p:sp>
    </p:spTree>
    <p:extLst>
      <p:ext uri="{BB962C8B-B14F-4D97-AF65-F5344CB8AC3E}">
        <p14:creationId xmlns:p14="http://schemas.microsoft.com/office/powerpoint/2010/main" val="16475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7467600" cy="1143000"/>
          </a:xfrm>
        </p:spPr>
        <p:txBody>
          <a:bodyPr/>
          <a:lstStyle/>
          <a:p>
            <a:r>
              <a:rPr lang="en-US" dirty="0"/>
              <a:t>Analysis of BFS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4000"/>
            <a:ext cx="898525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800" dirty="0">
                <a:solidFill>
                  <a:schemeClr val="tx1"/>
                </a:solidFill>
                <a:latin typeface="Segoe"/>
              </a:rPr>
              <a:t>	Total running time of BFS is</a:t>
            </a:r>
            <a:r>
              <a:rPr lang="en-US" sz="2800" i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800" i="1" dirty="0">
                <a:solidFill>
                  <a:srgbClr val="C00000"/>
                </a:solidFill>
                <a:latin typeface="Segoe"/>
              </a:rPr>
              <a:t>O</a:t>
            </a:r>
            <a:r>
              <a:rPr lang="en-US" sz="2800" dirty="0">
                <a:solidFill>
                  <a:srgbClr val="C00000"/>
                </a:solidFill>
                <a:latin typeface="Segoe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Segoe"/>
              </a:rPr>
              <a:t>V+E</a:t>
            </a:r>
            <a:r>
              <a:rPr lang="en-US" sz="2800" dirty="0">
                <a:solidFill>
                  <a:srgbClr val="C00000"/>
                </a:solidFill>
                <a:latin typeface="Segoe"/>
              </a:rPr>
              <a:t>)</a:t>
            </a:r>
            <a:r>
              <a:rPr lang="en-US" sz="2800" dirty="0">
                <a:solidFill>
                  <a:schemeClr val="tx1"/>
                </a:solidFill>
                <a:latin typeface="Segoe"/>
              </a:rPr>
              <a:t>,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400" i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linear in the size of the adjacency list representation of graph. </a:t>
            </a:r>
          </a:p>
        </p:txBody>
      </p:sp>
    </p:spTree>
    <p:extLst>
      <p:ext uri="{BB962C8B-B14F-4D97-AF65-F5344CB8AC3E}">
        <p14:creationId xmlns:p14="http://schemas.microsoft.com/office/powerpoint/2010/main" val="2601456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467600" cy="808038"/>
          </a:xfrm>
        </p:spPr>
        <p:txBody>
          <a:bodyPr/>
          <a:lstStyle/>
          <a:p>
            <a:r>
              <a:rPr lang="en-US" dirty="0"/>
              <a:t>Depth-first Search (DFS)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066800"/>
            <a:ext cx="8472488" cy="5334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Explore edges out of the most recently discovered vertex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When all edges of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have been explored, backtrack to explore other edges leaving the vertex from which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was discovered (its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predecessor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).</a:t>
            </a:r>
          </a:p>
          <a:p>
            <a:r>
              <a:rPr lang="en-US" sz="2400" dirty="0">
                <a:solidFill>
                  <a:srgbClr val="C00000"/>
                </a:solidFill>
                <a:latin typeface="Segoe"/>
              </a:rPr>
              <a:t>“Search as deep as possible first.”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Continue until all vertices reachable from the original source are discovered.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If any undiscovered vertices remain, then one of them is chosen as a new source and search is repeated from that source.</a:t>
            </a:r>
          </a:p>
        </p:txBody>
      </p:sp>
    </p:spTree>
    <p:extLst>
      <p:ext uri="{BB962C8B-B14F-4D97-AF65-F5344CB8AC3E}">
        <p14:creationId xmlns:p14="http://schemas.microsoft.com/office/powerpoint/2010/main" val="34448211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467600" cy="579438"/>
          </a:xfrm>
        </p:spPr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990600"/>
            <a:ext cx="8839200" cy="5410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C3300"/>
                </a:solidFill>
                <a:latin typeface="Segoe"/>
              </a:rPr>
              <a:t>Input:</a:t>
            </a:r>
            <a:r>
              <a:rPr lang="en-US" sz="2400" b="1" dirty="0">
                <a:latin typeface="Segoe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G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= 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 E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), directed or undirected. No source vertex given!</a:t>
            </a:r>
          </a:p>
          <a:p>
            <a:r>
              <a:rPr lang="en-US" sz="2400" b="1" dirty="0">
                <a:solidFill>
                  <a:srgbClr val="CC3300"/>
                </a:solidFill>
                <a:latin typeface="Segoe"/>
              </a:rPr>
              <a:t>Output: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2 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timestamps</a:t>
            </a:r>
            <a:r>
              <a:rPr lang="en-US" sz="2400" b="1" i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on each vertex. Integers between 1 and 2|V|.</a:t>
            </a:r>
          </a:p>
          <a:p>
            <a:pPr lvl="2"/>
            <a:r>
              <a:rPr lang="en-US" sz="2400" i="1" dirty="0">
                <a:solidFill>
                  <a:schemeClr val="tx1"/>
                </a:solidFill>
                <a:latin typeface="Segoe"/>
              </a:rPr>
              <a:t>d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= </a:t>
            </a:r>
            <a:r>
              <a:rPr lang="en-US" sz="2400" b="1" i="1" dirty="0">
                <a:solidFill>
                  <a:schemeClr val="tx1"/>
                </a:solidFill>
                <a:latin typeface="Segoe"/>
              </a:rPr>
              <a:t>discovery time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turns from white to gray)</a:t>
            </a:r>
            <a:endParaRPr lang="en-US" sz="2400" b="1" i="1" dirty="0">
              <a:solidFill>
                <a:schemeClr val="tx1"/>
              </a:solidFill>
              <a:latin typeface="Segoe"/>
            </a:endParaRPr>
          </a:p>
          <a:p>
            <a:pPr lvl="2"/>
            <a:r>
              <a:rPr lang="en-US" sz="2400" i="1" dirty="0">
                <a:solidFill>
                  <a:schemeClr val="tx1"/>
                </a:solidFill>
                <a:latin typeface="Segoe"/>
              </a:rPr>
              <a:t>f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= </a:t>
            </a:r>
            <a:r>
              <a:rPr lang="en-US" sz="2400" b="1" i="1" dirty="0">
                <a:solidFill>
                  <a:schemeClr val="tx1"/>
                </a:solidFill>
                <a:latin typeface="Segoe"/>
              </a:rPr>
              <a:t>finishing time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turns from gray to black)</a:t>
            </a:r>
            <a:endParaRPr lang="en-US" sz="2400" b="1" i="1" dirty="0">
              <a:solidFill>
                <a:schemeClr val="tx1"/>
              </a:solidFill>
              <a:latin typeface="Segoe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Segoe"/>
                <a:sym typeface="Symbol" pitchFamily="18" charset="2"/>
              </a:rPr>
              <a:t>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[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] : predecessor of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 = 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such that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was discovered during the scan of </a:t>
            </a:r>
            <a:r>
              <a:rPr lang="en-US" sz="2400" i="1" dirty="0">
                <a:solidFill>
                  <a:schemeClr val="tx1"/>
                </a:solidFill>
                <a:latin typeface="Segoe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’s adjacency list.</a:t>
            </a:r>
          </a:p>
          <a:p>
            <a:r>
              <a:rPr lang="en-US" sz="2400" dirty="0">
                <a:solidFill>
                  <a:schemeClr val="tx1"/>
                </a:solidFill>
                <a:latin typeface="Segoe"/>
              </a:rPr>
              <a:t>Uses the same coloring scheme for vertices as BFS.</a:t>
            </a:r>
          </a:p>
          <a:p>
            <a:pPr lvl="1"/>
            <a:endParaRPr lang="en-US" sz="2400" b="1" i="1" dirty="0">
              <a:solidFill>
                <a:schemeClr val="tx1"/>
              </a:solidFill>
              <a:latin typeface="Segoe"/>
            </a:endParaRPr>
          </a:p>
          <a:p>
            <a:endParaRPr lang="en-US" sz="2400" dirty="0">
              <a:latin typeface="Segoe"/>
            </a:endParaRPr>
          </a:p>
          <a:p>
            <a:endParaRPr lang="en-US" sz="2400" dirty="0"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26339090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467600" cy="655638"/>
          </a:xfrm>
        </p:spPr>
        <p:txBody>
          <a:bodyPr/>
          <a:lstStyle/>
          <a:p>
            <a:r>
              <a:rPr lang="en-US" dirty="0"/>
              <a:t>Pseudo-code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066800"/>
            <a:ext cx="3581400" cy="35814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609600" indent="-609600">
              <a:buFont typeface="Wingdings" pitchFamily="2" charset="2"/>
              <a:buNone/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DFS(</a:t>
            </a:r>
            <a:r>
              <a:rPr lang="en-US" sz="2000" b="1" i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2.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3.       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NIL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4. 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time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0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5.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6. 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if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=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7.          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DFS-Visit(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52400" y="4648200"/>
            <a:ext cx="3263900" cy="415925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none"/>
              <a:t>Uses a global timestamp </a:t>
            </a:r>
            <a:r>
              <a:rPr lang="en-US" sz="2000" b="1" i="1" u="none">
                <a:solidFill>
                  <a:srgbClr val="CC3300"/>
                </a:solidFill>
              </a:rPr>
              <a:t>time</a:t>
            </a:r>
            <a:r>
              <a:rPr lang="en-US" sz="2000" u="none"/>
              <a:t>.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191000" y="1066800"/>
            <a:ext cx="4800600" cy="525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010000"/>
                </a:solidFill>
              </a:rPr>
              <a:t>DFS-Visit(</a:t>
            </a:r>
            <a:r>
              <a:rPr lang="en-US" sz="2400" b="1" i="1" dirty="0">
                <a:solidFill>
                  <a:srgbClr val="010000"/>
                </a:solidFill>
              </a:rPr>
              <a:t>u</a:t>
            </a:r>
            <a:r>
              <a:rPr lang="en-US" sz="2400" b="1" dirty="0">
                <a:solidFill>
                  <a:srgbClr val="010000"/>
                </a:solidFill>
              </a:rPr>
              <a:t>)</a:t>
            </a:r>
            <a:endParaRPr lang="en-US" sz="24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GRAY  </a:t>
            </a:r>
            <a:r>
              <a:rPr lang="en-US" sz="2400" dirty="0">
                <a:solidFill>
                  <a:srgbClr val="010000"/>
                </a:solidFill>
                <a:sym typeface="Symbol" pitchFamily="18" charset="2"/>
              </a:rPr>
              <a:t>//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White vertex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has been discovered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4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6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d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time</a:t>
            </a:r>
            <a:endParaRPr lang="en-US" sz="24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b="1" u="none" dirty="0">
                <a:solidFill>
                  <a:srgbClr val="010000"/>
                </a:solidFill>
              </a:rPr>
              <a:t>for</a:t>
            </a:r>
            <a:r>
              <a:rPr lang="en-US" sz="2400" u="none" dirty="0">
                <a:solidFill>
                  <a:srgbClr val="010000"/>
                </a:solidFill>
              </a:rPr>
              <a:t> each </a:t>
            </a:r>
            <a:r>
              <a:rPr lang="en-US" sz="2400" i="1" u="none" dirty="0">
                <a:solidFill>
                  <a:srgbClr val="010000"/>
                </a:solidFill>
              </a:rPr>
              <a:t>v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400" i="1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 err="1">
                <a:solidFill>
                  <a:srgbClr val="010000"/>
                </a:solidFill>
              </a:rPr>
              <a:t>Adj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</a:t>
            </a:r>
            <a:r>
              <a:rPr lang="en-US" sz="2400" b="1" u="none" dirty="0">
                <a:solidFill>
                  <a:srgbClr val="010000"/>
                </a:solidFill>
              </a:rPr>
              <a:t>do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b="1" u="none" dirty="0">
                <a:solidFill>
                  <a:srgbClr val="010000"/>
                </a:solidFill>
              </a:rPr>
              <a:t>if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4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          </a:t>
            </a:r>
            <a:r>
              <a:rPr lang="en-US" sz="2400" b="1" u="none" dirty="0">
                <a:solidFill>
                  <a:srgbClr val="010000"/>
                </a:solidFill>
              </a:rPr>
              <a:t>then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endParaRPr lang="en-US" sz="24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</a:t>
            </a: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BLACK     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10000"/>
                </a:solidFill>
                <a:sym typeface="Symbol" pitchFamily="18" charset="2"/>
              </a:rPr>
              <a:t>//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Blacken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;  it is finished.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</a:t>
            </a:r>
            <a:r>
              <a:rPr lang="en-US" sz="2400" i="1" u="none" dirty="0">
                <a:solidFill>
                  <a:srgbClr val="010000"/>
                </a:solidFill>
              </a:rPr>
              <a:t>f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time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i="1" u="none" dirty="0">
                <a:solidFill>
                  <a:srgbClr val="010000"/>
                </a:solidFill>
              </a:rPr>
              <a:t> time </a:t>
            </a:r>
            <a:r>
              <a:rPr lang="en-US" sz="24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12599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678113" y="3790950"/>
            <a:ext cx="4067175" cy="2762250"/>
            <a:chOff x="2678113" y="1906588"/>
            <a:chExt cx="4067175" cy="2762250"/>
          </a:xfrm>
        </p:grpSpPr>
        <p:sp>
          <p:nvSpPr>
            <p:cNvPr id="77827" name="Oval 3"/>
            <p:cNvSpPr>
              <a:spLocks noChangeArrowheads="1"/>
            </p:cNvSpPr>
            <p:nvPr/>
          </p:nvSpPr>
          <p:spPr bwMode="auto">
            <a:xfrm>
              <a:off x="2678113" y="2303463"/>
              <a:ext cx="590550" cy="576262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28" name="Text Box 4"/>
            <p:cNvSpPr txBox="1">
              <a:spLocks noChangeArrowheads="1"/>
            </p:cNvSpPr>
            <p:nvPr/>
          </p:nvSpPr>
          <p:spPr bwMode="auto">
            <a:xfrm>
              <a:off x="2716213" y="2366963"/>
              <a:ext cx="4206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u="none" dirty="0">
                  <a:sym typeface="Symbol" pitchFamily="18" charset="2"/>
                </a:rPr>
                <a:t>1/</a:t>
              </a:r>
              <a:endParaRPr lang="en-US" b="1" u="none" dirty="0"/>
            </a:p>
          </p:txBody>
        </p:sp>
        <p:sp>
          <p:nvSpPr>
            <p:cNvPr id="77829" name="Oval 5"/>
            <p:cNvSpPr>
              <a:spLocks noChangeArrowheads="1"/>
            </p:cNvSpPr>
            <p:nvPr/>
          </p:nvSpPr>
          <p:spPr bwMode="auto">
            <a:xfrm>
              <a:off x="2678113" y="3719513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0" name="Text Box 6"/>
            <p:cNvSpPr txBox="1">
              <a:spLocks noChangeArrowheads="1"/>
            </p:cNvSpPr>
            <p:nvPr/>
          </p:nvSpPr>
          <p:spPr bwMode="auto">
            <a:xfrm>
              <a:off x="2773363" y="375443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b="1" u="none"/>
            </a:p>
          </p:txBody>
        </p:sp>
        <p:sp>
          <p:nvSpPr>
            <p:cNvPr id="77831" name="Oval 7"/>
            <p:cNvSpPr>
              <a:spLocks noChangeArrowheads="1"/>
            </p:cNvSpPr>
            <p:nvPr/>
          </p:nvSpPr>
          <p:spPr bwMode="auto">
            <a:xfrm>
              <a:off x="4159250" y="3713163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2" name="Line 8"/>
            <p:cNvSpPr>
              <a:spLocks noChangeShapeType="1"/>
            </p:cNvSpPr>
            <p:nvPr/>
          </p:nvSpPr>
          <p:spPr bwMode="auto">
            <a:xfrm>
              <a:off x="3254375" y="4008438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3" name="Oval 9"/>
            <p:cNvSpPr>
              <a:spLocks noChangeArrowheads="1"/>
            </p:cNvSpPr>
            <p:nvPr/>
          </p:nvSpPr>
          <p:spPr bwMode="auto">
            <a:xfrm>
              <a:off x="5640388" y="3722688"/>
              <a:ext cx="590550" cy="57626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4" name="Oval 10"/>
            <p:cNvSpPr>
              <a:spLocks noChangeArrowheads="1"/>
            </p:cNvSpPr>
            <p:nvPr/>
          </p:nvSpPr>
          <p:spPr bwMode="auto">
            <a:xfrm>
              <a:off x="4154488" y="2308225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5" name="Oval 11"/>
            <p:cNvSpPr>
              <a:spLocks noChangeArrowheads="1"/>
            </p:cNvSpPr>
            <p:nvPr/>
          </p:nvSpPr>
          <p:spPr bwMode="auto">
            <a:xfrm>
              <a:off x="5635625" y="2317750"/>
              <a:ext cx="590550" cy="5762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6" name="Line 12"/>
            <p:cNvSpPr>
              <a:spLocks noChangeShapeType="1"/>
            </p:cNvSpPr>
            <p:nvPr/>
          </p:nvSpPr>
          <p:spPr bwMode="auto">
            <a:xfrm>
              <a:off x="2965450" y="2881313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7" name="Line 13"/>
            <p:cNvSpPr>
              <a:spLocks noChangeShapeType="1"/>
            </p:cNvSpPr>
            <p:nvPr/>
          </p:nvSpPr>
          <p:spPr bwMode="auto">
            <a:xfrm>
              <a:off x="4446588" y="2890838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8" name="Line 14"/>
            <p:cNvSpPr>
              <a:spLocks noChangeShapeType="1"/>
            </p:cNvSpPr>
            <p:nvPr/>
          </p:nvSpPr>
          <p:spPr bwMode="auto">
            <a:xfrm>
              <a:off x="5927725" y="2900363"/>
              <a:ext cx="0" cy="84296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9" name="Line 15"/>
            <p:cNvSpPr>
              <a:spLocks noChangeShapeType="1"/>
            </p:cNvSpPr>
            <p:nvPr/>
          </p:nvSpPr>
          <p:spPr bwMode="auto">
            <a:xfrm flipV="1">
              <a:off x="3173413" y="2757488"/>
              <a:ext cx="1023937" cy="10287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0" name="Text Box 16"/>
            <p:cNvSpPr txBox="1">
              <a:spLocks noChangeArrowheads="1"/>
            </p:cNvSpPr>
            <p:nvPr/>
          </p:nvSpPr>
          <p:spPr bwMode="auto">
            <a:xfrm>
              <a:off x="2844800" y="1906588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u</a:t>
              </a:r>
            </a:p>
          </p:txBody>
        </p:sp>
        <p:sp>
          <p:nvSpPr>
            <p:cNvPr id="77841" name="Text Box 17"/>
            <p:cNvSpPr txBox="1">
              <a:spLocks noChangeArrowheads="1"/>
            </p:cNvSpPr>
            <p:nvPr/>
          </p:nvSpPr>
          <p:spPr bwMode="auto">
            <a:xfrm>
              <a:off x="4311650" y="1916113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v</a:t>
              </a:r>
            </a:p>
          </p:txBody>
        </p:sp>
        <p:sp>
          <p:nvSpPr>
            <p:cNvPr id="77842" name="Text Box 18"/>
            <p:cNvSpPr txBox="1">
              <a:spLocks noChangeArrowheads="1"/>
            </p:cNvSpPr>
            <p:nvPr/>
          </p:nvSpPr>
          <p:spPr bwMode="auto">
            <a:xfrm>
              <a:off x="5778500" y="1925638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w</a:t>
              </a:r>
            </a:p>
          </p:txBody>
        </p:sp>
        <p:sp>
          <p:nvSpPr>
            <p:cNvPr id="77843" name="Text Box 19"/>
            <p:cNvSpPr txBox="1">
              <a:spLocks noChangeArrowheads="1"/>
            </p:cNvSpPr>
            <p:nvPr/>
          </p:nvSpPr>
          <p:spPr bwMode="auto">
            <a:xfrm>
              <a:off x="2811463" y="4202113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x</a:t>
              </a:r>
            </a:p>
          </p:txBody>
        </p:sp>
        <p:sp>
          <p:nvSpPr>
            <p:cNvPr id="77844" name="Text Box 20"/>
            <p:cNvSpPr txBox="1">
              <a:spLocks noChangeArrowheads="1"/>
            </p:cNvSpPr>
            <p:nvPr/>
          </p:nvSpPr>
          <p:spPr bwMode="auto">
            <a:xfrm>
              <a:off x="4306888" y="4211638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y</a:t>
              </a:r>
            </a:p>
          </p:txBody>
        </p:sp>
        <p:sp>
          <p:nvSpPr>
            <p:cNvPr id="77845" name="Text Box 21"/>
            <p:cNvSpPr txBox="1">
              <a:spLocks noChangeArrowheads="1"/>
            </p:cNvSpPr>
            <p:nvPr/>
          </p:nvSpPr>
          <p:spPr bwMode="auto">
            <a:xfrm>
              <a:off x="5788025" y="4206875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u="none">
                  <a:solidFill>
                    <a:srgbClr val="CC0000"/>
                  </a:solidFill>
                </a:rPr>
                <a:t>z</a:t>
              </a:r>
            </a:p>
          </p:txBody>
        </p:sp>
        <p:sp>
          <p:nvSpPr>
            <p:cNvPr id="77846" name="Line 22"/>
            <p:cNvSpPr>
              <a:spLocks noChangeShapeType="1"/>
            </p:cNvSpPr>
            <p:nvPr/>
          </p:nvSpPr>
          <p:spPr bwMode="auto">
            <a:xfrm>
              <a:off x="3263900" y="2617788"/>
              <a:ext cx="923925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7" name="Line 23"/>
            <p:cNvSpPr>
              <a:spLocks noChangeShapeType="1"/>
            </p:cNvSpPr>
            <p:nvPr/>
          </p:nvSpPr>
          <p:spPr bwMode="auto">
            <a:xfrm flipV="1">
              <a:off x="4681538" y="2779713"/>
              <a:ext cx="1023937" cy="10287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48" name="Freeform 24"/>
            <p:cNvSpPr>
              <a:spLocks/>
            </p:cNvSpPr>
            <p:nvPr/>
          </p:nvSpPr>
          <p:spPr bwMode="auto">
            <a:xfrm>
              <a:off x="6146800" y="3797300"/>
              <a:ext cx="598488" cy="590550"/>
            </a:xfrm>
            <a:custGeom>
              <a:avLst/>
              <a:gdLst>
                <a:gd name="T0" fmla="*/ 0 w 377"/>
                <a:gd name="T1" fmla="*/ 254 h 372"/>
                <a:gd name="T2" fmla="*/ 145 w 377"/>
                <a:gd name="T3" fmla="*/ 363 h 372"/>
                <a:gd name="T4" fmla="*/ 345 w 377"/>
                <a:gd name="T5" fmla="*/ 308 h 372"/>
                <a:gd name="T6" fmla="*/ 336 w 377"/>
                <a:gd name="T7" fmla="*/ 136 h 372"/>
                <a:gd name="T8" fmla="*/ 209 w 377"/>
                <a:gd name="T9" fmla="*/ 17 h 372"/>
                <a:gd name="T10" fmla="*/ 36 w 377"/>
                <a:gd name="T11" fmla="*/ 36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7" h="372">
                  <a:moveTo>
                    <a:pt x="0" y="254"/>
                  </a:moveTo>
                  <a:cubicBezTo>
                    <a:pt x="44" y="304"/>
                    <a:pt x="88" y="354"/>
                    <a:pt x="145" y="363"/>
                  </a:cubicBezTo>
                  <a:cubicBezTo>
                    <a:pt x="202" y="372"/>
                    <a:pt x="313" y="346"/>
                    <a:pt x="345" y="308"/>
                  </a:cubicBezTo>
                  <a:cubicBezTo>
                    <a:pt x="377" y="270"/>
                    <a:pt x="359" y="184"/>
                    <a:pt x="336" y="136"/>
                  </a:cubicBezTo>
                  <a:cubicBezTo>
                    <a:pt x="313" y="88"/>
                    <a:pt x="259" y="34"/>
                    <a:pt x="209" y="17"/>
                  </a:cubicBezTo>
                  <a:cubicBezTo>
                    <a:pt x="159" y="0"/>
                    <a:pt x="97" y="18"/>
                    <a:pt x="36" y="36"/>
                  </a:cubicBez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27584" y="3732312"/>
            <a:ext cx="1296144" cy="2592288"/>
            <a:chOff x="827584" y="2060848"/>
            <a:chExt cx="1296144" cy="2592288"/>
          </a:xfrm>
        </p:grpSpPr>
        <p:sp>
          <p:nvSpPr>
            <p:cNvPr id="26" name="Rectangle 25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092280" y="3886200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</a:t>
            </a:r>
            <a:r>
              <a:rPr lang="en-US" sz="2400" b="1" u="none" dirty="0"/>
              <a:t>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b="1" u="none" dirty="0"/>
              <a:t>u	nil</a:t>
            </a:r>
          </a:p>
          <a:p>
            <a:pPr lvl="1" algn="l" rtl="0"/>
            <a:r>
              <a:rPr lang="en-IN" sz="2400" u="none" dirty="0"/>
              <a:t>v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</a:t>
            </a:r>
          </a:p>
          <a:p>
            <a:pPr lvl="1" algn="l" rtl="0"/>
            <a:r>
              <a:rPr lang="en-IN" sz="2400" u="none" dirty="0"/>
              <a:t>y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099291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78851" name="Oval 3"/>
          <p:cNvSpPr>
            <a:spLocks noChangeArrowheads="1"/>
          </p:cNvSpPr>
          <p:nvPr/>
        </p:nvSpPr>
        <p:spPr bwMode="auto">
          <a:xfrm>
            <a:off x="2678113" y="4116656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2716213" y="4180156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2678113" y="5532706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2773363" y="5567631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78855" name="Oval 7"/>
          <p:cNvSpPr>
            <a:spLocks noChangeArrowheads="1"/>
          </p:cNvSpPr>
          <p:nvPr/>
        </p:nvSpPr>
        <p:spPr bwMode="auto">
          <a:xfrm>
            <a:off x="4159250" y="5526356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3254375" y="5821631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>
            <a:off x="5640388" y="553588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Oval 10"/>
          <p:cNvSpPr>
            <a:spLocks noChangeArrowheads="1"/>
          </p:cNvSpPr>
          <p:nvPr/>
        </p:nvSpPr>
        <p:spPr bwMode="auto">
          <a:xfrm>
            <a:off x="4154488" y="4121418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78859" name="Oval 11"/>
          <p:cNvSpPr>
            <a:spLocks noChangeArrowheads="1"/>
          </p:cNvSpPr>
          <p:nvPr/>
        </p:nvSpPr>
        <p:spPr bwMode="auto">
          <a:xfrm>
            <a:off x="5635625" y="4130943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0" name="Line 12"/>
          <p:cNvSpPr>
            <a:spLocks noChangeShapeType="1"/>
          </p:cNvSpPr>
          <p:nvPr/>
        </p:nvSpPr>
        <p:spPr bwMode="auto">
          <a:xfrm>
            <a:off x="2965450" y="469450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1" name="Line 13"/>
          <p:cNvSpPr>
            <a:spLocks noChangeShapeType="1"/>
          </p:cNvSpPr>
          <p:nvPr/>
        </p:nvSpPr>
        <p:spPr bwMode="auto">
          <a:xfrm>
            <a:off x="4446588" y="4704031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>
            <a:off x="5927725" y="471355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3" name="Line 15"/>
          <p:cNvSpPr>
            <a:spLocks noChangeShapeType="1"/>
          </p:cNvSpPr>
          <p:nvPr/>
        </p:nvSpPr>
        <p:spPr bwMode="auto">
          <a:xfrm flipV="1">
            <a:off x="3173413" y="4570681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2844800" y="371978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4311650" y="372930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5778500" y="3738831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2811463" y="601530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4306888" y="602483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5788025" y="6020068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78870" name="Line 22"/>
          <p:cNvSpPr>
            <a:spLocks noChangeShapeType="1"/>
          </p:cNvSpPr>
          <p:nvPr/>
        </p:nvSpPr>
        <p:spPr bwMode="auto">
          <a:xfrm>
            <a:off x="3263900" y="4430981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1" name="Line 23"/>
          <p:cNvSpPr>
            <a:spLocks noChangeShapeType="1"/>
          </p:cNvSpPr>
          <p:nvPr/>
        </p:nvSpPr>
        <p:spPr bwMode="auto">
          <a:xfrm flipV="1">
            <a:off x="4681538" y="4592906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2" name="Freeform 24"/>
          <p:cNvSpPr>
            <a:spLocks/>
          </p:cNvSpPr>
          <p:nvPr/>
        </p:nvSpPr>
        <p:spPr bwMode="auto">
          <a:xfrm>
            <a:off x="6146800" y="5610493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827584" y="3960912"/>
            <a:ext cx="1296144" cy="2592288"/>
            <a:chOff x="827584" y="2060848"/>
            <a:chExt cx="1296144" cy="2592288"/>
          </a:xfrm>
        </p:grpSpPr>
        <p:sp>
          <p:nvSpPr>
            <p:cNvPr id="26" name="Rectangle 25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092280" y="3733850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b="1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</a:t>
            </a:r>
          </a:p>
          <a:p>
            <a:pPr lvl="1" algn="l" rtl="0"/>
            <a:r>
              <a:rPr lang="en-IN" sz="2400" u="none" dirty="0"/>
              <a:t>y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742810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79875" name="Oval 3"/>
          <p:cNvSpPr>
            <a:spLocks noChangeArrowheads="1"/>
          </p:cNvSpPr>
          <p:nvPr/>
        </p:nvSpPr>
        <p:spPr bwMode="auto">
          <a:xfrm>
            <a:off x="2678113" y="4192856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2716213" y="4256356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79877" name="Oval 5"/>
          <p:cNvSpPr>
            <a:spLocks noChangeArrowheads="1"/>
          </p:cNvSpPr>
          <p:nvPr/>
        </p:nvSpPr>
        <p:spPr bwMode="auto">
          <a:xfrm>
            <a:off x="2678113" y="5608906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2773363" y="5643831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79879" name="Oval 7"/>
          <p:cNvSpPr>
            <a:spLocks noChangeArrowheads="1"/>
          </p:cNvSpPr>
          <p:nvPr/>
        </p:nvSpPr>
        <p:spPr bwMode="auto">
          <a:xfrm>
            <a:off x="4159250" y="5602556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</a:t>
            </a:r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3254375" y="5897831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1" name="Oval 9"/>
          <p:cNvSpPr>
            <a:spLocks noChangeArrowheads="1"/>
          </p:cNvSpPr>
          <p:nvPr/>
        </p:nvSpPr>
        <p:spPr bwMode="auto">
          <a:xfrm>
            <a:off x="5640388" y="5612081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2" name="Oval 10"/>
          <p:cNvSpPr>
            <a:spLocks noChangeArrowheads="1"/>
          </p:cNvSpPr>
          <p:nvPr/>
        </p:nvSpPr>
        <p:spPr bwMode="auto">
          <a:xfrm>
            <a:off x="4154488" y="4197618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79883" name="Oval 11"/>
          <p:cNvSpPr>
            <a:spLocks noChangeArrowheads="1"/>
          </p:cNvSpPr>
          <p:nvPr/>
        </p:nvSpPr>
        <p:spPr bwMode="auto">
          <a:xfrm>
            <a:off x="5635625" y="4207143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4" name="Line 12"/>
          <p:cNvSpPr>
            <a:spLocks noChangeShapeType="1"/>
          </p:cNvSpPr>
          <p:nvPr/>
        </p:nvSpPr>
        <p:spPr bwMode="auto">
          <a:xfrm>
            <a:off x="2965450" y="477070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5" name="Line 13"/>
          <p:cNvSpPr>
            <a:spLocks noChangeShapeType="1"/>
          </p:cNvSpPr>
          <p:nvPr/>
        </p:nvSpPr>
        <p:spPr bwMode="auto">
          <a:xfrm>
            <a:off x="4446588" y="4780231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6" name="Line 14"/>
          <p:cNvSpPr>
            <a:spLocks noChangeShapeType="1"/>
          </p:cNvSpPr>
          <p:nvPr/>
        </p:nvSpPr>
        <p:spPr bwMode="auto">
          <a:xfrm>
            <a:off x="5927725" y="4789756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7" name="Line 15"/>
          <p:cNvSpPr>
            <a:spLocks noChangeShapeType="1"/>
          </p:cNvSpPr>
          <p:nvPr/>
        </p:nvSpPr>
        <p:spPr bwMode="auto">
          <a:xfrm flipV="1">
            <a:off x="3173413" y="4646881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2844800" y="379598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4311650" y="380550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5778500" y="3815031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2811463" y="609150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9892" name="Text Box 20"/>
          <p:cNvSpPr txBox="1">
            <a:spLocks noChangeArrowheads="1"/>
          </p:cNvSpPr>
          <p:nvPr/>
        </p:nvSpPr>
        <p:spPr bwMode="auto">
          <a:xfrm>
            <a:off x="4306888" y="610103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5788025" y="6096268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79894" name="Line 22"/>
          <p:cNvSpPr>
            <a:spLocks noChangeShapeType="1"/>
          </p:cNvSpPr>
          <p:nvPr/>
        </p:nvSpPr>
        <p:spPr bwMode="auto">
          <a:xfrm>
            <a:off x="3263900" y="4507181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95" name="Line 23"/>
          <p:cNvSpPr>
            <a:spLocks noChangeShapeType="1"/>
          </p:cNvSpPr>
          <p:nvPr/>
        </p:nvSpPr>
        <p:spPr bwMode="auto">
          <a:xfrm flipV="1">
            <a:off x="4681538" y="4669106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96" name="Freeform 24"/>
          <p:cNvSpPr>
            <a:spLocks/>
          </p:cNvSpPr>
          <p:nvPr/>
        </p:nvSpPr>
        <p:spPr bwMode="auto">
          <a:xfrm>
            <a:off x="6146800" y="5686693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827584" y="4037112"/>
            <a:ext cx="1296144" cy="2592288"/>
            <a:chOff x="827584" y="2060848"/>
            <a:chExt cx="1296144" cy="2592288"/>
          </a:xfrm>
        </p:grpSpPr>
        <p:sp>
          <p:nvSpPr>
            <p:cNvPr id="26" name="Rectangle 25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y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092280" y="3810050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</a:t>
            </a:r>
          </a:p>
          <a:p>
            <a:pPr lvl="1" algn="l" rtl="0"/>
            <a:r>
              <a:rPr lang="en-IN" sz="2400" b="1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23460077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0899" name="Oval 3"/>
          <p:cNvSpPr>
            <a:spLocks noChangeArrowheads="1"/>
          </p:cNvSpPr>
          <p:nvPr/>
        </p:nvSpPr>
        <p:spPr bwMode="auto">
          <a:xfrm>
            <a:off x="2678113" y="4203477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2716213" y="4266977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0901" name="Oval 5"/>
          <p:cNvSpPr>
            <a:spLocks noChangeArrowheads="1"/>
          </p:cNvSpPr>
          <p:nvPr/>
        </p:nvSpPr>
        <p:spPr bwMode="auto">
          <a:xfrm>
            <a:off x="2678113" y="5619527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2773363" y="5654452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0903" name="Oval 7"/>
          <p:cNvSpPr>
            <a:spLocks noChangeArrowheads="1"/>
          </p:cNvSpPr>
          <p:nvPr/>
        </p:nvSpPr>
        <p:spPr bwMode="auto">
          <a:xfrm>
            <a:off x="4159250" y="5613177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</a:t>
            </a:r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3254375" y="5908452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5" name="Oval 9"/>
          <p:cNvSpPr>
            <a:spLocks noChangeArrowheads="1"/>
          </p:cNvSpPr>
          <p:nvPr/>
        </p:nvSpPr>
        <p:spPr bwMode="auto">
          <a:xfrm>
            <a:off x="5640388" y="5622702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6" name="Oval 10"/>
          <p:cNvSpPr>
            <a:spLocks noChangeArrowheads="1"/>
          </p:cNvSpPr>
          <p:nvPr/>
        </p:nvSpPr>
        <p:spPr bwMode="auto">
          <a:xfrm>
            <a:off x="4154488" y="4208239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80907" name="Oval 11"/>
          <p:cNvSpPr>
            <a:spLocks noChangeArrowheads="1"/>
          </p:cNvSpPr>
          <p:nvPr/>
        </p:nvSpPr>
        <p:spPr bwMode="auto">
          <a:xfrm>
            <a:off x="5635625" y="4217764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8" name="Line 12"/>
          <p:cNvSpPr>
            <a:spLocks noChangeShapeType="1"/>
          </p:cNvSpPr>
          <p:nvPr/>
        </p:nvSpPr>
        <p:spPr bwMode="auto">
          <a:xfrm>
            <a:off x="2965450" y="4781327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9" name="Line 13"/>
          <p:cNvSpPr>
            <a:spLocks noChangeShapeType="1"/>
          </p:cNvSpPr>
          <p:nvPr/>
        </p:nvSpPr>
        <p:spPr bwMode="auto">
          <a:xfrm>
            <a:off x="4446588" y="4790852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0" name="Line 14"/>
          <p:cNvSpPr>
            <a:spLocks noChangeShapeType="1"/>
          </p:cNvSpPr>
          <p:nvPr/>
        </p:nvSpPr>
        <p:spPr bwMode="auto">
          <a:xfrm>
            <a:off x="5927725" y="4800377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1" name="Line 15"/>
          <p:cNvSpPr>
            <a:spLocks noChangeShapeType="1"/>
          </p:cNvSpPr>
          <p:nvPr/>
        </p:nvSpPr>
        <p:spPr bwMode="auto">
          <a:xfrm flipV="1">
            <a:off x="3173413" y="4657502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2" name="Text Box 16"/>
          <p:cNvSpPr txBox="1">
            <a:spLocks noChangeArrowheads="1"/>
          </p:cNvSpPr>
          <p:nvPr/>
        </p:nvSpPr>
        <p:spPr bwMode="auto">
          <a:xfrm>
            <a:off x="2844800" y="380660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0913" name="Text Box 17"/>
          <p:cNvSpPr txBox="1">
            <a:spLocks noChangeArrowheads="1"/>
          </p:cNvSpPr>
          <p:nvPr/>
        </p:nvSpPr>
        <p:spPr bwMode="auto">
          <a:xfrm>
            <a:off x="4311650" y="381612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0914" name="Text Box 18"/>
          <p:cNvSpPr txBox="1">
            <a:spLocks noChangeArrowheads="1"/>
          </p:cNvSpPr>
          <p:nvPr/>
        </p:nvSpPr>
        <p:spPr bwMode="auto">
          <a:xfrm>
            <a:off x="5778500" y="3825652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0915" name="Text Box 19"/>
          <p:cNvSpPr txBox="1">
            <a:spLocks noChangeArrowheads="1"/>
          </p:cNvSpPr>
          <p:nvPr/>
        </p:nvSpPr>
        <p:spPr bwMode="auto">
          <a:xfrm>
            <a:off x="2811463" y="610212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4306888" y="611165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0917" name="Text Box 21"/>
          <p:cNvSpPr txBox="1">
            <a:spLocks noChangeArrowheads="1"/>
          </p:cNvSpPr>
          <p:nvPr/>
        </p:nvSpPr>
        <p:spPr bwMode="auto">
          <a:xfrm>
            <a:off x="5788025" y="6106889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0918" name="Line 22"/>
          <p:cNvSpPr>
            <a:spLocks noChangeShapeType="1"/>
          </p:cNvSpPr>
          <p:nvPr/>
        </p:nvSpPr>
        <p:spPr bwMode="auto">
          <a:xfrm>
            <a:off x="3263900" y="4517802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9" name="Line 23"/>
          <p:cNvSpPr>
            <a:spLocks noChangeShapeType="1"/>
          </p:cNvSpPr>
          <p:nvPr/>
        </p:nvSpPr>
        <p:spPr bwMode="auto">
          <a:xfrm flipV="1">
            <a:off x="4681538" y="4679727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20" name="Freeform 24"/>
          <p:cNvSpPr>
            <a:spLocks/>
          </p:cNvSpPr>
          <p:nvPr/>
        </p:nvSpPr>
        <p:spPr bwMode="auto">
          <a:xfrm>
            <a:off x="6146800" y="5697314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827584" y="3960862"/>
            <a:ext cx="1296144" cy="2592288"/>
            <a:chOff x="827584" y="2060848"/>
            <a:chExt cx="1296144" cy="2592288"/>
          </a:xfrm>
        </p:grpSpPr>
        <p:sp>
          <p:nvSpPr>
            <p:cNvPr id="26" name="Rectangle 25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X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y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092280" y="3733800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b="1" u="none" dirty="0"/>
              <a:t>x	y</a:t>
            </a:r>
          </a:p>
          <a:p>
            <a:pPr lvl="1" algn="l" rtl="0"/>
            <a:r>
              <a:rPr lang="en-IN" sz="2400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20058277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1923" name="Oval 3"/>
          <p:cNvSpPr>
            <a:spLocks noChangeArrowheads="1"/>
          </p:cNvSpPr>
          <p:nvPr/>
        </p:nvSpPr>
        <p:spPr bwMode="auto">
          <a:xfrm>
            <a:off x="2678113" y="4187825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2716213" y="4251325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1925" name="Oval 5"/>
          <p:cNvSpPr>
            <a:spLocks noChangeArrowheads="1"/>
          </p:cNvSpPr>
          <p:nvPr/>
        </p:nvSpPr>
        <p:spPr bwMode="auto">
          <a:xfrm>
            <a:off x="2678113" y="5603875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</a:t>
            </a:r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2773363" y="5638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1927" name="Oval 7"/>
          <p:cNvSpPr>
            <a:spLocks noChangeArrowheads="1"/>
          </p:cNvSpPr>
          <p:nvPr/>
        </p:nvSpPr>
        <p:spPr bwMode="auto">
          <a:xfrm>
            <a:off x="4159250" y="5597525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</a:t>
            </a:r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>
            <a:off x="3254375" y="589280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9" name="Oval 9"/>
          <p:cNvSpPr>
            <a:spLocks noChangeArrowheads="1"/>
          </p:cNvSpPr>
          <p:nvPr/>
        </p:nvSpPr>
        <p:spPr bwMode="auto">
          <a:xfrm>
            <a:off x="5640388" y="5607050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0" name="Oval 10"/>
          <p:cNvSpPr>
            <a:spLocks noChangeArrowheads="1"/>
          </p:cNvSpPr>
          <p:nvPr/>
        </p:nvSpPr>
        <p:spPr bwMode="auto">
          <a:xfrm>
            <a:off x="4154488" y="4192587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81931" name="Oval 11"/>
          <p:cNvSpPr>
            <a:spLocks noChangeArrowheads="1"/>
          </p:cNvSpPr>
          <p:nvPr/>
        </p:nvSpPr>
        <p:spPr bwMode="auto">
          <a:xfrm>
            <a:off x="5635625" y="4202112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2965450" y="476567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4446588" y="4775200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5927725" y="478472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5" name="Line 15"/>
          <p:cNvSpPr>
            <a:spLocks noChangeShapeType="1"/>
          </p:cNvSpPr>
          <p:nvPr/>
        </p:nvSpPr>
        <p:spPr bwMode="auto">
          <a:xfrm flipV="1">
            <a:off x="3173413" y="4641850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2844800" y="3790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4311650" y="380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1938" name="Text Box 18"/>
          <p:cNvSpPr txBox="1">
            <a:spLocks noChangeArrowheads="1"/>
          </p:cNvSpPr>
          <p:nvPr/>
        </p:nvSpPr>
        <p:spPr bwMode="auto">
          <a:xfrm>
            <a:off x="5778500" y="3810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1939" name="Text Box 19"/>
          <p:cNvSpPr txBox="1">
            <a:spLocks noChangeArrowheads="1"/>
          </p:cNvSpPr>
          <p:nvPr/>
        </p:nvSpPr>
        <p:spPr bwMode="auto">
          <a:xfrm>
            <a:off x="2811463" y="6086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1940" name="Text Box 20"/>
          <p:cNvSpPr txBox="1">
            <a:spLocks noChangeArrowheads="1"/>
          </p:cNvSpPr>
          <p:nvPr/>
        </p:nvSpPr>
        <p:spPr bwMode="auto">
          <a:xfrm>
            <a:off x="4306888" y="6096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5788025" y="6091237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1942" name="Line 22"/>
          <p:cNvSpPr>
            <a:spLocks noChangeShapeType="1"/>
          </p:cNvSpPr>
          <p:nvPr/>
        </p:nvSpPr>
        <p:spPr bwMode="auto">
          <a:xfrm>
            <a:off x="3263900" y="45021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3" name="Line 23"/>
          <p:cNvSpPr>
            <a:spLocks noChangeShapeType="1"/>
          </p:cNvSpPr>
          <p:nvPr/>
        </p:nvSpPr>
        <p:spPr bwMode="auto">
          <a:xfrm flipV="1">
            <a:off x="4681538" y="4664075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4" name="Freeform 24"/>
          <p:cNvSpPr>
            <a:spLocks/>
          </p:cNvSpPr>
          <p:nvPr/>
        </p:nvSpPr>
        <p:spPr bwMode="auto">
          <a:xfrm>
            <a:off x="6146800" y="5681662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5" name="Text Box 25"/>
          <p:cNvSpPr txBox="1">
            <a:spLocks noChangeArrowheads="1"/>
          </p:cNvSpPr>
          <p:nvPr/>
        </p:nvSpPr>
        <p:spPr bwMode="auto">
          <a:xfrm>
            <a:off x="3357563" y="48355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27584" y="3945210"/>
            <a:ext cx="1296144" cy="2592288"/>
            <a:chOff x="827584" y="2060848"/>
            <a:chExt cx="1296144" cy="2592288"/>
          </a:xfrm>
        </p:grpSpPr>
        <p:sp>
          <p:nvSpPr>
            <p:cNvPr id="27" name="Rectangle 26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X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y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3799344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	y</a:t>
            </a:r>
          </a:p>
          <a:p>
            <a:pPr lvl="1" algn="l" rtl="0"/>
            <a:r>
              <a:rPr lang="en-IN" sz="2400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6861159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2947" name="Oval 3"/>
          <p:cNvSpPr>
            <a:spLocks noChangeArrowheads="1"/>
          </p:cNvSpPr>
          <p:nvPr/>
        </p:nvSpPr>
        <p:spPr bwMode="auto">
          <a:xfrm>
            <a:off x="2678113" y="4203477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2716213" y="4266977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2949" name="Oval 5"/>
          <p:cNvSpPr>
            <a:spLocks noChangeArrowheads="1"/>
          </p:cNvSpPr>
          <p:nvPr/>
        </p:nvSpPr>
        <p:spPr bwMode="auto">
          <a:xfrm>
            <a:off x="2678113" y="5619527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2773363" y="5654452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2951" name="Oval 7"/>
          <p:cNvSpPr>
            <a:spLocks noChangeArrowheads="1"/>
          </p:cNvSpPr>
          <p:nvPr/>
        </p:nvSpPr>
        <p:spPr bwMode="auto">
          <a:xfrm>
            <a:off x="4159250" y="5613177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254375" y="5908452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3" name="Oval 9"/>
          <p:cNvSpPr>
            <a:spLocks noChangeArrowheads="1"/>
          </p:cNvSpPr>
          <p:nvPr/>
        </p:nvSpPr>
        <p:spPr bwMode="auto">
          <a:xfrm>
            <a:off x="5640388" y="5622702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4" name="Oval 10"/>
          <p:cNvSpPr>
            <a:spLocks noChangeArrowheads="1"/>
          </p:cNvSpPr>
          <p:nvPr/>
        </p:nvSpPr>
        <p:spPr bwMode="auto">
          <a:xfrm>
            <a:off x="4154488" y="4208239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82955" name="Oval 11"/>
          <p:cNvSpPr>
            <a:spLocks noChangeArrowheads="1"/>
          </p:cNvSpPr>
          <p:nvPr/>
        </p:nvSpPr>
        <p:spPr bwMode="auto">
          <a:xfrm>
            <a:off x="5635625" y="4217764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6" name="Line 12"/>
          <p:cNvSpPr>
            <a:spLocks noChangeShapeType="1"/>
          </p:cNvSpPr>
          <p:nvPr/>
        </p:nvSpPr>
        <p:spPr bwMode="auto">
          <a:xfrm>
            <a:off x="2965450" y="4781327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4446588" y="4790852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>
            <a:off x="5927725" y="4800377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 flipV="1">
            <a:off x="3173413" y="4657502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2844800" y="380660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4311650" y="381612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5778500" y="3825652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811463" y="610212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4306888" y="611165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5788025" y="6106889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2966" name="Line 22"/>
          <p:cNvSpPr>
            <a:spLocks noChangeShapeType="1"/>
          </p:cNvSpPr>
          <p:nvPr/>
        </p:nvSpPr>
        <p:spPr bwMode="auto">
          <a:xfrm>
            <a:off x="3263900" y="4517802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7" name="Line 23"/>
          <p:cNvSpPr>
            <a:spLocks noChangeShapeType="1"/>
          </p:cNvSpPr>
          <p:nvPr/>
        </p:nvSpPr>
        <p:spPr bwMode="auto">
          <a:xfrm flipV="1">
            <a:off x="4681538" y="4679727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8" name="Freeform 24"/>
          <p:cNvSpPr>
            <a:spLocks/>
          </p:cNvSpPr>
          <p:nvPr/>
        </p:nvSpPr>
        <p:spPr bwMode="auto">
          <a:xfrm>
            <a:off x="6146800" y="5697314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3357563" y="4851177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27584" y="3960862"/>
            <a:ext cx="1296144" cy="2592288"/>
            <a:chOff x="827584" y="2060848"/>
            <a:chExt cx="1296144" cy="2592288"/>
          </a:xfrm>
        </p:grpSpPr>
        <p:sp>
          <p:nvSpPr>
            <p:cNvPr id="27" name="Rectangle 26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y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3733800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	y</a:t>
            </a:r>
          </a:p>
          <a:p>
            <a:pPr lvl="1" algn="l" rtl="0"/>
            <a:r>
              <a:rPr lang="en-IN" sz="2400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1676400" y="3276600"/>
            <a:ext cx="1039813" cy="23778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57534" y="290726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Leaf node</a:t>
            </a:r>
          </a:p>
        </p:txBody>
      </p:sp>
    </p:spTree>
    <p:extLst>
      <p:ext uri="{BB962C8B-B14F-4D97-AF65-F5344CB8AC3E}">
        <p14:creationId xmlns:p14="http://schemas.microsoft.com/office/powerpoint/2010/main" val="14060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3971" name="Oval 3"/>
          <p:cNvSpPr>
            <a:spLocks noChangeArrowheads="1"/>
          </p:cNvSpPr>
          <p:nvPr/>
        </p:nvSpPr>
        <p:spPr bwMode="auto">
          <a:xfrm>
            <a:off x="2678113" y="4187825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2716213" y="4251325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3973" name="Oval 5"/>
          <p:cNvSpPr>
            <a:spLocks noChangeArrowheads="1"/>
          </p:cNvSpPr>
          <p:nvPr/>
        </p:nvSpPr>
        <p:spPr bwMode="auto">
          <a:xfrm>
            <a:off x="2678113" y="5603875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2773363" y="5638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3975" name="Oval 7"/>
          <p:cNvSpPr>
            <a:spLocks noChangeArrowheads="1"/>
          </p:cNvSpPr>
          <p:nvPr/>
        </p:nvSpPr>
        <p:spPr bwMode="auto">
          <a:xfrm>
            <a:off x="4159250" y="5597525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>
            <a:off x="3254375" y="589280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7" name="Oval 9"/>
          <p:cNvSpPr>
            <a:spLocks noChangeArrowheads="1"/>
          </p:cNvSpPr>
          <p:nvPr/>
        </p:nvSpPr>
        <p:spPr bwMode="auto">
          <a:xfrm>
            <a:off x="5640388" y="5607050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8" name="Oval 10"/>
          <p:cNvSpPr>
            <a:spLocks noChangeArrowheads="1"/>
          </p:cNvSpPr>
          <p:nvPr/>
        </p:nvSpPr>
        <p:spPr bwMode="auto">
          <a:xfrm>
            <a:off x="4154488" y="4192587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</a:t>
            </a:r>
          </a:p>
        </p:txBody>
      </p:sp>
      <p:sp>
        <p:nvSpPr>
          <p:cNvPr id="83979" name="Oval 11"/>
          <p:cNvSpPr>
            <a:spLocks noChangeArrowheads="1"/>
          </p:cNvSpPr>
          <p:nvPr/>
        </p:nvSpPr>
        <p:spPr bwMode="auto">
          <a:xfrm>
            <a:off x="5635625" y="4202112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0" name="Line 12"/>
          <p:cNvSpPr>
            <a:spLocks noChangeShapeType="1"/>
          </p:cNvSpPr>
          <p:nvPr/>
        </p:nvSpPr>
        <p:spPr bwMode="auto">
          <a:xfrm>
            <a:off x="2965450" y="476567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1" name="Line 13"/>
          <p:cNvSpPr>
            <a:spLocks noChangeShapeType="1"/>
          </p:cNvSpPr>
          <p:nvPr/>
        </p:nvSpPr>
        <p:spPr bwMode="auto">
          <a:xfrm>
            <a:off x="4446588" y="4775200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2" name="Line 14"/>
          <p:cNvSpPr>
            <a:spLocks noChangeShapeType="1"/>
          </p:cNvSpPr>
          <p:nvPr/>
        </p:nvSpPr>
        <p:spPr bwMode="auto">
          <a:xfrm>
            <a:off x="5927725" y="478472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3" name="Line 15"/>
          <p:cNvSpPr>
            <a:spLocks noChangeShapeType="1"/>
          </p:cNvSpPr>
          <p:nvPr/>
        </p:nvSpPr>
        <p:spPr bwMode="auto">
          <a:xfrm flipV="1">
            <a:off x="3173413" y="4641850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4" name="Text Box 16"/>
          <p:cNvSpPr txBox="1">
            <a:spLocks noChangeArrowheads="1"/>
          </p:cNvSpPr>
          <p:nvPr/>
        </p:nvSpPr>
        <p:spPr bwMode="auto">
          <a:xfrm>
            <a:off x="2844800" y="3790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4311650" y="380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3986" name="Text Box 18"/>
          <p:cNvSpPr txBox="1">
            <a:spLocks noChangeArrowheads="1"/>
          </p:cNvSpPr>
          <p:nvPr/>
        </p:nvSpPr>
        <p:spPr bwMode="auto">
          <a:xfrm>
            <a:off x="5778500" y="3810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3987" name="Text Box 19"/>
          <p:cNvSpPr txBox="1">
            <a:spLocks noChangeArrowheads="1"/>
          </p:cNvSpPr>
          <p:nvPr/>
        </p:nvSpPr>
        <p:spPr bwMode="auto">
          <a:xfrm>
            <a:off x="2811463" y="6086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3988" name="Text Box 20"/>
          <p:cNvSpPr txBox="1">
            <a:spLocks noChangeArrowheads="1"/>
          </p:cNvSpPr>
          <p:nvPr/>
        </p:nvSpPr>
        <p:spPr bwMode="auto">
          <a:xfrm>
            <a:off x="4306888" y="6096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3989" name="Text Box 21"/>
          <p:cNvSpPr txBox="1">
            <a:spLocks noChangeArrowheads="1"/>
          </p:cNvSpPr>
          <p:nvPr/>
        </p:nvSpPr>
        <p:spPr bwMode="auto">
          <a:xfrm>
            <a:off x="5788025" y="6091237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3990" name="Line 22"/>
          <p:cNvSpPr>
            <a:spLocks noChangeShapeType="1"/>
          </p:cNvSpPr>
          <p:nvPr/>
        </p:nvSpPr>
        <p:spPr bwMode="auto">
          <a:xfrm>
            <a:off x="3263900" y="45021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1" name="Line 23"/>
          <p:cNvSpPr>
            <a:spLocks noChangeShapeType="1"/>
          </p:cNvSpPr>
          <p:nvPr/>
        </p:nvSpPr>
        <p:spPr bwMode="auto">
          <a:xfrm flipV="1">
            <a:off x="4681538" y="4664075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2" name="Freeform 24"/>
          <p:cNvSpPr>
            <a:spLocks/>
          </p:cNvSpPr>
          <p:nvPr/>
        </p:nvSpPr>
        <p:spPr bwMode="auto">
          <a:xfrm>
            <a:off x="6146800" y="5681662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3" name="Text Box 25"/>
          <p:cNvSpPr txBox="1">
            <a:spLocks noChangeArrowheads="1"/>
          </p:cNvSpPr>
          <p:nvPr/>
        </p:nvSpPr>
        <p:spPr bwMode="auto">
          <a:xfrm>
            <a:off x="3357563" y="48355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grpSp>
        <p:nvGrpSpPr>
          <p:cNvPr id="30" name="Group 26"/>
          <p:cNvGrpSpPr/>
          <p:nvPr/>
        </p:nvGrpSpPr>
        <p:grpSpPr>
          <a:xfrm>
            <a:off x="827584" y="3945210"/>
            <a:ext cx="1296144" cy="2592288"/>
            <a:chOff x="827584" y="2060848"/>
            <a:chExt cx="1296144" cy="2592288"/>
          </a:xfrm>
        </p:grpSpPr>
        <p:sp>
          <p:nvSpPr>
            <p:cNvPr id="31" name="Rectangle 30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v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7092280" y="3799344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	y</a:t>
            </a:r>
          </a:p>
          <a:p>
            <a:pPr lvl="1" algn="l" rtl="0"/>
            <a:r>
              <a:rPr lang="en-IN" sz="2400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9911082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4995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4997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4999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1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2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85003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4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5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7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8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5009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5010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5011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5012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5014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5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6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7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27" name="Rectangle 26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3561016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6019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</a:t>
            </a:r>
            <a:endParaRPr lang="en-US" b="1" u="none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6023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5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6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86027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9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6038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9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40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86042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28" name="Rectangle 27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2570960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7043" name="Oval 3"/>
          <p:cNvSpPr>
            <a:spLocks noChangeArrowheads="1"/>
          </p:cNvSpPr>
          <p:nvPr/>
        </p:nvSpPr>
        <p:spPr bwMode="auto">
          <a:xfrm>
            <a:off x="2678113" y="4187825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716213" y="4251325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87045" name="Oval 5"/>
          <p:cNvSpPr>
            <a:spLocks noChangeArrowheads="1"/>
          </p:cNvSpPr>
          <p:nvPr/>
        </p:nvSpPr>
        <p:spPr bwMode="auto">
          <a:xfrm>
            <a:off x="2678113" y="5603875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2773363" y="5638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7047" name="Oval 7"/>
          <p:cNvSpPr>
            <a:spLocks noChangeArrowheads="1"/>
          </p:cNvSpPr>
          <p:nvPr/>
        </p:nvSpPr>
        <p:spPr bwMode="auto">
          <a:xfrm>
            <a:off x="4159250" y="5597525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>
            <a:off x="3254375" y="589280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9" name="Oval 9"/>
          <p:cNvSpPr>
            <a:spLocks noChangeArrowheads="1"/>
          </p:cNvSpPr>
          <p:nvPr/>
        </p:nvSpPr>
        <p:spPr bwMode="auto">
          <a:xfrm>
            <a:off x="5640388" y="5607050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0" name="Oval 10"/>
          <p:cNvSpPr>
            <a:spLocks noChangeArrowheads="1"/>
          </p:cNvSpPr>
          <p:nvPr/>
        </p:nvSpPr>
        <p:spPr bwMode="auto">
          <a:xfrm>
            <a:off x="4154488" y="4192587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87051" name="Oval 11"/>
          <p:cNvSpPr>
            <a:spLocks noChangeArrowheads="1"/>
          </p:cNvSpPr>
          <p:nvPr/>
        </p:nvSpPr>
        <p:spPr bwMode="auto">
          <a:xfrm>
            <a:off x="5635625" y="4202112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2965450" y="476567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3" name="Line 13"/>
          <p:cNvSpPr>
            <a:spLocks noChangeShapeType="1"/>
          </p:cNvSpPr>
          <p:nvPr/>
        </p:nvSpPr>
        <p:spPr bwMode="auto">
          <a:xfrm>
            <a:off x="4446588" y="4775200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4" name="Line 14"/>
          <p:cNvSpPr>
            <a:spLocks noChangeShapeType="1"/>
          </p:cNvSpPr>
          <p:nvPr/>
        </p:nvSpPr>
        <p:spPr bwMode="auto">
          <a:xfrm>
            <a:off x="5927725" y="4784725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 flipV="1">
            <a:off x="3173413" y="4641850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6" name="Text Box 16"/>
          <p:cNvSpPr txBox="1">
            <a:spLocks noChangeArrowheads="1"/>
          </p:cNvSpPr>
          <p:nvPr/>
        </p:nvSpPr>
        <p:spPr bwMode="auto">
          <a:xfrm>
            <a:off x="2844800" y="3790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7057" name="Text Box 17"/>
          <p:cNvSpPr txBox="1">
            <a:spLocks noChangeArrowheads="1"/>
          </p:cNvSpPr>
          <p:nvPr/>
        </p:nvSpPr>
        <p:spPr bwMode="auto">
          <a:xfrm>
            <a:off x="4311650" y="380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5778500" y="3810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2811463" y="6086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4306888" y="6096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7061" name="Text Box 21"/>
          <p:cNvSpPr txBox="1">
            <a:spLocks noChangeArrowheads="1"/>
          </p:cNvSpPr>
          <p:nvPr/>
        </p:nvSpPr>
        <p:spPr bwMode="auto">
          <a:xfrm>
            <a:off x="5788025" y="6091237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7062" name="Line 22"/>
          <p:cNvSpPr>
            <a:spLocks noChangeShapeType="1"/>
          </p:cNvSpPr>
          <p:nvPr/>
        </p:nvSpPr>
        <p:spPr bwMode="auto">
          <a:xfrm>
            <a:off x="3263900" y="45021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63" name="Line 23"/>
          <p:cNvSpPr>
            <a:spLocks noChangeShapeType="1"/>
          </p:cNvSpPr>
          <p:nvPr/>
        </p:nvSpPr>
        <p:spPr bwMode="auto">
          <a:xfrm flipV="1">
            <a:off x="4681538" y="4664075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64" name="Freeform 24"/>
          <p:cNvSpPr>
            <a:spLocks/>
          </p:cNvSpPr>
          <p:nvPr/>
        </p:nvSpPr>
        <p:spPr bwMode="auto">
          <a:xfrm>
            <a:off x="6146800" y="5681662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65" name="Text Box 25"/>
          <p:cNvSpPr txBox="1">
            <a:spLocks noChangeArrowheads="1"/>
          </p:cNvSpPr>
          <p:nvPr/>
        </p:nvSpPr>
        <p:spPr bwMode="auto">
          <a:xfrm>
            <a:off x="3357563" y="483552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87066" name="Text Box 26"/>
          <p:cNvSpPr txBox="1">
            <a:spLocks noChangeArrowheads="1"/>
          </p:cNvSpPr>
          <p:nvPr/>
        </p:nvSpPr>
        <p:spPr bwMode="auto">
          <a:xfrm>
            <a:off x="2606675" y="4906962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27584" y="3945210"/>
            <a:ext cx="1296144" cy="2592288"/>
            <a:chOff x="827584" y="2060848"/>
            <a:chExt cx="1296144" cy="2592288"/>
          </a:xfrm>
        </p:grpSpPr>
        <p:sp>
          <p:nvSpPr>
            <p:cNvPr id="28" name="Rectangle 27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7092280" y="3799344"/>
            <a:ext cx="1728192" cy="2677656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400" b="1" u="none" dirty="0"/>
              <a:t>π </a:t>
            </a:r>
            <a:r>
              <a:rPr lang="en-IN" sz="2400" b="1" u="none" dirty="0"/>
              <a:t>:</a:t>
            </a:r>
            <a:endParaRPr lang="en-US" sz="2400" b="1" u="none" dirty="0"/>
          </a:p>
          <a:p>
            <a:pPr lvl="1" algn="l" rtl="0"/>
            <a:r>
              <a:rPr lang="en-IN" sz="2400" u="none" dirty="0"/>
              <a:t>u	nil</a:t>
            </a:r>
          </a:p>
          <a:p>
            <a:pPr lvl="1" algn="l" rtl="0"/>
            <a:r>
              <a:rPr lang="en-IN" sz="2400" u="none" dirty="0"/>
              <a:t>v	u</a:t>
            </a:r>
          </a:p>
          <a:p>
            <a:pPr lvl="1" algn="l" rtl="0"/>
            <a:r>
              <a:rPr lang="en-IN" sz="2400" u="none" dirty="0"/>
              <a:t>w</a:t>
            </a:r>
          </a:p>
          <a:p>
            <a:pPr lvl="1" algn="l" rtl="0"/>
            <a:r>
              <a:rPr lang="en-IN" sz="2400" u="none" dirty="0"/>
              <a:t>x	y</a:t>
            </a:r>
          </a:p>
          <a:p>
            <a:pPr lvl="1" algn="l" rtl="0"/>
            <a:r>
              <a:rPr lang="en-IN" sz="2400" u="none" dirty="0"/>
              <a:t>y	v</a:t>
            </a:r>
          </a:p>
          <a:p>
            <a:pPr lvl="1" algn="l" rtl="0"/>
            <a:r>
              <a:rPr lang="en-IN" sz="2400" u="none" dirty="0"/>
              <a:t>z	</a:t>
            </a:r>
            <a:endParaRPr lang="en-US" sz="2400" u="none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-30497" y="0"/>
            <a:ext cx="3581400" cy="3581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>
                <a:solidFill>
                  <a:schemeClr val="bg1">
                    <a:lumMod val="50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bg1">
                    <a:lumMod val="50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" pitchFamily="2" charset="2"/>
              <a:buNone/>
            </a:pPr>
            <a:r>
              <a:rPr lang="en-US" b="1" u="sng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DFS(</a:t>
            </a:r>
            <a:r>
              <a:rPr lang="en-US" b="1" i="1" u="sng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b="1" u="sng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 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2.      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3.           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NIL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4. 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time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0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5. 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6.       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if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=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7.                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DFS-Visit(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3332163" y="2438400"/>
            <a:ext cx="11477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162550" y="0"/>
            <a:ext cx="3981450" cy="3657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</a:rPr>
              <a:t>u</a:t>
            </a:r>
            <a:r>
              <a:rPr lang="en-US" sz="2000" b="1" dirty="0">
                <a:solidFill>
                  <a:srgbClr val="010000"/>
                </a:solidFill>
              </a:rPr>
              <a:t>)</a:t>
            </a:r>
            <a:endParaRPr lang="en-US" sz="20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GRAY  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d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b="1" u="none" dirty="0">
                <a:solidFill>
                  <a:srgbClr val="010000"/>
                </a:solidFill>
              </a:rPr>
              <a:t>for</a:t>
            </a:r>
            <a:r>
              <a:rPr lang="en-US" sz="2000" u="none" dirty="0">
                <a:solidFill>
                  <a:srgbClr val="010000"/>
                </a:solidFill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</a:rPr>
              <a:t>v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</a:rPr>
              <a:t>Adj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</a:rPr>
              <a:t>do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b="1" u="none" dirty="0">
                <a:solidFill>
                  <a:srgbClr val="010000"/>
                </a:solidFill>
              </a:rPr>
              <a:t>if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</a:rPr>
              <a:t>then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endParaRPr lang="en-US" sz="20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</a:rPr>
              <a:t>v</a:t>
            </a:r>
            <a:r>
              <a:rPr lang="en-US" sz="20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color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BLACK     </a:t>
            </a:r>
            <a:endParaRPr lang="en-US" sz="2000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</a:rPr>
              <a:t>f</a:t>
            </a:r>
            <a:r>
              <a:rPr lang="en-US" sz="2000" u="none" dirty="0">
                <a:solidFill>
                  <a:srgbClr val="010000"/>
                </a:solidFill>
              </a:rPr>
              <a:t>[</a:t>
            </a:r>
            <a:r>
              <a:rPr lang="en-US" sz="2000" i="1" u="none" dirty="0">
                <a:solidFill>
                  <a:srgbClr val="010000"/>
                </a:solidFill>
              </a:rPr>
              <a:t>u</a:t>
            </a:r>
            <a:r>
              <a:rPr lang="en-US" sz="2000" u="none" dirty="0">
                <a:solidFill>
                  <a:srgbClr val="010000"/>
                </a:solidFill>
              </a:rPr>
              <a:t>]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</a:rPr>
              <a:t> </a:t>
            </a:r>
            <a:r>
              <a:rPr lang="en-US" sz="2000" i="1" u="none" dirty="0">
                <a:solidFill>
                  <a:srgbClr val="010000"/>
                </a:solidFill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</a:rPr>
              <a:t> time </a:t>
            </a:r>
            <a:r>
              <a:rPr lang="en-US" sz="2000" u="none" dirty="0">
                <a:solidFill>
                  <a:srgbClr val="010000"/>
                </a:solidFill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3470164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8067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88069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8071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3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4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88075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</a:t>
            </a:r>
          </a:p>
        </p:txBody>
      </p:sp>
      <p:sp>
        <p:nvSpPr>
          <p:cNvPr id="88076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7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8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9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8081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8082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8083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8084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8085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8086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87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88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89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88090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27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b="1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</a:t>
            </a:r>
            <a:endParaRPr lang="en-US" sz="2800" u="none" dirty="0"/>
          </a:p>
        </p:txBody>
      </p:sp>
      <p:grpSp>
        <p:nvGrpSpPr>
          <p:cNvPr id="28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29" name="Rectangle 28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8073310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89091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89093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89095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7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89099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</a:t>
            </a:r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1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2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9105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9106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9107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9108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9109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9110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1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2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3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89114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89115" name="Text Box 27"/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C</a:t>
            </a:r>
          </a:p>
        </p:txBody>
      </p:sp>
      <p:sp>
        <p:nvSpPr>
          <p:cNvPr id="32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</a:t>
            </a:r>
            <a:endParaRPr lang="en-US" sz="2800" u="none" dirty="0"/>
          </a:p>
        </p:txBody>
      </p:sp>
      <p:grpSp>
        <p:nvGrpSpPr>
          <p:cNvPr id="33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34" name="Rectangle 33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7386698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90115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90119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1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10/</a:t>
            </a:r>
          </a:p>
        </p:txBody>
      </p:sp>
      <p:sp>
        <p:nvSpPr>
          <p:cNvPr id="90122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90123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</a:t>
            </a:r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90131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0132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0133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90134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35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36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37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90138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90139" name="Text Box 27"/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C</a:t>
            </a: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b="1" u="none" dirty="0"/>
              <a:t>z	w</a:t>
            </a:r>
            <a:endParaRPr lang="en-US" sz="2800" b="1" u="none" dirty="0"/>
          </a:p>
        </p:txBody>
      </p:sp>
      <p:grpSp>
        <p:nvGrpSpPr>
          <p:cNvPr id="29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30" name="Rectangle 29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b="1" dirty="0">
                  <a:solidFill>
                    <a:schemeClr val="tx1"/>
                  </a:solidFill>
                </a:rPr>
                <a:t>z</a:t>
              </a:r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9342474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91139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91141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91142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91143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91144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5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10/</a:t>
            </a:r>
          </a:p>
        </p:txBody>
      </p:sp>
      <p:sp>
        <p:nvSpPr>
          <p:cNvPr id="91146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91147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</a:t>
            </a:r>
          </a:p>
        </p:txBody>
      </p:sp>
      <p:sp>
        <p:nvSpPr>
          <p:cNvPr id="91148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49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0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1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2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91153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1154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1156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1157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91158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59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0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61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91162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91163" name="Text Box 27"/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C</a:t>
            </a:r>
          </a:p>
        </p:txBody>
      </p:sp>
      <p:sp>
        <p:nvSpPr>
          <p:cNvPr id="91164" name="Text Box 28"/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w</a:t>
            </a:r>
            <a:endParaRPr lang="en-US" sz="2800" u="none" dirty="0"/>
          </a:p>
        </p:txBody>
      </p:sp>
      <p:grpSp>
        <p:nvGrpSpPr>
          <p:cNvPr id="30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31" name="Rectangle 30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r>
                <a:rPr lang="en-IN" sz="3200" dirty="0">
                  <a:solidFill>
                    <a:schemeClr val="tx1"/>
                  </a:solidFill>
                </a:rPr>
                <a:t>z</a:t>
              </a:r>
              <a:endParaRPr lang="ar-EG" sz="3200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5361624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92163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69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10/11</a:t>
            </a:r>
            <a:endParaRPr lang="en-US" b="1" u="none"/>
          </a:p>
        </p:txBody>
      </p:sp>
      <p:sp>
        <p:nvSpPr>
          <p:cNvPr id="92170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92171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</a:t>
            </a:r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92182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3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4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92186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92187" name="Text Box 27"/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C</a:t>
            </a:r>
          </a:p>
        </p:txBody>
      </p:sp>
      <p:sp>
        <p:nvSpPr>
          <p:cNvPr id="92188" name="Text Box 28"/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w</a:t>
            </a:r>
            <a:endParaRPr lang="en-US" sz="2800" u="none" dirty="0"/>
          </a:p>
        </p:txBody>
      </p:sp>
      <p:grpSp>
        <p:nvGrpSpPr>
          <p:cNvPr id="30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31" name="Rectangle 30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r>
                <a:rPr lang="en-IN" sz="3200" b="1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929936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(DFS)</a:t>
            </a:r>
          </a:p>
        </p:txBody>
      </p:sp>
      <p:sp>
        <p:nvSpPr>
          <p:cNvPr id="93187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2716213" y="2366963"/>
            <a:ext cx="57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u="none">
                <a:sym typeface="Symbol" pitchFamily="18" charset="2"/>
              </a:rPr>
              <a:t>1/8</a:t>
            </a:r>
            <a:endParaRPr lang="en-US" b="1" u="none"/>
          </a:p>
        </p:txBody>
      </p:sp>
      <p:sp>
        <p:nvSpPr>
          <p:cNvPr id="93189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4/5</a:t>
            </a: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2773363" y="3754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b="1" u="none"/>
          </a:p>
        </p:txBody>
      </p:sp>
      <p:sp>
        <p:nvSpPr>
          <p:cNvPr id="93191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3/6</a:t>
            </a:r>
          </a:p>
        </p:txBody>
      </p:sp>
      <p:sp>
        <p:nvSpPr>
          <p:cNvPr id="93192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3" name="Oval 9"/>
          <p:cNvSpPr>
            <a:spLocks noChangeArrowheads="1"/>
          </p:cNvSpPr>
          <p:nvPr/>
        </p:nvSpPr>
        <p:spPr bwMode="auto">
          <a:xfrm>
            <a:off x="5640388" y="3722688"/>
            <a:ext cx="590550" cy="576262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u="none"/>
              <a:t>10/11</a:t>
            </a:r>
            <a:endParaRPr lang="en-US" b="1" u="none"/>
          </a:p>
        </p:txBody>
      </p:sp>
      <p:sp>
        <p:nvSpPr>
          <p:cNvPr id="93194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2/7</a:t>
            </a:r>
          </a:p>
        </p:txBody>
      </p:sp>
      <p:sp>
        <p:nvSpPr>
          <p:cNvPr id="93195" name="Oval 11"/>
          <p:cNvSpPr>
            <a:spLocks noChangeArrowheads="1"/>
          </p:cNvSpPr>
          <p:nvPr/>
        </p:nvSpPr>
        <p:spPr bwMode="auto">
          <a:xfrm>
            <a:off x="5635625" y="2317750"/>
            <a:ext cx="590550" cy="576263"/>
          </a:xfrm>
          <a:prstGeom prst="ellipse">
            <a:avLst/>
          </a:prstGeom>
          <a:solidFill>
            <a:srgbClr val="0099FF"/>
          </a:soli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u="none"/>
              <a:t>9/12</a:t>
            </a:r>
          </a:p>
        </p:txBody>
      </p:sp>
      <p:sp>
        <p:nvSpPr>
          <p:cNvPr id="93196" name="Line 12"/>
          <p:cNvSpPr>
            <a:spLocks noChangeShapeType="1"/>
          </p:cNvSpPr>
          <p:nvPr/>
        </p:nvSpPr>
        <p:spPr bwMode="auto">
          <a:xfrm>
            <a:off x="2965450" y="28813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7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8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9" name="Line 15"/>
          <p:cNvSpPr>
            <a:spLocks noChangeShapeType="1"/>
          </p:cNvSpPr>
          <p:nvPr/>
        </p:nvSpPr>
        <p:spPr bwMode="auto">
          <a:xfrm flipV="1">
            <a:off x="3173413" y="2757488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0" name="Text Box 16"/>
          <p:cNvSpPr txBox="1">
            <a:spLocks noChangeArrowheads="1"/>
          </p:cNvSpPr>
          <p:nvPr/>
        </p:nvSpPr>
        <p:spPr bwMode="auto">
          <a:xfrm>
            <a:off x="2844800" y="1906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5778500" y="1925638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93203" name="Text Box 19"/>
          <p:cNvSpPr txBox="1">
            <a:spLocks noChangeArrowheads="1"/>
          </p:cNvSpPr>
          <p:nvPr/>
        </p:nvSpPr>
        <p:spPr bwMode="auto">
          <a:xfrm>
            <a:off x="2811463" y="4202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3204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3205" name="Text Box 21"/>
          <p:cNvSpPr txBox="1">
            <a:spLocks noChangeArrowheads="1"/>
          </p:cNvSpPr>
          <p:nvPr/>
        </p:nvSpPr>
        <p:spPr bwMode="auto">
          <a:xfrm>
            <a:off x="5788025" y="42068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93206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7" name="Line 23"/>
          <p:cNvSpPr>
            <a:spLocks noChangeShapeType="1"/>
          </p:cNvSpPr>
          <p:nvPr/>
        </p:nvSpPr>
        <p:spPr bwMode="auto">
          <a:xfrm flipV="1">
            <a:off x="4681538" y="27797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8" name="Freeform 24"/>
          <p:cNvSpPr>
            <a:spLocks/>
          </p:cNvSpPr>
          <p:nvPr/>
        </p:nvSpPr>
        <p:spPr bwMode="auto">
          <a:xfrm>
            <a:off x="6146800" y="3797300"/>
            <a:ext cx="598488" cy="590550"/>
          </a:xfrm>
          <a:custGeom>
            <a:avLst/>
            <a:gdLst>
              <a:gd name="T0" fmla="*/ 0 w 377"/>
              <a:gd name="T1" fmla="*/ 254 h 372"/>
              <a:gd name="T2" fmla="*/ 145 w 377"/>
              <a:gd name="T3" fmla="*/ 363 h 372"/>
              <a:gd name="T4" fmla="*/ 345 w 377"/>
              <a:gd name="T5" fmla="*/ 308 h 372"/>
              <a:gd name="T6" fmla="*/ 336 w 377"/>
              <a:gd name="T7" fmla="*/ 136 h 372"/>
              <a:gd name="T8" fmla="*/ 209 w 377"/>
              <a:gd name="T9" fmla="*/ 17 h 372"/>
              <a:gd name="T10" fmla="*/ 36 w 377"/>
              <a:gd name="T11" fmla="*/ 3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7" h="372">
                <a:moveTo>
                  <a:pt x="0" y="254"/>
                </a:moveTo>
                <a:cubicBezTo>
                  <a:pt x="44" y="304"/>
                  <a:pt x="88" y="354"/>
                  <a:pt x="145" y="363"/>
                </a:cubicBezTo>
                <a:cubicBezTo>
                  <a:pt x="202" y="372"/>
                  <a:pt x="313" y="346"/>
                  <a:pt x="345" y="308"/>
                </a:cubicBezTo>
                <a:cubicBezTo>
                  <a:pt x="377" y="270"/>
                  <a:pt x="359" y="184"/>
                  <a:pt x="336" y="136"/>
                </a:cubicBezTo>
                <a:cubicBezTo>
                  <a:pt x="313" y="88"/>
                  <a:pt x="259" y="34"/>
                  <a:pt x="209" y="17"/>
                </a:cubicBezTo>
                <a:cubicBezTo>
                  <a:pt x="159" y="0"/>
                  <a:pt x="97" y="18"/>
                  <a:pt x="36" y="3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9" name="Text Box 25"/>
          <p:cNvSpPr txBox="1">
            <a:spLocks noChangeArrowheads="1"/>
          </p:cNvSpPr>
          <p:nvPr/>
        </p:nvSpPr>
        <p:spPr bwMode="auto">
          <a:xfrm>
            <a:off x="3357563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93210" name="Text Box 26"/>
          <p:cNvSpPr txBox="1">
            <a:spLocks noChangeArrowheads="1"/>
          </p:cNvSpPr>
          <p:nvPr/>
        </p:nvSpPr>
        <p:spPr bwMode="auto">
          <a:xfrm>
            <a:off x="2606675" y="3022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F</a:t>
            </a:r>
          </a:p>
        </p:txBody>
      </p:sp>
      <p:sp>
        <p:nvSpPr>
          <p:cNvPr id="93211" name="Text Box 27"/>
          <p:cNvSpPr txBox="1">
            <a:spLocks noChangeArrowheads="1"/>
          </p:cNvSpPr>
          <p:nvPr/>
        </p:nvSpPr>
        <p:spPr bwMode="auto">
          <a:xfrm>
            <a:off x="4872038" y="29511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C</a:t>
            </a:r>
          </a:p>
        </p:txBody>
      </p:sp>
      <p:sp>
        <p:nvSpPr>
          <p:cNvPr id="93212" name="Text Box 28"/>
          <p:cNvSpPr txBox="1">
            <a:spLocks noChangeArrowheads="1"/>
          </p:cNvSpPr>
          <p:nvPr/>
        </p:nvSpPr>
        <p:spPr bwMode="auto">
          <a:xfrm>
            <a:off x="6734175" y="38020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none"/>
              <a:t>B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w</a:t>
            </a:r>
            <a:endParaRPr lang="en-US" sz="2800" u="none" dirty="0"/>
          </a:p>
        </p:txBody>
      </p:sp>
      <p:grpSp>
        <p:nvGrpSpPr>
          <p:cNvPr id="30" name="Group 26"/>
          <p:cNvGrpSpPr/>
          <p:nvPr/>
        </p:nvGrpSpPr>
        <p:grpSpPr>
          <a:xfrm>
            <a:off x="827584" y="2060848"/>
            <a:ext cx="1296144" cy="2592288"/>
            <a:chOff x="827584" y="2060848"/>
            <a:chExt cx="1296144" cy="2592288"/>
          </a:xfrm>
        </p:grpSpPr>
        <p:sp>
          <p:nvSpPr>
            <p:cNvPr id="31" name="Rectangle 30"/>
            <p:cNvSpPr/>
            <p:nvPr/>
          </p:nvSpPr>
          <p:spPr>
            <a:xfrm>
              <a:off x="1115616" y="2276872"/>
              <a:ext cx="936104" cy="237626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ar-EG" sz="3200" b="1" dirty="0">
                <a:solidFill>
                  <a:schemeClr val="tx1"/>
                </a:solidFill>
              </a:endParaRPr>
            </a:p>
            <a:p>
              <a:pPr algn="ctr" rtl="0"/>
              <a:endParaRPr lang="ar-EG" sz="3200" b="1" dirty="0">
                <a:solidFill>
                  <a:schemeClr val="tx1"/>
                </a:solidFill>
              </a:endParaRPr>
            </a:p>
            <a:p>
              <a:pPr algn="ctr"/>
              <a:endParaRPr lang="en-IN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27584" y="2060848"/>
              <a:ext cx="129614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200073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Forest</a:t>
            </a:r>
          </a:p>
        </p:txBody>
      </p:sp>
      <p:sp>
        <p:nvSpPr>
          <p:cNvPr id="81923" name="Oval 3"/>
          <p:cNvSpPr>
            <a:spLocks noChangeArrowheads="1"/>
          </p:cNvSpPr>
          <p:nvPr/>
        </p:nvSpPr>
        <p:spPr bwMode="auto">
          <a:xfrm>
            <a:off x="2678113" y="2303463"/>
            <a:ext cx="590550" cy="576262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81925" name="Oval 5"/>
          <p:cNvSpPr>
            <a:spLocks noChangeArrowheads="1"/>
          </p:cNvSpPr>
          <p:nvPr/>
        </p:nvSpPr>
        <p:spPr bwMode="auto">
          <a:xfrm>
            <a:off x="2678113" y="3719513"/>
            <a:ext cx="590550" cy="576262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 b="1" u="none" dirty="0"/>
          </a:p>
        </p:txBody>
      </p:sp>
      <p:sp>
        <p:nvSpPr>
          <p:cNvPr id="81927" name="Oval 7"/>
          <p:cNvSpPr>
            <a:spLocks noChangeArrowheads="1"/>
          </p:cNvSpPr>
          <p:nvPr/>
        </p:nvSpPr>
        <p:spPr bwMode="auto">
          <a:xfrm>
            <a:off x="4159250" y="3713163"/>
            <a:ext cx="590550" cy="576262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rtl="0"/>
            <a:endParaRPr lang="en-US" sz="2400" b="1" u="none" dirty="0"/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>
            <a:off x="3254375" y="400843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81929" name="Oval 9"/>
          <p:cNvSpPr>
            <a:spLocks noChangeArrowheads="1"/>
          </p:cNvSpPr>
          <p:nvPr/>
        </p:nvSpPr>
        <p:spPr bwMode="auto">
          <a:xfrm>
            <a:off x="5640388" y="3722688"/>
            <a:ext cx="659804" cy="642416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rtl="0"/>
            <a:endParaRPr lang="en-IN" sz="2000" b="1" dirty="0"/>
          </a:p>
        </p:txBody>
      </p:sp>
      <p:sp>
        <p:nvSpPr>
          <p:cNvPr id="81930" name="Oval 10"/>
          <p:cNvSpPr>
            <a:spLocks noChangeArrowheads="1"/>
          </p:cNvSpPr>
          <p:nvPr/>
        </p:nvSpPr>
        <p:spPr bwMode="auto">
          <a:xfrm>
            <a:off x="4154488" y="2308225"/>
            <a:ext cx="590550" cy="576263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 b="1" u="none" dirty="0"/>
          </a:p>
        </p:txBody>
      </p:sp>
      <p:sp>
        <p:nvSpPr>
          <p:cNvPr id="81931" name="Oval 11"/>
          <p:cNvSpPr>
            <a:spLocks noChangeArrowheads="1"/>
          </p:cNvSpPr>
          <p:nvPr/>
        </p:nvSpPr>
        <p:spPr bwMode="auto">
          <a:xfrm>
            <a:off x="5635624" y="2276872"/>
            <a:ext cx="664568" cy="617141"/>
          </a:xfrm>
          <a:prstGeom prst="ellipse">
            <a:avLst/>
          </a:prstGeom>
          <a:solidFill>
            <a:srgbClr val="C00000"/>
          </a:solidFill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4446588" y="28908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5927725" y="2900363"/>
            <a:ext cx="0" cy="84296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2834780" y="1906588"/>
            <a:ext cx="346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4311650" y="19161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1938" name="Text Box 18"/>
          <p:cNvSpPr txBox="1">
            <a:spLocks noChangeArrowheads="1"/>
          </p:cNvSpPr>
          <p:nvPr/>
        </p:nvSpPr>
        <p:spPr bwMode="auto">
          <a:xfrm>
            <a:off x="5769417" y="1844824"/>
            <a:ext cx="413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1939" name="Text Box 19"/>
          <p:cNvSpPr txBox="1">
            <a:spLocks noChangeArrowheads="1"/>
          </p:cNvSpPr>
          <p:nvPr/>
        </p:nvSpPr>
        <p:spPr bwMode="auto">
          <a:xfrm>
            <a:off x="2822283" y="4202113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1940" name="Text Box 20"/>
          <p:cNvSpPr txBox="1">
            <a:spLocks noChangeArrowheads="1"/>
          </p:cNvSpPr>
          <p:nvPr/>
        </p:nvSpPr>
        <p:spPr bwMode="auto">
          <a:xfrm>
            <a:off x="4306888" y="42116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5800619" y="4263479"/>
            <a:ext cx="3064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none" dirty="0">
                <a:solidFill>
                  <a:srgbClr val="CC0000"/>
                </a:solidFill>
              </a:rPr>
              <a:t>z</a:t>
            </a:r>
          </a:p>
        </p:txBody>
      </p:sp>
      <p:sp>
        <p:nvSpPr>
          <p:cNvPr id="81942" name="Line 22"/>
          <p:cNvSpPr>
            <a:spLocks noChangeShapeType="1"/>
          </p:cNvSpPr>
          <p:nvPr/>
        </p:nvSpPr>
        <p:spPr bwMode="auto">
          <a:xfrm>
            <a:off x="3263900" y="26177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ar-EG"/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7092280" y="1833786"/>
            <a:ext cx="1728192" cy="310854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rtl="0"/>
            <a:r>
              <a:rPr lang="el-GR" sz="2800" b="1" u="none" dirty="0"/>
              <a:t>π </a:t>
            </a:r>
            <a:r>
              <a:rPr lang="en-IN" sz="2800" b="1" u="none" dirty="0"/>
              <a:t>:</a:t>
            </a:r>
            <a:endParaRPr lang="en-US" sz="2800" b="1" u="none" dirty="0"/>
          </a:p>
          <a:p>
            <a:pPr lvl="1" algn="l" rtl="0"/>
            <a:r>
              <a:rPr lang="en-IN" sz="2800" u="none" dirty="0"/>
              <a:t>u	nil</a:t>
            </a:r>
          </a:p>
          <a:p>
            <a:pPr lvl="1" algn="l" rtl="0"/>
            <a:r>
              <a:rPr lang="en-IN" sz="2800" u="none" dirty="0"/>
              <a:t>v	u</a:t>
            </a:r>
          </a:p>
          <a:p>
            <a:pPr lvl="1" algn="l" rtl="0"/>
            <a:r>
              <a:rPr lang="en-IN" sz="2800" u="none" dirty="0"/>
              <a:t>w	nil</a:t>
            </a:r>
          </a:p>
          <a:p>
            <a:pPr lvl="1" algn="l" rtl="0"/>
            <a:r>
              <a:rPr lang="en-IN" sz="2800" u="none" dirty="0"/>
              <a:t>x	y</a:t>
            </a:r>
          </a:p>
          <a:p>
            <a:pPr lvl="1" algn="l" rtl="0"/>
            <a:r>
              <a:rPr lang="en-IN" sz="2800" u="none" dirty="0"/>
              <a:t>y	v</a:t>
            </a:r>
          </a:p>
          <a:p>
            <a:pPr lvl="1" algn="l" rtl="0"/>
            <a:r>
              <a:rPr lang="en-IN" sz="2800" u="none" dirty="0"/>
              <a:t>z	w</a:t>
            </a:r>
            <a:endParaRPr lang="en-US" sz="2800" u="none" dirty="0"/>
          </a:p>
        </p:txBody>
      </p:sp>
    </p:spTree>
    <p:extLst>
      <p:ext uri="{BB962C8B-B14F-4D97-AF65-F5344CB8AC3E}">
        <p14:creationId xmlns:p14="http://schemas.microsoft.com/office/powerpoint/2010/main" val="39254414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467600" cy="655638"/>
          </a:xfrm>
        </p:spPr>
        <p:txBody>
          <a:bodyPr/>
          <a:lstStyle/>
          <a:p>
            <a:r>
              <a:rPr lang="en-US" dirty="0"/>
              <a:t>Analysis of DFS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066800"/>
            <a:ext cx="3581400" cy="35814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609600" indent="-609600">
              <a:buFont typeface="Wingdings" pitchFamily="2" charset="2"/>
              <a:buNone/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DFS(</a:t>
            </a:r>
            <a:r>
              <a:rPr lang="en-US" sz="2000" b="1" i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2.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3.       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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NIL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4. 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time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0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5.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each vertex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V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6. 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if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color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=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7.          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DFS-Visit(</a:t>
            </a: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191000" y="1066800"/>
            <a:ext cx="4800600" cy="525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010000"/>
                </a:solidFill>
              </a:rPr>
              <a:t>DFS-Visit(</a:t>
            </a:r>
            <a:r>
              <a:rPr lang="en-US" sz="2400" b="1" i="1" dirty="0">
                <a:solidFill>
                  <a:srgbClr val="010000"/>
                </a:solidFill>
              </a:rPr>
              <a:t>u</a:t>
            </a:r>
            <a:r>
              <a:rPr lang="en-US" sz="2400" b="1" dirty="0">
                <a:solidFill>
                  <a:srgbClr val="010000"/>
                </a:solidFill>
              </a:rPr>
              <a:t>)</a:t>
            </a:r>
            <a:endParaRPr lang="en-US" sz="2400" b="1" i="1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GRAY 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 White vertex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has been discovered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 </a:t>
            </a:r>
            <a:r>
              <a:rPr lang="en-US" sz="2400" i="1" u="none" dirty="0">
                <a:solidFill>
                  <a:srgbClr val="010000"/>
                </a:solidFill>
                <a:sym typeface="Symbol" pitchFamily="18" charset="2"/>
              </a:rPr>
              <a:t>time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 + 1</a:t>
            </a:r>
            <a:endParaRPr lang="en-US" sz="1600" i="1" u="none" dirty="0">
              <a:solidFill>
                <a:srgbClr val="010000"/>
              </a:solidFill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d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time</a:t>
            </a:r>
            <a:endParaRPr lang="en-US" sz="24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b="1" u="none" dirty="0">
                <a:solidFill>
                  <a:srgbClr val="010000"/>
                </a:solidFill>
              </a:rPr>
              <a:t>for</a:t>
            </a:r>
            <a:r>
              <a:rPr lang="en-US" sz="2400" u="none" dirty="0">
                <a:solidFill>
                  <a:srgbClr val="010000"/>
                </a:solidFill>
              </a:rPr>
              <a:t> each </a:t>
            </a:r>
            <a:r>
              <a:rPr lang="en-US" sz="2400" i="1" u="none" dirty="0">
                <a:solidFill>
                  <a:srgbClr val="010000"/>
                </a:solidFill>
              </a:rPr>
              <a:t>v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</a:t>
            </a:r>
            <a:r>
              <a:rPr lang="en-US" sz="2400" i="1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 err="1">
                <a:solidFill>
                  <a:srgbClr val="010000"/>
                </a:solidFill>
              </a:rPr>
              <a:t>Adj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</a:t>
            </a:r>
            <a:r>
              <a:rPr lang="en-US" sz="2400" b="1" u="none" dirty="0">
                <a:solidFill>
                  <a:srgbClr val="010000"/>
                </a:solidFill>
              </a:rPr>
              <a:t>do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b="1" u="none" dirty="0">
                <a:solidFill>
                  <a:srgbClr val="010000"/>
                </a:solidFill>
              </a:rPr>
              <a:t>if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=</a:t>
            </a:r>
            <a:r>
              <a:rPr lang="en-US" sz="2400" u="none" dirty="0">
                <a:solidFill>
                  <a:srgbClr val="010000"/>
                </a:solidFill>
              </a:rPr>
              <a:t> WHITE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          </a:t>
            </a:r>
            <a:r>
              <a:rPr lang="en-US" sz="2400" b="1" u="none" dirty="0">
                <a:solidFill>
                  <a:srgbClr val="010000"/>
                </a:solidFill>
              </a:rPr>
              <a:t>then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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endParaRPr lang="en-US" sz="2400" u="none" dirty="0">
              <a:solidFill>
                <a:srgbClr val="010000"/>
              </a:solidFill>
            </a:endParaRP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                        DFS-Visit(</a:t>
            </a:r>
            <a:r>
              <a:rPr lang="en-US" sz="2400" i="1" u="none" dirty="0">
                <a:solidFill>
                  <a:srgbClr val="010000"/>
                </a:solidFill>
              </a:rPr>
              <a:t>v</a:t>
            </a:r>
            <a:r>
              <a:rPr lang="en-US" sz="2400" u="none" dirty="0">
                <a:solidFill>
                  <a:srgbClr val="010000"/>
                </a:solidFill>
              </a:rPr>
              <a:t>)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</a:t>
            </a:r>
            <a:r>
              <a:rPr lang="en-US" sz="2400" i="1" u="none" dirty="0">
                <a:solidFill>
                  <a:srgbClr val="010000"/>
                </a:solidFill>
              </a:rPr>
              <a:t>color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BLACK    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 Blacken 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;  it is finished.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400" u="none" dirty="0">
                <a:solidFill>
                  <a:srgbClr val="010000"/>
                </a:solidFill>
              </a:rPr>
              <a:t>  </a:t>
            </a:r>
            <a:r>
              <a:rPr lang="en-US" sz="2400" i="1" u="none" dirty="0">
                <a:solidFill>
                  <a:srgbClr val="010000"/>
                </a:solidFill>
              </a:rPr>
              <a:t>f</a:t>
            </a:r>
            <a:r>
              <a:rPr lang="en-US" sz="2400" u="none" dirty="0">
                <a:solidFill>
                  <a:srgbClr val="010000"/>
                </a:solidFill>
              </a:rPr>
              <a:t>[</a:t>
            </a:r>
            <a:r>
              <a:rPr lang="en-US" sz="2400" i="1" u="none" dirty="0">
                <a:solidFill>
                  <a:srgbClr val="010000"/>
                </a:solidFill>
              </a:rPr>
              <a:t>u</a:t>
            </a:r>
            <a:r>
              <a:rPr lang="en-US" sz="2400" u="none" dirty="0">
                <a:solidFill>
                  <a:srgbClr val="010000"/>
                </a:solidFill>
              </a:rPr>
              <a:t>]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u="none" dirty="0">
                <a:solidFill>
                  <a:srgbClr val="010000"/>
                </a:solidFill>
              </a:rPr>
              <a:t> </a:t>
            </a:r>
            <a:r>
              <a:rPr lang="en-US" sz="2400" i="1" u="none" dirty="0">
                <a:solidFill>
                  <a:srgbClr val="010000"/>
                </a:solidFill>
              </a:rPr>
              <a:t>time </a:t>
            </a:r>
            <a:r>
              <a:rPr lang="en-US" sz="2400" u="none" dirty="0">
                <a:solidFill>
                  <a:srgbClr val="010000"/>
                </a:solidFill>
                <a:sym typeface="Symbol" pitchFamily="18" charset="2"/>
              </a:rPr>
              <a:t></a:t>
            </a:r>
            <a:r>
              <a:rPr lang="en-US" sz="2400" i="1" u="none" dirty="0">
                <a:solidFill>
                  <a:srgbClr val="010000"/>
                </a:solidFill>
              </a:rPr>
              <a:t> time </a:t>
            </a:r>
            <a:r>
              <a:rPr lang="en-US" sz="2400" u="none" dirty="0">
                <a:solidFill>
                  <a:srgbClr val="010000"/>
                </a:solidFill>
              </a:rPr>
              <a:t>+ 1</a:t>
            </a:r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>
            <a:off x="8534400" y="3352800"/>
            <a:ext cx="304801" cy="1600200"/>
          </a:xfrm>
          <a:prstGeom prst="rightBrace">
            <a:avLst>
              <a:gd name="adj1" fmla="val 8051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637404" y="3673426"/>
            <a:ext cx="7083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i="1" dirty="0">
                <a:solidFill>
                  <a:srgbClr val="CC3300"/>
                </a:solidFill>
                <a:latin typeface="Segoe"/>
              </a:rPr>
              <a:t>E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000" dirty="0">
                <a:latin typeface="Segoe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3469557" y="1524000"/>
            <a:ext cx="73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i="1" dirty="0">
                <a:solidFill>
                  <a:srgbClr val="CC3300"/>
                </a:solidFill>
                <a:latin typeface="Segoe"/>
              </a:rPr>
              <a:t>V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000" dirty="0">
                <a:latin typeface="Segoe"/>
              </a:rPr>
              <a:t>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69557" y="3265661"/>
            <a:ext cx="73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i="1" dirty="0">
                <a:solidFill>
                  <a:srgbClr val="CC3300"/>
                </a:solidFill>
                <a:latin typeface="Segoe"/>
              </a:rPr>
              <a:t>V</a:t>
            </a:r>
            <a:r>
              <a:rPr lang="en-US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000" dirty="0">
                <a:latin typeface="Segoe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8762"/>
            <a:ext cx="7467600" cy="655638"/>
          </a:xfrm>
        </p:spPr>
        <p:txBody>
          <a:bodyPr/>
          <a:lstStyle/>
          <a:p>
            <a:r>
              <a:rPr lang="en-US" dirty="0"/>
              <a:t>Analysis of DFS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8556625" cy="4876800"/>
          </a:xfrm>
        </p:spPr>
        <p:txBody>
          <a:bodyPr/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Loops on lines 1-3 &amp; 5-7 take </a:t>
            </a: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sz="2400" i="1" dirty="0">
                <a:solidFill>
                  <a:srgbClr val="CC3300"/>
                </a:solidFill>
                <a:latin typeface="Segoe"/>
              </a:rPr>
              <a:t>V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800" dirty="0">
                <a:latin typeface="Segoe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time, excluding time to execute DFS-Visit.</a:t>
            </a:r>
          </a:p>
          <a:p>
            <a:endParaRPr lang="en-US" sz="1200" dirty="0">
              <a:latin typeface="Segoe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DFS-Visit is called once for each white vertex 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V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when it’s painted gray the first time.  Lines 4-7 of DFS-Visit is executed |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Adj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[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v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]| times. The total cost of executing DFS-Visit is </a:t>
            </a:r>
            <a:r>
              <a:rPr lang="en-US" sz="2800" dirty="0">
                <a:solidFill>
                  <a:srgbClr val="CC3300"/>
                </a:solidFill>
                <a:latin typeface="Segoe"/>
                <a:sym typeface="Symbol" pitchFamily="18" charset="2"/>
              </a:rPr>
              <a:t></a:t>
            </a:r>
            <a:r>
              <a:rPr lang="en-US" sz="2400" i="1" baseline="-25000" dirty="0" err="1">
                <a:solidFill>
                  <a:srgbClr val="CC3300"/>
                </a:solidFill>
                <a:latin typeface="Segoe"/>
              </a:rPr>
              <a:t>v</a:t>
            </a:r>
            <a:r>
              <a:rPr lang="en-US" sz="2400" baseline="-25000" dirty="0" err="1">
                <a:solidFill>
                  <a:srgbClr val="CC3300"/>
                </a:solidFill>
                <a:latin typeface="Segoe"/>
                <a:sym typeface="Symbol" pitchFamily="18" charset="2"/>
              </a:rPr>
              <a:t></a:t>
            </a:r>
            <a:r>
              <a:rPr lang="en-US" sz="2400" i="1" baseline="-25000" dirty="0" err="1">
                <a:solidFill>
                  <a:srgbClr val="CC3300"/>
                </a:solidFill>
                <a:latin typeface="Segoe"/>
                <a:sym typeface="Symbol" pitchFamily="18" charset="2"/>
              </a:rPr>
              <a:t>V</a:t>
            </a:r>
            <a:r>
              <a:rPr lang="en-US" sz="2800" dirty="0" err="1">
                <a:solidFill>
                  <a:srgbClr val="CC3300"/>
                </a:solidFill>
                <a:latin typeface="Segoe"/>
              </a:rPr>
              <a:t>|Adj</a:t>
            </a:r>
            <a:r>
              <a:rPr lang="en-US" sz="2800" dirty="0">
                <a:solidFill>
                  <a:srgbClr val="CC3300"/>
                </a:solidFill>
                <a:latin typeface="Segoe"/>
              </a:rPr>
              <a:t>[</a:t>
            </a:r>
            <a:r>
              <a:rPr lang="en-US" sz="2800" i="1" dirty="0">
                <a:solidFill>
                  <a:srgbClr val="CC3300"/>
                </a:solidFill>
                <a:latin typeface="Segoe"/>
              </a:rPr>
              <a:t>v</a:t>
            </a:r>
            <a:r>
              <a:rPr lang="en-US" sz="2800" dirty="0">
                <a:solidFill>
                  <a:srgbClr val="CC3300"/>
                </a:solidFill>
                <a:latin typeface="Segoe"/>
              </a:rPr>
              <a:t>]| = </a:t>
            </a:r>
            <a:r>
              <a:rPr lang="en-US" sz="2400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sz="2400" i="1" dirty="0">
                <a:solidFill>
                  <a:srgbClr val="CC3300"/>
                </a:solidFill>
                <a:latin typeface="Segoe"/>
              </a:rPr>
              <a:t>E</a:t>
            </a:r>
            <a:r>
              <a:rPr lang="en-US" sz="2400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800" dirty="0">
                <a:latin typeface="Segoe"/>
              </a:rPr>
              <a:t> </a:t>
            </a:r>
          </a:p>
          <a:p>
            <a:endParaRPr lang="en-US" sz="1200" dirty="0">
              <a:latin typeface="Segoe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Total running time of DFS is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dirty="0">
                <a:solidFill>
                  <a:srgbClr val="CC3300"/>
                </a:solidFill>
                <a:latin typeface="Segoe"/>
                <a:sym typeface="Symbol" pitchFamily="18" charset="2"/>
              </a:rPr>
              <a:t></a:t>
            </a:r>
            <a:r>
              <a:rPr lang="en-US" sz="2800" dirty="0">
                <a:solidFill>
                  <a:srgbClr val="CC3300"/>
                </a:solidFill>
                <a:latin typeface="Segoe"/>
              </a:rPr>
              <a:t>(</a:t>
            </a:r>
            <a:r>
              <a:rPr lang="en-US" sz="2800" i="1" dirty="0">
                <a:solidFill>
                  <a:srgbClr val="CC3300"/>
                </a:solidFill>
                <a:latin typeface="Segoe"/>
              </a:rPr>
              <a:t>V+E</a:t>
            </a:r>
            <a:r>
              <a:rPr lang="en-US" sz="2800" dirty="0">
                <a:solidFill>
                  <a:srgbClr val="CC3300"/>
                </a:solidFill>
                <a:latin typeface="Segoe"/>
              </a:rPr>
              <a:t>)</a:t>
            </a:r>
            <a:r>
              <a:rPr lang="en-US" sz="2800" i="1" dirty="0">
                <a:latin typeface="Sego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03832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DFS: Kinds of edges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60011" y="5858470"/>
            <a:ext cx="8321675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CC3300"/>
                </a:solidFill>
              </a:rPr>
              <a:t>Theorem:</a:t>
            </a:r>
          </a:p>
          <a:p>
            <a:r>
              <a:rPr lang="en-US" u="none" dirty="0">
                <a:latin typeface="Segoe"/>
              </a:rPr>
              <a:t>In DFS of an undirected graph, we get only tree and back edges. No forward or cross edges.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309" r="7976"/>
          <a:stretch/>
        </p:blipFill>
        <p:spPr>
          <a:xfrm>
            <a:off x="5333999" y="76200"/>
            <a:ext cx="3733801" cy="2124371"/>
          </a:xfrm>
          <a:prstGeom prst="rect">
            <a:avLst/>
          </a:prstGeom>
        </p:spPr>
      </p:pic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976" y="1951037"/>
            <a:ext cx="8094023" cy="4373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DFS introduces an important distinction among edges in the original graph:</a:t>
            </a:r>
          </a:p>
          <a:p>
            <a:pPr lvl="1"/>
            <a:r>
              <a:rPr lang="en-US" altLang="zh-CN" sz="2400" i="1" dirty="0">
                <a:solidFill>
                  <a:srgbClr val="C00000"/>
                </a:solidFill>
                <a:latin typeface="Segoe"/>
                <a:ea typeface="宋体" pitchFamily="2" charset="-122"/>
              </a:rPr>
              <a:t>Tree edge</a:t>
            </a:r>
            <a:r>
              <a:rPr lang="en-US" altLang="zh-CN" sz="2400" dirty="0">
                <a:solidFill>
                  <a:srgbClr val="C00000"/>
                </a:solidFill>
                <a:latin typeface="Segoe"/>
                <a:ea typeface="宋体" pitchFamily="2" charset="-122"/>
              </a:rPr>
              <a:t>: </a:t>
            </a:r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encounter new (white) vertex </a:t>
            </a:r>
          </a:p>
          <a:p>
            <a:pPr lvl="1"/>
            <a:r>
              <a:rPr lang="en-US" altLang="zh-CN" sz="2400" i="1" dirty="0">
                <a:solidFill>
                  <a:srgbClr val="C00000"/>
                </a:solidFill>
                <a:latin typeface="Segoe"/>
                <a:ea typeface="宋体" pitchFamily="2" charset="-122"/>
              </a:rPr>
              <a:t>Back edge</a:t>
            </a:r>
            <a:r>
              <a:rPr lang="en-US" altLang="zh-CN" sz="2400" dirty="0">
                <a:solidFill>
                  <a:srgbClr val="C00000"/>
                </a:solidFill>
                <a:latin typeface="Segoe"/>
                <a:ea typeface="宋体" pitchFamily="2" charset="-122"/>
              </a:rPr>
              <a:t>:</a:t>
            </a:r>
            <a:r>
              <a:rPr lang="en-US" altLang="zh-CN" sz="2400" dirty="0">
                <a:latin typeface="Segoe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from descendent to ancestor</a:t>
            </a:r>
          </a:p>
          <a:p>
            <a:pPr lvl="1"/>
            <a:r>
              <a:rPr lang="en-US" altLang="zh-CN" sz="2400" i="1" dirty="0">
                <a:solidFill>
                  <a:srgbClr val="C00000"/>
                </a:solidFill>
                <a:latin typeface="Segoe"/>
                <a:ea typeface="宋体" pitchFamily="2" charset="-122"/>
              </a:rPr>
              <a:t>Forward edge</a:t>
            </a:r>
            <a:r>
              <a:rPr lang="en-US" altLang="zh-CN" sz="2400" dirty="0">
                <a:solidFill>
                  <a:srgbClr val="C00000"/>
                </a:solidFill>
                <a:latin typeface="Segoe"/>
                <a:ea typeface="宋体" pitchFamily="2" charset="-122"/>
              </a:rPr>
              <a:t>: </a:t>
            </a:r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from ancestor to descendent,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but not a tree edge.</a:t>
            </a:r>
            <a:endParaRPr lang="en-US" altLang="zh-CN" sz="2400" dirty="0">
              <a:solidFill>
                <a:schemeClr val="tx1"/>
              </a:solidFill>
              <a:latin typeface="Segoe"/>
              <a:ea typeface="宋体" pitchFamily="2" charset="-122"/>
            </a:endParaRPr>
          </a:p>
          <a:p>
            <a:pPr lvl="1"/>
            <a:r>
              <a:rPr lang="en-US" altLang="zh-CN" sz="2400" i="1" dirty="0">
                <a:solidFill>
                  <a:srgbClr val="C00000"/>
                </a:solidFill>
                <a:latin typeface="Segoe"/>
                <a:ea typeface="宋体" pitchFamily="2" charset="-122"/>
              </a:rPr>
              <a:t>Cross edge</a:t>
            </a:r>
            <a:r>
              <a:rPr lang="en-US" altLang="zh-CN" sz="2400" dirty="0">
                <a:solidFill>
                  <a:srgbClr val="C00000"/>
                </a:solidFill>
                <a:latin typeface="Segoe"/>
                <a:ea typeface="宋体" pitchFamily="2" charset="-122"/>
              </a:rPr>
              <a:t>: </a:t>
            </a:r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between a tree or </a:t>
            </a:r>
            <a:r>
              <a:rPr lang="en-US" altLang="zh-CN" sz="2400" dirty="0" err="1">
                <a:solidFill>
                  <a:schemeClr val="tx1"/>
                </a:solidFill>
                <a:latin typeface="Segoe"/>
                <a:ea typeface="宋体" pitchFamily="2" charset="-122"/>
              </a:rPr>
              <a:t>subtrees</a:t>
            </a:r>
            <a:endParaRPr lang="en-US" altLang="zh-CN" sz="2400" dirty="0">
              <a:solidFill>
                <a:schemeClr val="tx1"/>
              </a:solidFill>
              <a:latin typeface="Segoe"/>
              <a:ea typeface="宋体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Segoe"/>
                <a:ea typeface="宋体" pitchFamily="2" charset="-122"/>
              </a:rPr>
              <a:t>Note: </a:t>
            </a:r>
            <a:r>
              <a:rPr lang="en-US" altLang="zh-CN" sz="2400" dirty="0">
                <a:solidFill>
                  <a:schemeClr val="tx1"/>
                </a:solidFill>
                <a:latin typeface="Segoe"/>
                <a:ea typeface="宋体" pitchFamily="2" charset="-122"/>
              </a:rPr>
              <a:t>tree &amp; back edges are important; most algorithms don’t distinguish forward &amp; cross</a:t>
            </a:r>
          </a:p>
        </p:txBody>
      </p:sp>
    </p:spTree>
    <p:extLst>
      <p:ext uri="{BB962C8B-B14F-4D97-AF65-F5344CB8AC3E}">
        <p14:creationId xmlns:p14="http://schemas.microsoft.com/office/powerpoint/2010/main" val="37235551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Algorithms, Second Edition by Thomas H. </a:t>
            </a:r>
            <a:r>
              <a:rPr lang="en-US" dirty="0" err="1">
                <a:solidFill>
                  <a:schemeClr val="tx1"/>
                </a:solidFill>
              </a:rPr>
              <a:t>Cormen</a:t>
            </a:r>
            <a:r>
              <a:rPr lang="en-US" dirty="0">
                <a:solidFill>
                  <a:schemeClr val="tx1"/>
                </a:solidFill>
              </a:rPr>
              <a:t>, Charles E. </a:t>
            </a:r>
            <a:r>
              <a:rPr lang="en-US" dirty="0" err="1">
                <a:solidFill>
                  <a:schemeClr val="tx1"/>
                </a:solidFill>
              </a:rPr>
              <a:t>Leiserson</a:t>
            </a:r>
            <a:r>
              <a:rPr lang="en-US" dirty="0">
                <a:solidFill>
                  <a:schemeClr val="tx1"/>
                </a:solidFill>
              </a:rPr>
              <a:t>, Ronald L. </a:t>
            </a:r>
            <a:r>
              <a:rPr lang="en-US" dirty="0" err="1">
                <a:solidFill>
                  <a:schemeClr val="tx1"/>
                </a:solidFill>
              </a:rPr>
              <a:t>Rivest</a:t>
            </a:r>
            <a:r>
              <a:rPr lang="en-US" dirty="0">
                <a:solidFill>
                  <a:schemeClr val="tx1"/>
                </a:solidFill>
              </a:rPr>
              <a:t> and Clifford Stein, The MIT Press © 2001 </a:t>
            </a:r>
          </a:p>
          <a:p>
            <a:r>
              <a:rPr lang="en-US" dirty="0">
                <a:solidFill>
                  <a:schemeClr val="tx1"/>
                </a:solidFill>
              </a:rPr>
              <a:t>Chapter 22.1, 22.2, 22.3</a:t>
            </a:r>
          </a:p>
        </p:txBody>
      </p:sp>
    </p:spTree>
    <p:extLst>
      <p:ext uri="{BB962C8B-B14F-4D97-AF65-F5344CB8AC3E}">
        <p14:creationId xmlns:p14="http://schemas.microsoft.com/office/powerpoint/2010/main" val="3156247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egooo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B0908ED0-5ACA-4F5D-AC16-0002AEC6F84D}"/>
</file>

<file path=customXml/itemProps2.xml><?xml version="1.0" encoding="utf-8"?>
<ds:datastoreItem xmlns:ds="http://schemas.openxmlformats.org/officeDocument/2006/customXml" ds:itemID="{DDD09639-6197-48FC-9032-1F419454D1B6}"/>
</file>

<file path=customXml/itemProps3.xml><?xml version="1.0" encoding="utf-8"?>
<ds:datastoreItem xmlns:ds="http://schemas.openxmlformats.org/officeDocument/2006/customXml" ds:itemID="{939E2DC1-55A1-4040-A169-A8393969B0D2}"/>
</file>

<file path=docProps/app.xml><?xml version="1.0" encoding="utf-8"?>
<Properties xmlns="http://schemas.openxmlformats.org/officeDocument/2006/extended-properties" xmlns:vt="http://schemas.openxmlformats.org/officeDocument/2006/docPropsVTypes">
  <Template>TS102129550</Template>
  <TotalTime>5830</TotalTime>
  <Words>5519</Words>
  <Application>Microsoft Office PowerPoint</Application>
  <PresentationFormat>On-screen Show (4:3)</PresentationFormat>
  <Paragraphs>1324</Paragraphs>
  <Slides>66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MS Mincho</vt:lpstr>
      <vt:lpstr>宋体</vt:lpstr>
      <vt:lpstr>Arial</vt:lpstr>
      <vt:lpstr>Calibri</vt:lpstr>
      <vt:lpstr>Comic Sans MS</vt:lpstr>
      <vt:lpstr>Segoe</vt:lpstr>
      <vt:lpstr>Segoe UI</vt:lpstr>
      <vt:lpstr>Segoe UI Light</vt:lpstr>
      <vt:lpstr>Symbol</vt:lpstr>
      <vt:lpstr>Wingdings</vt:lpstr>
      <vt:lpstr>Essential</vt:lpstr>
      <vt:lpstr>Bitmap Image</vt:lpstr>
      <vt:lpstr>Equation</vt:lpstr>
      <vt:lpstr>Cs 316: Algorithms  Lecture 7: Graph Representation and Search</vt:lpstr>
      <vt:lpstr>Linear data structures</vt:lpstr>
      <vt:lpstr>Non-linear data structures</vt:lpstr>
      <vt:lpstr>PowerPoint Presentation</vt:lpstr>
      <vt:lpstr>Applications</vt:lpstr>
      <vt:lpstr>Definitions</vt:lpstr>
      <vt:lpstr>Graphs - definitions</vt:lpstr>
      <vt:lpstr>Graph – Definitions</vt:lpstr>
      <vt:lpstr>Graph – Definitions</vt:lpstr>
      <vt:lpstr>Graph – Definitions</vt:lpstr>
      <vt:lpstr>Graph – An Example</vt:lpstr>
      <vt:lpstr>Directed Graph – An Example</vt:lpstr>
      <vt:lpstr>Graph -- Definitions</vt:lpstr>
      <vt:lpstr>Graph – Definitions</vt:lpstr>
      <vt:lpstr>Weighted Graph</vt:lpstr>
      <vt:lpstr>Types of graphs</vt:lpstr>
      <vt:lpstr>Graph Representations</vt:lpstr>
      <vt:lpstr>Representation of Graphs</vt:lpstr>
      <vt:lpstr>Adjacency Lists</vt:lpstr>
      <vt:lpstr>Storage Requirement</vt:lpstr>
      <vt:lpstr>Pros and Cons: adj list </vt:lpstr>
      <vt:lpstr>Adjacency Matrix</vt:lpstr>
      <vt:lpstr>Space and Time</vt:lpstr>
      <vt:lpstr>Searching a graph</vt:lpstr>
      <vt:lpstr>Graph-searching Algorithms</vt:lpstr>
      <vt:lpstr>Graph-searching Algorithms</vt:lpstr>
      <vt:lpstr>Breadth-first Search</vt:lpstr>
      <vt:lpstr>Breadth-first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(BFS)</vt:lpstr>
      <vt:lpstr>Example (BFS)</vt:lpstr>
      <vt:lpstr>Example (BFS)</vt:lpstr>
      <vt:lpstr>Example (BFS)</vt:lpstr>
      <vt:lpstr>Example (BFS)</vt:lpstr>
      <vt:lpstr>Breadth-first Tree</vt:lpstr>
      <vt:lpstr>Breadth-first Tree</vt:lpstr>
      <vt:lpstr>             Analysis of BFS</vt:lpstr>
      <vt:lpstr>Analysis of BFS</vt:lpstr>
      <vt:lpstr>Depth-first Search (DFS)</vt:lpstr>
      <vt:lpstr>Depth-first Search</vt:lpstr>
      <vt:lpstr>Pseudo-code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Depth First Forest</vt:lpstr>
      <vt:lpstr>Analysis of DFS</vt:lpstr>
      <vt:lpstr>Analysis of DFS</vt:lpstr>
      <vt:lpstr>DFS: Kinds of edges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316: Algorithms  Lecture 3: Analysis Of Recursive Algorithms</dc:title>
  <dc:creator>EHM</dc:creator>
  <cp:lastModifiedBy>Mohammed El-Said</cp:lastModifiedBy>
  <cp:revision>251</cp:revision>
  <cp:lastPrinted>2014-03-25T22:04:12Z</cp:lastPrinted>
  <dcterms:created xsi:type="dcterms:W3CDTF">2014-03-25T07:04:50Z</dcterms:created>
  <dcterms:modified xsi:type="dcterms:W3CDTF">2024-04-14T12:17:24Z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0x010100350B7603DA286A41973ED08A6E95DDF1</vt:lpwstr>
  </property>
</Properties>
</file>