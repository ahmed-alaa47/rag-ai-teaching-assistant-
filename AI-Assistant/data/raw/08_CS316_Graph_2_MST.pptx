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336" r:id="rId2"/>
    <p:sldId id="291" r:id="rId3"/>
    <p:sldId id="292" r:id="rId4"/>
    <p:sldId id="293" r:id="rId5"/>
    <p:sldId id="263" r:id="rId6"/>
    <p:sldId id="302" r:id="rId7"/>
    <p:sldId id="264" r:id="rId8"/>
    <p:sldId id="265" r:id="rId9"/>
    <p:sldId id="297" r:id="rId10"/>
    <p:sldId id="298" r:id="rId11"/>
    <p:sldId id="299" r:id="rId12"/>
    <p:sldId id="300" r:id="rId13"/>
    <p:sldId id="301" r:id="rId14"/>
    <p:sldId id="295" r:id="rId15"/>
    <p:sldId id="304" r:id="rId16"/>
    <p:sldId id="306" r:id="rId17"/>
    <p:sldId id="307" r:id="rId18"/>
    <p:sldId id="308" r:id="rId19"/>
    <p:sldId id="303" r:id="rId20"/>
    <p:sldId id="267" r:id="rId21"/>
    <p:sldId id="268" r:id="rId22"/>
    <p:sldId id="327" r:id="rId23"/>
    <p:sldId id="270" r:id="rId24"/>
    <p:sldId id="271" r:id="rId25"/>
    <p:sldId id="272" r:id="rId26"/>
    <p:sldId id="273" r:id="rId27"/>
    <p:sldId id="274" r:id="rId28"/>
    <p:sldId id="288" r:id="rId29"/>
    <p:sldId id="275" r:id="rId30"/>
    <p:sldId id="276" r:id="rId31"/>
    <p:sldId id="331" r:id="rId32"/>
    <p:sldId id="277" r:id="rId33"/>
    <p:sldId id="328" r:id="rId34"/>
    <p:sldId id="278" r:id="rId35"/>
    <p:sldId id="280" r:id="rId36"/>
    <p:sldId id="333" r:id="rId37"/>
    <p:sldId id="287" r:id="rId38"/>
    <p:sldId id="281" r:id="rId39"/>
    <p:sldId id="334" r:id="rId40"/>
    <p:sldId id="282" r:id="rId41"/>
    <p:sldId id="283" r:id="rId42"/>
    <p:sldId id="335" r:id="rId43"/>
    <p:sldId id="284" r:id="rId44"/>
    <p:sldId id="289" r:id="rId45"/>
    <p:sldId id="286" r:id="rId46"/>
    <p:sldId id="290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17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55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B100E-1B10-4026-A837-718250C37990}" type="datetimeFigureOut">
              <a:rPr lang="en-US" smtClean="0"/>
              <a:pPr/>
              <a:t>14-Apr-24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9FA32-A7E7-433D-9806-7C101BF74A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60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A83186-6CCC-41C7-9006-4FB33150EBAE}" type="slidenum">
              <a:rPr lang="en-US"/>
              <a:pPr eaLnBrk="1" hangingPunct="1"/>
              <a:t>5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9A83186-6CCC-41C7-9006-4FB33150EBAE}" type="slidenum">
              <a:rPr lang="en-US"/>
              <a:pPr eaLnBrk="1" hangingPunct="1"/>
              <a:t>6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18EED1-0B33-4687-8987-4DE0C76C8558}" type="slidenum">
              <a:rPr lang="en-US"/>
              <a:pPr eaLnBrk="1" hangingPunct="1"/>
              <a:t>7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0F109A1-2ED3-4ADC-AFAF-19954BAE9F61}" type="slidenum">
              <a:rPr lang="en-US"/>
              <a:pPr eaLnBrk="1" hangingPunct="1"/>
              <a:t>8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Safe=</a:t>
            </a:r>
            <a:r>
              <a:rPr lang="en-US" baseline="0" dirty="0"/>
              <a:t> don’t perform a cycle, and minimum weight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01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ea typeface="PMingLiU" pitchFamily="18" charset="-120"/>
              </a:rPr>
              <a:t> This figure shows a cut (S,V-S) of the graph.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97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6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BFAE5DA-DA03-4478-96B8-04ACB5D1F921}" type="slidenum">
              <a:rPr lang="en-US"/>
              <a:pPr eaLnBrk="1" hangingPunct="1"/>
              <a:t>20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A7C850-236A-4078-9D45-E567E9079873}" type="slidenum">
              <a:rPr lang="en-US"/>
              <a:pPr eaLnBrk="1" hangingPunct="1"/>
              <a:t>21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6A7C850-236A-4078-9D45-E567E9079873}" type="slidenum">
              <a:rPr lang="en-US"/>
              <a:pPr eaLnBrk="1" hangingPunct="1"/>
              <a:t>22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85A8BD9-CFF1-4D17-90BF-8E7297039BF8}" type="slidenum">
              <a:rPr lang="en-US"/>
              <a:pPr eaLnBrk="1" hangingPunct="1"/>
              <a:t>23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03138F5-DCC3-4788-BF73-078896613ED3}" type="slidenum">
              <a:rPr lang="en-US"/>
              <a:pPr eaLnBrk="1" hangingPunct="1"/>
              <a:t>24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9B1E0F-2993-443C-ACBA-A9FD13E6B52D}" type="slidenum">
              <a:rPr lang="en-US"/>
              <a:pPr eaLnBrk="1" hangingPunct="1"/>
              <a:t>25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AD7FF6-293C-48F6-A622-747E5F824899}" type="slidenum">
              <a:rPr lang="en-US"/>
              <a:pPr eaLnBrk="1" hangingPunct="1"/>
              <a:t>26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E6E59E0-646B-44CC-95EB-97C5AC1EC2E1}" type="slidenum">
              <a:rPr lang="en-US"/>
              <a:pPr eaLnBrk="1" hangingPunct="1"/>
              <a:t>27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3E34FD3-CB3D-4C83-9A5D-7F352807C451}" type="slidenum">
              <a:rPr lang="en-US"/>
              <a:pPr eaLnBrk="1" hangingPunct="1"/>
              <a:t>29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CF940DC-9460-4AA0-800E-5CC64FC8AE9D}" type="slidenum">
              <a:rPr lang="en-US"/>
              <a:pPr eaLnBrk="1" hangingPunct="1"/>
              <a:t>30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3E34FD3-CB3D-4C83-9A5D-7F352807C451}" type="slidenum">
              <a:rPr lang="en-US"/>
              <a:pPr eaLnBrk="1" hangingPunct="1"/>
              <a:t>31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9FB592A-3BA8-4731-818F-B53C5DBEB82A}" type="slidenum">
              <a:rPr lang="en-US"/>
              <a:pPr eaLnBrk="1" hangingPunct="1"/>
              <a:t>32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9FA32-A7E7-433D-9806-7C101BF74AE1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61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DFF731-2F99-434B-BDC4-C42E40FB13F4}" type="slidenum">
              <a:rPr lang="en-US"/>
              <a:pPr eaLnBrk="1" hangingPunct="1"/>
              <a:t>34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7BD6F9-4707-4EF2-B9EA-AB0B7FA48F84}" type="slidenum">
              <a:rPr lang="en-US"/>
              <a:pPr eaLnBrk="1" hangingPunct="1"/>
              <a:t>35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97BD6F9-4707-4EF2-B9EA-AB0B7FA48F84}" type="slidenum">
              <a:rPr lang="en-US"/>
              <a:pPr eaLnBrk="1" hangingPunct="1"/>
              <a:t>36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4676A35-D7EB-4A4E-9356-7FE15CCBC829}" type="slidenum">
              <a:rPr lang="en-US"/>
              <a:pPr eaLnBrk="1" hangingPunct="1"/>
              <a:t>38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4676A35-D7EB-4A4E-9356-7FE15CCBC829}" type="slidenum">
              <a:rPr lang="en-US"/>
              <a:pPr eaLnBrk="1" hangingPunct="1"/>
              <a:t>39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5008838-5211-4D64-9761-F9E96D190AFE}" type="slidenum">
              <a:rPr lang="en-US"/>
              <a:pPr eaLnBrk="1" hangingPunct="1"/>
              <a:t>40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1A8CDAD-7D0F-41FD-90B9-94F1244D8415}" type="slidenum">
              <a:rPr lang="en-US"/>
              <a:pPr eaLnBrk="1" hangingPunct="1"/>
              <a:t>41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615E141-FB5E-4B88-81AF-FB0E81BB532B}" type="slidenum">
              <a:rPr lang="en-US"/>
              <a:pPr eaLnBrk="1" hangingPunct="1"/>
              <a:t>42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sz="1200" dirty="0">
                <a:solidFill>
                  <a:schemeClr val="tx1"/>
                </a:solidFill>
                <a:latin typeface="+mn-lt"/>
              </a:rPr>
              <a:t>FIND-SET(u) </a:t>
            </a:r>
            <a:r>
              <a:rPr lang="en-US" sz="1200" dirty="0">
                <a:solidFill>
                  <a:schemeClr val="tx1"/>
                </a:solidFill>
                <a:latin typeface="+mn-lt"/>
                <a:sym typeface="Symbol" pitchFamily="18" charset="2"/>
              </a:rPr>
              <a:t>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 FIND-SET(v) </a:t>
            </a:r>
            <a:r>
              <a:rPr lang="en-US" sz="1200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 to not perform a cycle</a:t>
            </a:r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615E141-FB5E-4B88-81AF-FB0E81BB532B}" type="slidenum">
              <a:rPr lang="en-US"/>
              <a:pPr eaLnBrk="1" hangingPunct="1"/>
              <a:t>43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739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30171" indent="-280835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23340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72677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22013" indent="-224668" defTabSz="917395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471349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20685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370021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19357" indent="-224668" defTabSz="9173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D7CC7E5-9DE9-41AE-BC54-3838432F3623}" type="slidenum">
              <a:rPr lang="en-US"/>
              <a:pPr eaLnBrk="1" hangingPunct="1"/>
              <a:t>45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3999" cy="3383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8" name="Oval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9" name="Isosceles Triangle 8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83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7772400" cy="114300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 spc="-8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57200" y="2971800"/>
            <a:ext cx="77724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rgbClr val="FE5815"/>
                </a:solidFill>
                <a:latin typeface="Segoe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2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1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0" name="Oval 9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Isosceles Triangle 13">
                <a:hlinkClick r:id="" action="ppaction://hlinkshowjump?jump=firstslide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16" name="Oval 1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17" name="Isosceles Triangle 16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9" name="Oval 18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" name="Straight Connector 23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28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>
            <a:off x="4699000" y="0"/>
            <a:ext cx="4445000" cy="212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620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620000" cy="4373563"/>
          </a:xfrm>
        </p:spPr>
        <p:txBody>
          <a:bodyPr/>
          <a:lstStyle>
            <a:lvl1pPr>
              <a:defRPr sz="2200">
                <a:latin typeface="Segoe"/>
              </a:defRPr>
            </a:lvl1pPr>
            <a:lvl2pPr>
              <a:defRPr>
                <a:latin typeface="Segoe"/>
              </a:defRPr>
            </a:lvl2pPr>
            <a:lvl3pPr>
              <a:defRPr>
                <a:latin typeface="Segoe"/>
              </a:defRPr>
            </a:lvl3pPr>
            <a:lvl4pPr>
              <a:defRPr>
                <a:latin typeface="Segoe"/>
              </a:defRPr>
            </a:lvl4pPr>
            <a:lvl5pPr>
              <a:defRPr>
                <a:latin typeface="Sego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66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9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8558760" y="6325524"/>
            <a:ext cx="356640" cy="356640"/>
            <a:chOff x="8136431" y="5022563"/>
            <a:chExt cx="356640" cy="356640"/>
          </a:xfrm>
        </p:grpSpPr>
        <p:sp>
          <p:nvSpPr>
            <p:cNvPr id="6" name="Oval 5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8" name="Isosceles Triangle 7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14" name="Oval 13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Isosceles Triangle 17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19" name="Straight Connector 18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/>
          <p:cNvGrpSpPr/>
          <p:nvPr/>
        </p:nvGrpSpPr>
        <p:grpSpPr>
          <a:xfrm>
            <a:off x="8005715" y="6324600"/>
            <a:ext cx="356640" cy="356640"/>
            <a:chOff x="7583386" y="5022563"/>
            <a:chExt cx="356640" cy="356640"/>
          </a:xfrm>
        </p:grpSpPr>
        <p:sp>
          <p:nvSpPr>
            <p:cNvPr id="21" name="Oval 20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>
              <a:off x="7583386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2" name="Isosceles Triangle 21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 rot="16200000">
              <a:off x="764963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20000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7" y="1600200"/>
            <a:ext cx="7620000" cy="4373563"/>
          </a:xfrm>
        </p:spPr>
        <p:txBody>
          <a:bodyPr/>
          <a:lstStyle>
            <a:lvl1pPr>
              <a:defRPr sz="2200">
                <a:latin typeface="Segoe UI Light" pitchFamily="34" charset="0"/>
              </a:defRPr>
            </a:lvl1pPr>
            <a:lvl2pPr>
              <a:defRPr>
                <a:latin typeface="Segoe UI Light" pitchFamily="34" charset="0"/>
              </a:defRPr>
            </a:lvl2pPr>
            <a:lvl3pPr>
              <a:defRPr>
                <a:latin typeface="Segoe UI Light" pitchFamily="34" charset="0"/>
              </a:defRPr>
            </a:lvl3pPr>
            <a:lvl4pPr>
              <a:defRPr>
                <a:latin typeface="Segoe UI Light" pitchFamily="34" charset="0"/>
              </a:defRPr>
            </a:lvl4pPr>
            <a:lvl5pPr>
              <a:defRPr>
                <a:latin typeface="Segoe UI Light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9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8558760" y="6324600"/>
            <a:ext cx="356640" cy="356640"/>
            <a:chOff x="8136431" y="5022563"/>
            <a:chExt cx="356640" cy="356640"/>
          </a:xfrm>
        </p:grpSpPr>
        <p:sp>
          <p:nvSpPr>
            <p:cNvPr id="22" name="Oval 21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>
              <a:off x="8136431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3" name="Isosceles Triangle 22">
              <a:hlinkClick r:id="" action="ppaction://hlinkshowjump?jump=nextslide"/>
            </p:cNvPr>
            <p:cNvSpPr>
              <a:spLocks noChangeAspect="1"/>
            </p:cNvSpPr>
            <p:nvPr/>
          </p:nvSpPr>
          <p:spPr>
            <a:xfrm rot="5400000" flipH="1">
              <a:off x="825237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8005715" y="6324600"/>
            <a:ext cx="356640" cy="356640"/>
            <a:chOff x="7583386" y="5022563"/>
            <a:chExt cx="356640" cy="356640"/>
          </a:xfrm>
        </p:grpSpPr>
        <p:sp>
          <p:nvSpPr>
            <p:cNvPr id="25" name="Oval 24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>
              <a:off x="7583386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sp>
          <p:nvSpPr>
            <p:cNvPr id="26" name="Isosceles Triangle 25">
              <a:hlinkClick r:id="" action="ppaction://hlinkshowjump?jump=previousslide"/>
            </p:cNvPr>
            <p:cNvSpPr>
              <a:spLocks noChangeAspect="1"/>
            </p:cNvSpPr>
            <p:nvPr/>
          </p:nvSpPr>
          <p:spPr>
            <a:xfrm rot="16200000">
              <a:off x="7649634" y="5117516"/>
              <a:ext cx="195162" cy="16824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algn="l" rotWithShape="0">
                <a:srgbClr val="D35641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274499" y="6324600"/>
            <a:ext cx="356640" cy="356640"/>
            <a:chOff x="6852170" y="5022563"/>
            <a:chExt cx="356640" cy="356640"/>
          </a:xfrm>
        </p:grpSpPr>
        <p:sp>
          <p:nvSpPr>
            <p:cNvPr id="28" name="Oval 27">
              <a:hlinkClick r:id="" action="ppaction://hlinkshowjump?jump=firstslide"/>
            </p:cNvPr>
            <p:cNvSpPr>
              <a:spLocks noChangeAspect="1"/>
            </p:cNvSpPr>
            <p:nvPr/>
          </p:nvSpPr>
          <p:spPr>
            <a:xfrm>
              <a:off x="6852170" y="5022563"/>
              <a:ext cx="356640" cy="356640"/>
            </a:xfrm>
            <a:prstGeom prst="ellipse">
              <a:avLst/>
            </a:prstGeom>
            <a:gradFill flip="none" rotWithShape="1">
              <a:gsLst>
                <a:gs pos="0">
                  <a:srgbClr val="FE5815"/>
                </a:gs>
                <a:gs pos="100000">
                  <a:srgbClr val="FFC000"/>
                </a:gs>
              </a:gsLst>
              <a:path path="circle">
                <a:fillToRect l="100000" t="100000"/>
              </a:path>
              <a:tileRect r="-100000" b="-100000"/>
            </a:gradFill>
            <a:ln w="12700">
              <a:solidFill>
                <a:srgbClr val="FF99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Segoe" pitchFamily="34" charset="0"/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6920649" y="5087260"/>
              <a:ext cx="240202" cy="214123"/>
              <a:chOff x="7066773" y="5942997"/>
              <a:chExt cx="240202" cy="214123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7203307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hlinkClick r:id="" action="ppaction://hlinkshowjump?jump=firstslide"/>
              </p:cNvPr>
              <p:cNvSpPr/>
              <p:nvPr/>
            </p:nvSpPr>
            <p:spPr>
              <a:xfrm>
                <a:off x="7100694" y="6055119"/>
                <a:ext cx="56276" cy="10200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Isosceles Triangle 31">
                <a:hlinkClick r:id="rId3" action="ppaction://hlinksldjump"/>
              </p:cNvPr>
              <p:cNvSpPr/>
              <p:nvPr/>
            </p:nvSpPr>
            <p:spPr>
              <a:xfrm>
                <a:off x="7066773" y="5942997"/>
                <a:ext cx="240202" cy="112122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33" name="Straight Connector 32"/>
          <p:cNvCxnSpPr/>
          <p:nvPr/>
        </p:nvCxnSpPr>
        <p:spPr>
          <a:xfrm>
            <a:off x="7813729" y="6325524"/>
            <a:ext cx="0" cy="35664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41838" y="1214438"/>
            <a:ext cx="4038600" cy="2462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41838" y="3829050"/>
            <a:ext cx="4038600" cy="2462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A3E7AA-8F88-46FD-9F63-8C35A461F5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53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0B3522-4513-49FC-AF72-8C2355127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0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F42FD-181E-43F7-9922-D09FD803231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20000" cy="13712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 cap="all" spc="-60" baseline="0">
          <a:solidFill>
            <a:schemeClr val="tx1">
              <a:lumMod val="65000"/>
              <a:lumOff val="35000"/>
            </a:schemeClr>
          </a:solidFill>
          <a:latin typeface="Segoe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bg1">
              <a:lumMod val="50000"/>
            </a:schemeClr>
          </a:solidFill>
          <a:latin typeface="Segoe UI Ligh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765300"/>
            <a:ext cx="7543800" cy="2273300"/>
          </a:xfrm>
        </p:spPr>
        <p:txBody>
          <a:bodyPr/>
          <a:lstStyle/>
          <a:p>
            <a:pPr algn="ctr"/>
            <a:r>
              <a:rPr lang="en-US" sz="3600" dirty="0"/>
              <a:t>Cs 316: Algorithms </a:t>
            </a:r>
            <a:br>
              <a:rPr lang="en-US" sz="3600" dirty="0"/>
            </a:br>
            <a:r>
              <a:rPr lang="en-US" cap="none" dirty="0">
                <a:solidFill>
                  <a:srgbClr val="FF3300"/>
                </a:solidFill>
              </a:rPr>
              <a:t>Lecture 8: </a:t>
            </a:r>
            <a:r>
              <a:rPr lang="en-US" cap="none" dirty="0">
                <a:solidFill>
                  <a:srgbClr val="0070C0"/>
                </a:solidFill>
              </a:rPr>
              <a:t>Minimum Spanning Tree (MST)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457200" y="4038600"/>
            <a:ext cx="77724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0" kern="1200" cap="all" spc="120" baseline="0">
                <a:solidFill>
                  <a:srgbClr val="FE5815"/>
                </a:solidFill>
                <a:latin typeface="Segoe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800" kern="1200" baseline="0">
                <a:solidFill>
                  <a:schemeClr val="tx1">
                    <a:tint val="75000"/>
                  </a:schemeClr>
                </a:solidFill>
                <a:latin typeface="Segoe UI Light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cap="none">
                <a:solidFill>
                  <a:srgbClr val="FF0000"/>
                </a:solidFill>
              </a:rPr>
              <a:t>Prepared by: Assoc. Prof. Ensaf Hussein</a:t>
            </a:r>
          </a:p>
          <a:p>
            <a:pPr algn="ctr"/>
            <a:r>
              <a:rPr lang="en-US" cap="none">
                <a:solidFill>
                  <a:srgbClr val="0000CC"/>
                </a:solidFill>
              </a:rPr>
              <a:t>Presented by:</a:t>
            </a:r>
            <a:r>
              <a:rPr lang="en-US" cap="none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2400" b="1" cap="none">
                <a:solidFill>
                  <a:schemeClr val="tx1"/>
                </a:solidFill>
              </a:rPr>
              <a:t>Assoc. Prof. Wessam El-Behaidy</a:t>
            </a:r>
          </a:p>
          <a:p>
            <a:pPr algn="ctr"/>
            <a:r>
              <a:rPr lang="en-US" sz="2400" b="1" cap="none">
                <a:solidFill>
                  <a:schemeClr val="tx1"/>
                </a:solidFill>
              </a:rPr>
              <a:t>Dr. Mohammed El-Said</a:t>
            </a:r>
            <a:endParaRPr lang="ar-EG" sz="2400" b="1" cap="none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35592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8"/>
            <a:ext cx="7620000" cy="1371282"/>
          </a:xfrm>
        </p:spPr>
        <p:txBody>
          <a:bodyPr/>
          <a:lstStyle/>
          <a:p>
            <a:r>
              <a:rPr lang="en-US" dirty="0"/>
              <a:t>Problem: Laying Telephone Wire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21507" name="AutoShape 3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08" name="Rectangle 4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21514" name="AutoShape 1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21519" name="AutoShape 1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20" name="Rectangle 1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21" name="Rectangle 1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22" name="Rectangle 1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21524" name="AutoShape 2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25" name="Rectangle 2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26" name="Rectangle 2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27" name="Rectangle 2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21529" name="AutoShape 2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30" name="Rectangle 2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31" name="Rectangle 2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32" name="Rectangle 2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21534" name="AutoShape 3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35" name="Rectangle 3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36" name="Rectangle 3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37" name="Rectangle 3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21539" name="AutoShape 3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40" name="Rectangle 3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41" name="Rectangle 3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42" name="Rectangle 3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21544" name="AutoShape 4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45" name="Rectangle 4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46" name="Rectangle 4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47" name="Rectangle 4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10" name="Group 71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21553" name="Rectangle 49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54" name="Rectangle 50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1555" name="Rectangle 51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1556" name="Rectangle 52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1557" name="Rectangle 53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1558" name="Rectangle 54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1559" name="Rectangle 55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1560" name="Rectangle 56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1561" name="Rectangle 57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1562" name="Rectangle 58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1563" name="Rectangle 59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</p:grpSp>
      <p:sp>
        <p:nvSpPr>
          <p:cNvPr id="21564" name="Text Box 60"/>
          <p:cNvSpPr txBox="1">
            <a:spLocks noChangeArrowheads="1"/>
          </p:cNvSpPr>
          <p:nvPr/>
        </p:nvSpPr>
        <p:spPr bwMode="auto">
          <a:xfrm>
            <a:off x="4191000" y="3810000"/>
            <a:ext cx="1530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</a:rPr>
              <a:t>Central office</a:t>
            </a:r>
          </a:p>
        </p:txBody>
      </p:sp>
      <p:grpSp>
        <p:nvGrpSpPr>
          <p:cNvPr id="11" name="Group 61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21566" name="AutoShape 6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67" name="Rectangle 6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68" name="Rectangle 6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69" name="Rectangle 6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12" name="Group 66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21571" name="AutoShape 6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72" name="Rectangle 6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73" name="Rectangle 6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1574" name="Rectangle 7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Wiring: Naïve Approach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22532" name="AutoShape 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33" name="Rectangle 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34" name="Rectangle 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35" name="Rectangle 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22537" name="AutoShape 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38" name="Rectangle 1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39" name="Rectangle 1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40" name="Rectangle 1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22542" name="AutoShape 1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43" name="Rectangle 1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44" name="Rectangle 1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45" name="Rectangle 1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22547" name="AutoShape 1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48" name="Rectangle 2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49" name="Rectangle 2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50" name="Rectangle 2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22552" name="AutoShape 2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53" name="Rectangle 2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54" name="Rectangle 2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55" name="Rectangle 2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7" name="Group 28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22557" name="AutoShape 2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58" name="Rectangle 3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59" name="Rectangle 3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60" name="Rectangle 3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22562" name="AutoShape 34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63" name="Rectangle 35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64" name="Rectangle 36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65" name="Rectangle 37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9" name="Group 38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22567" name="AutoShape 39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68" name="Rectangle 40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69" name="Rectangle 41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70" name="Rectangle 42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sp>
        <p:nvSpPr>
          <p:cNvPr id="22583" name="Text Box 55"/>
          <p:cNvSpPr txBox="1">
            <a:spLocks noChangeArrowheads="1"/>
          </p:cNvSpPr>
          <p:nvPr/>
        </p:nvSpPr>
        <p:spPr bwMode="auto">
          <a:xfrm>
            <a:off x="4191000" y="3810000"/>
            <a:ext cx="1530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</a:rPr>
              <a:t>Central office</a:t>
            </a:r>
          </a:p>
        </p:txBody>
      </p: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22585" name="AutoShape 5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86" name="Rectangle 5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87" name="Rectangle 5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88" name="Rectangle 6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11" name="Group 61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22590" name="AutoShape 6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91" name="Rectangle 6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92" name="Rectangle 6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93" name="Rectangle 6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cxnSp>
        <p:nvCxnSpPr>
          <p:cNvPr id="22594" name="AutoShape 66"/>
          <p:cNvCxnSpPr>
            <a:cxnSpLocks noChangeShapeType="1"/>
            <a:stCxn id="22579" idx="0"/>
            <a:endCxn id="22543" idx="2"/>
          </p:cNvCxnSpPr>
          <p:nvPr/>
        </p:nvCxnSpPr>
        <p:spPr bwMode="auto">
          <a:xfrm flipH="1" flipV="1">
            <a:off x="3619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5" name="AutoShape 67"/>
          <p:cNvCxnSpPr>
            <a:cxnSpLocks noChangeShapeType="1"/>
            <a:stCxn id="22579" idx="0"/>
            <a:endCxn id="22553" idx="3"/>
          </p:cNvCxnSpPr>
          <p:nvPr/>
        </p:nvCxnSpPr>
        <p:spPr bwMode="auto">
          <a:xfrm flipH="1" flipV="1">
            <a:off x="2822575" y="3390900"/>
            <a:ext cx="2130425" cy="114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6" name="AutoShape 68"/>
          <p:cNvCxnSpPr>
            <a:cxnSpLocks noChangeShapeType="1"/>
            <a:stCxn id="22579" idx="0"/>
            <a:endCxn id="22568" idx="3"/>
          </p:cNvCxnSpPr>
          <p:nvPr/>
        </p:nvCxnSpPr>
        <p:spPr bwMode="auto">
          <a:xfrm flipH="1">
            <a:off x="2441575" y="3505200"/>
            <a:ext cx="25114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7" name="AutoShape 69"/>
          <p:cNvCxnSpPr>
            <a:cxnSpLocks noChangeShapeType="1"/>
            <a:stCxn id="22579" idx="0"/>
            <a:endCxn id="22532" idx="5"/>
          </p:cNvCxnSpPr>
          <p:nvPr/>
        </p:nvCxnSpPr>
        <p:spPr bwMode="auto">
          <a:xfrm flipH="1">
            <a:off x="1314450" y="3505200"/>
            <a:ext cx="36385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8" name="AutoShape 70"/>
          <p:cNvCxnSpPr>
            <a:cxnSpLocks noChangeShapeType="1"/>
            <a:stCxn id="22558" idx="3"/>
            <a:endCxn id="22579" idx="0"/>
          </p:cNvCxnSpPr>
          <p:nvPr/>
        </p:nvCxnSpPr>
        <p:spPr bwMode="auto">
          <a:xfrm>
            <a:off x="1603375" y="2628900"/>
            <a:ext cx="334962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599" name="AutoShape 71"/>
          <p:cNvCxnSpPr>
            <a:cxnSpLocks noChangeShapeType="1"/>
            <a:stCxn id="22579" idx="0"/>
            <a:endCxn id="22563" idx="2"/>
          </p:cNvCxnSpPr>
          <p:nvPr/>
        </p:nvCxnSpPr>
        <p:spPr bwMode="auto">
          <a:xfrm flipH="1" flipV="1">
            <a:off x="2095500" y="2057400"/>
            <a:ext cx="2857500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600" name="AutoShape 72"/>
          <p:cNvCxnSpPr>
            <a:cxnSpLocks noChangeShapeType="1"/>
            <a:stCxn id="22579" idx="0"/>
            <a:endCxn id="22537" idx="0"/>
          </p:cNvCxnSpPr>
          <p:nvPr/>
        </p:nvCxnSpPr>
        <p:spPr bwMode="auto">
          <a:xfrm>
            <a:off x="4953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601" name="AutoShape 73"/>
          <p:cNvCxnSpPr>
            <a:cxnSpLocks noChangeShapeType="1"/>
            <a:stCxn id="22579" idx="0"/>
            <a:endCxn id="22590" idx="1"/>
          </p:cNvCxnSpPr>
          <p:nvPr/>
        </p:nvCxnSpPr>
        <p:spPr bwMode="auto">
          <a:xfrm>
            <a:off x="4953000" y="3505200"/>
            <a:ext cx="1352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602" name="AutoShape 74"/>
          <p:cNvCxnSpPr>
            <a:cxnSpLocks noChangeShapeType="1"/>
            <a:stCxn id="22579" idx="0"/>
            <a:endCxn id="22585" idx="1"/>
          </p:cNvCxnSpPr>
          <p:nvPr/>
        </p:nvCxnSpPr>
        <p:spPr bwMode="auto">
          <a:xfrm>
            <a:off x="4953000" y="3505200"/>
            <a:ext cx="2114550" cy="1143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2603" name="AutoShape 75"/>
          <p:cNvCxnSpPr>
            <a:cxnSpLocks noChangeShapeType="1"/>
            <a:stCxn id="22579" idx="0"/>
            <a:endCxn id="22548" idx="1"/>
          </p:cNvCxnSpPr>
          <p:nvPr/>
        </p:nvCxnSpPr>
        <p:spPr bwMode="auto">
          <a:xfrm flipV="1">
            <a:off x="4953000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grpSp>
        <p:nvGrpSpPr>
          <p:cNvPr id="12" name="Group 76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22572" name="Rectangle 44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2573" name="Rectangle 45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2574" name="Rectangle 46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2575" name="Rectangle 47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2576" name="Rectangle 48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2577" name="Rectangle 49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2578" name="Rectangle 50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2579" name="Rectangle 51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2580" name="Rectangle 52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2581" name="Rectangle 53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2582" name="Rectangle 54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</p:grpSp>
      <p:sp>
        <p:nvSpPr>
          <p:cNvPr id="22606" name="Text Box 78"/>
          <p:cNvSpPr txBox="1">
            <a:spLocks noChangeArrowheads="1"/>
          </p:cNvSpPr>
          <p:nvPr/>
        </p:nvSpPr>
        <p:spPr bwMode="auto">
          <a:xfrm>
            <a:off x="3609975" y="5410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7013" indent="-227013"/>
            <a:r>
              <a:rPr lang="en-US" sz="2400" b="1">
                <a:latin typeface="Arial" pitchFamily="34" charset="0"/>
              </a:rPr>
              <a:t>Expensive!</a:t>
            </a:r>
            <a:endParaRPr lang="en-US" sz="2400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Wiring: Better Approach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914400" y="3810000"/>
            <a:ext cx="533400" cy="533400"/>
            <a:chOff x="576" y="2400"/>
            <a:chExt cx="336" cy="336"/>
          </a:xfrm>
        </p:grpSpPr>
        <p:sp>
          <p:nvSpPr>
            <p:cNvPr id="25667" name="AutoShape 6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68" name="Rectangle 6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69" name="Rectangle 6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70" name="Rectangle 7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3" name="Group 71"/>
          <p:cNvGrpSpPr>
            <a:grpSpLocks/>
          </p:cNvGrpSpPr>
          <p:nvPr/>
        </p:nvGrpSpPr>
        <p:grpSpPr bwMode="auto">
          <a:xfrm>
            <a:off x="4800600" y="4572000"/>
            <a:ext cx="533400" cy="533400"/>
            <a:chOff x="576" y="2400"/>
            <a:chExt cx="336" cy="336"/>
          </a:xfrm>
        </p:grpSpPr>
        <p:sp>
          <p:nvSpPr>
            <p:cNvPr id="25672" name="AutoShape 7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73" name="Rectangle 7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74" name="Rectangle 7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75" name="Rectangle 7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4" name="Group 76"/>
          <p:cNvGrpSpPr>
            <a:grpSpLocks/>
          </p:cNvGrpSpPr>
          <p:nvPr/>
        </p:nvGrpSpPr>
        <p:grpSpPr bwMode="auto">
          <a:xfrm>
            <a:off x="3352800" y="2133600"/>
            <a:ext cx="533400" cy="533400"/>
            <a:chOff x="576" y="2400"/>
            <a:chExt cx="336" cy="336"/>
          </a:xfrm>
        </p:grpSpPr>
        <p:sp>
          <p:nvSpPr>
            <p:cNvPr id="25677" name="AutoShape 7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78" name="Rectangle 7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79" name="Rectangle 7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80" name="Rectangle 8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6019800" y="1905000"/>
            <a:ext cx="533400" cy="533400"/>
            <a:chOff x="576" y="2400"/>
            <a:chExt cx="336" cy="336"/>
          </a:xfrm>
        </p:grpSpPr>
        <p:sp>
          <p:nvSpPr>
            <p:cNvPr id="25682" name="AutoShape 8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83" name="Rectangle 8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84" name="Rectangle 8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85" name="Rectangle 8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6" name="Group 86"/>
          <p:cNvGrpSpPr>
            <a:grpSpLocks/>
          </p:cNvGrpSpPr>
          <p:nvPr/>
        </p:nvGrpSpPr>
        <p:grpSpPr bwMode="auto">
          <a:xfrm>
            <a:off x="2362200" y="2971800"/>
            <a:ext cx="533400" cy="533400"/>
            <a:chOff x="576" y="2400"/>
            <a:chExt cx="336" cy="336"/>
          </a:xfrm>
        </p:grpSpPr>
        <p:sp>
          <p:nvSpPr>
            <p:cNvPr id="25687" name="AutoShape 8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88" name="Rectangle 8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89" name="Rectangle 8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90" name="Rectangle 9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7" name="Group 91"/>
          <p:cNvGrpSpPr>
            <a:grpSpLocks/>
          </p:cNvGrpSpPr>
          <p:nvPr/>
        </p:nvGrpSpPr>
        <p:grpSpPr bwMode="auto">
          <a:xfrm>
            <a:off x="1143000" y="2209800"/>
            <a:ext cx="533400" cy="533400"/>
            <a:chOff x="576" y="2400"/>
            <a:chExt cx="336" cy="336"/>
          </a:xfrm>
        </p:grpSpPr>
        <p:sp>
          <p:nvSpPr>
            <p:cNvPr id="25692" name="AutoShape 9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93" name="Rectangle 9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94" name="Rectangle 9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95" name="Rectangle 9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8" name="Group 96"/>
          <p:cNvGrpSpPr>
            <a:grpSpLocks/>
          </p:cNvGrpSpPr>
          <p:nvPr/>
        </p:nvGrpSpPr>
        <p:grpSpPr bwMode="auto">
          <a:xfrm>
            <a:off x="1828800" y="1524000"/>
            <a:ext cx="533400" cy="533400"/>
            <a:chOff x="576" y="2400"/>
            <a:chExt cx="336" cy="336"/>
          </a:xfrm>
        </p:grpSpPr>
        <p:sp>
          <p:nvSpPr>
            <p:cNvPr id="25697" name="AutoShape 97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98" name="Rectangle 98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699" name="Rectangle 99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00" name="Rectangle 100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9" name="Group 101"/>
          <p:cNvGrpSpPr>
            <a:grpSpLocks/>
          </p:cNvGrpSpPr>
          <p:nvPr/>
        </p:nvGrpSpPr>
        <p:grpSpPr bwMode="auto">
          <a:xfrm>
            <a:off x="1981200" y="3962400"/>
            <a:ext cx="533400" cy="533400"/>
            <a:chOff x="576" y="2400"/>
            <a:chExt cx="336" cy="336"/>
          </a:xfrm>
        </p:grpSpPr>
        <p:sp>
          <p:nvSpPr>
            <p:cNvPr id="25702" name="AutoShape 102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03" name="Rectangle 103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04" name="Rectangle 104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05" name="Rectangle 105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sp>
        <p:nvSpPr>
          <p:cNvPr id="25718" name="Text Box 118"/>
          <p:cNvSpPr txBox="1">
            <a:spLocks noChangeArrowheads="1"/>
          </p:cNvSpPr>
          <p:nvPr/>
        </p:nvSpPr>
        <p:spPr bwMode="auto">
          <a:xfrm>
            <a:off x="4191000" y="3810000"/>
            <a:ext cx="1530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>
                <a:latin typeface="Arial" pitchFamily="34" charset="0"/>
              </a:rPr>
              <a:t>Central office</a:t>
            </a:r>
          </a:p>
        </p:txBody>
      </p:sp>
      <p:grpSp>
        <p:nvGrpSpPr>
          <p:cNvPr id="10" name="Group 119"/>
          <p:cNvGrpSpPr>
            <a:grpSpLocks/>
          </p:cNvGrpSpPr>
          <p:nvPr/>
        </p:nvGrpSpPr>
        <p:grpSpPr bwMode="auto">
          <a:xfrm>
            <a:off x="6934200" y="4495800"/>
            <a:ext cx="533400" cy="533400"/>
            <a:chOff x="576" y="2400"/>
            <a:chExt cx="336" cy="336"/>
          </a:xfrm>
        </p:grpSpPr>
        <p:sp>
          <p:nvSpPr>
            <p:cNvPr id="25720" name="AutoShape 120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21" name="Rectangle 121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22" name="Rectangle 122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23" name="Rectangle 123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grpSp>
        <p:nvGrpSpPr>
          <p:cNvPr id="11" name="Group 124"/>
          <p:cNvGrpSpPr>
            <a:grpSpLocks/>
          </p:cNvGrpSpPr>
          <p:nvPr/>
        </p:nvGrpSpPr>
        <p:grpSpPr bwMode="auto">
          <a:xfrm>
            <a:off x="6172200" y="4495800"/>
            <a:ext cx="533400" cy="533400"/>
            <a:chOff x="576" y="2400"/>
            <a:chExt cx="336" cy="336"/>
          </a:xfrm>
        </p:grpSpPr>
        <p:sp>
          <p:nvSpPr>
            <p:cNvPr id="25725" name="AutoShape 125" descr="Shingle"/>
            <p:cNvSpPr>
              <a:spLocks noChangeArrowheads="1"/>
            </p:cNvSpPr>
            <p:nvPr/>
          </p:nvSpPr>
          <p:spPr bwMode="auto">
            <a:xfrm>
              <a:off x="576" y="2400"/>
              <a:ext cx="336" cy="192"/>
            </a:xfrm>
            <a:prstGeom prst="triangle">
              <a:avLst>
                <a:gd name="adj" fmla="val 50000"/>
              </a:avLst>
            </a:prstGeom>
            <a:pattFill prst="shingle">
              <a:fgClr>
                <a:schemeClr val="tx1"/>
              </a:fgClr>
              <a:bgClr>
                <a:srgbClr val="CC9900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26" name="Rectangle 126"/>
            <p:cNvSpPr>
              <a:spLocks noChangeArrowheads="1"/>
            </p:cNvSpPr>
            <p:nvPr/>
          </p:nvSpPr>
          <p:spPr bwMode="auto">
            <a:xfrm>
              <a:off x="622" y="2592"/>
              <a:ext cx="244" cy="14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27" name="Rectangle 127"/>
            <p:cNvSpPr>
              <a:spLocks noChangeArrowheads="1"/>
            </p:cNvSpPr>
            <p:nvPr/>
          </p:nvSpPr>
          <p:spPr bwMode="auto">
            <a:xfrm>
              <a:off x="672" y="2640"/>
              <a:ext cx="48" cy="9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28" name="Rectangle 128"/>
            <p:cNvSpPr>
              <a:spLocks noChangeArrowheads="1"/>
            </p:cNvSpPr>
            <p:nvPr/>
          </p:nvSpPr>
          <p:spPr bwMode="auto">
            <a:xfrm>
              <a:off x="768" y="2640"/>
              <a:ext cx="48" cy="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</p:grpSp>
      <p:cxnSp>
        <p:nvCxnSpPr>
          <p:cNvPr id="25729" name="AutoShape 129"/>
          <p:cNvCxnSpPr>
            <a:cxnSpLocks noChangeShapeType="1"/>
            <a:stCxn id="25714" idx="0"/>
            <a:endCxn id="25683" idx="1"/>
          </p:cNvCxnSpPr>
          <p:nvPr/>
        </p:nvCxnSpPr>
        <p:spPr bwMode="auto">
          <a:xfrm flipV="1">
            <a:off x="4953000" y="2324100"/>
            <a:ext cx="1139825" cy="1181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0" name="AutoShape 130"/>
          <p:cNvCxnSpPr>
            <a:cxnSpLocks noChangeShapeType="1"/>
            <a:stCxn id="25714" idx="0"/>
            <a:endCxn id="25672" idx="0"/>
          </p:cNvCxnSpPr>
          <p:nvPr/>
        </p:nvCxnSpPr>
        <p:spPr bwMode="auto">
          <a:xfrm>
            <a:off x="4953000" y="3505200"/>
            <a:ext cx="114300" cy="1066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1" name="AutoShape 131"/>
          <p:cNvCxnSpPr>
            <a:cxnSpLocks noChangeShapeType="1"/>
            <a:stCxn id="25714" idx="0"/>
            <a:endCxn id="25678" idx="2"/>
          </p:cNvCxnSpPr>
          <p:nvPr/>
        </p:nvCxnSpPr>
        <p:spPr bwMode="auto">
          <a:xfrm flipH="1" flipV="1">
            <a:off x="3619500" y="2667000"/>
            <a:ext cx="1333500" cy="838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2" name="AutoShape 132"/>
          <p:cNvCxnSpPr>
            <a:cxnSpLocks noChangeShapeType="1"/>
            <a:stCxn id="25678" idx="2"/>
            <a:endCxn id="25687" idx="5"/>
          </p:cNvCxnSpPr>
          <p:nvPr/>
        </p:nvCxnSpPr>
        <p:spPr bwMode="auto">
          <a:xfrm flipH="1">
            <a:off x="2762250" y="2667000"/>
            <a:ext cx="857250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3" name="AutoShape 133"/>
          <p:cNvCxnSpPr>
            <a:cxnSpLocks noChangeShapeType="1"/>
            <a:stCxn id="25687" idx="1"/>
            <a:endCxn id="25693" idx="3"/>
          </p:cNvCxnSpPr>
          <p:nvPr/>
        </p:nvCxnSpPr>
        <p:spPr bwMode="auto">
          <a:xfrm flipH="1" flipV="1">
            <a:off x="1603375" y="2628900"/>
            <a:ext cx="892175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4" name="AutoShape 134"/>
          <p:cNvCxnSpPr>
            <a:cxnSpLocks noChangeShapeType="1"/>
            <a:stCxn id="25693" idx="3"/>
            <a:endCxn id="25698" idx="2"/>
          </p:cNvCxnSpPr>
          <p:nvPr/>
        </p:nvCxnSpPr>
        <p:spPr bwMode="auto">
          <a:xfrm flipV="1">
            <a:off x="1603375" y="2057400"/>
            <a:ext cx="492125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5" name="AutoShape 135"/>
          <p:cNvCxnSpPr>
            <a:cxnSpLocks noChangeShapeType="1"/>
            <a:stCxn id="25688" idx="2"/>
            <a:endCxn id="25702" idx="5"/>
          </p:cNvCxnSpPr>
          <p:nvPr/>
        </p:nvCxnSpPr>
        <p:spPr bwMode="auto">
          <a:xfrm flipH="1">
            <a:off x="2381250" y="3505200"/>
            <a:ext cx="247650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6" name="AutoShape 136"/>
          <p:cNvCxnSpPr>
            <a:cxnSpLocks noChangeShapeType="1"/>
            <a:stCxn id="25703" idx="1"/>
            <a:endCxn id="25668" idx="3"/>
          </p:cNvCxnSpPr>
          <p:nvPr/>
        </p:nvCxnSpPr>
        <p:spPr bwMode="auto">
          <a:xfrm flipH="1" flipV="1">
            <a:off x="1374775" y="4229100"/>
            <a:ext cx="679450" cy="152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7" name="AutoShape 137"/>
          <p:cNvCxnSpPr>
            <a:cxnSpLocks noChangeShapeType="1"/>
            <a:stCxn id="25673" idx="3"/>
            <a:endCxn id="25726" idx="1"/>
          </p:cNvCxnSpPr>
          <p:nvPr/>
        </p:nvCxnSpPr>
        <p:spPr bwMode="auto">
          <a:xfrm flipV="1">
            <a:off x="5260975" y="4914900"/>
            <a:ext cx="984250" cy="76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5738" name="AutoShape 138"/>
          <p:cNvCxnSpPr>
            <a:cxnSpLocks noChangeShapeType="1"/>
            <a:stCxn id="25726" idx="3"/>
            <a:endCxn id="25721" idx="1"/>
          </p:cNvCxnSpPr>
          <p:nvPr/>
        </p:nvCxnSpPr>
        <p:spPr bwMode="auto">
          <a:xfrm>
            <a:off x="6632575" y="4914900"/>
            <a:ext cx="3746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grpSp>
        <p:nvGrpSpPr>
          <p:cNvPr id="12" name="Group 139"/>
          <p:cNvGrpSpPr>
            <a:grpSpLocks/>
          </p:cNvGrpSpPr>
          <p:nvPr/>
        </p:nvGrpSpPr>
        <p:grpSpPr bwMode="auto">
          <a:xfrm>
            <a:off x="4267200" y="3048000"/>
            <a:ext cx="1371600" cy="762000"/>
            <a:chOff x="2688" y="2064"/>
            <a:chExt cx="864" cy="480"/>
          </a:xfrm>
        </p:grpSpPr>
        <p:sp>
          <p:nvSpPr>
            <p:cNvPr id="25707" name="Rectangle 107"/>
            <p:cNvSpPr>
              <a:spLocks noChangeArrowheads="1"/>
            </p:cNvSpPr>
            <p:nvPr/>
          </p:nvSpPr>
          <p:spPr bwMode="auto">
            <a:xfrm>
              <a:off x="2688" y="2064"/>
              <a:ext cx="864" cy="480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ar-EG"/>
            </a:p>
          </p:txBody>
        </p:sp>
        <p:sp>
          <p:nvSpPr>
            <p:cNvPr id="25708" name="Rectangle 108" descr="Large grid"/>
            <p:cNvSpPr>
              <a:spLocks noChangeArrowheads="1"/>
            </p:cNvSpPr>
            <p:nvPr/>
          </p:nvSpPr>
          <p:spPr bwMode="auto">
            <a:xfrm>
              <a:off x="2784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5709" name="Rectangle 109" descr="Large grid"/>
            <p:cNvSpPr>
              <a:spLocks noChangeArrowheads="1"/>
            </p:cNvSpPr>
            <p:nvPr/>
          </p:nvSpPr>
          <p:spPr bwMode="auto">
            <a:xfrm>
              <a:off x="2928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5710" name="Rectangle 110" descr="Large grid"/>
            <p:cNvSpPr>
              <a:spLocks noChangeArrowheads="1"/>
            </p:cNvSpPr>
            <p:nvPr/>
          </p:nvSpPr>
          <p:spPr bwMode="auto">
            <a:xfrm>
              <a:off x="3072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5711" name="Rectangle 111" descr="Large grid"/>
            <p:cNvSpPr>
              <a:spLocks noChangeArrowheads="1"/>
            </p:cNvSpPr>
            <p:nvPr/>
          </p:nvSpPr>
          <p:spPr bwMode="auto">
            <a:xfrm>
              <a:off x="3216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5712" name="Rectangle 112" descr="Large grid"/>
            <p:cNvSpPr>
              <a:spLocks noChangeArrowheads="1"/>
            </p:cNvSpPr>
            <p:nvPr/>
          </p:nvSpPr>
          <p:spPr bwMode="auto">
            <a:xfrm>
              <a:off x="2784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5713" name="Rectangle 113" descr="Large grid"/>
            <p:cNvSpPr>
              <a:spLocks noChangeArrowheads="1"/>
            </p:cNvSpPr>
            <p:nvPr/>
          </p:nvSpPr>
          <p:spPr bwMode="auto">
            <a:xfrm>
              <a:off x="2928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5714" name="Rectangle 114" descr="Large grid"/>
            <p:cNvSpPr>
              <a:spLocks noChangeArrowheads="1"/>
            </p:cNvSpPr>
            <p:nvPr/>
          </p:nvSpPr>
          <p:spPr bwMode="auto">
            <a:xfrm>
              <a:off x="3072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5715" name="Rectangle 115" descr="Large grid"/>
            <p:cNvSpPr>
              <a:spLocks noChangeArrowheads="1"/>
            </p:cNvSpPr>
            <p:nvPr/>
          </p:nvSpPr>
          <p:spPr bwMode="auto">
            <a:xfrm>
              <a:off x="3216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5716" name="Rectangle 116" descr="Large grid"/>
            <p:cNvSpPr>
              <a:spLocks noChangeArrowheads="1"/>
            </p:cNvSpPr>
            <p:nvPr/>
          </p:nvSpPr>
          <p:spPr bwMode="auto">
            <a:xfrm>
              <a:off x="3360" y="2352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  <p:sp>
          <p:nvSpPr>
            <p:cNvPr id="25717" name="Rectangle 117" descr="Large grid"/>
            <p:cNvSpPr>
              <a:spLocks noChangeArrowheads="1"/>
            </p:cNvSpPr>
            <p:nvPr/>
          </p:nvSpPr>
          <p:spPr bwMode="auto">
            <a:xfrm>
              <a:off x="3360" y="2160"/>
              <a:ext cx="96" cy="144"/>
            </a:xfrm>
            <a:prstGeom prst="rect">
              <a:avLst/>
            </a:prstGeom>
            <a:pattFill prst="lgGrid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ar-EG" sz="2400" i="1"/>
            </a:p>
          </p:txBody>
        </p:sp>
      </p:grpSp>
      <p:sp>
        <p:nvSpPr>
          <p:cNvPr id="25740" name="Text Box 140"/>
          <p:cNvSpPr txBox="1">
            <a:spLocks noChangeArrowheads="1"/>
          </p:cNvSpPr>
          <p:nvPr/>
        </p:nvSpPr>
        <p:spPr bwMode="auto">
          <a:xfrm>
            <a:off x="533400" y="5410200"/>
            <a:ext cx="8048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400">
                <a:latin typeface="Arial" pitchFamily="34" charset="0"/>
              </a:rPr>
              <a:t>Minimize the total length of wire connecting the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/>
              <a:t>Problem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0838" y="4148137"/>
            <a:ext cx="8458200" cy="2709863"/>
          </a:xfrm>
        </p:spPr>
        <p:txBody>
          <a:bodyPr>
            <a:noAutofit/>
          </a:bodyPr>
          <a:lstStyle/>
          <a:p>
            <a:pPr marL="533400" indent="-533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A town has a set of houses and a set of roads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A road connects 2 and only 2 houses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A road connecting houses u and v has a repair cost w(u, v)</a:t>
            </a:r>
          </a:p>
        </p:txBody>
      </p:sp>
      <p:grpSp>
        <p:nvGrpSpPr>
          <p:cNvPr id="6149" name="Group 4"/>
          <p:cNvGrpSpPr>
            <a:grpSpLocks/>
          </p:cNvGrpSpPr>
          <p:nvPr/>
        </p:nvGrpSpPr>
        <p:grpSpPr bwMode="auto">
          <a:xfrm>
            <a:off x="1143000" y="869532"/>
            <a:ext cx="7845425" cy="3120873"/>
            <a:chOff x="3028" y="2101"/>
            <a:chExt cx="2547" cy="1295"/>
          </a:xfrm>
        </p:grpSpPr>
        <p:sp>
          <p:nvSpPr>
            <p:cNvPr id="6150" name="Oval 5"/>
            <p:cNvSpPr>
              <a:spLocks noChangeArrowheads="1"/>
            </p:cNvSpPr>
            <p:nvPr/>
          </p:nvSpPr>
          <p:spPr bwMode="auto">
            <a:xfrm>
              <a:off x="3118" y="262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a</a:t>
              </a:r>
            </a:p>
          </p:txBody>
        </p:sp>
        <p:sp>
          <p:nvSpPr>
            <p:cNvPr id="6151" name="Oval 6"/>
            <p:cNvSpPr>
              <a:spLocks noChangeArrowheads="1"/>
            </p:cNvSpPr>
            <p:nvPr/>
          </p:nvSpPr>
          <p:spPr bwMode="auto">
            <a:xfrm>
              <a:off x="3547" y="216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b</a:t>
              </a:r>
            </a:p>
          </p:txBody>
        </p:sp>
        <p:sp>
          <p:nvSpPr>
            <p:cNvPr id="6152" name="Oval 7"/>
            <p:cNvSpPr>
              <a:spLocks noChangeArrowheads="1"/>
            </p:cNvSpPr>
            <p:nvPr/>
          </p:nvSpPr>
          <p:spPr bwMode="auto">
            <a:xfrm>
              <a:off x="4159" y="216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c</a:t>
              </a:r>
            </a:p>
          </p:txBody>
        </p:sp>
        <p:sp>
          <p:nvSpPr>
            <p:cNvPr id="6153" name="Oval 8"/>
            <p:cNvSpPr>
              <a:spLocks noChangeArrowheads="1"/>
            </p:cNvSpPr>
            <p:nvPr/>
          </p:nvSpPr>
          <p:spPr bwMode="auto">
            <a:xfrm>
              <a:off x="4771" y="216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d</a:t>
              </a:r>
            </a:p>
          </p:txBody>
        </p:sp>
        <p:sp>
          <p:nvSpPr>
            <p:cNvPr id="6154" name="Oval 9"/>
            <p:cNvSpPr>
              <a:spLocks noChangeArrowheads="1"/>
            </p:cNvSpPr>
            <p:nvPr/>
          </p:nvSpPr>
          <p:spPr bwMode="auto">
            <a:xfrm>
              <a:off x="5196" y="262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e</a:t>
              </a:r>
            </a:p>
          </p:txBody>
        </p:sp>
        <p:sp>
          <p:nvSpPr>
            <p:cNvPr id="6155" name="Oval 10"/>
            <p:cNvSpPr>
              <a:spLocks noChangeArrowheads="1"/>
            </p:cNvSpPr>
            <p:nvPr/>
          </p:nvSpPr>
          <p:spPr bwMode="auto">
            <a:xfrm>
              <a:off x="3547" y="3093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h</a:t>
              </a:r>
            </a:p>
          </p:txBody>
        </p:sp>
        <p:sp>
          <p:nvSpPr>
            <p:cNvPr id="6156" name="Oval 11"/>
            <p:cNvSpPr>
              <a:spLocks noChangeArrowheads="1"/>
            </p:cNvSpPr>
            <p:nvPr/>
          </p:nvSpPr>
          <p:spPr bwMode="auto">
            <a:xfrm>
              <a:off x="4159" y="3093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g</a:t>
              </a:r>
            </a:p>
          </p:txBody>
        </p:sp>
        <p:sp>
          <p:nvSpPr>
            <p:cNvPr id="6157" name="Oval 12"/>
            <p:cNvSpPr>
              <a:spLocks noChangeArrowheads="1"/>
            </p:cNvSpPr>
            <p:nvPr/>
          </p:nvSpPr>
          <p:spPr bwMode="auto">
            <a:xfrm>
              <a:off x="4771" y="3093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f</a:t>
              </a:r>
            </a:p>
          </p:txBody>
        </p:sp>
        <p:sp>
          <p:nvSpPr>
            <p:cNvPr id="6158" name="Oval 13"/>
            <p:cNvSpPr>
              <a:spLocks noChangeArrowheads="1"/>
            </p:cNvSpPr>
            <p:nvPr/>
          </p:nvSpPr>
          <p:spPr bwMode="auto">
            <a:xfrm>
              <a:off x="3853" y="262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i</a:t>
              </a:r>
            </a:p>
          </p:txBody>
        </p:sp>
        <p:sp>
          <p:nvSpPr>
            <p:cNvPr id="6159" name="Line 14"/>
            <p:cNvSpPr>
              <a:spLocks noChangeShapeType="1"/>
            </p:cNvSpPr>
            <p:nvPr/>
          </p:nvSpPr>
          <p:spPr bwMode="auto">
            <a:xfrm>
              <a:off x="3672" y="2430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0" name="Line 15"/>
            <p:cNvSpPr>
              <a:spLocks noChangeShapeType="1"/>
            </p:cNvSpPr>
            <p:nvPr/>
          </p:nvSpPr>
          <p:spPr bwMode="auto">
            <a:xfrm>
              <a:off x="4907" y="2431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1" name="Line 16"/>
            <p:cNvSpPr>
              <a:spLocks noChangeShapeType="1"/>
            </p:cNvSpPr>
            <p:nvPr/>
          </p:nvSpPr>
          <p:spPr bwMode="auto">
            <a:xfrm>
              <a:off x="3811" y="2287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2" name="Line 17"/>
            <p:cNvSpPr>
              <a:spLocks noChangeShapeType="1"/>
            </p:cNvSpPr>
            <p:nvPr/>
          </p:nvSpPr>
          <p:spPr bwMode="auto">
            <a:xfrm>
              <a:off x="4422" y="2289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3" name="Line 18"/>
            <p:cNvSpPr>
              <a:spLocks noChangeShapeType="1"/>
            </p:cNvSpPr>
            <p:nvPr/>
          </p:nvSpPr>
          <p:spPr bwMode="auto">
            <a:xfrm>
              <a:off x="3811" y="3229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4" name="Line 19"/>
            <p:cNvSpPr>
              <a:spLocks noChangeShapeType="1"/>
            </p:cNvSpPr>
            <p:nvPr/>
          </p:nvSpPr>
          <p:spPr bwMode="auto">
            <a:xfrm>
              <a:off x="4429" y="3233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5" name="Line 20"/>
            <p:cNvSpPr>
              <a:spLocks noChangeShapeType="1"/>
            </p:cNvSpPr>
            <p:nvPr/>
          </p:nvSpPr>
          <p:spPr bwMode="auto">
            <a:xfrm flipV="1">
              <a:off x="3325" y="2389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6" name="Line 21"/>
            <p:cNvSpPr>
              <a:spLocks noChangeShapeType="1"/>
            </p:cNvSpPr>
            <p:nvPr/>
          </p:nvSpPr>
          <p:spPr bwMode="auto">
            <a:xfrm flipV="1">
              <a:off x="5005" y="2872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7" name="Line 22"/>
            <p:cNvSpPr>
              <a:spLocks noChangeShapeType="1"/>
            </p:cNvSpPr>
            <p:nvPr/>
          </p:nvSpPr>
          <p:spPr bwMode="auto">
            <a:xfrm>
              <a:off x="5004" y="2380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8" name="Line 23"/>
            <p:cNvSpPr>
              <a:spLocks noChangeShapeType="1"/>
            </p:cNvSpPr>
            <p:nvPr/>
          </p:nvSpPr>
          <p:spPr bwMode="auto">
            <a:xfrm>
              <a:off x="3326" y="2857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9" name="Line 24"/>
            <p:cNvSpPr>
              <a:spLocks noChangeShapeType="1"/>
            </p:cNvSpPr>
            <p:nvPr/>
          </p:nvSpPr>
          <p:spPr bwMode="auto">
            <a:xfrm>
              <a:off x="4369" y="2398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70" name="Line 25"/>
            <p:cNvSpPr>
              <a:spLocks noChangeShapeType="1"/>
            </p:cNvSpPr>
            <p:nvPr/>
          </p:nvSpPr>
          <p:spPr bwMode="auto">
            <a:xfrm>
              <a:off x="4059" y="2871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71" name="Line 26"/>
            <p:cNvSpPr>
              <a:spLocks noChangeShapeType="1"/>
            </p:cNvSpPr>
            <p:nvPr/>
          </p:nvSpPr>
          <p:spPr bwMode="auto">
            <a:xfrm flipV="1">
              <a:off x="3775" y="2880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72" name="Line 27"/>
            <p:cNvSpPr>
              <a:spLocks noChangeShapeType="1"/>
            </p:cNvSpPr>
            <p:nvPr/>
          </p:nvSpPr>
          <p:spPr bwMode="auto">
            <a:xfrm flipV="1">
              <a:off x="4059" y="2398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73" name="Text Box 28"/>
            <p:cNvSpPr txBox="1">
              <a:spLocks noChangeArrowheads="1"/>
            </p:cNvSpPr>
            <p:nvPr/>
          </p:nvSpPr>
          <p:spPr bwMode="auto">
            <a:xfrm>
              <a:off x="3333" y="2371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4</a:t>
              </a:r>
            </a:p>
          </p:txBody>
        </p:sp>
        <p:sp>
          <p:nvSpPr>
            <p:cNvPr id="6174" name="Text Box 29"/>
            <p:cNvSpPr txBox="1">
              <a:spLocks noChangeArrowheads="1"/>
            </p:cNvSpPr>
            <p:nvPr/>
          </p:nvSpPr>
          <p:spPr bwMode="auto">
            <a:xfrm>
              <a:off x="3927" y="2118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8</a:t>
              </a:r>
            </a:p>
          </p:txBody>
        </p:sp>
        <p:sp>
          <p:nvSpPr>
            <p:cNvPr id="6175" name="Text Box 30"/>
            <p:cNvSpPr txBox="1">
              <a:spLocks noChangeArrowheads="1"/>
            </p:cNvSpPr>
            <p:nvPr/>
          </p:nvSpPr>
          <p:spPr bwMode="auto">
            <a:xfrm>
              <a:off x="4511" y="2101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7</a:t>
              </a:r>
            </a:p>
          </p:txBody>
        </p:sp>
        <p:sp>
          <p:nvSpPr>
            <p:cNvPr id="6176" name="Text Box 31"/>
            <p:cNvSpPr txBox="1">
              <a:spLocks noChangeArrowheads="1"/>
            </p:cNvSpPr>
            <p:nvPr/>
          </p:nvSpPr>
          <p:spPr bwMode="auto">
            <a:xfrm>
              <a:off x="3315" y="2924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8</a:t>
              </a:r>
            </a:p>
          </p:txBody>
        </p:sp>
        <p:sp>
          <p:nvSpPr>
            <p:cNvPr id="6177" name="Text Box 32"/>
            <p:cNvSpPr txBox="1">
              <a:spLocks noChangeArrowheads="1"/>
            </p:cNvSpPr>
            <p:nvPr/>
          </p:nvSpPr>
          <p:spPr bwMode="auto">
            <a:xfrm>
              <a:off x="3530" y="2687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11</a:t>
              </a:r>
            </a:p>
          </p:txBody>
        </p:sp>
        <p:sp>
          <p:nvSpPr>
            <p:cNvPr id="6178" name="Text Box 33"/>
            <p:cNvSpPr txBox="1">
              <a:spLocks noChangeArrowheads="1"/>
            </p:cNvSpPr>
            <p:nvPr/>
          </p:nvSpPr>
          <p:spPr bwMode="auto">
            <a:xfrm>
              <a:off x="3910" y="3204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</a:t>
              </a:r>
            </a:p>
          </p:txBody>
        </p:sp>
        <p:sp>
          <p:nvSpPr>
            <p:cNvPr id="6179" name="Text Box 34"/>
            <p:cNvSpPr txBox="1">
              <a:spLocks noChangeArrowheads="1"/>
            </p:cNvSpPr>
            <p:nvPr/>
          </p:nvSpPr>
          <p:spPr bwMode="auto">
            <a:xfrm>
              <a:off x="4505" y="3195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2</a:t>
              </a:r>
            </a:p>
          </p:txBody>
        </p:sp>
        <p:sp>
          <p:nvSpPr>
            <p:cNvPr id="6180" name="Text Box 35"/>
            <p:cNvSpPr txBox="1">
              <a:spLocks noChangeArrowheads="1"/>
            </p:cNvSpPr>
            <p:nvPr/>
          </p:nvSpPr>
          <p:spPr bwMode="auto">
            <a:xfrm>
              <a:off x="3753" y="2908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7</a:t>
              </a:r>
            </a:p>
          </p:txBody>
        </p:sp>
        <p:sp>
          <p:nvSpPr>
            <p:cNvPr id="6181" name="Text Box 36"/>
            <p:cNvSpPr txBox="1">
              <a:spLocks noChangeArrowheads="1"/>
            </p:cNvSpPr>
            <p:nvPr/>
          </p:nvSpPr>
          <p:spPr bwMode="auto">
            <a:xfrm>
              <a:off x="4125" y="2458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2</a:t>
              </a:r>
            </a:p>
          </p:txBody>
        </p:sp>
        <p:sp>
          <p:nvSpPr>
            <p:cNvPr id="6182" name="Text Box 37"/>
            <p:cNvSpPr txBox="1">
              <a:spLocks noChangeArrowheads="1"/>
            </p:cNvSpPr>
            <p:nvPr/>
          </p:nvSpPr>
          <p:spPr bwMode="auto">
            <a:xfrm>
              <a:off x="4446" y="2687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4</a:t>
              </a:r>
            </a:p>
          </p:txBody>
        </p:sp>
        <p:sp>
          <p:nvSpPr>
            <p:cNvPr id="6183" name="Text Box 38"/>
            <p:cNvSpPr txBox="1">
              <a:spLocks noChangeArrowheads="1"/>
            </p:cNvSpPr>
            <p:nvPr/>
          </p:nvSpPr>
          <p:spPr bwMode="auto">
            <a:xfrm>
              <a:off x="4878" y="2647"/>
              <a:ext cx="17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14</a:t>
              </a:r>
            </a:p>
          </p:txBody>
        </p:sp>
        <p:sp>
          <p:nvSpPr>
            <p:cNvPr id="6184" name="Text Box 39"/>
            <p:cNvSpPr txBox="1">
              <a:spLocks noChangeArrowheads="1"/>
            </p:cNvSpPr>
            <p:nvPr/>
          </p:nvSpPr>
          <p:spPr bwMode="auto">
            <a:xfrm>
              <a:off x="5114" y="2373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9</a:t>
              </a:r>
            </a:p>
          </p:txBody>
        </p:sp>
        <p:sp>
          <p:nvSpPr>
            <p:cNvPr id="6185" name="Text Box 40"/>
            <p:cNvSpPr txBox="1">
              <a:spLocks noChangeArrowheads="1"/>
            </p:cNvSpPr>
            <p:nvPr/>
          </p:nvSpPr>
          <p:spPr bwMode="auto">
            <a:xfrm>
              <a:off x="5085" y="2948"/>
              <a:ext cx="17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10</a:t>
              </a:r>
            </a:p>
          </p:txBody>
        </p:sp>
        <p:sp>
          <p:nvSpPr>
            <p:cNvPr id="6186" name="Text Box 41"/>
            <p:cNvSpPr txBox="1">
              <a:spLocks noChangeArrowheads="1"/>
            </p:cNvSpPr>
            <p:nvPr/>
          </p:nvSpPr>
          <p:spPr bwMode="auto">
            <a:xfrm>
              <a:off x="4149" y="2878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6</a:t>
              </a:r>
            </a:p>
          </p:txBody>
        </p:sp>
        <p:pic>
          <p:nvPicPr>
            <p:cNvPr id="6187" name="Picture 42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1" y="2150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88" name="Picture 43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2" y="2150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89" name="Picture 44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2150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0" name="Picture 45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3088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1" name="Picture 46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3" y="2623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2" name="Picture 47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8" y="2622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3" name="Picture 48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5" y="2623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4" name="Picture 49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5" y="3088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5" name="Picture 50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4" y="3088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559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/>
              <a:t>Problem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0838" y="4148137"/>
            <a:ext cx="8458200" cy="2709863"/>
          </a:xfrm>
        </p:spPr>
        <p:txBody>
          <a:bodyPr>
            <a:noAutofit/>
          </a:bodyPr>
          <a:lstStyle/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Goal: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Repair enough (and no more) roads such that: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Everyone stays connected </a:t>
            </a:r>
          </a:p>
          <a:p>
            <a:pPr marL="914400" lvl="1" indent="-4572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	i.e., can reach every house from all other houses</a:t>
            </a:r>
          </a:p>
          <a:p>
            <a:pPr marL="533400" indent="-533400"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2.   Total repair cost is minimum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0" y="869532"/>
            <a:ext cx="7845425" cy="3120873"/>
            <a:chOff x="3028" y="2101"/>
            <a:chExt cx="2547" cy="1295"/>
          </a:xfrm>
        </p:grpSpPr>
        <p:sp>
          <p:nvSpPr>
            <p:cNvPr id="6150" name="Oval 5"/>
            <p:cNvSpPr>
              <a:spLocks noChangeArrowheads="1"/>
            </p:cNvSpPr>
            <p:nvPr/>
          </p:nvSpPr>
          <p:spPr bwMode="auto">
            <a:xfrm>
              <a:off x="3118" y="262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a</a:t>
              </a:r>
            </a:p>
          </p:txBody>
        </p:sp>
        <p:sp>
          <p:nvSpPr>
            <p:cNvPr id="6151" name="Oval 6"/>
            <p:cNvSpPr>
              <a:spLocks noChangeArrowheads="1"/>
            </p:cNvSpPr>
            <p:nvPr/>
          </p:nvSpPr>
          <p:spPr bwMode="auto">
            <a:xfrm>
              <a:off x="3547" y="216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b</a:t>
              </a:r>
            </a:p>
          </p:txBody>
        </p:sp>
        <p:sp>
          <p:nvSpPr>
            <p:cNvPr id="6152" name="Oval 7"/>
            <p:cNvSpPr>
              <a:spLocks noChangeArrowheads="1"/>
            </p:cNvSpPr>
            <p:nvPr/>
          </p:nvSpPr>
          <p:spPr bwMode="auto">
            <a:xfrm>
              <a:off x="4159" y="216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c</a:t>
              </a:r>
            </a:p>
          </p:txBody>
        </p:sp>
        <p:sp>
          <p:nvSpPr>
            <p:cNvPr id="6153" name="Oval 8"/>
            <p:cNvSpPr>
              <a:spLocks noChangeArrowheads="1"/>
            </p:cNvSpPr>
            <p:nvPr/>
          </p:nvSpPr>
          <p:spPr bwMode="auto">
            <a:xfrm>
              <a:off x="4771" y="216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d</a:t>
              </a:r>
            </a:p>
          </p:txBody>
        </p:sp>
        <p:sp>
          <p:nvSpPr>
            <p:cNvPr id="6154" name="Oval 9"/>
            <p:cNvSpPr>
              <a:spLocks noChangeArrowheads="1"/>
            </p:cNvSpPr>
            <p:nvPr/>
          </p:nvSpPr>
          <p:spPr bwMode="auto">
            <a:xfrm>
              <a:off x="5196" y="262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e</a:t>
              </a:r>
            </a:p>
          </p:txBody>
        </p:sp>
        <p:sp>
          <p:nvSpPr>
            <p:cNvPr id="6155" name="Oval 10"/>
            <p:cNvSpPr>
              <a:spLocks noChangeArrowheads="1"/>
            </p:cNvSpPr>
            <p:nvPr/>
          </p:nvSpPr>
          <p:spPr bwMode="auto">
            <a:xfrm>
              <a:off x="3547" y="3093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h</a:t>
              </a:r>
            </a:p>
          </p:txBody>
        </p:sp>
        <p:sp>
          <p:nvSpPr>
            <p:cNvPr id="6156" name="Oval 11"/>
            <p:cNvSpPr>
              <a:spLocks noChangeArrowheads="1"/>
            </p:cNvSpPr>
            <p:nvPr/>
          </p:nvSpPr>
          <p:spPr bwMode="auto">
            <a:xfrm>
              <a:off x="4159" y="3093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g</a:t>
              </a:r>
            </a:p>
          </p:txBody>
        </p:sp>
        <p:sp>
          <p:nvSpPr>
            <p:cNvPr id="6157" name="Oval 12"/>
            <p:cNvSpPr>
              <a:spLocks noChangeArrowheads="1"/>
            </p:cNvSpPr>
            <p:nvPr/>
          </p:nvSpPr>
          <p:spPr bwMode="auto">
            <a:xfrm>
              <a:off x="4771" y="3093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f</a:t>
              </a:r>
            </a:p>
          </p:txBody>
        </p:sp>
        <p:sp>
          <p:nvSpPr>
            <p:cNvPr id="6158" name="Oval 13"/>
            <p:cNvSpPr>
              <a:spLocks noChangeArrowheads="1"/>
            </p:cNvSpPr>
            <p:nvPr/>
          </p:nvSpPr>
          <p:spPr bwMode="auto">
            <a:xfrm>
              <a:off x="3853" y="262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i</a:t>
              </a:r>
            </a:p>
          </p:txBody>
        </p:sp>
        <p:sp>
          <p:nvSpPr>
            <p:cNvPr id="6159" name="Line 14"/>
            <p:cNvSpPr>
              <a:spLocks noChangeShapeType="1"/>
            </p:cNvSpPr>
            <p:nvPr/>
          </p:nvSpPr>
          <p:spPr bwMode="auto">
            <a:xfrm>
              <a:off x="3672" y="2430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0" name="Line 15"/>
            <p:cNvSpPr>
              <a:spLocks noChangeShapeType="1"/>
            </p:cNvSpPr>
            <p:nvPr/>
          </p:nvSpPr>
          <p:spPr bwMode="auto">
            <a:xfrm>
              <a:off x="4907" y="2431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1" name="Line 16"/>
            <p:cNvSpPr>
              <a:spLocks noChangeShapeType="1"/>
            </p:cNvSpPr>
            <p:nvPr/>
          </p:nvSpPr>
          <p:spPr bwMode="auto">
            <a:xfrm>
              <a:off x="3811" y="2287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2" name="Line 17"/>
            <p:cNvSpPr>
              <a:spLocks noChangeShapeType="1"/>
            </p:cNvSpPr>
            <p:nvPr/>
          </p:nvSpPr>
          <p:spPr bwMode="auto">
            <a:xfrm>
              <a:off x="4422" y="2289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3" name="Line 18"/>
            <p:cNvSpPr>
              <a:spLocks noChangeShapeType="1"/>
            </p:cNvSpPr>
            <p:nvPr/>
          </p:nvSpPr>
          <p:spPr bwMode="auto">
            <a:xfrm>
              <a:off x="3811" y="3229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4" name="Line 19"/>
            <p:cNvSpPr>
              <a:spLocks noChangeShapeType="1"/>
            </p:cNvSpPr>
            <p:nvPr/>
          </p:nvSpPr>
          <p:spPr bwMode="auto">
            <a:xfrm>
              <a:off x="4429" y="3233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5" name="Line 20"/>
            <p:cNvSpPr>
              <a:spLocks noChangeShapeType="1"/>
            </p:cNvSpPr>
            <p:nvPr/>
          </p:nvSpPr>
          <p:spPr bwMode="auto">
            <a:xfrm flipV="1">
              <a:off x="3325" y="2389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6" name="Line 21"/>
            <p:cNvSpPr>
              <a:spLocks noChangeShapeType="1"/>
            </p:cNvSpPr>
            <p:nvPr/>
          </p:nvSpPr>
          <p:spPr bwMode="auto">
            <a:xfrm flipV="1">
              <a:off x="5005" y="2872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7" name="Line 22"/>
            <p:cNvSpPr>
              <a:spLocks noChangeShapeType="1"/>
            </p:cNvSpPr>
            <p:nvPr/>
          </p:nvSpPr>
          <p:spPr bwMode="auto">
            <a:xfrm>
              <a:off x="5004" y="2380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8" name="Line 23"/>
            <p:cNvSpPr>
              <a:spLocks noChangeShapeType="1"/>
            </p:cNvSpPr>
            <p:nvPr/>
          </p:nvSpPr>
          <p:spPr bwMode="auto">
            <a:xfrm>
              <a:off x="3326" y="2857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69" name="Line 24"/>
            <p:cNvSpPr>
              <a:spLocks noChangeShapeType="1"/>
            </p:cNvSpPr>
            <p:nvPr/>
          </p:nvSpPr>
          <p:spPr bwMode="auto">
            <a:xfrm>
              <a:off x="4369" y="2398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70" name="Line 25"/>
            <p:cNvSpPr>
              <a:spLocks noChangeShapeType="1"/>
            </p:cNvSpPr>
            <p:nvPr/>
          </p:nvSpPr>
          <p:spPr bwMode="auto">
            <a:xfrm>
              <a:off x="4059" y="2871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71" name="Line 26"/>
            <p:cNvSpPr>
              <a:spLocks noChangeShapeType="1"/>
            </p:cNvSpPr>
            <p:nvPr/>
          </p:nvSpPr>
          <p:spPr bwMode="auto">
            <a:xfrm flipV="1">
              <a:off x="3775" y="2880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72" name="Line 27"/>
            <p:cNvSpPr>
              <a:spLocks noChangeShapeType="1"/>
            </p:cNvSpPr>
            <p:nvPr/>
          </p:nvSpPr>
          <p:spPr bwMode="auto">
            <a:xfrm flipV="1">
              <a:off x="4059" y="2398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6173" name="Text Box 28"/>
            <p:cNvSpPr txBox="1">
              <a:spLocks noChangeArrowheads="1"/>
            </p:cNvSpPr>
            <p:nvPr/>
          </p:nvSpPr>
          <p:spPr bwMode="auto">
            <a:xfrm>
              <a:off x="3333" y="2371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4</a:t>
              </a:r>
            </a:p>
          </p:txBody>
        </p:sp>
        <p:sp>
          <p:nvSpPr>
            <p:cNvPr id="6174" name="Text Box 29"/>
            <p:cNvSpPr txBox="1">
              <a:spLocks noChangeArrowheads="1"/>
            </p:cNvSpPr>
            <p:nvPr/>
          </p:nvSpPr>
          <p:spPr bwMode="auto">
            <a:xfrm>
              <a:off x="3927" y="2118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8</a:t>
              </a:r>
            </a:p>
          </p:txBody>
        </p:sp>
        <p:sp>
          <p:nvSpPr>
            <p:cNvPr id="6175" name="Text Box 30"/>
            <p:cNvSpPr txBox="1">
              <a:spLocks noChangeArrowheads="1"/>
            </p:cNvSpPr>
            <p:nvPr/>
          </p:nvSpPr>
          <p:spPr bwMode="auto">
            <a:xfrm>
              <a:off x="4511" y="2101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7</a:t>
              </a:r>
            </a:p>
          </p:txBody>
        </p:sp>
        <p:sp>
          <p:nvSpPr>
            <p:cNvPr id="6176" name="Text Box 31"/>
            <p:cNvSpPr txBox="1">
              <a:spLocks noChangeArrowheads="1"/>
            </p:cNvSpPr>
            <p:nvPr/>
          </p:nvSpPr>
          <p:spPr bwMode="auto">
            <a:xfrm>
              <a:off x="3315" y="2924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8</a:t>
              </a:r>
            </a:p>
          </p:txBody>
        </p:sp>
        <p:sp>
          <p:nvSpPr>
            <p:cNvPr id="6177" name="Text Box 32"/>
            <p:cNvSpPr txBox="1">
              <a:spLocks noChangeArrowheads="1"/>
            </p:cNvSpPr>
            <p:nvPr/>
          </p:nvSpPr>
          <p:spPr bwMode="auto">
            <a:xfrm>
              <a:off x="3530" y="2687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11</a:t>
              </a:r>
            </a:p>
          </p:txBody>
        </p:sp>
        <p:sp>
          <p:nvSpPr>
            <p:cNvPr id="6178" name="Text Box 33"/>
            <p:cNvSpPr txBox="1">
              <a:spLocks noChangeArrowheads="1"/>
            </p:cNvSpPr>
            <p:nvPr/>
          </p:nvSpPr>
          <p:spPr bwMode="auto">
            <a:xfrm>
              <a:off x="3910" y="3204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</a:t>
              </a:r>
            </a:p>
          </p:txBody>
        </p:sp>
        <p:sp>
          <p:nvSpPr>
            <p:cNvPr id="6179" name="Text Box 34"/>
            <p:cNvSpPr txBox="1">
              <a:spLocks noChangeArrowheads="1"/>
            </p:cNvSpPr>
            <p:nvPr/>
          </p:nvSpPr>
          <p:spPr bwMode="auto">
            <a:xfrm>
              <a:off x="4505" y="3195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2</a:t>
              </a:r>
            </a:p>
          </p:txBody>
        </p:sp>
        <p:sp>
          <p:nvSpPr>
            <p:cNvPr id="6180" name="Text Box 35"/>
            <p:cNvSpPr txBox="1">
              <a:spLocks noChangeArrowheads="1"/>
            </p:cNvSpPr>
            <p:nvPr/>
          </p:nvSpPr>
          <p:spPr bwMode="auto">
            <a:xfrm>
              <a:off x="3753" y="2908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7</a:t>
              </a:r>
            </a:p>
          </p:txBody>
        </p:sp>
        <p:sp>
          <p:nvSpPr>
            <p:cNvPr id="6181" name="Text Box 36"/>
            <p:cNvSpPr txBox="1">
              <a:spLocks noChangeArrowheads="1"/>
            </p:cNvSpPr>
            <p:nvPr/>
          </p:nvSpPr>
          <p:spPr bwMode="auto">
            <a:xfrm>
              <a:off x="4125" y="2458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2</a:t>
              </a:r>
            </a:p>
          </p:txBody>
        </p:sp>
        <p:sp>
          <p:nvSpPr>
            <p:cNvPr id="6182" name="Text Box 37"/>
            <p:cNvSpPr txBox="1">
              <a:spLocks noChangeArrowheads="1"/>
            </p:cNvSpPr>
            <p:nvPr/>
          </p:nvSpPr>
          <p:spPr bwMode="auto">
            <a:xfrm>
              <a:off x="4446" y="2687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4</a:t>
              </a:r>
            </a:p>
          </p:txBody>
        </p:sp>
        <p:sp>
          <p:nvSpPr>
            <p:cNvPr id="6183" name="Text Box 38"/>
            <p:cNvSpPr txBox="1">
              <a:spLocks noChangeArrowheads="1"/>
            </p:cNvSpPr>
            <p:nvPr/>
          </p:nvSpPr>
          <p:spPr bwMode="auto">
            <a:xfrm>
              <a:off x="4878" y="2647"/>
              <a:ext cx="17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14</a:t>
              </a:r>
            </a:p>
          </p:txBody>
        </p:sp>
        <p:sp>
          <p:nvSpPr>
            <p:cNvPr id="6184" name="Text Box 39"/>
            <p:cNvSpPr txBox="1">
              <a:spLocks noChangeArrowheads="1"/>
            </p:cNvSpPr>
            <p:nvPr/>
          </p:nvSpPr>
          <p:spPr bwMode="auto">
            <a:xfrm>
              <a:off x="5114" y="2373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9</a:t>
              </a:r>
            </a:p>
          </p:txBody>
        </p:sp>
        <p:sp>
          <p:nvSpPr>
            <p:cNvPr id="6185" name="Text Box 40"/>
            <p:cNvSpPr txBox="1">
              <a:spLocks noChangeArrowheads="1"/>
            </p:cNvSpPr>
            <p:nvPr/>
          </p:nvSpPr>
          <p:spPr bwMode="auto">
            <a:xfrm>
              <a:off x="5085" y="2948"/>
              <a:ext cx="17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10</a:t>
              </a:r>
            </a:p>
          </p:txBody>
        </p:sp>
        <p:sp>
          <p:nvSpPr>
            <p:cNvPr id="6186" name="Text Box 41"/>
            <p:cNvSpPr txBox="1">
              <a:spLocks noChangeArrowheads="1"/>
            </p:cNvSpPr>
            <p:nvPr/>
          </p:nvSpPr>
          <p:spPr bwMode="auto">
            <a:xfrm>
              <a:off x="4149" y="2878"/>
              <a:ext cx="1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6</a:t>
              </a:r>
            </a:p>
          </p:txBody>
        </p:sp>
        <p:pic>
          <p:nvPicPr>
            <p:cNvPr id="6187" name="Picture 42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1" y="2150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88" name="Picture 43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2" y="2150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89" name="Picture 44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2150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0" name="Picture 45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3088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1" name="Picture 46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3" y="2623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2" name="Picture 47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8" y="2622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3" name="Picture 48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5" y="2623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4" name="Picture 49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5" y="3088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95" name="Picture 50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4" y="3088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2559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Minimum Spanning Trees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0838" y="1019175"/>
            <a:ext cx="8142287" cy="2105025"/>
          </a:xfrm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A connected, undirected graph:</a:t>
            </a:r>
          </a:p>
          <a:p>
            <a:pPr marL="914400" lvl="1" indent="-457200" eaLnBrk="1" hangingPunct="1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Vertices = houses,       Edges = roads</a:t>
            </a:r>
          </a:p>
          <a:p>
            <a:pPr marL="533400" indent="-533400" eaLnBrk="1" hangingPunct="1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A </a:t>
            </a:r>
            <a:r>
              <a:rPr lang="en-US" sz="2400" b="1" dirty="0">
                <a:solidFill>
                  <a:schemeClr val="tx1"/>
                </a:solidFill>
                <a:latin typeface="+mn-lt"/>
              </a:rPr>
              <a:t>weight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w(u, v) on each edge (u, v) </a:t>
            </a:r>
            <a:r>
              <a:rPr lang="en-US" sz="2400" dirty="0">
                <a:solidFill>
                  <a:schemeClr val="tx1"/>
                </a:solidFill>
                <a:latin typeface="+mn-lt"/>
                <a:sym typeface="Symbol" pitchFamily="18" charset="2"/>
              </a:rPr>
              <a:t>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E</a:t>
            </a:r>
          </a:p>
        </p:txBody>
      </p:sp>
      <p:grpSp>
        <p:nvGrpSpPr>
          <p:cNvPr id="7173" name="Group 4"/>
          <p:cNvGrpSpPr>
            <a:grpSpLocks/>
          </p:cNvGrpSpPr>
          <p:nvPr/>
        </p:nvGrpSpPr>
        <p:grpSpPr bwMode="auto">
          <a:xfrm>
            <a:off x="5029200" y="2819400"/>
            <a:ext cx="4043363" cy="2108200"/>
            <a:chOff x="3028" y="2088"/>
            <a:chExt cx="2547" cy="1328"/>
          </a:xfrm>
        </p:grpSpPr>
        <p:sp>
          <p:nvSpPr>
            <p:cNvPr id="7175" name="Oval 5"/>
            <p:cNvSpPr>
              <a:spLocks noChangeArrowheads="1"/>
            </p:cNvSpPr>
            <p:nvPr/>
          </p:nvSpPr>
          <p:spPr bwMode="auto">
            <a:xfrm>
              <a:off x="3118" y="262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547" y="216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4159" y="216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7178" name="Oval 8"/>
            <p:cNvSpPr>
              <a:spLocks noChangeArrowheads="1"/>
            </p:cNvSpPr>
            <p:nvPr/>
          </p:nvSpPr>
          <p:spPr bwMode="auto">
            <a:xfrm>
              <a:off x="4771" y="216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7179" name="Oval 9"/>
            <p:cNvSpPr>
              <a:spLocks noChangeArrowheads="1"/>
            </p:cNvSpPr>
            <p:nvPr/>
          </p:nvSpPr>
          <p:spPr bwMode="auto">
            <a:xfrm>
              <a:off x="5196" y="262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7180" name="Oval 10"/>
            <p:cNvSpPr>
              <a:spLocks noChangeArrowheads="1"/>
            </p:cNvSpPr>
            <p:nvPr/>
          </p:nvSpPr>
          <p:spPr bwMode="auto">
            <a:xfrm>
              <a:off x="3547" y="3093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7181" name="Oval 11"/>
            <p:cNvSpPr>
              <a:spLocks noChangeArrowheads="1"/>
            </p:cNvSpPr>
            <p:nvPr/>
          </p:nvSpPr>
          <p:spPr bwMode="auto">
            <a:xfrm>
              <a:off x="4159" y="3093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7182" name="Oval 12"/>
            <p:cNvSpPr>
              <a:spLocks noChangeArrowheads="1"/>
            </p:cNvSpPr>
            <p:nvPr/>
          </p:nvSpPr>
          <p:spPr bwMode="auto">
            <a:xfrm>
              <a:off x="4771" y="3093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7183" name="Oval 13"/>
            <p:cNvSpPr>
              <a:spLocks noChangeArrowheads="1"/>
            </p:cNvSpPr>
            <p:nvPr/>
          </p:nvSpPr>
          <p:spPr bwMode="auto">
            <a:xfrm>
              <a:off x="3853" y="2629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7184" name="Line 14"/>
            <p:cNvSpPr>
              <a:spLocks noChangeShapeType="1"/>
            </p:cNvSpPr>
            <p:nvPr/>
          </p:nvSpPr>
          <p:spPr bwMode="auto">
            <a:xfrm>
              <a:off x="3672" y="2430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5" name="Line 15"/>
            <p:cNvSpPr>
              <a:spLocks noChangeShapeType="1"/>
            </p:cNvSpPr>
            <p:nvPr/>
          </p:nvSpPr>
          <p:spPr bwMode="auto">
            <a:xfrm>
              <a:off x="4907" y="2431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Line 16"/>
            <p:cNvSpPr>
              <a:spLocks noChangeShapeType="1"/>
            </p:cNvSpPr>
            <p:nvPr/>
          </p:nvSpPr>
          <p:spPr bwMode="auto">
            <a:xfrm>
              <a:off x="3811" y="2287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7" name="Line 17"/>
            <p:cNvSpPr>
              <a:spLocks noChangeShapeType="1"/>
            </p:cNvSpPr>
            <p:nvPr/>
          </p:nvSpPr>
          <p:spPr bwMode="auto">
            <a:xfrm>
              <a:off x="4422" y="2289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8" name="Line 18"/>
            <p:cNvSpPr>
              <a:spLocks noChangeShapeType="1"/>
            </p:cNvSpPr>
            <p:nvPr/>
          </p:nvSpPr>
          <p:spPr bwMode="auto">
            <a:xfrm>
              <a:off x="3811" y="3229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Line 19"/>
            <p:cNvSpPr>
              <a:spLocks noChangeShapeType="1"/>
            </p:cNvSpPr>
            <p:nvPr/>
          </p:nvSpPr>
          <p:spPr bwMode="auto">
            <a:xfrm>
              <a:off x="4429" y="3233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0" name="Line 20"/>
            <p:cNvSpPr>
              <a:spLocks noChangeShapeType="1"/>
            </p:cNvSpPr>
            <p:nvPr/>
          </p:nvSpPr>
          <p:spPr bwMode="auto">
            <a:xfrm flipV="1">
              <a:off x="3325" y="2389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1" name="Line 21"/>
            <p:cNvSpPr>
              <a:spLocks noChangeShapeType="1"/>
            </p:cNvSpPr>
            <p:nvPr/>
          </p:nvSpPr>
          <p:spPr bwMode="auto">
            <a:xfrm flipV="1">
              <a:off x="5005" y="2872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2" name="Line 22"/>
            <p:cNvSpPr>
              <a:spLocks noChangeShapeType="1"/>
            </p:cNvSpPr>
            <p:nvPr/>
          </p:nvSpPr>
          <p:spPr bwMode="auto">
            <a:xfrm>
              <a:off x="5004" y="2380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3" name="Line 23"/>
            <p:cNvSpPr>
              <a:spLocks noChangeShapeType="1"/>
            </p:cNvSpPr>
            <p:nvPr/>
          </p:nvSpPr>
          <p:spPr bwMode="auto">
            <a:xfrm>
              <a:off x="3326" y="2857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4" name="Line 24"/>
            <p:cNvSpPr>
              <a:spLocks noChangeShapeType="1"/>
            </p:cNvSpPr>
            <p:nvPr/>
          </p:nvSpPr>
          <p:spPr bwMode="auto">
            <a:xfrm>
              <a:off x="4369" y="2398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5" name="Line 25"/>
            <p:cNvSpPr>
              <a:spLocks noChangeShapeType="1"/>
            </p:cNvSpPr>
            <p:nvPr/>
          </p:nvSpPr>
          <p:spPr bwMode="auto">
            <a:xfrm>
              <a:off x="4059" y="2871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6" name="Line 26"/>
            <p:cNvSpPr>
              <a:spLocks noChangeShapeType="1"/>
            </p:cNvSpPr>
            <p:nvPr/>
          </p:nvSpPr>
          <p:spPr bwMode="auto">
            <a:xfrm flipV="1">
              <a:off x="3775" y="2880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7" name="Line 27"/>
            <p:cNvSpPr>
              <a:spLocks noChangeShapeType="1"/>
            </p:cNvSpPr>
            <p:nvPr/>
          </p:nvSpPr>
          <p:spPr bwMode="auto">
            <a:xfrm flipV="1">
              <a:off x="4059" y="2398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98" name="Text Box 28"/>
            <p:cNvSpPr txBox="1">
              <a:spLocks noChangeArrowheads="1"/>
            </p:cNvSpPr>
            <p:nvPr/>
          </p:nvSpPr>
          <p:spPr bwMode="auto">
            <a:xfrm>
              <a:off x="3304" y="235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7199" name="Text Box 29"/>
            <p:cNvSpPr txBox="1">
              <a:spLocks noChangeArrowheads="1"/>
            </p:cNvSpPr>
            <p:nvPr/>
          </p:nvSpPr>
          <p:spPr bwMode="auto">
            <a:xfrm>
              <a:off x="3904" y="208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7200" name="Text Box 30"/>
            <p:cNvSpPr txBox="1">
              <a:spLocks noChangeArrowheads="1"/>
            </p:cNvSpPr>
            <p:nvPr/>
          </p:nvSpPr>
          <p:spPr bwMode="auto">
            <a:xfrm>
              <a:off x="4511" y="210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7201" name="Text Box 31"/>
            <p:cNvSpPr txBox="1">
              <a:spLocks noChangeArrowheads="1"/>
            </p:cNvSpPr>
            <p:nvPr/>
          </p:nvSpPr>
          <p:spPr bwMode="auto">
            <a:xfrm>
              <a:off x="3315" y="292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7202" name="Text Box 32"/>
            <p:cNvSpPr txBox="1">
              <a:spLocks noChangeArrowheads="1"/>
            </p:cNvSpPr>
            <p:nvPr/>
          </p:nvSpPr>
          <p:spPr bwMode="auto">
            <a:xfrm>
              <a:off x="3451" y="2631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7203" name="Text Box 33"/>
            <p:cNvSpPr txBox="1">
              <a:spLocks noChangeArrowheads="1"/>
            </p:cNvSpPr>
            <p:nvPr/>
          </p:nvSpPr>
          <p:spPr bwMode="auto">
            <a:xfrm>
              <a:off x="3910" y="320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7204" name="Text Box 34"/>
            <p:cNvSpPr txBox="1">
              <a:spLocks noChangeArrowheads="1"/>
            </p:cNvSpPr>
            <p:nvPr/>
          </p:nvSpPr>
          <p:spPr bwMode="auto">
            <a:xfrm>
              <a:off x="4505" y="319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7205" name="Text Box 35"/>
            <p:cNvSpPr txBox="1">
              <a:spLocks noChangeArrowheads="1"/>
            </p:cNvSpPr>
            <p:nvPr/>
          </p:nvSpPr>
          <p:spPr bwMode="auto">
            <a:xfrm>
              <a:off x="3704" y="2854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7206" name="Text Box 36"/>
            <p:cNvSpPr txBox="1">
              <a:spLocks noChangeArrowheads="1"/>
            </p:cNvSpPr>
            <p:nvPr/>
          </p:nvSpPr>
          <p:spPr bwMode="auto">
            <a:xfrm>
              <a:off x="4095" y="2458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7207" name="Text Box 37"/>
            <p:cNvSpPr txBox="1">
              <a:spLocks noChangeArrowheads="1"/>
            </p:cNvSpPr>
            <p:nvPr/>
          </p:nvSpPr>
          <p:spPr bwMode="auto">
            <a:xfrm>
              <a:off x="4446" y="2687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7208" name="Text Box 38"/>
            <p:cNvSpPr txBox="1">
              <a:spLocks noChangeArrowheads="1"/>
            </p:cNvSpPr>
            <p:nvPr/>
          </p:nvSpPr>
          <p:spPr bwMode="auto">
            <a:xfrm>
              <a:off x="4878" y="2647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7209" name="Text Box 39"/>
            <p:cNvSpPr txBox="1">
              <a:spLocks noChangeArrowheads="1"/>
            </p:cNvSpPr>
            <p:nvPr/>
          </p:nvSpPr>
          <p:spPr bwMode="auto">
            <a:xfrm>
              <a:off x="5103" y="23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7210" name="Text Box 40"/>
            <p:cNvSpPr txBox="1">
              <a:spLocks noChangeArrowheads="1"/>
            </p:cNvSpPr>
            <p:nvPr/>
          </p:nvSpPr>
          <p:spPr bwMode="auto">
            <a:xfrm>
              <a:off x="5085" y="2948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7211" name="Text Box 41"/>
            <p:cNvSpPr txBox="1">
              <a:spLocks noChangeArrowheads="1"/>
            </p:cNvSpPr>
            <p:nvPr/>
          </p:nvSpPr>
          <p:spPr bwMode="auto">
            <a:xfrm>
              <a:off x="4104" y="284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6</a:t>
              </a:r>
            </a:p>
          </p:txBody>
        </p:sp>
        <p:pic>
          <p:nvPicPr>
            <p:cNvPr id="7212" name="Picture 42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1" y="2150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13" name="Picture 43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2" y="2150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14" name="Picture 44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2150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15" name="Picture 45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3088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16" name="Picture 46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3" y="2623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17" name="Picture 47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8" y="2622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18" name="Picture 48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5" y="2623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19" name="Picture 49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5" y="3088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20" name="Picture 50" descr="j031133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4" y="3088"/>
              <a:ext cx="432" cy="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174" name="Rectangle 51"/>
          <p:cNvSpPr>
            <a:spLocks noChangeArrowheads="1"/>
          </p:cNvSpPr>
          <p:nvPr/>
        </p:nvSpPr>
        <p:spPr bwMode="auto">
          <a:xfrm>
            <a:off x="293687" y="4995863"/>
            <a:ext cx="8774113" cy="2395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533400" indent="-533400">
              <a:lnSpc>
                <a:spcPct val="150000"/>
              </a:lnSpc>
              <a:spcBef>
                <a:spcPct val="20000"/>
              </a:spcBef>
            </a:pPr>
            <a:r>
              <a:rPr lang="en-US" sz="2400" dirty="0">
                <a:solidFill>
                  <a:srgbClr val="C00000"/>
                </a:solidFill>
              </a:rPr>
              <a:t>Find T </a:t>
            </a:r>
            <a:r>
              <a:rPr lang="en-US" sz="2400" dirty="0">
                <a:solidFill>
                  <a:srgbClr val="C00000"/>
                </a:solidFill>
                <a:sym typeface="Symbol" pitchFamily="18" charset="2"/>
              </a:rPr>
              <a:t></a:t>
            </a:r>
            <a:r>
              <a:rPr lang="en-US" sz="2400" dirty="0">
                <a:solidFill>
                  <a:srgbClr val="C00000"/>
                </a:solidFill>
              </a:rPr>
              <a:t> E such that:</a:t>
            </a:r>
          </a:p>
          <a:p>
            <a:pPr marL="1081088" indent="-449263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T connects all vertices</a:t>
            </a:r>
          </a:p>
          <a:p>
            <a:pPr marL="1081088" indent="-449263">
              <a:spcBef>
                <a:spcPct val="20000"/>
              </a:spcBef>
              <a:buFontTx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w(T) = </a:t>
            </a:r>
            <a:r>
              <a:rPr lang="el-GR" sz="2400" dirty="0">
                <a:solidFill>
                  <a:srgbClr val="C00000"/>
                </a:solidFill>
              </a:rPr>
              <a:t>Σ</a:t>
            </a:r>
            <a:r>
              <a:rPr lang="en-US" sz="2400" baseline="-25000" dirty="0">
                <a:solidFill>
                  <a:srgbClr val="C00000"/>
                </a:solidFill>
              </a:rPr>
              <a:t>(</a:t>
            </a:r>
            <a:r>
              <a:rPr lang="en-US" sz="2400" baseline="-25000" dirty="0" err="1">
                <a:solidFill>
                  <a:srgbClr val="C00000"/>
                </a:solidFill>
              </a:rPr>
              <a:t>u,v</a:t>
            </a:r>
            <a:r>
              <a:rPr lang="en-US" sz="2400" baseline="-25000" dirty="0">
                <a:solidFill>
                  <a:srgbClr val="C00000"/>
                </a:solidFill>
              </a:rPr>
              <a:t>)</a:t>
            </a:r>
            <a:r>
              <a:rPr lang="en-US" sz="2400" baseline="-25000" dirty="0">
                <a:solidFill>
                  <a:srgbClr val="C00000"/>
                </a:solidFill>
                <a:sym typeface="Symbol" pitchFamily="18" charset="2"/>
              </a:rPr>
              <a:t>T</a:t>
            </a:r>
            <a:r>
              <a:rPr lang="en-US" sz="2400" dirty="0">
                <a:solidFill>
                  <a:srgbClr val="C00000"/>
                </a:solidFill>
              </a:rPr>
              <a:t> w(u, v) is minimized</a:t>
            </a:r>
          </a:p>
        </p:txBody>
      </p:sp>
      <p:grpSp>
        <p:nvGrpSpPr>
          <p:cNvPr id="99" name="Group 51"/>
          <p:cNvGrpSpPr>
            <a:grpSpLocks/>
          </p:cNvGrpSpPr>
          <p:nvPr/>
        </p:nvGrpSpPr>
        <p:grpSpPr bwMode="auto">
          <a:xfrm>
            <a:off x="533400" y="3048000"/>
            <a:ext cx="3721100" cy="2108200"/>
            <a:chOff x="1670" y="2241"/>
            <a:chExt cx="2344" cy="1328"/>
          </a:xfrm>
        </p:grpSpPr>
        <p:sp>
          <p:nvSpPr>
            <p:cNvPr id="100" name="Line 52"/>
            <p:cNvSpPr>
              <a:spLocks noChangeShapeType="1"/>
            </p:cNvSpPr>
            <p:nvPr/>
          </p:nvSpPr>
          <p:spPr bwMode="auto">
            <a:xfrm flipV="1">
              <a:off x="1881" y="2543"/>
              <a:ext cx="257" cy="252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53"/>
            <p:cNvSpPr>
              <a:spLocks noChangeShapeType="1"/>
            </p:cNvSpPr>
            <p:nvPr/>
          </p:nvSpPr>
          <p:spPr bwMode="auto">
            <a:xfrm flipV="1">
              <a:off x="2367" y="2440"/>
              <a:ext cx="347" cy="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54"/>
            <p:cNvSpPr>
              <a:spLocks noChangeShapeType="1"/>
            </p:cNvSpPr>
            <p:nvPr/>
          </p:nvSpPr>
          <p:spPr bwMode="auto">
            <a:xfrm flipV="1">
              <a:off x="2990" y="2441"/>
              <a:ext cx="347" cy="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55"/>
            <p:cNvSpPr>
              <a:spLocks noChangeShapeType="1"/>
            </p:cNvSpPr>
            <p:nvPr/>
          </p:nvSpPr>
          <p:spPr bwMode="auto">
            <a:xfrm flipV="1">
              <a:off x="2373" y="3377"/>
              <a:ext cx="347" cy="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Line 56"/>
            <p:cNvSpPr>
              <a:spLocks noChangeShapeType="1"/>
            </p:cNvSpPr>
            <p:nvPr/>
          </p:nvSpPr>
          <p:spPr bwMode="auto">
            <a:xfrm flipV="1">
              <a:off x="2980" y="3386"/>
              <a:ext cx="347" cy="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57"/>
            <p:cNvSpPr>
              <a:spLocks noChangeShapeType="1"/>
            </p:cNvSpPr>
            <p:nvPr/>
          </p:nvSpPr>
          <p:spPr bwMode="auto">
            <a:xfrm flipH="1">
              <a:off x="2610" y="2552"/>
              <a:ext cx="153" cy="243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Line 58"/>
            <p:cNvSpPr>
              <a:spLocks noChangeShapeType="1"/>
            </p:cNvSpPr>
            <p:nvPr/>
          </p:nvSpPr>
          <p:spPr bwMode="auto">
            <a:xfrm>
              <a:off x="2921" y="2547"/>
              <a:ext cx="459" cy="729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Line 59"/>
            <p:cNvSpPr>
              <a:spLocks noChangeShapeType="1"/>
            </p:cNvSpPr>
            <p:nvPr/>
          </p:nvSpPr>
          <p:spPr bwMode="auto">
            <a:xfrm>
              <a:off x="3555" y="2530"/>
              <a:ext cx="256" cy="274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8" name="Group 60"/>
            <p:cNvGrpSpPr>
              <a:grpSpLocks/>
            </p:cNvGrpSpPr>
            <p:nvPr/>
          </p:nvGrpSpPr>
          <p:grpSpPr bwMode="auto">
            <a:xfrm>
              <a:off x="1670" y="2241"/>
              <a:ext cx="2344" cy="1328"/>
              <a:chOff x="3303" y="2273"/>
              <a:chExt cx="2344" cy="1328"/>
            </a:xfrm>
          </p:grpSpPr>
          <p:sp>
            <p:nvSpPr>
              <p:cNvPr id="109" name="Oval 61"/>
              <p:cNvSpPr>
                <a:spLocks noChangeArrowheads="1"/>
              </p:cNvSpPr>
              <p:nvPr/>
            </p:nvSpPr>
            <p:spPr bwMode="auto">
              <a:xfrm>
                <a:off x="3303" y="281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a</a:t>
                </a:r>
              </a:p>
            </p:txBody>
          </p:sp>
          <p:sp>
            <p:nvSpPr>
              <p:cNvPr id="110" name="Oval 62"/>
              <p:cNvSpPr>
                <a:spLocks noChangeArrowheads="1"/>
              </p:cNvSpPr>
              <p:nvPr/>
            </p:nvSpPr>
            <p:spPr bwMode="auto">
              <a:xfrm>
                <a:off x="3732" y="234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111" name="Oval 63"/>
              <p:cNvSpPr>
                <a:spLocks noChangeArrowheads="1"/>
              </p:cNvSpPr>
              <p:nvPr/>
            </p:nvSpPr>
            <p:spPr bwMode="auto">
              <a:xfrm>
                <a:off x="4344" y="234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c</a:t>
                </a:r>
              </a:p>
            </p:txBody>
          </p:sp>
          <p:sp>
            <p:nvSpPr>
              <p:cNvPr id="112" name="Oval 64"/>
              <p:cNvSpPr>
                <a:spLocks noChangeArrowheads="1"/>
              </p:cNvSpPr>
              <p:nvPr/>
            </p:nvSpPr>
            <p:spPr bwMode="auto">
              <a:xfrm>
                <a:off x="4956" y="234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d</a:t>
                </a:r>
              </a:p>
            </p:txBody>
          </p:sp>
          <p:sp>
            <p:nvSpPr>
              <p:cNvPr id="113" name="Oval 65"/>
              <p:cNvSpPr>
                <a:spLocks noChangeArrowheads="1"/>
              </p:cNvSpPr>
              <p:nvPr/>
            </p:nvSpPr>
            <p:spPr bwMode="auto">
              <a:xfrm>
                <a:off x="5381" y="281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e</a:t>
                </a:r>
              </a:p>
            </p:txBody>
          </p:sp>
          <p:sp>
            <p:nvSpPr>
              <p:cNvPr id="114" name="Oval 66"/>
              <p:cNvSpPr>
                <a:spLocks noChangeArrowheads="1"/>
              </p:cNvSpPr>
              <p:nvPr/>
            </p:nvSpPr>
            <p:spPr bwMode="auto">
              <a:xfrm>
                <a:off x="3732" y="327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15" name="Oval 67"/>
              <p:cNvSpPr>
                <a:spLocks noChangeArrowheads="1"/>
              </p:cNvSpPr>
              <p:nvPr/>
            </p:nvSpPr>
            <p:spPr bwMode="auto">
              <a:xfrm>
                <a:off x="4344" y="327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116" name="Oval 68"/>
              <p:cNvSpPr>
                <a:spLocks noChangeArrowheads="1"/>
              </p:cNvSpPr>
              <p:nvPr/>
            </p:nvSpPr>
            <p:spPr bwMode="auto">
              <a:xfrm>
                <a:off x="4956" y="327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f</a:t>
                </a:r>
              </a:p>
            </p:txBody>
          </p:sp>
          <p:sp>
            <p:nvSpPr>
              <p:cNvPr id="117" name="Oval 69"/>
              <p:cNvSpPr>
                <a:spLocks noChangeArrowheads="1"/>
              </p:cNvSpPr>
              <p:nvPr/>
            </p:nvSpPr>
            <p:spPr bwMode="auto">
              <a:xfrm>
                <a:off x="4038" y="281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i</a:t>
                </a:r>
              </a:p>
            </p:txBody>
          </p:sp>
          <p:sp>
            <p:nvSpPr>
              <p:cNvPr id="118" name="Line 70"/>
              <p:cNvSpPr>
                <a:spLocks noChangeShapeType="1"/>
              </p:cNvSpPr>
              <p:nvPr/>
            </p:nvSpPr>
            <p:spPr bwMode="auto">
              <a:xfrm>
                <a:off x="3857" y="2615"/>
                <a:ext cx="0" cy="67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Line 71"/>
              <p:cNvSpPr>
                <a:spLocks noChangeShapeType="1"/>
              </p:cNvSpPr>
              <p:nvPr/>
            </p:nvSpPr>
            <p:spPr bwMode="auto">
              <a:xfrm>
                <a:off x="5092" y="2616"/>
                <a:ext cx="0" cy="67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Line 72"/>
              <p:cNvSpPr>
                <a:spLocks noChangeShapeType="1"/>
              </p:cNvSpPr>
              <p:nvPr/>
            </p:nvSpPr>
            <p:spPr bwMode="auto">
              <a:xfrm>
                <a:off x="3996" y="2472"/>
                <a:ext cx="347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Line 73"/>
              <p:cNvSpPr>
                <a:spLocks noChangeShapeType="1"/>
              </p:cNvSpPr>
              <p:nvPr/>
            </p:nvSpPr>
            <p:spPr bwMode="auto">
              <a:xfrm>
                <a:off x="4607" y="2474"/>
                <a:ext cx="347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Line 74"/>
              <p:cNvSpPr>
                <a:spLocks noChangeShapeType="1"/>
              </p:cNvSpPr>
              <p:nvPr/>
            </p:nvSpPr>
            <p:spPr bwMode="auto">
              <a:xfrm>
                <a:off x="3996" y="3414"/>
                <a:ext cx="347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Line 75"/>
              <p:cNvSpPr>
                <a:spLocks noChangeShapeType="1"/>
              </p:cNvSpPr>
              <p:nvPr/>
            </p:nvSpPr>
            <p:spPr bwMode="auto">
              <a:xfrm>
                <a:off x="4614" y="3418"/>
                <a:ext cx="347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Line 76"/>
              <p:cNvSpPr>
                <a:spLocks noChangeShapeType="1"/>
              </p:cNvSpPr>
              <p:nvPr/>
            </p:nvSpPr>
            <p:spPr bwMode="auto">
              <a:xfrm flipV="1">
                <a:off x="3510" y="2574"/>
                <a:ext cx="261" cy="26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Line 77"/>
              <p:cNvSpPr>
                <a:spLocks noChangeShapeType="1"/>
              </p:cNvSpPr>
              <p:nvPr/>
            </p:nvSpPr>
            <p:spPr bwMode="auto">
              <a:xfrm flipV="1">
                <a:off x="5190" y="3057"/>
                <a:ext cx="261" cy="261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Line 78"/>
              <p:cNvSpPr>
                <a:spLocks noChangeShapeType="1"/>
              </p:cNvSpPr>
              <p:nvPr/>
            </p:nvSpPr>
            <p:spPr bwMode="auto">
              <a:xfrm>
                <a:off x="5189" y="2565"/>
                <a:ext cx="256" cy="27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Line 79"/>
              <p:cNvSpPr>
                <a:spLocks noChangeShapeType="1"/>
              </p:cNvSpPr>
              <p:nvPr/>
            </p:nvSpPr>
            <p:spPr bwMode="auto">
              <a:xfrm>
                <a:off x="3511" y="3042"/>
                <a:ext cx="256" cy="27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Line 80"/>
              <p:cNvSpPr>
                <a:spLocks noChangeShapeType="1"/>
              </p:cNvSpPr>
              <p:nvPr/>
            </p:nvSpPr>
            <p:spPr bwMode="auto">
              <a:xfrm>
                <a:off x="4554" y="2583"/>
                <a:ext cx="455" cy="72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Line 81"/>
              <p:cNvSpPr>
                <a:spLocks noChangeShapeType="1"/>
              </p:cNvSpPr>
              <p:nvPr/>
            </p:nvSpPr>
            <p:spPr bwMode="auto">
              <a:xfrm>
                <a:off x="4244" y="3056"/>
                <a:ext cx="166" cy="24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Line 82"/>
              <p:cNvSpPr>
                <a:spLocks noChangeShapeType="1"/>
              </p:cNvSpPr>
              <p:nvPr/>
            </p:nvSpPr>
            <p:spPr bwMode="auto">
              <a:xfrm flipV="1">
                <a:off x="3960" y="3065"/>
                <a:ext cx="153" cy="24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83"/>
              <p:cNvSpPr>
                <a:spLocks noChangeShapeType="1"/>
              </p:cNvSpPr>
              <p:nvPr/>
            </p:nvSpPr>
            <p:spPr bwMode="auto">
              <a:xfrm flipV="1">
                <a:off x="4244" y="2583"/>
                <a:ext cx="157" cy="24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Text Box 84"/>
              <p:cNvSpPr txBox="1">
                <a:spLocks noChangeArrowheads="1"/>
              </p:cNvSpPr>
              <p:nvPr/>
            </p:nvSpPr>
            <p:spPr bwMode="auto">
              <a:xfrm>
                <a:off x="3489" y="2541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4</a:t>
                </a:r>
              </a:p>
            </p:txBody>
          </p:sp>
          <p:sp>
            <p:nvSpPr>
              <p:cNvPr id="133" name="Text Box 85"/>
              <p:cNvSpPr txBox="1">
                <a:spLocks noChangeArrowheads="1"/>
              </p:cNvSpPr>
              <p:nvPr/>
            </p:nvSpPr>
            <p:spPr bwMode="auto">
              <a:xfrm>
                <a:off x="4089" y="2273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8</a:t>
                </a:r>
              </a:p>
            </p:txBody>
          </p:sp>
          <p:sp>
            <p:nvSpPr>
              <p:cNvPr id="134" name="Text Box 86"/>
              <p:cNvSpPr txBox="1">
                <a:spLocks noChangeArrowheads="1"/>
              </p:cNvSpPr>
              <p:nvPr/>
            </p:nvSpPr>
            <p:spPr bwMode="auto">
              <a:xfrm>
                <a:off x="4696" y="2286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7</a:t>
                </a:r>
              </a:p>
            </p:txBody>
          </p:sp>
          <p:sp>
            <p:nvSpPr>
              <p:cNvPr id="135" name="Text Box 87"/>
              <p:cNvSpPr txBox="1">
                <a:spLocks noChangeArrowheads="1"/>
              </p:cNvSpPr>
              <p:nvPr/>
            </p:nvSpPr>
            <p:spPr bwMode="auto">
              <a:xfrm>
                <a:off x="3500" y="310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8</a:t>
                </a:r>
              </a:p>
            </p:txBody>
          </p:sp>
          <p:sp>
            <p:nvSpPr>
              <p:cNvPr id="136" name="Text Box 88"/>
              <p:cNvSpPr txBox="1">
                <a:spLocks noChangeArrowheads="1"/>
              </p:cNvSpPr>
              <p:nvPr/>
            </p:nvSpPr>
            <p:spPr bwMode="auto">
              <a:xfrm>
                <a:off x="3636" y="2816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11</a:t>
                </a:r>
              </a:p>
            </p:txBody>
          </p:sp>
          <p:sp>
            <p:nvSpPr>
              <p:cNvPr id="137" name="Text Box 89"/>
              <p:cNvSpPr txBox="1">
                <a:spLocks noChangeArrowheads="1"/>
              </p:cNvSpPr>
              <p:nvPr/>
            </p:nvSpPr>
            <p:spPr bwMode="auto">
              <a:xfrm>
                <a:off x="4095" y="338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 dirty="0"/>
                  <a:t>1</a:t>
                </a:r>
              </a:p>
            </p:txBody>
          </p:sp>
          <p:sp>
            <p:nvSpPr>
              <p:cNvPr id="138" name="Text Box 90"/>
              <p:cNvSpPr txBox="1">
                <a:spLocks noChangeArrowheads="1"/>
              </p:cNvSpPr>
              <p:nvPr/>
            </p:nvSpPr>
            <p:spPr bwMode="auto">
              <a:xfrm>
                <a:off x="4690" y="3380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2</a:t>
                </a:r>
              </a:p>
            </p:txBody>
          </p:sp>
          <p:sp>
            <p:nvSpPr>
              <p:cNvPr id="139" name="Text Box 91"/>
              <p:cNvSpPr txBox="1">
                <a:spLocks noChangeArrowheads="1"/>
              </p:cNvSpPr>
              <p:nvPr/>
            </p:nvSpPr>
            <p:spPr bwMode="auto">
              <a:xfrm>
                <a:off x="3889" y="303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7</a:t>
                </a:r>
              </a:p>
            </p:txBody>
          </p:sp>
          <p:sp>
            <p:nvSpPr>
              <p:cNvPr id="140" name="Text Box 92"/>
              <p:cNvSpPr txBox="1">
                <a:spLocks noChangeArrowheads="1"/>
              </p:cNvSpPr>
              <p:nvPr/>
            </p:nvSpPr>
            <p:spPr bwMode="auto">
              <a:xfrm>
                <a:off x="4280" y="2643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2</a:t>
                </a:r>
              </a:p>
            </p:txBody>
          </p:sp>
          <p:sp>
            <p:nvSpPr>
              <p:cNvPr id="141" name="Text Box 93"/>
              <p:cNvSpPr txBox="1">
                <a:spLocks noChangeArrowheads="1"/>
              </p:cNvSpPr>
              <p:nvPr/>
            </p:nvSpPr>
            <p:spPr bwMode="auto">
              <a:xfrm>
                <a:off x="4631" y="287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4</a:t>
                </a:r>
              </a:p>
            </p:txBody>
          </p:sp>
          <p:sp>
            <p:nvSpPr>
              <p:cNvPr id="142" name="Text Box 94"/>
              <p:cNvSpPr txBox="1">
                <a:spLocks noChangeArrowheads="1"/>
              </p:cNvSpPr>
              <p:nvPr/>
            </p:nvSpPr>
            <p:spPr bwMode="auto">
              <a:xfrm>
                <a:off x="5063" y="2832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14</a:t>
                </a:r>
              </a:p>
            </p:txBody>
          </p:sp>
          <p:sp>
            <p:nvSpPr>
              <p:cNvPr id="143" name="Text Box 95"/>
              <p:cNvSpPr txBox="1">
                <a:spLocks noChangeArrowheads="1"/>
              </p:cNvSpPr>
              <p:nvPr/>
            </p:nvSpPr>
            <p:spPr bwMode="auto">
              <a:xfrm>
                <a:off x="5288" y="2526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9</a:t>
                </a:r>
              </a:p>
            </p:txBody>
          </p:sp>
          <p:sp>
            <p:nvSpPr>
              <p:cNvPr id="144" name="Text Box 96"/>
              <p:cNvSpPr txBox="1">
                <a:spLocks noChangeArrowheads="1"/>
              </p:cNvSpPr>
              <p:nvPr/>
            </p:nvSpPr>
            <p:spPr bwMode="auto">
              <a:xfrm>
                <a:off x="5270" y="3133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10</a:t>
                </a:r>
              </a:p>
            </p:txBody>
          </p:sp>
          <p:sp>
            <p:nvSpPr>
              <p:cNvPr id="145" name="Text Box 97"/>
              <p:cNvSpPr txBox="1">
                <a:spLocks noChangeArrowheads="1"/>
              </p:cNvSpPr>
              <p:nvPr/>
            </p:nvSpPr>
            <p:spPr bwMode="auto">
              <a:xfrm>
                <a:off x="4289" y="302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000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/>
              <a:t>Minimum Spanning Trees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0838" y="1214438"/>
            <a:ext cx="8229600" cy="522287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Spanning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 tree (i.e., connected, acyclic graph) which contains all the vertices of the graph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Minimum Spanning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Spanning tree with the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minimum sum of weights</a:t>
            </a:r>
          </a:p>
          <a:p>
            <a:pPr lvl="1" eaLnBrk="1" hangingPunct="1">
              <a:lnSpc>
                <a:spcPct val="90000"/>
              </a:lnSpc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Spanning forest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If a graph is not connected, then there is a spanning tree for each connected component of the graph</a:t>
            </a:r>
          </a:p>
        </p:txBody>
      </p:sp>
      <p:grpSp>
        <p:nvGrpSpPr>
          <p:cNvPr id="4101" name="Group 51"/>
          <p:cNvGrpSpPr>
            <a:grpSpLocks/>
          </p:cNvGrpSpPr>
          <p:nvPr/>
        </p:nvGrpSpPr>
        <p:grpSpPr bwMode="auto">
          <a:xfrm>
            <a:off x="3562350" y="3302000"/>
            <a:ext cx="3721100" cy="2108200"/>
            <a:chOff x="1670" y="2241"/>
            <a:chExt cx="2344" cy="1328"/>
          </a:xfrm>
        </p:grpSpPr>
        <p:sp>
          <p:nvSpPr>
            <p:cNvPr id="4102" name="Line 52"/>
            <p:cNvSpPr>
              <a:spLocks noChangeShapeType="1"/>
            </p:cNvSpPr>
            <p:nvPr/>
          </p:nvSpPr>
          <p:spPr bwMode="auto">
            <a:xfrm flipV="1">
              <a:off x="1881" y="2543"/>
              <a:ext cx="257" cy="252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" name="Line 53"/>
            <p:cNvSpPr>
              <a:spLocks noChangeShapeType="1"/>
            </p:cNvSpPr>
            <p:nvPr/>
          </p:nvSpPr>
          <p:spPr bwMode="auto">
            <a:xfrm flipV="1">
              <a:off x="2367" y="2440"/>
              <a:ext cx="347" cy="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" name="Line 54"/>
            <p:cNvSpPr>
              <a:spLocks noChangeShapeType="1"/>
            </p:cNvSpPr>
            <p:nvPr/>
          </p:nvSpPr>
          <p:spPr bwMode="auto">
            <a:xfrm flipV="1">
              <a:off x="2990" y="2441"/>
              <a:ext cx="347" cy="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" name="Line 55"/>
            <p:cNvSpPr>
              <a:spLocks noChangeShapeType="1"/>
            </p:cNvSpPr>
            <p:nvPr/>
          </p:nvSpPr>
          <p:spPr bwMode="auto">
            <a:xfrm flipV="1">
              <a:off x="2373" y="3377"/>
              <a:ext cx="347" cy="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" name="Line 56"/>
            <p:cNvSpPr>
              <a:spLocks noChangeShapeType="1"/>
            </p:cNvSpPr>
            <p:nvPr/>
          </p:nvSpPr>
          <p:spPr bwMode="auto">
            <a:xfrm flipV="1">
              <a:off x="2980" y="3386"/>
              <a:ext cx="347" cy="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" name="Line 57"/>
            <p:cNvSpPr>
              <a:spLocks noChangeShapeType="1"/>
            </p:cNvSpPr>
            <p:nvPr/>
          </p:nvSpPr>
          <p:spPr bwMode="auto">
            <a:xfrm flipH="1">
              <a:off x="2610" y="2552"/>
              <a:ext cx="153" cy="243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" name="Line 58"/>
            <p:cNvSpPr>
              <a:spLocks noChangeShapeType="1"/>
            </p:cNvSpPr>
            <p:nvPr/>
          </p:nvSpPr>
          <p:spPr bwMode="auto">
            <a:xfrm>
              <a:off x="2921" y="2547"/>
              <a:ext cx="459" cy="729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Line 59"/>
            <p:cNvSpPr>
              <a:spLocks noChangeShapeType="1"/>
            </p:cNvSpPr>
            <p:nvPr/>
          </p:nvSpPr>
          <p:spPr bwMode="auto">
            <a:xfrm>
              <a:off x="3555" y="2530"/>
              <a:ext cx="256" cy="274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10" name="Group 60"/>
            <p:cNvGrpSpPr>
              <a:grpSpLocks/>
            </p:cNvGrpSpPr>
            <p:nvPr/>
          </p:nvGrpSpPr>
          <p:grpSpPr bwMode="auto">
            <a:xfrm>
              <a:off x="1670" y="2241"/>
              <a:ext cx="2344" cy="1328"/>
              <a:chOff x="3303" y="2273"/>
              <a:chExt cx="2344" cy="1328"/>
            </a:xfrm>
          </p:grpSpPr>
          <p:sp>
            <p:nvSpPr>
              <p:cNvPr id="4111" name="Oval 61"/>
              <p:cNvSpPr>
                <a:spLocks noChangeArrowheads="1"/>
              </p:cNvSpPr>
              <p:nvPr/>
            </p:nvSpPr>
            <p:spPr bwMode="auto">
              <a:xfrm>
                <a:off x="3303" y="281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a</a:t>
                </a:r>
              </a:p>
            </p:txBody>
          </p:sp>
          <p:sp>
            <p:nvSpPr>
              <p:cNvPr id="4112" name="Oval 62"/>
              <p:cNvSpPr>
                <a:spLocks noChangeArrowheads="1"/>
              </p:cNvSpPr>
              <p:nvPr/>
            </p:nvSpPr>
            <p:spPr bwMode="auto">
              <a:xfrm>
                <a:off x="3732" y="234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4113" name="Oval 63"/>
              <p:cNvSpPr>
                <a:spLocks noChangeArrowheads="1"/>
              </p:cNvSpPr>
              <p:nvPr/>
            </p:nvSpPr>
            <p:spPr bwMode="auto">
              <a:xfrm>
                <a:off x="4344" y="234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c</a:t>
                </a:r>
              </a:p>
            </p:txBody>
          </p:sp>
          <p:sp>
            <p:nvSpPr>
              <p:cNvPr id="4114" name="Oval 64"/>
              <p:cNvSpPr>
                <a:spLocks noChangeArrowheads="1"/>
              </p:cNvSpPr>
              <p:nvPr/>
            </p:nvSpPr>
            <p:spPr bwMode="auto">
              <a:xfrm>
                <a:off x="4956" y="2347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d</a:t>
                </a:r>
              </a:p>
            </p:txBody>
          </p:sp>
          <p:sp>
            <p:nvSpPr>
              <p:cNvPr id="4115" name="Oval 65"/>
              <p:cNvSpPr>
                <a:spLocks noChangeArrowheads="1"/>
              </p:cNvSpPr>
              <p:nvPr/>
            </p:nvSpPr>
            <p:spPr bwMode="auto">
              <a:xfrm>
                <a:off x="5381" y="2812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e</a:t>
                </a:r>
              </a:p>
            </p:txBody>
          </p:sp>
          <p:sp>
            <p:nvSpPr>
              <p:cNvPr id="4116" name="Oval 66"/>
              <p:cNvSpPr>
                <a:spLocks noChangeArrowheads="1"/>
              </p:cNvSpPr>
              <p:nvPr/>
            </p:nvSpPr>
            <p:spPr bwMode="auto">
              <a:xfrm>
                <a:off x="3732" y="327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4117" name="Oval 67"/>
              <p:cNvSpPr>
                <a:spLocks noChangeArrowheads="1"/>
              </p:cNvSpPr>
              <p:nvPr/>
            </p:nvSpPr>
            <p:spPr bwMode="auto">
              <a:xfrm>
                <a:off x="4344" y="327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g</a:t>
                </a:r>
              </a:p>
            </p:txBody>
          </p:sp>
          <p:sp>
            <p:nvSpPr>
              <p:cNvPr id="4118" name="Oval 68"/>
              <p:cNvSpPr>
                <a:spLocks noChangeArrowheads="1"/>
              </p:cNvSpPr>
              <p:nvPr/>
            </p:nvSpPr>
            <p:spPr bwMode="auto">
              <a:xfrm>
                <a:off x="4956" y="3278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f</a:t>
                </a:r>
              </a:p>
            </p:txBody>
          </p:sp>
          <p:sp>
            <p:nvSpPr>
              <p:cNvPr id="4119" name="Oval 69"/>
              <p:cNvSpPr>
                <a:spLocks noChangeArrowheads="1"/>
              </p:cNvSpPr>
              <p:nvPr/>
            </p:nvSpPr>
            <p:spPr bwMode="auto">
              <a:xfrm>
                <a:off x="4038" y="2814"/>
                <a:ext cx="266" cy="26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i</a:t>
                </a:r>
              </a:p>
            </p:txBody>
          </p:sp>
          <p:sp>
            <p:nvSpPr>
              <p:cNvPr id="4120" name="Line 70"/>
              <p:cNvSpPr>
                <a:spLocks noChangeShapeType="1"/>
              </p:cNvSpPr>
              <p:nvPr/>
            </p:nvSpPr>
            <p:spPr bwMode="auto">
              <a:xfrm>
                <a:off x="3857" y="2615"/>
                <a:ext cx="0" cy="6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" name="Line 71"/>
              <p:cNvSpPr>
                <a:spLocks noChangeShapeType="1"/>
              </p:cNvSpPr>
              <p:nvPr/>
            </p:nvSpPr>
            <p:spPr bwMode="auto">
              <a:xfrm>
                <a:off x="5092" y="2616"/>
                <a:ext cx="0" cy="6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2" name="Line 72"/>
              <p:cNvSpPr>
                <a:spLocks noChangeShapeType="1"/>
              </p:cNvSpPr>
              <p:nvPr/>
            </p:nvSpPr>
            <p:spPr bwMode="auto">
              <a:xfrm>
                <a:off x="3996" y="2472"/>
                <a:ext cx="347" cy="0"/>
              </a:xfrm>
              <a:prstGeom prst="line">
                <a:avLst/>
              </a:prstGeom>
              <a:noFill/>
              <a:ln w="762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" name="Line 73"/>
              <p:cNvSpPr>
                <a:spLocks noChangeShapeType="1"/>
              </p:cNvSpPr>
              <p:nvPr/>
            </p:nvSpPr>
            <p:spPr bwMode="auto">
              <a:xfrm>
                <a:off x="4607" y="2474"/>
                <a:ext cx="347" cy="0"/>
              </a:xfrm>
              <a:prstGeom prst="line">
                <a:avLst/>
              </a:prstGeom>
              <a:noFill/>
              <a:ln w="762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4" name="Line 74"/>
              <p:cNvSpPr>
                <a:spLocks noChangeShapeType="1"/>
              </p:cNvSpPr>
              <p:nvPr/>
            </p:nvSpPr>
            <p:spPr bwMode="auto">
              <a:xfrm>
                <a:off x="3996" y="3414"/>
                <a:ext cx="347" cy="0"/>
              </a:xfrm>
              <a:prstGeom prst="line">
                <a:avLst/>
              </a:prstGeom>
              <a:noFill/>
              <a:ln w="762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5" name="Line 75"/>
              <p:cNvSpPr>
                <a:spLocks noChangeShapeType="1"/>
              </p:cNvSpPr>
              <p:nvPr/>
            </p:nvSpPr>
            <p:spPr bwMode="auto">
              <a:xfrm>
                <a:off x="4614" y="3418"/>
                <a:ext cx="347" cy="0"/>
              </a:xfrm>
              <a:prstGeom prst="line">
                <a:avLst/>
              </a:prstGeom>
              <a:noFill/>
              <a:ln w="762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6" name="Line 76"/>
              <p:cNvSpPr>
                <a:spLocks noChangeShapeType="1"/>
              </p:cNvSpPr>
              <p:nvPr/>
            </p:nvSpPr>
            <p:spPr bwMode="auto">
              <a:xfrm flipV="1">
                <a:off x="3510" y="2574"/>
                <a:ext cx="261" cy="261"/>
              </a:xfrm>
              <a:prstGeom prst="line">
                <a:avLst/>
              </a:prstGeom>
              <a:noFill/>
              <a:ln w="762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7" name="Line 77"/>
              <p:cNvSpPr>
                <a:spLocks noChangeShapeType="1"/>
              </p:cNvSpPr>
              <p:nvPr/>
            </p:nvSpPr>
            <p:spPr bwMode="auto">
              <a:xfrm flipV="1">
                <a:off x="5190" y="3057"/>
                <a:ext cx="261" cy="26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8" name="Line 78"/>
              <p:cNvSpPr>
                <a:spLocks noChangeShapeType="1"/>
              </p:cNvSpPr>
              <p:nvPr/>
            </p:nvSpPr>
            <p:spPr bwMode="auto">
              <a:xfrm>
                <a:off x="5189" y="2565"/>
                <a:ext cx="256" cy="270"/>
              </a:xfrm>
              <a:prstGeom prst="line">
                <a:avLst/>
              </a:prstGeom>
              <a:noFill/>
              <a:ln w="762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9" name="Line 79"/>
              <p:cNvSpPr>
                <a:spLocks noChangeShapeType="1"/>
              </p:cNvSpPr>
              <p:nvPr/>
            </p:nvSpPr>
            <p:spPr bwMode="auto">
              <a:xfrm>
                <a:off x="3511" y="3042"/>
                <a:ext cx="256" cy="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0" name="Line 80"/>
              <p:cNvSpPr>
                <a:spLocks noChangeShapeType="1"/>
              </p:cNvSpPr>
              <p:nvPr/>
            </p:nvSpPr>
            <p:spPr bwMode="auto">
              <a:xfrm>
                <a:off x="4554" y="2583"/>
                <a:ext cx="455" cy="725"/>
              </a:xfrm>
              <a:prstGeom prst="line">
                <a:avLst/>
              </a:prstGeom>
              <a:noFill/>
              <a:ln w="762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1" name="Line 81"/>
              <p:cNvSpPr>
                <a:spLocks noChangeShapeType="1"/>
              </p:cNvSpPr>
              <p:nvPr/>
            </p:nvSpPr>
            <p:spPr bwMode="auto">
              <a:xfrm>
                <a:off x="4244" y="3056"/>
                <a:ext cx="166" cy="2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2" name="Line 82"/>
              <p:cNvSpPr>
                <a:spLocks noChangeShapeType="1"/>
              </p:cNvSpPr>
              <p:nvPr/>
            </p:nvSpPr>
            <p:spPr bwMode="auto">
              <a:xfrm flipV="1">
                <a:off x="3960" y="3065"/>
                <a:ext cx="153" cy="2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3" name="Line 83"/>
              <p:cNvSpPr>
                <a:spLocks noChangeShapeType="1"/>
              </p:cNvSpPr>
              <p:nvPr/>
            </p:nvSpPr>
            <p:spPr bwMode="auto">
              <a:xfrm flipV="1">
                <a:off x="4244" y="2583"/>
                <a:ext cx="157" cy="243"/>
              </a:xfrm>
              <a:prstGeom prst="line">
                <a:avLst/>
              </a:prstGeom>
              <a:noFill/>
              <a:ln w="76200">
                <a:solidFill>
                  <a:srgbClr val="0070C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4" name="Text Box 84"/>
              <p:cNvSpPr txBox="1">
                <a:spLocks noChangeArrowheads="1"/>
              </p:cNvSpPr>
              <p:nvPr/>
            </p:nvSpPr>
            <p:spPr bwMode="auto">
              <a:xfrm>
                <a:off x="3489" y="2541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4</a:t>
                </a:r>
              </a:p>
            </p:txBody>
          </p:sp>
          <p:sp>
            <p:nvSpPr>
              <p:cNvPr id="4135" name="Text Box 85"/>
              <p:cNvSpPr txBox="1">
                <a:spLocks noChangeArrowheads="1"/>
              </p:cNvSpPr>
              <p:nvPr/>
            </p:nvSpPr>
            <p:spPr bwMode="auto">
              <a:xfrm>
                <a:off x="4089" y="2273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8</a:t>
                </a:r>
              </a:p>
            </p:txBody>
          </p:sp>
          <p:sp>
            <p:nvSpPr>
              <p:cNvPr id="4136" name="Text Box 86"/>
              <p:cNvSpPr txBox="1">
                <a:spLocks noChangeArrowheads="1"/>
              </p:cNvSpPr>
              <p:nvPr/>
            </p:nvSpPr>
            <p:spPr bwMode="auto">
              <a:xfrm>
                <a:off x="4696" y="2286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7</a:t>
                </a:r>
              </a:p>
            </p:txBody>
          </p:sp>
          <p:sp>
            <p:nvSpPr>
              <p:cNvPr id="4137" name="Text Box 87"/>
              <p:cNvSpPr txBox="1">
                <a:spLocks noChangeArrowheads="1"/>
              </p:cNvSpPr>
              <p:nvPr/>
            </p:nvSpPr>
            <p:spPr bwMode="auto">
              <a:xfrm>
                <a:off x="3500" y="310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8</a:t>
                </a:r>
              </a:p>
            </p:txBody>
          </p:sp>
          <p:sp>
            <p:nvSpPr>
              <p:cNvPr id="4138" name="Text Box 88"/>
              <p:cNvSpPr txBox="1">
                <a:spLocks noChangeArrowheads="1"/>
              </p:cNvSpPr>
              <p:nvPr/>
            </p:nvSpPr>
            <p:spPr bwMode="auto">
              <a:xfrm>
                <a:off x="3636" y="2816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11</a:t>
                </a:r>
              </a:p>
            </p:txBody>
          </p:sp>
          <p:sp>
            <p:nvSpPr>
              <p:cNvPr id="4139" name="Text Box 89"/>
              <p:cNvSpPr txBox="1">
                <a:spLocks noChangeArrowheads="1"/>
              </p:cNvSpPr>
              <p:nvPr/>
            </p:nvSpPr>
            <p:spPr bwMode="auto">
              <a:xfrm>
                <a:off x="4095" y="338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 dirty="0"/>
                  <a:t>1</a:t>
                </a:r>
              </a:p>
            </p:txBody>
          </p:sp>
          <p:sp>
            <p:nvSpPr>
              <p:cNvPr id="4140" name="Text Box 90"/>
              <p:cNvSpPr txBox="1">
                <a:spLocks noChangeArrowheads="1"/>
              </p:cNvSpPr>
              <p:nvPr/>
            </p:nvSpPr>
            <p:spPr bwMode="auto">
              <a:xfrm>
                <a:off x="4690" y="3380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2</a:t>
                </a:r>
              </a:p>
            </p:txBody>
          </p:sp>
          <p:sp>
            <p:nvSpPr>
              <p:cNvPr id="4141" name="Text Box 91"/>
              <p:cNvSpPr txBox="1">
                <a:spLocks noChangeArrowheads="1"/>
              </p:cNvSpPr>
              <p:nvPr/>
            </p:nvSpPr>
            <p:spPr bwMode="auto">
              <a:xfrm>
                <a:off x="3889" y="3039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7</a:t>
                </a:r>
              </a:p>
            </p:txBody>
          </p:sp>
          <p:sp>
            <p:nvSpPr>
              <p:cNvPr id="4142" name="Text Box 92"/>
              <p:cNvSpPr txBox="1">
                <a:spLocks noChangeArrowheads="1"/>
              </p:cNvSpPr>
              <p:nvPr/>
            </p:nvSpPr>
            <p:spPr bwMode="auto">
              <a:xfrm>
                <a:off x="4280" y="2643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2</a:t>
                </a:r>
              </a:p>
            </p:txBody>
          </p:sp>
          <p:sp>
            <p:nvSpPr>
              <p:cNvPr id="4143" name="Text Box 93"/>
              <p:cNvSpPr txBox="1">
                <a:spLocks noChangeArrowheads="1"/>
              </p:cNvSpPr>
              <p:nvPr/>
            </p:nvSpPr>
            <p:spPr bwMode="auto">
              <a:xfrm>
                <a:off x="4631" y="2872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4</a:t>
                </a:r>
              </a:p>
            </p:txBody>
          </p:sp>
          <p:sp>
            <p:nvSpPr>
              <p:cNvPr id="4144" name="Text Box 94"/>
              <p:cNvSpPr txBox="1">
                <a:spLocks noChangeArrowheads="1"/>
              </p:cNvSpPr>
              <p:nvPr/>
            </p:nvSpPr>
            <p:spPr bwMode="auto">
              <a:xfrm>
                <a:off x="5063" y="2832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14</a:t>
                </a:r>
              </a:p>
            </p:txBody>
          </p:sp>
          <p:sp>
            <p:nvSpPr>
              <p:cNvPr id="4145" name="Text Box 95"/>
              <p:cNvSpPr txBox="1">
                <a:spLocks noChangeArrowheads="1"/>
              </p:cNvSpPr>
              <p:nvPr/>
            </p:nvSpPr>
            <p:spPr bwMode="auto">
              <a:xfrm>
                <a:off x="5288" y="2526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9</a:t>
                </a:r>
              </a:p>
            </p:txBody>
          </p:sp>
          <p:sp>
            <p:nvSpPr>
              <p:cNvPr id="4146" name="Text Box 96"/>
              <p:cNvSpPr txBox="1">
                <a:spLocks noChangeArrowheads="1"/>
              </p:cNvSpPr>
              <p:nvPr/>
            </p:nvSpPr>
            <p:spPr bwMode="auto">
              <a:xfrm>
                <a:off x="5270" y="3133"/>
                <a:ext cx="25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10</a:t>
                </a:r>
              </a:p>
            </p:txBody>
          </p:sp>
          <p:sp>
            <p:nvSpPr>
              <p:cNvPr id="4147" name="Text Box 97"/>
              <p:cNvSpPr txBox="1">
                <a:spLocks noChangeArrowheads="1"/>
              </p:cNvSpPr>
              <p:nvPr/>
            </p:nvSpPr>
            <p:spPr bwMode="auto">
              <a:xfrm>
                <a:off x="4289" y="3025"/>
                <a:ext cx="187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sz="1600"/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176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1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1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Minimum spanning tree (MST)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Let’s think about simple MSTs on this graph:</a:t>
            </a:r>
          </a:p>
        </p:txBody>
      </p:sp>
      <p:sp>
        <p:nvSpPr>
          <p:cNvPr id="4" name="Oval 3"/>
          <p:cNvSpPr/>
          <p:nvPr/>
        </p:nvSpPr>
        <p:spPr>
          <a:xfrm>
            <a:off x="3352800" y="2819400"/>
            <a:ext cx="609600" cy="5334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5181600" y="2819400"/>
            <a:ext cx="609600" cy="5334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3352800" y="4343400"/>
            <a:ext cx="609600" cy="5334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5181600" y="4343400"/>
            <a:ext cx="609600" cy="5334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d</a:t>
            </a:r>
          </a:p>
        </p:txBody>
      </p:sp>
      <p:cxnSp>
        <p:nvCxnSpPr>
          <p:cNvPr id="11" name="Straight Connector 10"/>
          <p:cNvCxnSpPr>
            <a:stCxn id="4" idx="6"/>
            <a:endCxn id="5" idx="2"/>
          </p:cNvCxnSpPr>
          <p:nvPr/>
        </p:nvCxnSpPr>
        <p:spPr>
          <a:xfrm>
            <a:off x="3962400" y="3086100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4" idx="4"/>
            <a:endCxn id="6" idx="0"/>
          </p:cNvCxnSpPr>
          <p:nvPr/>
        </p:nvCxnSpPr>
        <p:spPr>
          <a:xfrm>
            <a:off x="3657600" y="3352800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4"/>
            <a:endCxn id="7" idx="0"/>
          </p:cNvCxnSpPr>
          <p:nvPr/>
        </p:nvCxnSpPr>
        <p:spPr>
          <a:xfrm>
            <a:off x="5486400" y="3352800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6" idx="6"/>
            <a:endCxn id="7" idx="2"/>
          </p:cNvCxnSpPr>
          <p:nvPr/>
        </p:nvCxnSpPr>
        <p:spPr>
          <a:xfrm>
            <a:off x="3962400" y="4610100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6" idx="7"/>
            <a:endCxn id="5" idx="3"/>
          </p:cNvCxnSpPr>
          <p:nvPr/>
        </p:nvCxnSpPr>
        <p:spPr>
          <a:xfrm flipV="1">
            <a:off x="3873500" y="3275013"/>
            <a:ext cx="1397000" cy="1146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9" name="TextBox 19"/>
          <p:cNvSpPr txBox="1">
            <a:spLocks noChangeArrowheads="1"/>
          </p:cNvSpPr>
          <p:nvPr/>
        </p:nvSpPr>
        <p:spPr bwMode="auto">
          <a:xfrm>
            <a:off x="4343400" y="2722563"/>
            <a:ext cx="45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4110" name="TextBox 20"/>
          <p:cNvSpPr txBox="1">
            <a:spLocks noChangeArrowheads="1"/>
          </p:cNvSpPr>
          <p:nvPr/>
        </p:nvSpPr>
        <p:spPr bwMode="auto">
          <a:xfrm>
            <a:off x="3276600" y="366395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4111" name="TextBox 21"/>
          <p:cNvSpPr txBox="1">
            <a:spLocks noChangeArrowheads="1"/>
          </p:cNvSpPr>
          <p:nvPr/>
        </p:nvSpPr>
        <p:spPr bwMode="auto">
          <a:xfrm>
            <a:off x="4343400" y="3462338"/>
            <a:ext cx="45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4112" name="TextBox 22"/>
          <p:cNvSpPr txBox="1">
            <a:spLocks noChangeArrowheads="1"/>
          </p:cNvSpPr>
          <p:nvPr/>
        </p:nvSpPr>
        <p:spPr bwMode="auto">
          <a:xfrm>
            <a:off x="4343400" y="4600575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4113" name="TextBox 23"/>
          <p:cNvSpPr txBox="1">
            <a:spLocks noChangeArrowheads="1"/>
          </p:cNvSpPr>
          <p:nvPr/>
        </p:nvSpPr>
        <p:spPr bwMode="auto">
          <a:xfrm>
            <a:off x="5129213" y="366395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Minimum spanning tree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Black edges and nodes are in 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 T a minimum cost spanning tree?</a:t>
            </a: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Not spanning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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 is not in T.</a:t>
            </a:r>
          </a:p>
        </p:txBody>
      </p:sp>
      <p:sp>
        <p:nvSpPr>
          <p:cNvPr id="4" name="Oval 3"/>
          <p:cNvSpPr/>
          <p:nvPr/>
        </p:nvSpPr>
        <p:spPr>
          <a:xfrm>
            <a:off x="3352800" y="2819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5181600" y="2819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3352800" y="4343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5181600" y="4343400"/>
            <a:ext cx="609600" cy="5334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d</a:t>
            </a:r>
          </a:p>
        </p:txBody>
      </p:sp>
      <p:cxnSp>
        <p:nvCxnSpPr>
          <p:cNvPr id="11" name="Straight Connector 10"/>
          <p:cNvCxnSpPr>
            <a:stCxn id="0" idx="6"/>
            <a:endCxn id="0" idx="2"/>
          </p:cNvCxnSpPr>
          <p:nvPr/>
        </p:nvCxnSpPr>
        <p:spPr>
          <a:xfrm>
            <a:off x="3962400" y="3086100"/>
            <a:ext cx="1219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0" idx="4"/>
            <a:endCxn id="0" idx="0"/>
          </p:cNvCxnSpPr>
          <p:nvPr/>
        </p:nvCxnSpPr>
        <p:spPr>
          <a:xfrm>
            <a:off x="3657600" y="3352800"/>
            <a:ext cx="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0" idx="4"/>
            <a:endCxn id="7" idx="0"/>
          </p:cNvCxnSpPr>
          <p:nvPr/>
        </p:nvCxnSpPr>
        <p:spPr>
          <a:xfrm>
            <a:off x="5486400" y="3352800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0" idx="6"/>
            <a:endCxn id="7" idx="2"/>
          </p:cNvCxnSpPr>
          <p:nvPr/>
        </p:nvCxnSpPr>
        <p:spPr>
          <a:xfrm>
            <a:off x="3962400" y="4610100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0" idx="7"/>
            <a:endCxn id="0" idx="3"/>
          </p:cNvCxnSpPr>
          <p:nvPr/>
        </p:nvCxnSpPr>
        <p:spPr>
          <a:xfrm flipV="1">
            <a:off x="3873500" y="3275013"/>
            <a:ext cx="1397000" cy="1146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9" name="TextBox 19"/>
          <p:cNvSpPr txBox="1">
            <a:spLocks noChangeArrowheads="1"/>
          </p:cNvSpPr>
          <p:nvPr/>
        </p:nvSpPr>
        <p:spPr bwMode="auto">
          <a:xfrm>
            <a:off x="4343400" y="2722563"/>
            <a:ext cx="45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5140" name="TextBox 20"/>
          <p:cNvSpPr txBox="1">
            <a:spLocks noChangeArrowheads="1"/>
          </p:cNvSpPr>
          <p:nvPr/>
        </p:nvSpPr>
        <p:spPr bwMode="auto">
          <a:xfrm>
            <a:off x="3276600" y="366395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141" name="TextBox 21"/>
          <p:cNvSpPr txBox="1">
            <a:spLocks noChangeArrowheads="1"/>
          </p:cNvSpPr>
          <p:nvPr/>
        </p:nvSpPr>
        <p:spPr bwMode="auto">
          <a:xfrm>
            <a:off x="4343400" y="3462338"/>
            <a:ext cx="45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5142" name="TextBox 22"/>
          <p:cNvSpPr txBox="1">
            <a:spLocks noChangeArrowheads="1"/>
          </p:cNvSpPr>
          <p:nvPr/>
        </p:nvSpPr>
        <p:spPr bwMode="auto">
          <a:xfrm>
            <a:off x="4343400" y="4600575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5143" name="TextBox 23"/>
          <p:cNvSpPr txBox="1">
            <a:spLocks noChangeArrowheads="1"/>
          </p:cNvSpPr>
          <p:nvPr/>
        </p:nvSpPr>
        <p:spPr bwMode="auto">
          <a:xfrm>
            <a:off x="5129213" y="366395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Minimum spanning tree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Black edges and nodes are in 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 T a minimum cost spanning tree?</a:t>
            </a: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Not a tree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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has a cycle.</a:t>
            </a:r>
          </a:p>
        </p:txBody>
      </p:sp>
      <p:sp>
        <p:nvSpPr>
          <p:cNvPr id="4" name="Oval 3"/>
          <p:cNvSpPr/>
          <p:nvPr/>
        </p:nvSpPr>
        <p:spPr>
          <a:xfrm>
            <a:off x="3352800" y="2819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5181600" y="2819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3352800" y="4343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5181600" y="4343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d</a:t>
            </a:r>
          </a:p>
        </p:txBody>
      </p:sp>
      <p:cxnSp>
        <p:nvCxnSpPr>
          <p:cNvPr id="11" name="Straight Connector 10"/>
          <p:cNvCxnSpPr>
            <a:stCxn id="0" idx="6"/>
            <a:endCxn id="0" idx="2"/>
          </p:cNvCxnSpPr>
          <p:nvPr/>
        </p:nvCxnSpPr>
        <p:spPr>
          <a:xfrm>
            <a:off x="3962400" y="3086100"/>
            <a:ext cx="1219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0" idx="4"/>
            <a:endCxn id="0" idx="0"/>
          </p:cNvCxnSpPr>
          <p:nvPr/>
        </p:nvCxnSpPr>
        <p:spPr>
          <a:xfrm>
            <a:off x="3657600" y="3352800"/>
            <a:ext cx="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0" idx="4"/>
            <a:endCxn id="0" idx="0"/>
          </p:cNvCxnSpPr>
          <p:nvPr/>
        </p:nvCxnSpPr>
        <p:spPr>
          <a:xfrm>
            <a:off x="5486400" y="3352800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0" idx="6"/>
            <a:endCxn id="0" idx="2"/>
          </p:cNvCxnSpPr>
          <p:nvPr/>
        </p:nvCxnSpPr>
        <p:spPr>
          <a:xfrm>
            <a:off x="3962400" y="4610100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0" idx="7"/>
            <a:endCxn id="0" idx="3"/>
          </p:cNvCxnSpPr>
          <p:nvPr/>
        </p:nvCxnSpPr>
        <p:spPr>
          <a:xfrm flipV="1">
            <a:off x="3873500" y="3275013"/>
            <a:ext cx="1397000" cy="1146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5" name="TextBox 19"/>
          <p:cNvSpPr txBox="1">
            <a:spLocks noChangeArrowheads="1"/>
          </p:cNvSpPr>
          <p:nvPr/>
        </p:nvSpPr>
        <p:spPr bwMode="auto">
          <a:xfrm>
            <a:off x="4343400" y="2722563"/>
            <a:ext cx="45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6166" name="TextBox 20"/>
          <p:cNvSpPr txBox="1">
            <a:spLocks noChangeArrowheads="1"/>
          </p:cNvSpPr>
          <p:nvPr/>
        </p:nvSpPr>
        <p:spPr bwMode="auto">
          <a:xfrm>
            <a:off x="3276600" y="366395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6167" name="TextBox 21"/>
          <p:cNvSpPr txBox="1">
            <a:spLocks noChangeArrowheads="1"/>
          </p:cNvSpPr>
          <p:nvPr/>
        </p:nvSpPr>
        <p:spPr bwMode="auto">
          <a:xfrm>
            <a:off x="4343400" y="3462338"/>
            <a:ext cx="45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6168" name="TextBox 22"/>
          <p:cNvSpPr txBox="1">
            <a:spLocks noChangeArrowheads="1"/>
          </p:cNvSpPr>
          <p:nvPr/>
        </p:nvSpPr>
        <p:spPr bwMode="auto">
          <a:xfrm>
            <a:off x="4343400" y="4600575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6169" name="TextBox 23"/>
          <p:cNvSpPr txBox="1">
            <a:spLocks noChangeArrowheads="1"/>
          </p:cNvSpPr>
          <p:nvPr/>
        </p:nvSpPr>
        <p:spPr bwMode="auto">
          <a:xfrm>
            <a:off x="5129213" y="366395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4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5495925" y="3370263"/>
            <a:ext cx="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971925" y="4627563"/>
            <a:ext cx="1219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Minimum spanning tree (MST)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Black edges and nodes are in 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Is T a minimum cost spanning tree?</a:t>
            </a: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Not minimum cost 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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can swap edges 4 and 2.</a:t>
            </a:r>
          </a:p>
        </p:txBody>
      </p:sp>
      <p:sp>
        <p:nvSpPr>
          <p:cNvPr id="4" name="Oval 3"/>
          <p:cNvSpPr/>
          <p:nvPr/>
        </p:nvSpPr>
        <p:spPr>
          <a:xfrm>
            <a:off x="3352800" y="2819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5181600" y="2819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3352800" y="4343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5181600" y="4343400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d</a:t>
            </a:r>
          </a:p>
        </p:txBody>
      </p:sp>
      <p:cxnSp>
        <p:nvCxnSpPr>
          <p:cNvPr id="11" name="Straight Connector 10"/>
          <p:cNvCxnSpPr>
            <a:stCxn id="0" idx="6"/>
            <a:endCxn id="0" idx="2"/>
          </p:cNvCxnSpPr>
          <p:nvPr/>
        </p:nvCxnSpPr>
        <p:spPr>
          <a:xfrm>
            <a:off x="3962400" y="3086100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0" idx="4"/>
            <a:endCxn id="0" idx="0"/>
          </p:cNvCxnSpPr>
          <p:nvPr/>
        </p:nvCxnSpPr>
        <p:spPr>
          <a:xfrm>
            <a:off x="3657600" y="3352800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0" idx="4"/>
            <a:endCxn id="0" idx="0"/>
          </p:cNvCxnSpPr>
          <p:nvPr/>
        </p:nvCxnSpPr>
        <p:spPr>
          <a:xfrm>
            <a:off x="5486400" y="3352800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0" idx="6"/>
            <a:endCxn id="0" idx="2"/>
          </p:cNvCxnSpPr>
          <p:nvPr/>
        </p:nvCxnSpPr>
        <p:spPr>
          <a:xfrm>
            <a:off x="3962400" y="4610100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0" idx="7"/>
            <a:endCxn id="0" idx="3"/>
          </p:cNvCxnSpPr>
          <p:nvPr/>
        </p:nvCxnSpPr>
        <p:spPr>
          <a:xfrm flipV="1">
            <a:off x="3873500" y="3275013"/>
            <a:ext cx="1397000" cy="1146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9" name="TextBox 19"/>
          <p:cNvSpPr txBox="1">
            <a:spLocks noChangeArrowheads="1"/>
          </p:cNvSpPr>
          <p:nvPr/>
        </p:nvSpPr>
        <p:spPr bwMode="auto">
          <a:xfrm>
            <a:off x="4343400" y="2722563"/>
            <a:ext cx="45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7190" name="TextBox 20"/>
          <p:cNvSpPr txBox="1">
            <a:spLocks noChangeArrowheads="1"/>
          </p:cNvSpPr>
          <p:nvPr/>
        </p:nvSpPr>
        <p:spPr bwMode="auto">
          <a:xfrm>
            <a:off x="3276600" y="366395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7191" name="TextBox 21"/>
          <p:cNvSpPr txBox="1">
            <a:spLocks noChangeArrowheads="1"/>
          </p:cNvSpPr>
          <p:nvPr/>
        </p:nvSpPr>
        <p:spPr bwMode="auto">
          <a:xfrm>
            <a:off x="4343400" y="3462338"/>
            <a:ext cx="45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7192" name="TextBox 22"/>
          <p:cNvSpPr txBox="1">
            <a:spLocks noChangeArrowheads="1"/>
          </p:cNvSpPr>
          <p:nvPr/>
        </p:nvSpPr>
        <p:spPr bwMode="auto">
          <a:xfrm>
            <a:off x="4343400" y="4600575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7193" name="TextBox 23"/>
          <p:cNvSpPr txBox="1">
            <a:spLocks noChangeArrowheads="1"/>
          </p:cNvSpPr>
          <p:nvPr/>
        </p:nvSpPr>
        <p:spPr bwMode="auto">
          <a:xfrm>
            <a:off x="5129213" y="366395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4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3971925" y="3103563"/>
            <a:ext cx="1219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5495925" y="3370263"/>
            <a:ext cx="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971925" y="4627563"/>
            <a:ext cx="1219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Minimum spanning tree (MST)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620000" cy="4373563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Which edges form a MST?</a:t>
            </a:r>
          </a:p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Minimum spanning tree is 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not</a:t>
            </a: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unique</a:t>
            </a:r>
          </a:p>
          <a:p>
            <a:pPr marL="533400" indent="-533400">
              <a:lnSpc>
                <a:spcPct val="13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Number of edges in a MST:   </a:t>
            </a:r>
            <a:r>
              <a:rPr lang="en-US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|V| - 1</a:t>
            </a:r>
          </a:p>
          <a:p>
            <a:endParaRPr lang="en-US" sz="28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1828800" y="2811117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2811117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4335117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3657600" y="4335117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d</a:t>
            </a:r>
          </a:p>
        </p:txBody>
      </p:sp>
      <p:cxnSp>
        <p:nvCxnSpPr>
          <p:cNvPr id="11" name="Straight Connector 10"/>
          <p:cNvCxnSpPr>
            <a:stCxn id="0" idx="6"/>
            <a:endCxn id="0" idx="2"/>
          </p:cNvCxnSpPr>
          <p:nvPr/>
        </p:nvCxnSpPr>
        <p:spPr>
          <a:xfrm>
            <a:off x="2438400" y="3078163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0" idx="4"/>
            <a:endCxn id="0" idx="0"/>
          </p:cNvCxnSpPr>
          <p:nvPr/>
        </p:nvCxnSpPr>
        <p:spPr>
          <a:xfrm>
            <a:off x="2133600" y="3344863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0" idx="4"/>
            <a:endCxn id="0" idx="0"/>
          </p:cNvCxnSpPr>
          <p:nvPr/>
        </p:nvCxnSpPr>
        <p:spPr>
          <a:xfrm>
            <a:off x="3962400" y="3344863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0" idx="6"/>
            <a:endCxn id="0" idx="2"/>
          </p:cNvCxnSpPr>
          <p:nvPr/>
        </p:nvCxnSpPr>
        <p:spPr>
          <a:xfrm>
            <a:off x="2438400" y="4602163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0" idx="7"/>
            <a:endCxn id="0" idx="3"/>
          </p:cNvCxnSpPr>
          <p:nvPr/>
        </p:nvCxnSpPr>
        <p:spPr>
          <a:xfrm flipV="1">
            <a:off x="2349500" y="3267075"/>
            <a:ext cx="1397000" cy="1146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13" name="TextBox 19"/>
          <p:cNvSpPr txBox="1">
            <a:spLocks noChangeArrowheads="1"/>
          </p:cNvSpPr>
          <p:nvPr/>
        </p:nvSpPr>
        <p:spPr bwMode="auto">
          <a:xfrm>
            <a:off x="2819400" y="2714625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8214" name="TextBox 20"/>
          <p:cNvSpPr txBox="1">
            <a:spLocks noChangeArrowheads="1"/>
          </p:cNvSpPr>
          <p:nvPr/>
        </p:nvSpPr>
        <p:spPr bwMode="auto">
          <a:xfrm>
            <a:off x="1752600" y="3654425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8215" name="TextBox 21"/>
          <p:cNvSpPr txBox="1">
            <a:spLocks noChangeArrowheads="1"/>
          </p:cNvSpPr>
          <p:nvPr/>
        </p:nvSpPr>
        <p:spPr bwMode="auto">
          <a:xfrm>
            <a:off x="2819400" y="345440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8216" name="TextBox 22"/>
          <p:cNvSpPr txBox="1">
            <a:spLocks noChangeArrowheads="1"/>
          </p:cNvSpPr>
          <p:nvPr/>
        </p:nvSpPr>
        <p:spPr bwMode="auto">
          <a:xfrm>
            <a:off x="2819400" y="4592638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8217" name="TextBox 23"/>
          <p:cNvSpPr txBox="1">
            <a:spLocks noChangeArrowheads="1"/>
          </p:cNvSpPr>
          <p:nvPr/>
        </p:nvSpPr>
        <p:spPr bwMode="auto">
          <a:xfrm>
            <a:off x="3605213" y="3654425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2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438400" y="3086100"/>
            <a:ext cx="1219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438400" y="4610100"/>
            <a:ext cx="1219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962400" y="3344863"/>
            <a:ext cx="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4800600" y="2811117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6629400" y="2811117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b</a:t>
            </a:r>
          </a:p>
        </p:txBody>
      </p:sp>
      <p:sp>
        <p:nvSpPr>
          <p:cNvPr id="30" name="Oval 29"/>
          <p:cNvSpPr/>
          <p:nvPr/>
        </p:nvSpPr>
        <p:spPr>
          <a:xfrm>
            <a:off x="4800600" y="4335117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c</a:t>
            </a:r>
          </a:p>
        </p:txBody>
      </p:sp>
      <p:sp>
        <p:nvSpPr>
          <p:cNvPr id="31" name="Oval 30"/>
          <p:cNvSpPr/>
          <p:nvPr/>
        </p:nvSpPr>
        <p:spPr>
          <a:xfrm>
            <a:off x="6629400" y="4335117"/>
            <a:ext cx="609600" cy="53340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/>
              <a:t>d</a:t>
            </a:r>
          </a:p>
        </p:txBody>
      </p:sp>
      <p:cxnSp>
        <p:nvCxnSpPr>
          <p:cNvPr id="32" name="Straight Connector 31"/>
          <p:cNvCxnSpPr>
            <a:stCxn id="0" idx="6"/>
            <a:endCxn id="0" idx="2"/>
          </p:cNvCxnSpPr>
          <p:nvPr/>
        </p:nvCxnSpPr>
        <p:spPr>
          <a:xfrm>
            <a:off x="5410200" y="3078163"/>
            <a:ext cx="1219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0" idx="4"/>
            <a:endCxn id="0" idx="0"/>
          </p:cNvCxnSpPr>
          <p:nvPr/>
        </p:nvCxnSpPr>
        <p:spPr>
          <a:xfrm>
            <a:off x="5105400" y="3344863"/>
            <a:ext cx="0" cy="99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0" idx="4"/>
            <a:endCxn id="0" idx="0"/>
          </p:cNvCxnSpPr>
          <p:nvPr/>
        </p:nvCxnSpPr>
        <p:spPr>
          <a:xfrm>
            <a:off x="6934200" y="3344863"/>
            <a:ext cx="0" cy="9906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0" idx="6"/>
            <a:endCxn id="0" idx="2"/>
          </p:cNvCxnSpPr>
          <p:nvPr/>
        </p:nvCxnSpPr>
        <p:spPr>
          <a:xfrm>
            <a:off x="5410200" y="4602163"/>
            <a:ext cx="1219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0" idx="7"/>
            <a:endCxn id="0" idx="3"/>
          </p:cNvCxnSpPr>
          <p:nvPr/>
        </p:nvCxnSpPr>
        <p:spPr>
          <a:xfrm flipV="1">
            <a:off x="5321300" y="3267075"/>
            <a:ext cx="1397000" cy="11461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5791200" y="2714625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724400" y="3654425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5791200" y="3454400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5791200" y="4592638"/>
            <a:ext cx="4572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6577013" y="3654425"/>
            <a:ext cx="457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 of MST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220788"/>
            <a:ext cx="8178800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Any time you want to visit all vertices in a graph at minimum cost</a:t>
            </a:r>
          </a:p>
          <a:p>
            <a:pPr>
              <a:lnSpc>
                <a:spcPct val="90000"/>
              </a:lnSpc>
            </a:pPr>
            <a:endParaRPr lang="en-US" altLang="zh-TW" sz="2400" dirty="0">
              <a:solidFill>
                <a:schemeClr val="tx1">
                  <a:lumMod val="95000"/>
                  <a:lumOff val="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 the design of electronic circuitry, it is often necessary to make a set of pins electrically equivalent by wiring them together</a:t>
            </a:r>
          </a:p>
          <a:p>
            <a:pPr lvl="1">
              <a:lnSpc>
                <a:spcPct val="90000"/>
              </a:lnSpc>
            </a:pPr>
            <a:endParaRPr lang="en-US" altLang="zh-TW" sz="2400" dirty="0">
              <a:solidFill>
                <a:schemeClr val="tx1">
                  <a:lumMod val="95000"/>
                  <a:lumOff val="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Find the least expensive way to connect a set of cities, terminals, computers, etc.</a:t>
            </a:r>
          </a:p>
          <a:p>
            <a:pPr lvl="3">
              <a:lnSpc>
                <a:spcPct val="90000"/>
              </a:lnSpc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Provides a heuristic for traveling salesman problems. The optimum traveling salesman tour is at most twice the length of the minimum spanning tree (</a:t>
            </a:r>
            <a:r>
              <a:rPr lang="en-US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why??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 bldLvl="2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058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sz="3600" dirty="0">
                <a:ea typeface="PMingLiU" pitchFamily="18" charset="-120"/>
              </a:rPr>
              <a:t>Growing a MST(Generic Algorithm)</a:t>
            </a:r>
          </a:p>
        </p:txBody>
      </p:sp>
      <p:sp>
        <p:nvSpPr>
          <p:cNvPr id="5125" name="Text Box 4"/>
          <p:cNvSpPr txBox="1">
            <a:spLocks noChangeArrowheads="1"/>
          </p:cNvSpPr>
          <p:nvPr/>
        </p:nvSpPr>
        <p:spPr bwMode="auto">
          <a:xfrm>
            <a:off x="685800" y="1295400"/>
            <a:ext cx="8264525" cy="38900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TW" sz="2800" dirty="0">
                <a:ea typeface="PMingLiU" pitchFamily="18" charset="-120"/>
              </a:rPr>
              <a:t>GENERIC_MST(G, w)</a:t>
            </a:r>
          </a:p>
          <a:p>
            <a:pPr>
              <a:lnSpc>
                <a:spcPct val="150000"/>
              </a:lnSpc>
            </a:pPr>
            <a:r>
              <a:rPr lang="en-US" altLang="zh-TW" sz="2800" dirty="0">
                <a:ea typeface="PMingLiU" pitchFamily="18" charset="-120"/>
              </a:rPr>
              <a:t>1	A:={ } --</a:t>
            </a:r>
            <a:r>
              <a:rPr lang="en-US" altLang="zh-TW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altLang="zh-TW" sz="28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 is a subset of MST</a:t>
            </a:r>
            <a:endParaRPr lang="en-US" altLang="zh-TW" sz="2800" dirty="0">
              <a:solidFill>
                <a:srgbClr val="C00000"/>
              </a:solidFill>
              <a:ea typeface="PMingLiU" pitchFamily="18" charset="-120"/>
            </a:endParaRPr>
          </a:p>
          <a:p>
            <a:pPr algn="l">
              <a:lnSpc>
                <a:spcPct val="150000"/>
              </a:lnSpc>
            </a:pPr>
            <a:r>
              <a:rPr lang="en-US" altLang="zh-TW" sz="2800" dirty="0">
                <a:ea typeface="PMingLiU" pitchFamily="18" charset="-120"/>
              </a:rPr>
              <a:t>2	while </a:t>
            </a:r>
            <a:r>
              <a:rPr lang="en-US" altLang="zh-TW" sz="2800" dirty="0">
                <a:solidFill>
                  <a:srgbClr val="0070C0"/>
                </a:solidFill>
                <a:ea typeface="PMingLiU" pitchFamily="18" charset="-120"/>
              </a:rPr>
              <a:t>A</a:t>
            </a:r>
            <a:r>
              <a:rPr lang="en-US" altLang="zh-TW" sz="2800" dirty="0">
                <a:ea typeface="PMingLiU" pitchFamily="18" charset="-120"/>
              </a:rPr>
              <a:t> does not form </a:t>
            </a:r>
            <a:r>
              <a:rPr lang="en-US" altLang="zh-TW" sz="2800" dirty="0">
                <a:solidFill>
                  <a:srgbClr val="0070C0"/>
                </a:solidFill>
                <a:ea typeface="PMingLiU" pitchFamily="18" charset="-120"/>
              </a:rPr>
              <a:t>a spanning tree </a:t>
            </a:r>
            <a:r>
              <a:rPr lang="en-US" altLang="zh-TW" sz="2800" dirty="0">
                <a:ea typeface="PMingLiU" pitchFamily="18" charset="-120"/>
              </a:rPr>
              <a:t>do</a:t>
            </a:r>
          </a:p>
          <a:p>
            <a:pPr algn="l">
              <a:lnSpc>
                <a:spcPct val="150000"/>
              </a:lnSpc>
            </a:pPr>
            <a:r>
              <a:rPr lang="en-US" altLang="zh-TW" sz="2800" dirty="0">
                <a:ea typeface="PMingLiU" pitchFamily="18" charset="-120"/>
              </a:rPr>
              <a:t>3		find an edge (</a:t>
            </a:r>
            <a:r>
              <a:rPr lang="en-US" altLang="zh-TW" sz="2800" dirty="0" err="1">
                <a:ea typeface="PMingLiU" pitchFamily="18" charset="-120"/>
              </a:rPr>
              <a:t>u,v</a:t>
            </a:r>
            <a:r>
              <a:rPr lang="en-US" altLang="zh-TW" sz="2800" dirty="0">
                <a:ea typeface="PMingLiU" pitchFamily="18" charset="-120"/>
              </a:rPr>
              <a:t>) that is </a:t>
            </a:r>
            <a:r>
              <a:rPr lang="en-US" altLang="zh-TW" sz="2800" dirty="0">
                <a:solidFill>
                  <a:srgbClr val="0070C0"/>
                </a:solidFill>
                <a:ea typeface="PMingLiU" pitchFamily="18" charset="-120"/>
              </a:rPr>
              <a:t>safe for A</a:t>
            </a:r>
          </a:p>
          <a:p>
            <a:pPr algn="l">
              <a:lnSpc>
                <a:spcPct val="150000"/>
              </a:lnSpc>
            </a:pPr>
            <a:r>
              <a:rPr lang="en-US" altLang="zh-TW" sz="2800" dirty="0">
                <a:ea typeface="PMingLiU" pitchFamily="18" charset="-120"/>
              </a:rPr>
              <a:t>4		A:=A</a:t>
            </a:r>
            <a:r>
              <a:rPr lang="en-US" altLang="zh-TW" sz="2800" dirty="0">
                <a:latin typeface="SimSun" pitchFamily="2" charset="-122"/>
                <a:ea typeface="SimSun" pitchFamily="2" charset="-122"/>
              </a:rPr>
              <a:t>∪</a:t>
            </a:r>
            <a:r>
              <a:rPr lang="en-US" altLang="zh-TW" sz="2800" dirty="0">
                <a:ea typeface="PMingLiU" pitchFamily="18" charset="-120"/>
              </a:rPr>
              <a:t>{(</a:t>
            </a:r>
            <a:r>
              <a:rPr lang="en-US" altLang="zh-TW" sz="2800" dirty="0" err="1">
                <a:ea typeface="PMingLiU" pitchFamily="18" charset="-120"/>
              </a:rPr>
              <a:t>u,v</a:t>
            </a:r>
            <a:r>
              <a:rPr lang="en-US" altLang="zh-TW" sz="2800" dirty="0">
                <a:ea typeface="PMingLiU" pitchFamily="18" charset="-120"/>
              </a:rPr>
              <a:t>)}</a:t>
            </a:r>
          </a:p>
          <a:p>
            <a:pPr algn="l">
              <a:lnSpc>
                <a:spcPct val="150000"/>
              </a:lnSpc>
            </a:pPr>
            <a:r>
              <a:rPr lang="en-US" altLang="zh-TW" sz="2800" dirty="0">
                <a:ea typeface="PMingLiU" pitchFamily="18" charset="-120"/>
              </a:rPr>
              <a:t>5	return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Text Box 65"/>
          <p:cNvSpPr txBox="1">
            <a:spLocks noChangeArrowheads="1"/>
          </p:cNvSpPr>
          <p:nvPr/>
        </p:nvSpPr>
        <p:spPr bwMode="auto">
          <a:xfrm>
            <a:off x="1514476" y="2851150"/>
            <a:ext cx="8334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400" b="1" dirty="0">
                <a:solidFill>
                  <a:srgbClr val="C00000"/>
                </a:solidFill>
                <a:ea typeface="PMingLiU" pitchFamily="18" charset="-120"/>
              </a:rPr>
              <a:t>V-S</a:t>
            </a:r>
            <a:r>
              <a:rPr lang="en-US" altLang="zh-TW" sz="2400" b="1" dirty="0">
                <a:solidFill>
                  <a:srgbClr val="C00000"/>
                </a:solidFill>
                <a:ea typeface="PMingLiU" pitchFamily="18" charset="-120"/>
                <a:cs typeface="Times New Roman" pitchFamily="18" charset="0"/>
              </a:rPr>
              <a:t>↓</a:t>
            </a:r>
          </a:p>
        </p:txBody>
      </p:sp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2449513" y="882649"/>
            <a:ext cx="4651374" cy="2622551"/>
            <a:chOff x="657" y="965"/>
            <a:chExt cx="2930" cy="1652"/>
          </a:xfrm>
        </p:grpSpPr>
        <p:grpSp>
          <p:nvGrpSpPr>
            <p:cNvPr id="4" name="Group 5"/>
            <p:cNvGrpSpPr>
              <a:grpSpLocks/>
            </p:cNvGrpSpPr>
            <p:nvPr/>
          </p:nvGrpSpPr>
          <p:grpSpPr bwMode="auto">
            <a:xfrm>
              <a:off x="657" y="1692"/>
              <a:ext cx="220" cy="291"/>
              <a:chOff x="2368" y="1750"/>
              <a:chExt cx="220" cy="291"/>
            </a:xfrm>
          </p:grpSpPr>
          <p:sp>
            <p:nvSpPr>
              <p:cNvPr id="7232" name="Text Box 6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2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a</a:t>
                </a:r>
              </a:p>
            </p:txBody>
          </p:sp>
          <p:sp>
            <p:nvSpPr>
              <p:cNvPr id="7233" name="Oval 7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EG" sz="2400" b="1"/>
              </a:p>
            </p:txBody>
          </p:sp>
        </p:grpSp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1156" y="1193"/>
              <a:ext cx="236" cy="291"/>
              <a:chOff x="2368" y="1750"/>
              <a:chExt cx="236" cy="291"/>
            </a:xfrm>
          </p:grpSpPr>
          <p:sp>
            <p:nvSpPr>
              <p:cNvPr id="7230" name="Text Box 9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b</a:t>
                </a:r>
              </a:p>
            </p:txBody>
          </p:sp>
          <p:sp>
            <p:nvSpPr>
              <p:cNvPr id="7231" name="Oval 10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EG" sz="2400" b="1"/>
              </a:p>
            </p:txBody>
          </p:sp>
        </p:grpSp>
        <p:grpSp>
          <p:nvGrpSpPr>
            <p:cNvPr id="6" name="Group 11"/>
            <p:cNvGrpSpPr>
              <a:grpSpLocks/>
            </p:cNvGrpSpPr>
            <p:nvPr/>
          </p:nvGrpSpPr>
          <p:grpSpPr bwMode="auto">
            <a:xfrm>
              <a:off x="1156" y="2182"/>
              <a:ext cx="233" cy="291"/>
              <a:chOff x="2368" y="1750"/>
              <a:chExt cx="233" cy="291"/>
            </a:xfrm>
          </p:grpSpPr>
          <p:sp>
            <p:nvSpPr>
              <p:cNvPr id="7228" name="Text Box 12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3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h</a:t>
                </a:r>
              </a:p>
            </p:txBody>
          </p:sp>
          <p:sp>
            <p:nvSpPr>
              <p:cNvPr id="7229" name="Oval 13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EG" sz="2400" b="1"/>
              </a:p>
            </p:txBody>
          </p:sp>
        </p:grpSp>
        <p:grpSp>
          <p:nvGrpSpPr>
            <p:cNvPr id="7" name="Group 14"/>
            <p:cNvGrpSpPr>
              <a:grpSpLocks/>
            </p:cNvGrpSpPr>
            <p:nvPr/>
          </p:nvGrpSpPr>
          <p:grpSpPr bwMode="auto">
            <a:xfrm>
              <a:off x="2006" y="1162"/>
              <a:ext cx="209" cy="291"/>
              <a:chOff x="2368" y="1750"/>
              <a:chExt cx="209" cy="291"/>
            </a:xfrm>
          </p:grpSpPr>
          <p:sp>
            <p:nvSpPr>
              <p:cNvPr id="7226" name="Text Box 15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0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c</a:t>
                </a:r>
              </a:p>
            </p:txBody>
          </p:sp>
          <p:sp>
            <p:nvSpPr>
              <p:cNvPr id="7227" name="Oval 16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EG" sz="2400" b="1"/>
              </a:p>
            </p:txBody>
          </p:sp>
        </p:grpSp>
        <p:grpSp>
          <p:nvGrpSpPr>
            <p:cNvPr id="8" name="Group 17"/>
            <p:cNvGrpSpPr>
              <a:grpSpLocks/>
            </p:cNvGrpSpPr>
            <p:nvPr/>
          </p:nvGrpSpPr>
          <p:grpSpPr bwMode="auto">
            <a:xfrm>
              <a:off x="2820" y="1162"/>
              <a:ext cx="236" cy="291"/>
              <a:chOff x="2368" y="1750"/>
              <a:chExt cx="236" cy="291"/>
            </a:xfrm>
          </p:grpSpPr>
          <p:sp>
            <p:nvSpPr>
              <p:cNvPr id="7224" name="Text Box 18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d</a:t>
                </a:r>
              </a:p>
            </p:txBody>
          </p:sp>
          <p:sp>
            <p:nvSpPr>
              <p:cNvPr id="7225" name="Oval 19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EG" sz="2400" b="1"/>
              </a:p>
            </p:txBody>
          </p:sp>
        </p:grpSp>
        <p:grpSp>
          <p:nvGrpSpPr>
            <p:cNvPr id="9" name="Group 20"/>
            <p:cNvGrpSpPr>
              <a:grpSpLocks/>
            </p:cNvGrpSpPr>
            <p:nvPr/>
          </p:nvGrpSpPr>
          <p:grpSpPr bwMode="auto">
            <a:xfrm>
              <a:off x="3366" y="1661"/>
              <a:ext cx="221" cy="291"/>
              <a:chOff x="2368" y="1750"/>
              <a:chExt cx="221" cy="291"/>
            </a:xfrm>
          </p:grpSpPr>
          <p:sp>
            <p:nvSpPr>
              <p:cNvPr id="7222" name="Text Box 21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2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e</a:t>
                </a:r>
              </a:p>
            </p:txBody>
          </p:sp>
          <p:sp>
            <p:nvSpPr>
              <p:cNvPr id="7223" name="Oval 22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EG" sz="2400" b="1"/>
              </a:p>
            </p:txBody>
          </p:sp>
        </p:grpSp>
        <p:grpSp>
          <p:nvGrpSpPr>
            <p:cNvPr id="10" name="Group 23"/>
            <p:cNvGrpSpPr>
              <a:grpSpLocks/>
            </p:cNvGrpSpPr>
            <p:nvPr/>
          </p:nvGrpSpPr>
          <p:grpSpPr bwMode="auto">
            <a:xfrm>
              <a:off x="2822" y="2182"/>
              <a:ext cx="194" cy="291"/>
              <a:chOff x="2368" y="1750"/>
              <a:chExt cx="194" cy="291"/>
            </a:xfrm>
          </p:grpSpPr>
          <p:sp>
            <p:nvSpPr>
              <p:cNvPr id="7220" name="Text Box 24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19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f</a:t>
                </a:r>
              </a:p>
            </p:txBody>
          </p:sp>
          <p:sp>
            <p:nvSpPr>
              <p:cNvPr id="7221" name="Oval 25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EG" sz="2400" b="1"/>
              </a:p>
            </p:txBody>
          </p:sp>
        </p:grpSp>
        <p:grpSp>
          <p:nvGrpSpPr>
            <p:cNvPr id="11" name="Group 26"/>
            <p:cNvGrpSpPr>
              <a:grpSpLocks/>
            </p:cNvGrpSpPr>
            <p:nvPr/>
          </p:nvGrpSpPr>
          <p:grpSpPr bwMode="auto">
            <a:xfrm>
              <a:off x="2004" y="2182"/>
              <a:ext cx="236" cy="291"/>
              <a:chOff x="2368" y="1750"/>
              <a:chExt cx="236" cy="291"/>
            </a:xfrm>
          </p:grpSpPr>
          <p:sp>
            <p:nvSpPr>
              <p:cNvPr id="7218" name="Text Box 27"/>
              <p:cNvSpPr txBox="1">
                <a:spLocks noChangeArrowheads="1"/>
              </p:cNvSpPr>
              <p:nvPr/>
            </p:nvSpPr>
            <p:spPr bwMode="auto">
              <a:xfrm>
                <a:off x="2368" y="1750"/>
                <a:ext cx="2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g</a:t>
                </a:r>
              </a:p>
            </p:txBody>
          </p:sp>
          <p:sp>
            <p:nvSpPr>
              <p:cNvPr id="7219" name="Oval 28"/>
              <p:cNvSpPr>
                <a:spLocks noChangeArrowheads="1"/>
              </p:cNvSpPr>
              <p:nvPr/>
            </p:nvSpPr>
            <p:spPr bwMode="auto">
              <a:xfrm>
                <a:off x="2381" y="1797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EG" sz="2400" b="1"/>
              </a:p>
            </p:txBody>
          </p:sp>
        </p:grpSp>
        <p:grpSp>
          <p:nvGrpSpPr>
            <p:cNvPr id="12" name="Group 29"/>
            <p:cNvGrpSpPr>
              <a:grpSpLocks/>
            </p:cNvGrpSpPr>
            <p:nvPr/>
          </p:nvGrpSpPr>
          <p:grpSpPr bwMode="auto">
            <a:xfrm>
              <a:off x="1565" y="1706"/>
              <a:ext cx="182" cy="291"/>
              <a:chOff x="1519" y="1706"/>
              <a:chExt cx="182" cy="291"/>
            </a:xfrm>
          </p:grpSpPr>
          <p:sp>
            <p:nvSpPr>
              <p:cNvPr id="7216" name="Text Box 30"/>
              <p:cNvSpPr txBox="1">
                <a:spLocks noChangeArrowheads="1"/>
              </p:cNvSpPr>
              <p:nvPr/>
            </p:nvSpPr>
            <p:spPr bwMode="auto">
              <a:xfrm>
                <a:off x="1519" y="1706"/>
                <a:ext cx="160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i</a:t>
                </a:r>
              </a:p>
            </p:txBody>
          </p:sp>
          <p:sp>
            <p:nvSpPr>
              <p:cNvPr id="7217" name="Oval 31"/>
              <p:cNvSpPr>
                <a:spLocks noChangeArrowheads="1"/>
              </p:cNvSpPr>
              <p:nvPr/>
            </p:nvSpPr>
            <p:spPr bwMode="auto">
              <a:xfrm>
                <a:off x="1520" y="1753"/>
                <a:ext cx="181" cy="18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ar-EG" sz="2400" b="1"/>
              </a:p>
            </p:txBody>
          </p:sp>
        </p:grpSp>
        <p:sp>
          <p:nvSpPr>
            <p:cNvPr id="7188" name="Line 32"/>
            <p:cNvSpPr>
              <a:spLocks noChangeShapeType="1"/>
            </p:cNvSpPr>
            <p:nvPr/>
          </p:nvSpPr>
          <p:spPr bwMode="auto">
            <a:xfrm flipV="1">
              <a:off x="793" y="1389"/>
              <a:ext cx="409" cy="3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189" name="Line 33"/>
            <p:cNvSpPr>
              <a:spLocks noChangeShapeType="1"/>
            </p:cNvSpPr>
            <p:nvPr/>
          </p:nvSpPr>
          <p:spPr bwMode="auto">
            <a:xfrm>
              <a:off x="793" y="1933"/>
              <a:ext cx="409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190" name="Line 34"/>
            <p:cNvSpPr>
              <a:spLocks noChangeShapeType="1"/>
            </p:cNvSpPr>
            <p:nvPr/>
          </p:nvSpPr>
          <p:spPr bwMode="auto">
            <a:xfrm>
              <a:off x="1247" y="1434"/>
              <a:ext cx="0" cy="8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192" name="Line 36"/>
            <p:cNvSpPr>
              <a:spLocks noChangeShapeType="1"/>
            </p:cNvSpPr>
            <p:nvPr/>
          </p:nvSpPr>
          <p:spPr bwMode="auto">
            <a:xfrm>
              <a:off x="1338" y="2341"/>
              <a:ext cx="680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193" name="Line 37"/>
            <p:cNvSpPr>
              <a:spLocks noChangeShapeType="1"/>
            </p:cNvSpPr>
            <p:nvPr/>
          </p:nvSpPr>
          <p:spPr bwMode="auto">
            <a:xfrm>
              <a:off x="2200" y="2341"/>
              <a:ext cx="635" cy="0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194" name="Line 38"/>
            <p:cNvSpPr>
              <a:spLocks noChangeShapeType="1"/>
            </p:cNvSpPr>
            <p:nvPr/>
          </p:nvSpPr>
          <p:spPr bwMode="auto">
            <a:xfrm>
              <a:off x="2154" y="1389"/>
              <a:ext cx="681" cy="862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195" name="Line 39"/>
            <p:cNvSpPr>
              <a:spLocks noChangeShapeType="1"/>
            </p:cNvSpPr>
            <p:nvPr/>
          </p:nvSpPr>
          <p:spPr bwMode="auto">
            <a:xfrm>
              <a:off x="2200" y="1298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197" name="Line 41"/>
            <p:cNvSpPr>
              <a:spLocks noChangeShapeType="1"/>
            </p:cNvSpPr>
            <p:nvPr/>
          </p:nvSpPr>
          <p:spPr bwMode="auto">
            <a:xfrm>
              <a:off x="3016" y="1344"/>
              <a:ext cx="408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198" name="Line 42"/>
            <p:cNvSpPr>
              <a:spLocks noChangeShapeType="1"/>
            </p:cNvSpPr>
            <p:nvPr/>
          </p:nvSpPr>
          <p:spPr bwMode="auto">
            <a:xfrm flipV="1">
              <a:off x="3016" y="1888"/>
              <a:ext cx="408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199" name="Line 43"/>
            <p:cNvSpPr>
              <a:spLocks noChangeShapeType="1"/>
            </p:cNvSpPr>
            <p:nvPr/>
          </p:nvSpPr>
          <p:spPr bwMode="auto">
            <a:xfrm>
              <a:off x="1746" y="1933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200" name="Line 44"/>
            <p:cNvSpPr>
              <a:spLocks noChangeShapeType="1"/>
            </p:cNvSpPr>
            <p:nvPr/>
          </p:nvSpPr>
          <p:spPr bwMode="auto">
            <a:xfrm flipV="1">
              <a:off x="1292" y="1933"/>
              <a:ext cx="27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201" name="Line 45"/>
            <p:cNvSpPr>
              <a:spLocks noChangeShapeType="1"/>
            </p:cNvSpPr>
            <p:nvPr/>
          </p:nvSpPr>
          <p:spPr bwMode="auto">
            <a:xfrm flipV="1">
              <a:off x="1701" y="1389"/>
              <a:ext cx="317" cy="363"/>
            </a:xfrm>
            <a:prstGeom prst="line">
              <a:avLst/>
            </a:prstGeom>
            <a:noFill/>
            <a:ln w="76200">
              <a:solidFill>
                <a:srgbClr val="3366FF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  <p:sp>
          <p:nvSpPr>
            <p:cNvPr id="7202" name="Text Box 46"/>
            <p:cNvSpPr txBox="1">
              <a:spLocks noChangeArrowheads="1"/>
            </p:cNvSpPr>
            <p:nvPr/>
          </p:nvSpPr>
          <p:spPr bwMode="auto">
            <a:xfrm>
              <a:off x="793" y="1298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4</a:t>
              </a:r>
            </a:p>
          </p:txBody>
        </p:sp>
        <p:sp>
          <p:nvSpPr>
            <p:cNvPr id="7204" name="Text Box 48"/>
            <p:cNvSpPr txBox="1">
              <a:spLocks noChangeArrowheads="1"/>
            </p:cNvSpPr>
            <p:nvPr/>
          </p:nvSpPr>
          <p:spPr bwMode="auto">
            <a:xfrm>
              <a:off x="2396" y="96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7</a:t>
              </a:r>
            </a:p>
          </p:txBody>
        </p:sp>
        <p:sp>
          <p:nvSpPr>
            <p:cNvPr id="7205" name="Text Box 49"/>
            <p:cNvSpPr txBox="1">
              <a:spLocks noChangeArrowheads="1"/>
            </p:cNvSpPr>
            <p:nvPr/>
          </p:nvSpPr>
          <p:spPr bwMode="auto">
            <a:xfrm>
              <a:off x="3230" y="1220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9</a:t>
              </a:r>
            </a:p>
          </p:txBody>
        </p:sp>
        <p:sp>
          <p:nvSpPr>
            <p:cNvPr id="7206" name="Text Box 50"/>
            <p:cNvSpPr txBox="1">
              <a:spLocks noChangeArrowheads="1"/>
            </p:cNvSpPr>
            <p:nvPr/>
          </p:nvSpPr>
          <p:spPr bwMode="auto">
            <a:xfrm>
              <a:off x="3198" y="1979"/>
              <a:ext cx="33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10</a:t>
              </a:r>
            </a:p>
          </p:txBody>
        </p:sp>
        <p:sp>
          <p:nvSpPr>
            <p:cNvPr id="7208" name="Text Box 52"/>
            <p:cNvSpPr txBox="1">
              <a:spLocks noChangeArrowheads="1"/>
            </p:cNvSpPr>
            <p:nvPr/>
          </p:nvSpPr>
          <p:spPr bwMode="auto">
            <a:xfrm>
              <a:off x="2245" y="1736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4</a:t>
              </a:r>
            </a:p>
          </p:txBody>
        </p:sp>
        <p:sp>
          <p:nvSpPr>
            <p:cNvPr id="7209" name="Text Box 53"/>
            <p:cNvSpPr txBox="1">
              <a:spLocks noChangeArrowheads="1"/>
            </p:cNvSpPr>
            <p:nvPr/>
          </p:nvSpPr>
          <p:spPr bwMode="auto">
            <a:xfrm>
              <a:off x="1852" y="1509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2</a:t>
              </a:r>
            </a:p>
          </p:txBody>
        </p:sp>
        <p:sp>
          <p:nvSpPr>
            <p:cNvPr id="7210" name="Text Box 54"/>
            <p:cNvSpPr txBox="1">
              <a:spLocks noChangeArrowheads="1"/>
            </p:cNvSpPr>
            <p:nvPr/>
          </p:nvSpPr>
          <p:spPr bwMode="auto">
            <a:xfrm>
              <a:off x="2426" y="2326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2</a:t>
              </a:r>
            </a:p>
          </p:txBody>
        </p:sp>
        <p:sp>
          <p:nvSpPr>
            <p:cNvPr id="7211" name="Text Box 55"/>
            <p:cNvSpPr txBox="1">
              <a:spLocks noChangeArrowheads="1"/>
            </p:cNvSpPr>
            <p:nvPr/>
          </p:nvSpPr>
          <p:spPr bwMode="auto">
            <a:xfrm>
              <a:off x="1869" y="185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6</a:t>
              </a:r>
            </a:p>
          </p:txBody>
        </p:sp>
        <p:sp>
          <p:nvSpPr>
            <p:cNvPr id="7212" name="Text Box 56"/>
            <p:cNvSpPr txBox="1">
              <a:spLocks noChangeArrowheads="1"/>
            </p:cNvSpPr>
            <p:nvPr/>
          </p:nvSpPr>
          <p:spPr bwMode="auto">
            <a:xfrm>
              <a:off x="1597" y="2326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1</a:t>
              </a:r>
            </a:p>
          </p:txBody>
        </p:sp>
        <p:sp>
          <p:nvSpPr>
            <p:cNvPr id="7213" name="Text Box 57"/>
            <p:cNvSpPr txBox="1">
              <a:spLocks noChangeArrowheads="1"/>
            </p:cNvSpPr>
            <p:nvPr/>
          </p:nvSpPr>
          <p:spPr bwMode="auto">
            <a:xfrm>
              <a:off x="1325" y="185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7</a:t>
              </a:r>
            </a:p>
          </p:txBody>
        </p:sp>
        <p:sp>
          <p:nvSpPr>
            <p:cNvPr id="7214" name="Text Box 58"/>
            <p:cNvSpPr txBox="1">
              <a:spLocks noChangeArrowheads="1"/>
            </p:cNvSpPr>
            <p:nvPr/>
          </p:nvSpPr>
          <p:spPr bwMode="auto">
            <a:xfrm>
              <a:off x="975" y="1645"/>
              <a:ext cx="33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11</a:t>
              </a:r>
            </a:p>
          </p:txBody>
        </p:sp>
        <p:sp>
          <p:nvSpPr>
            <p:cNvPr id="7215" name="Text Box 59"/>
            <p:cNvSpPr txBox="1">
              <a:spLocks noChangeArrowheads="1"/>
            </p:cNvSpPr>
            <p:nvPr/>
          </p:nvSpPr>
          <p:spPr bwMode="auto">
            <a:xfrm>
              <a:off x="793" y="2053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ea typeface="PMingLiU" pitchFamily="18" charset="-120"/>
                </a:rPr>
                <a:t>8</a:t>
              </a:r>
            </a:p>
          </p:txBody>
        </p:sp>
      </p:grpSp>
      <p:sp>
        <p:nvSpPr>
          <p:cNvPr id="7175" name="Freeform 63"/>
          <p:cNvSpPr>
            <a:spLocks/>
          </p:cNvSpPr>
          <p:nvPr/>
        </p:nvSpPr>
        <p:spPr bwMode="auto">
          <a:xfrm>
            <a:off x="1874838" y="1068387"/>
            <a:ext cx="6048374" cy="2100263"/>
          </a:xfrm>
          <a:custGeom>
            <a:avLst/>
            <a:gdLst>
              <a:gd name="T0" fmla="*/ 0 w 3810"/>
              <a:gd name="T1" fmla="*/ 1058 h 1323"/>
              <a:gd name="T2" fmla="*/ 816 w 3810"/>
              <a:gd name="T3" fmla="*/ 1058 h 1323"/>
              <a:gd name="T4" fmla="*/ 1769 w 3810"/>
              <a:gd name="T5" fmla="*/ 15 h 1323"/>
              <a:gd name="T6" fmla="*/ 2766 w 3810"/>
              <a:gd name="T7" fmla="*/ 1149 h 1323"/>
              <a:gd name="T8" fmla="*/ 3810 w 3810"/>
              <a:gd name="T9" fmla="*/ 1058 h 13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10"/>
              <a:gd name="T16" fmla="*/ 0 h 1323"/>
              <a:gd name="T17" fmla="*/ 3810 w 3810"/>
              <a:gd name="T18" fmla="*/ 1323 h 13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10" h="1323">
                <a:moveTo>
                  <a:pt x="0" y="1058"/>
                </a:moveTo>
                <a:cubicBezTo>
                  <a:pt x="260" y="1145"/>
                  <a:pt x="521" y="1232"/>
                  <a:pt x="816" y="1058"/>
                </a:cubicBezTo>
                <a:cubicBezTo>
                  <a:pt x="1111" y="884"/>
                  <a:pt x="1444" y="0"/>
                  <a:pt x="1769" y="15"/>
                </a:cubicBezTo>
                <a:cubicBezTo>
                  <a:pt x="2094" y="30"/>
                  <a:pt x="2426" y="975"/>
                  <a:pt x="2766" y="1149"/>
                </a:cubicBezTo>
                <a:cubicBezTo>
                  <a:pt x="3106" y="1323"/>
                  <a:pt x="3458" y="1190"/>
                  <a:pt x="3810" y="1058"/>
                </a:cubicBezTo>
              </a:path>
            </a:pathLst>
          </a:custGeom>
          <a:noFill/>
          <a:ln w="38100">
            <a:solidFill>
              <a:srgbClr val="7030A0"/>
            </a:solidFill>
            <a:round/>
            <a:headEnd/>
            <a:tailEnd/>
          </a:ln>
        </p:spPr>
        <p:txBody>
          <a:bodyPr/>
          <a:lstStyle/>
          <a:p>
            <a:endParaRPr lang="ar-EG" sz="2400" b="1"/>
          </a:p>
        </p:txBody>
      </p:sp>
      <p:sp>
        <p:nvSpPr>
          <p:cNvPr id="7176" name="Text Box 64"/>
          <p:cNvSpPr txBox="1">
            <a:spLocks noChangeArrowheads="1"/>
          </p:cNvSpPr>
          <p:nvPr/>
        </p:nvSpPr>
        <p:spPr bwMode="auto">
          <a:xfrm>
            <a:off x="1854201" y="1935162"/>
            <a:ext cx="5032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400" b="1" dirty="0">
                <a:solidFill>
                  <a:srgbClr val="C00000"/>
                </a:solidFill>
                <a:ea typeface="PMingLiU" pitchFamily="18" charset="-120"/>
              </a:rPr>
              <a:t>S</a:t>
            </a:r>
            <a:r>
              <a:rPr lang="en-US" altLang="zh-TW" sz="2400" b="1" dirty="0">
                <a:solidFill>
                  <a:srgbClr val="C00000"/>
                </a:solidFill>
                <a:ea typeface="PMingLiU" pitchFamily="18" charset="-120"/>
                <a:cs typeface="Times New Roman" pitchFamily="18" charset="0"/>
              </a:rPr>
              <a:t>↑</a:t>
            </a:r>
          </a:p>
        </p:txBody>
      </p:sp>
      <p:sp>
        <p:nvSpPr>
          <p:cNvPr id="7177" name="Text Box 67"/>
          <p:cNvSpPr txBox="1">
            <a:spLocks noChangeArrowheads="1"/>
          </p:cNvSpPr>
          <p:nvPr/>
        </p:nvSpPr>
        <p:spPr bwMode="auto">
          <a:xfrm>
            <a:off x="7346950" y="1987549"/>
            <a:ext cx="5889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400" b="1" dirty="0">
                <a:solidFill>
                  <a:srgbClr val="C00000"/>
                </a:solidFill>
                <a:ea typeface="PMingLiU" pitchFamily="18" charset="-120"/>
              </a:rPr>
              <a:t>↑ S</a:t>
            </a:r>
          </a:p>
        </p:txBody>
      </p:sp>
      <p:sp>
        <p:nvSpPr>
          <p:cNvPr id="7178" name="Text Box 68"/>
          <p:cNvSpPr txBox="1">
            <a:spLocks noChangeArrowheads="1"/>
          </p:cNvSpPr>
          <p:nvPr/>
        </p:nvSpPr>
        <p:spPr bwMode="auto">
          <a:xfrm>
            <a:off x="7310438" y="2851150"/>
            <a:ext cx="9191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sz="2400" b="1">
                <a:solidFill>
                  <a:srgbClr val="C00000"/>
                </a:solidFill>
                <a:ea typeface="PMingLiU" pitchFamily="18" charset="-120"/>
              </a:rPr>
              <a:t>↓ V-S</a:t>
            </a:r>
          </a:p>
        </p:txBody>
      </p:sp>
      <p:sp>
        <p:nvSpPr>
          <p:cNvPr id="66" name="Rectangle 2"/>
          <p:cNvSpPr txBox="1">
            <a:spLocks noChangeArrowheads="1"/>
          </p:cNvSpPr>
          <p:nvPr/>
        </p:nvSpPr>
        <p:spPr>
          <a:xfrm>
            <a:off x="381000" y="152400"/>
            <a:ext cx="7620000" cy="838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1200" cap="all" spc="-6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Segoe" pitchFamily="34" charset="0"/>
                <a:ea typeface="PMingLiU" pitchFamily="18" charset="-120"/>
                <a:cs typeface="+mj-cs"/>
              </a:rPr>
              <a:t>How to find a safe edge</a:t>
            </a:r>
            <a:endParaRPr kumimoji="0" lang="en-US" altLang="zh-TW" sz="3200" b="0" i="0" u="none" strike="noStrike" kern="1200" cap="all" spc="-6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Segoe" pitchFamily="34" charset="0"/>
              <a:ea typeface="PMingLiU" pitchFamily="18" charset="-120"/>
              <a:cs typeface="+mj-cs"/>
            </a:endParaRPr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>
          <a:xfrm>
            <a:off x="304800" y="3657600"/>
            <a:ext cx="8839200" cy="2590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We need some definitions and a theorem:</a:t>
            </a:r>
          </a:p>
          <a:p>
            <a:pPr marL="276225" marR="0" lvl="0" indent="-27622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A cut (S,V-S) of an undirected graph G=(V,E) is a partition of V.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7175" grpId="0" animBg="1"/>
      <p:bldP spid="7176" grpId="0"/>
      <p:bldP spid="7177" grpId="0"/>
      <p:bldP spid="71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1514476" y="1935162"/>
            <a:ext cx="6715124" cy="1377951"/>
            <a:chOff x="1514476" y="1935162"/>
            <a:chExt cx="6715124" cy="1377951"/>
          </a:xfrm>
        </p:grpSpPr>
        <p:sp>
          <p:nvSpPr>
            <p:cNvPr id="7173" name="Text Box 65"/>
            <p:cNvSpPr txBox="1">
              <a:spLocks noChangeArrowheads="1"/>
            </p:cNvSpPr>
            <p:nvPr/>
          </p:nvSpPr>
          <p:spPr bwMode="auto">
            <a:xfrm>
              <a:off x="1514476" y="2851150"/>
              <a:ext cx="833437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 dirty="0">
                  <a:solidFill>
                    <a:srgbClr val="C00000"/>
                  </a:solidFill>
                  <a:ea typeface="PMingLiU" pitchFamily="18" charset="-120"/>
                </a:rPr>
                <a:t>V-S</a:t>
              </a:r>
              <a:r>
                <a:rPr lang="en-US" altLang="zh-TW" sz="2400" b="1" dirty="0">
                  <a:solidFill>
                    <a:srgbClr val="C00000"/>
                  </a:solidFill>
                  <a:ea typeface="PMingLiU" pitchFamily="18" charset="-120"/>
                  <a:cs typeface="Times New Roman" pitchFamily="18" charset="0"/>
                </a:rPr>
                <a:t>↓</a:t>
              </a:r>
            </a:p>
          </p:txBody>
        </p:sp>
        <p:sp>
          <p:nvSpPr>
            <p:cNvPr id="7176" name="Text Box 64"/>
            <p:cNvSpPr txBox="1">
              <a:spLocks noChangeArrowheads="1"/>
            </p:cNvSpPr>
            <p:nvPr/>
          </p:nvSpPr>
          <p:spPr bwMode="auto">
            <a:xfrm>
              <a:off x="1854201" y="1935162"/>
              <a:ext cx="503237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 dirty="0">
                  <a:solidFill>
                    <a:srgbClr val="C00000"/>
                  </a:solidFill>
                  <a:ea typeface="PMingLiU" pitchFamily="18" charset="-120"/>
                </a:rPr>
                <a:t>S</a:t>
              </a:r>
              <a:r>
                <a:rPr lang="en-US" altLang="zh-TW" sz="2400" b="1" dirty="0">
                  <a:solidFill>
                    <a:srgbClr val="C00000"/>
                  </a:solidFill>
                  <a:ea typeface="PMingLiU" pitchFamily="18" charset="-120"/>
                  <a:cs typeface="Times New Roman" pitchFamily="18" charset="0"/>
                </a:rPr>
                <a:t>↑</a:t>
              </a:r>
            </a:p>
          </p:txBody>
        </p:sp>
        <p:sp>
          <p:nvSpPr>
            <p:cNvPr id="7177" name="Text Box 67"/>
            <p:cNvSpPr txBox="1">
              <a:spLocks noChangeArrowheads="1"/>
            </p:cNvSpPr>
            <p:nvPr/>
          </p:nvSpPr>
          <p:spPr bwMode="auto">
            <a:xfrm>
              <a:off x="7346950" y="1987549"/>
              <a:ext cx="58896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 dirty="0">
                  <a:solidFill>
                    <a:srgbClr val="C00000"/>
                  </a:solidFill>
                  <a:ea typeface="PMingLiU" pitchFamily="18" charset="-120"/>
                </a:rPr>
                <a:t>↑ S</a:t>
              </a:r>
            </a:p>
          </p:txBody>
        </p:sp>
        <p:sp>
          <p:nvSpPr>
            <p:cNvPr id="7178" name="Text Box 68"/>
            <p:cNvSpPr txBox="1">
              <a:spLocks noChangeArrowheads="1"/>
            </p:cNvSpPr>
            <p:nvPr/>
          </p:nvSpPr>
          <p:spPr bwMode="auto">
            <a:xfrm>
              <a:off x="7310438" y="2851150"/>
              <a:ext cx="91916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TW" sz="2400" b="1">
                  <a:solidFill>
                    <a:srgbClr val="C00000"/>
                  </a:solidFill>
                  <a:ea typeface="PMingLiU" pitchFamily="18" charset="-120"/>
                </a:rPr>
                <a:t>↓ V-S</a:t>
              </a:r>
            </a:p>
          </p:txBody>
        </p:sp>
      </p:grpSp>
      <p:sp>
        <p:nvSpPr>
          <p:cNvPr id="66" name="Rectangle 2"/>
          <p:cNvSpPr txBox="1">
            <a:spLocks noChangeArrowheads="1"/>
          </p:cNvSpPr>
          <p:nvPr/>
        </p:nvSpPr>
        <p:spPr>
          <a:xfrm>
            <a:off x="381000" y="152400"/>
            <a:ext cx="7620000" cy="8382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0" i="0" u="none" strike="noStrike" kern="1200" cap="all" spc="-6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Segoe" pitchFamily="34" charset="0"/>
                <a:ea typeface="PMingLiU" pitchFamily="18" charset="-120"/>
                <a:cs typeface="+mj-cs"/>
              </a:rPr>
              <a:t>How to find a safe edge</a:t>
            </a:r>
            <a:endParaRPr kumimoji="0" lang="en-US" altLang="zh-TW" sz="3200" b="0" i="0" u="none" strike="noStrike" kern="1200" cap="all" spc="-6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Segoe" pitchFamily="34" charset="0"/>
              <a:ea typeface="PMingLiU" pitchFamily="18" charset="-120"/>
              <a:cs typeface="+mj-cs"/>
            </a:endParaRPr>
          </a:p>
        </p:txBody>
      </p:sp>
      <p:sp>
        <p:nvSpPr>
          <p:cNvPr id="67" name="Rectangle 3"/>
          <p:cNvSpPr txBox="1">
            <a:spLocks noChangeArrowheads="1"/>
          </p:cNvSpPr>
          <p:nvPr/>
        </p:nvSpPr>
        <p:spPr>
          <a:xfrm>
            <a:off x="304800" y="3657600"/>
            <a:ext cx="8839200" cy="2590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We need some definitions and a theorem:</a:t>
            </a:r>
          </a:p>
          <a:p>
            <a:pPr marL="276225" marR="0" lvl="0" indent="-27622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An edge crosses the cut (S,V-S) if one of its endpoints is in S and the other is in V-S.</a:t>
            </a:r>
          </a:p>
          <a:p>
            <a:pPr marL="276225" marR="0" lvl="0" indent="-27622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An edge is a light edge crossing a cut if its weight is the minimum of any edge crossing the cut.</a:t>
            </a:r>
          </a:p>
          <a:p>
            <a:pPr marL="276225" indent="-276225">
              <a:spcBef>
                <a:spcPct val="200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altLang="zh-TW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MingLiU" pitchFamily="18" charset="-120"/>
              </a:rPr>
              <a:t> The edge </a:t>
            </a:r>
            <a:r>
              <a:rPr lang="en-US" altLang="zh-TW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MingLiU" pitchFamily="18" charset="-120"/>
              </a:rPr>
              <a:t>(</a:t>
            </a:r>
            <a:r>
              <a:rPr lang="en-US" altLang="zh-TW" sz="28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MingLiU" pitchFamily="18" charset="-120"/>
              </a:rPr>
              <a:t>d,c</a:t>
            </a:r>
            <a:r>
              <a:rPr lang="en-US" altLang="zh-TW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MingLiU" pitchFamily="18" charset="-120"/>
              </a:rPr>
              <a:t>)</a:t>
            </a:r>
            <a:r>
              <a:rPr lang="en-US" altLang="zh-TW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PMingLiU" pitchFamily="18" charset="-120"/>
              </a:rPr>
              <a:t> is the light edge crossing the cut.</a:t>
            </a:r>
            <a:endParaRPr lang="en-US" altLang="zh-TW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PMingLiU" pitchFamily="18" charset="-120"/>
              <a:cs typeface="Times New Roman" pitchFamily="18" charset="0"/>
            </a:endParaRPr>
          </a:p>
          <a:p>
            <a:pPr marL="276225" marR="0" lvl="0" indent="-27622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1874838" y="882649"/>
            <a:ext cx="6048374" cy="2622551"/>
            <a:chOff x="1874838" y="882649"/>
            <a:chExt cx="6048374" cy="2622551"/>
          </a:xfrm>
        </p:grpSpPr>
        <p:grpSp>
          <p:nvGrpSpPr>
            <p:cNvPr id="2" name="Group 60"/>
            <p:cNvGrpSpPr>
              <a:grpSpLocks/>
            </p:cNvGrpSpPr>
            <p:nvPr/>
          </p:nvGrpSpPr>
          <p:grpSpPr bwMode="auto">
            <a:xfrm>
              <a:off x="2449513" y="882649"/>
              <a:ext cx="4651374" cy="2622551"/>
              <a:chOff x="657" y="965"/>
              <a:chExt cx="2930" cy="1652"/>
            </a:xfrm>
          </p:grpSpPr>
          <p:grpSp>
            <p:nvGrpSpPr>
              <p:cNvPr id="3" name="Group 5"/>
              <p:cNvGrpSpPr>
                <a:grpSpLocks/>
              </p:cNvGrpSpPr>
              <p:nvPr/>
            </p:nvGrpSpPr>
            <p:grpSpPr bwMode="auto">
              <a:xfrm>
                <a:off x="657" y="1692"/>
                <a:ext cx="220" cy="291"/>
                <a:chOff x="2368" y="1750"/>
                <a:chExt cx="220" cy="291"/>
              </a:xfrm>
            </p:grpSpPr>
            <p:sp>
              <p:nvSpPr>
                <p:cNvPr id="723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220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400" b="1">
                      <a:ea typeface="PMingLiU" pitchFamily="18" charset="-120"/>
                    </a:rPr>
                    <a:t>a</a:t>
                  </a:r>
                </a:p>
              </p:txBody>
            </p:sp>
            <p:sp>
              <p:nvSpPr>
                <p:cNvPr id="7233" name="Oval 7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EG" sz="2400" b="1"/>
                </a:p>
              </p:txBody>
            </p:sp>
          </p:grpSp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1156" y="1193"/>
                <a:ext cx="236" cy="291"/>
                <a:chOff x="2368" y="1750"/>
                <a:chExt cx="236" cy="291"/>
              </a:xfrm>
            </p:grpSpPr>
            <p:sp>
              <p:nvSpPr>
                <p:cNvPr id="7230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236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400" b="1">
                      <a:ea typeface="PMingLiU" pitchFamily="18" charset="-120"/>
                    </a:rPr>
                    <a:t>b</a:t>
                  </a:r>
                </a:p>
              </p:txBody>
            </p:sp>
            <p:sp>
              <p:nvSpPr>
                <p:cNvPr id="7231" name="Oval 10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EG" sz="2400" b="1"/>
                </a:p>
              </p:txBody>
            </p:sp>
          </p:grpSp>
          <p:grpSp>
            <p:nvGrpSpPr>
              <p:cNvPr id="5" name="Group 11"/>
              <p:cNvGrpSpPr>
                <a:grpSpLocks/>
              </p:cNvGrpSpPr>
              <p:nvPr/>
            </p:nvGrpSpPr>
            <p:grpSpPr bwMode="auto">
              <a:xfrm>
                <a:off x="1156" y="2182"/>
                <a:ext cx="233" cy="291"/>
                <a:chOff x="2368" y="1750"/>
                <a:chExt cx="233" cy="291"/>
              </a:xfrm>
            </p:grpSpPr>
            <p:sp>
              <p:nvSpPr>
                <p:cNvPr id="7228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233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400" b="1">
                      <a:ea typeface="PMingLiU" pitchFamily="18" charset="-120"/>
                    </a:rPr>
                    <a:t>h</a:t>
                  </a:r>
                </a:p>
              </p:txBody>
            </p:sp>
            <p:sp>
              <p:nvSpPr>
                <p:cNvPr id="7229" name="Oval 13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EG" sz="2400" b="1"/>
                </a:p>
              </p:txBody>
            </p:sp>
          </p:grpSp>
          <p:grpSp>
            <p:nvGrpSpPr>
              <p:cNvPr id="6" name="Group 14"/>
              <p:cNvGrpSpPr>
                <a:grpSpLocks/>
              </p:cNvGrpSpPr>
              <p:nvPr/>
            </p:nvGrpSpPr>
            <p:grpSpPr bwMode="auto">
              <a:xfrm>
                <a:off x="2006" y="1162"/>
                <a:ext cx="209" cy="291"/>
                <a:chOff x="2368" y="1750"/>
                <a:chExt cx="209" cy="291"/>
              </a:xfrm>
            </p:grpSpPr>
            <p:sp>
              <p:nvSpPr>
                <p:cNvPr id="722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209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400" b="1">
                      <a:ea typeface="PMingLiU" pitchFamily="18" charset="-120"/>
                    </a:rPr>
                    <a:t>c</a:t>
                  </a:r>
                </a:p>
              </p:txBody>
            </p:sp>
            <p:sp>
              <p:nvSpPr>
                <p:cNvPr id="7227" name="Oval 16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EG" sz="2400" b="1"/>
                </a:p>
              </p:txBody>
            </p:sp>
          </p:grpSp>
          <p:grpSp>
            <p:nvGrpSpPr>
              <p:cNvPr id="7" name="Group 17"/>
              <p:cNvGrpSpPr>
                <a:grpSpLocks/>
              </p:cNvGrpSpPr>
              <p:nvPr/>
            </p:nvGrpSpPr>
            <p:grpSpPr bwMode="auto">
              <a:xfrm>
                <a:off x="2820" y="1162"/>
                <a:ext cx="236" cy="291"/>
                <a:chOff x="2368" y="1750"/>
                <a:chExt cx="236" cy="291"/>
              </a:xfrm>
            </p:grpSpPr>
            <p:sp>
              <p:nvSpPr>
                <p:cNvPr id="722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236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400" b="1">
                      <a:ea typeface="PMingLiU" pitchFamily="18" charset="-120"/>
                    </a:rPr>
                    <a:t>d</a:t>
                  </a:r>
                </a:p>
              </p:txBody>
            </p:sp>
            <p:sp>
              <p:nvSpPr>
                <p:cNvPr id="7225" name="Oval 19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EG" sz="2400" b="1"/>
                </a:p>
              </p:txBody>
            </p:sp>
          </p:grpSp>
          <p:grpSp>
            <p:nvGrpSpPr>
              <p:cNvPr id="8" name="Group 20"/>
              <p:cNvGrpSpPr>
                <a:grpSpLocks/>
              </p:cNvGrpSpPr>
              <p:nvPr/>
            </p:nvGrpSpPr>
            <p:grpSpPr bwMode="auto">
              <a:xfrm>
                <a:off x="3366" y="1661"/>
                <a:ext cx="221" cy="291"/>
                <a:chOff x="2368" y="1750"/>
                <a:chExt cx="221" cy="291"/>
              </a:xfrm>
            </p:grpSpPr>
            <p:sp>
              <p:nvSpPr>
                <p:cNvPr id="7222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221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400" b="1">
                      <a:ea typeface="PMingLiU" pitchFamily="18" charset="-120"/>
                    </a:rPr>
                    <a:t>e</a:t>
                  </a:r>
                </a:p>
              </p:txBody>
            </p:sp>
            <p:sp>
              <p:nvSpPr>
                <p:cNvPr id="7223" name="Oval 22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EG" sz="2400" b="1"/>
                </a:p>
              </p:txBody>
            </p:sp>
          </p:grpSp>
          <p:grpSp>
            <p:nvGrpSpPr>
              <p:cNvPr id="9" name="Group 23"/>
              <p:cNvGrpSpPr>
                <a:grpSpLocks/>
              </p:cNvGrpSpPr>
              <p:nvPr/>
            </p:nvGrpSpPr>
            <p:grpSpPr bwMode="auto">
              <a:xfrm>
                <a:off x="2822" y="2182"/>
                <a:ext cx="194" cy="291"/>
                <a:chOff x="2368" y="1750"/>
                <a:chExt cx="194" cy="291"/>
              </a:xfrm>
            </p:grpSpPr>
            <p:sp>
              <p:nvSpPr>
                <p:cNvPr id="7220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191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400" b="1">
                      <a:ea typeface="PMingLiU" pitchFamily="18" charset="-120"/>
                    </a:rPr>
                    <a:t>f</a:t>
                  </a:r>
                </a:p>
              </p:txBody>
            </p:sp>
            <p:sp>
              <p:nvSpPr>
                <p:cNvPr id="7221" name="Oval 25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EG" sz="2400" b="1"/>
                </a:p>
              </p:txBody>
            </p:sp>
          </p:grpSp>
          <p:grpSp>
            <p:nvGrpSpPr>
              <p:cNvPr id="10" name="Group 26"/>
              <p:cNvGrpSpPr>
                <a:grpSpLocks/>
              </p:cNvGrpSpPr>
              <p:nvPr/>
            </p:nvGrpSpPr>
            <p:grpSpPr bwMode="auto">
              <a:xfrm>
                <a:off x="2004" y="2182"/>
                <a:ext cx="236" cy="291"/>
                <a:chOff x="2368" y="1750"/>
                <a:chExt cx="236" cy="291"/>
              </a:xfrm>
            </p:grpSpPr>
            <p:sp>
              <p:nvSpPr>
                <p:cNvPr id="721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368" y="1750"/>
                  <a:ext cx="236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US" altLang="zh-TW" sz="2400" b="1">
                      <a:ea typeface="PMingLiU" pitchFamily="18" charset="-120"/>
                    </a:rPr>
                    <a:t>g</a:t>
                  </a:r>
                </a:p>
              </p:txBody>
            </p:sp>
            <p:sp>
              <p:nvSpPr>
                <p:cNvPr id="7219" name="Oval 28"/>
                <p:cNvSpPr>
                  <a:spLocks noChangeArrowheads="1"/>
                </p:cNvSpPr>
                <p:nvPr/>
              </p:nvSpPr>
              <p:spPr bwMode="auto">
                <a:xfrm>
                  <a:off x="2381" y="1797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EG" sz="2400" b="1"/>
                </a:p>
              </p:txBody>
            </p:sp>
          </p:grpSp>
          <p:grpSp>
            <p:nvGrpSpPr>
              <p:cNvPr id="11" name="Group 29"/>
              <p:cNvGrpSpPr>
                <a:grpSpLocks/>
              </p:cNvGrpSpPr>
              <p:nvPr/>
            </p:nvGrpSpPr>
            <p:grpSpPr bwMode="auto">
              <a:xfrm>
                <a:off x="1565" y="1706"/>
                <a:ext cx="182" cy="291"/>
                <a:chOff x="1519" y="1706"/>
                <a:chExt cx="182" cy="291"/>
              </a:xfrm>
            </p:grpSpPr>
            <p:sp>
              <p:nvSpPr>
                <p:cNvPr id="7216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1519" y="1706"/>
                  <a:ext cx="160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US" altLang="zh-TW" sz="2400" b="1">
                      <a:ea typeface="PMingLiU" pitchFamily="18" charset="-120"/>
                    </a:rPr>
                    <a:t>i</a:t>
                  </a:r>
                </a:p>
              </p:txBody>
            </p:sp>
            <p:sp>
              <p:nvSpPr>
                <p:cNvPr id="7217" name="Oval 31"/>
                <p:cNvSpPr>
                  <a:spLocks noChangeArrowheads="1"/>
                </p:cNvSpPr>
                <p:nvPr/>
              </p:nvSpPr>
              <p:spPr bwMode="auto">
                <a:xfrm>
                  <a:off x="1520" y="1753"/>
                  <a:ext cx="181" cy="18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ar-EG" sz="2400" b="1"/>
                </a:p>
              </p:txBody>
            </p:sp>
          </p:grpSp>
          <p:sp>
            <p:nvSpPr>
              <p:cNvPr id="7188" name="Line 32"/>
              <p:cNvSpPr>
                <a:spLocks noChangeShapeType="1"/>
              </p:cNvSpPr>
              <p:nvPr/>
            </p:nvSpPr>
            <p:spPr bwMode="auto">
              <a:xfrm flipV="1">
                <a:off x="793" y="1389"/>
                <a:ext cx="409" cy="36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189" name="Line 33"/>
              <p:cNvSpPr>
                <a:spLocks noChangeShapeType="1"/>
              </p:cNvSpPr>
              <p:nvPr/>
            </p:nvSpPr>
            <p:spPr bwMode="auto">
              <a:xfrm>
                <a:off x="793" y="1933"/>
                <a:ext cx="409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190" name="Line 34"/>
              <p:cNvSpPr>
                <a:spLocks noChangeShapeType="1"/>
              </p:cNvSpPr>
              <p:nvPr/>
            </p:nvSpPr>
            <p:spPr bwMode="auto">
              <a:xfrm>
                <a:off x="1247" y="1434"/>
                <a:ext cx="0" cy="8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192" name="Line 36"/>
              <p:cNvSpPr>
                <a:spLocks noChangeShapeType="1"/>
              </p:cNvSpPr>
              <p:nvPr/>
            </p:nvSpPr>
            <p:spPr bwMode="auto">
              <a:xfrm>
                <a:off x="1338" y="2341"/>
                <a:ext cx="680" cy="0"/>
              </a:xfrm>
              <a:prstGeom prst="lin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193" name="Line 37"/>
              <p:cNvSpPr>
                <a:spLocks noChangeShapeType="1"/>
              </p:cNvSpPr>
              <p:nvPr/>
            </p:nvSpPr>
            <p:spPr bwMode="auto">
              <a:xfrm>
                <a:off x="2200" y="2341"/>
                <a:ext cx="635" cy="0"/>
              </a:xfrm>
              <a:prstGeom prst="lin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194" name="Line 38"/>
              <p:cNvSpPr>
                <a:spLocks noChangeShapeType="1"/>
              </p:cNvSpPr>
              <p:nvPr/>
            </p:nvSpPr>
            <p:spPr bwMode="auto">
              <a:xfrm>
                <a:off x="2154" y="1389"/>
                <a:ext cx="681" cy="862"/>
              </a:xfrm>
              <a:prstGeom prst="lin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195" name="Line 39"/>
              <p:cNvSpPr>
                <a:spLocks noChangeShapeType="1"/>
              </p:cNvSpPr>
              <p:nvPr/>
            </p:nvSpPr>
            <p:spPr bwMode="auto">
              <a:xfrm>
                <a:off x="2200" y="1298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197" name="Line 41"/>
              <p:cNvSpPr>
                <a:spLocks noChangeShapeType="1"/>
              </p:cNvSpPr>
              <p:nvPr/>
            </p:nvSpPr>
            <p:spPr bwMode="auto">
              <a:xfrm>
                <a:off x="3016" y="1344"/>
                <a:ext cx="408" cy="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198" name="Line 42"/>
              <p:cNvSpPr>
                <a:spLocks noChangeShapeType="1"/>
              </p:cNvSpPr>
              <p:nvPr/>
            </p:nvSpPr>
            <p:spPr bwMode="auto">
              <a:xfrm flipV="1">
                <a:off x="3016" y="1888"/>
                <a:ext cx="408" cy="4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199" name="Line 43"/>
              <p:cNvSpPr>
                <a:spLocks noChangeShapeType="1"/>
              </p:cNvSpPr>
              <p:nvPr/>
            </p:nvSpPr>
            <p:spPr bwMode="auto">
              <a:xfrm>
                <a:off x="1746" y="1933"/>
                <a:ext cx="318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200" name="Line 44"/>
              <p:cNvSpPr>
                <a:spLocks noChangeShapeType="1"/>
              </p:cNvSpPr>
              <p:nvPr/>
            </p:nvSpPr>
            <p:spPr bwMode="auto">
              <a:xfrm flipV="1">
                <a:off x="1292" y="1933"/>
                <a:ext cx="273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201" name="Line 45"/>
              <p:cNvSpPr>
                <a:spLocks noChangeShapeType="1"/>
              </p:cNvSpPr>
              <p:nvPr/>
            </p:nvSpPr>
            <p:spPr bwMode="auto">
              <a:xfrm flipV="1">
                <a:off x="1701" y="1389"/>
                <a:ext cx="317" cy="363"/>
              </a:xfrm>
              <a:prstGeom prst="line">
                <a:avLst/>
              </a:prstGeom>
              <a:noFill/>
              <a:ln w="762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ar-EG" sz="2400" b="1"/>
              </a:p>
            </p:txBody>
          </p:sp>
          <p:sp>
            <p:nvSpPr>
              <p:cNvPr id="7202" name="Text Box 46"/>
              <p:cNvSpPr txBox="1">
                <a:spLocks noChangeArrowheads="1"/>
              </p:cNvSpPr>
              <p:nvPr/>
            </p:nvSpPr>
            <p:spPr bwMode="auto">
              <a:xfrm>
                <a:off x="793" y="1298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4</a:t>
                </a:r>
              </a:p>
            </p:txBody>
          </p:sp>
          <p:sp>
            <p:nvSpPr>
              <p:cNvPr id="7204" name="Text Box 48"/>
              <p:cNvSpPr txBox="1">
                <a:spLocks noChangeArrowheads="1"/>
              </p:cNvSpPr>
              <p:nvPr/>
            </p:nvSpPr>
            <p:spPr bwMode="auto">
              <a:xfrm>
                <a:off x="2396" y="965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7</a:t>
                </a:r>
              </a:p>
            </p:txBody>
          </p:sp>
          <p:sp>
            <p:nvSpPr>
              <p:cNvPr id="7205" name="Text Box 49"/>
              <p:cNvSpPr txBox="1">
                <a:spLocks noChangeArrowheads="1"/>
              </p:cNvSpPr>
              <p:nvPr/>
            </p:nvSpPr>
            <p:spPr bwMode="auto">
              <a:xfrm>
                <a:off x="3230" y="1220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9</a:t>
                </a:r>
              </a:p>
            </p:txBody>
          </p:sp>
          <p:sp>
            <p:nvSpPr>
              <p:cNvPr id="7206" name="Text Box 50"/>
              <p:cNvSpPr txBox="1">
                <a:spLocks noChangeArrowheads="1"/>
              </p:cNvSpPr>
              <p:nvPr/>
            </p:nvSpPr>
            <p:spPr bwMode="auto">
              <a:xfrm>
                <a:off x="3198" y="1979"/>
                <a:ext cx="33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10</a:t>
                </a:r>
              </a:p>
            </p:txBody>
          </p:sp>
          <p:sp>
            <p:nvSpPr>
              <p:cNvPr id="7208" name="Text Box 52"/>
              <p:cNvSpPr txBox="1">
                <a:spLocks noChangeArrowheads="1"/>
              </p:cNvSpPr>
              <p:nvPr/>
            </p:nvSpPr>
            <p:spPr bwMode="auto">
              <a:xfrm>
                <a:off x="2245" y="1736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4</a:t>
                </a:r>
              </a:p>
            </p:txBody>
          </p:sp>
          <p:sp>
            <p:nvSpPr>
              <p:cNvPr id="7209" name="Text Box 53"/>
              <p:cNvSpPr txBox="1">
                <a:spLocks noChangeArrowheads="1"/>
              </p:cNvSpPr>
              <p:nvPr/>
            </p:nvSpPr>
            <p:spPr bwMode="auto">
              <a:xfrm>
                <a:off x="1852" y="1509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2</a:t>
                </a:r>
              </a:p>
            </p:txBody>
          </p:sp>
          <p:sp>
            <p:nvSpPr>
              <p:cNvPr id="7210" name="Text Box 54"/>
              <p:cNvSpPr txBox="1">
                <a:spLocks noChangeArrowheads="1"/>
              </p:cNvSpPr>
              <p:nvPr/>
            </p:nvSpPr>
            <p:spPr bwMode="auto">
              <a:xfrm>
                <a:off x="2426" y="2326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2</a:t>
                </a:r>
              </a:p>
            </p:txBody>
          </p:sp>
          <p:sp>
            <p:nvSpPr>
              <p:cNvPr id="7211" name="Text Box 55"/>
              <p:cNvSpPr txBox="1">
                <a:spLocks noChangeArrowheads="1"/>
              </p:cNvSpPr>
              <p:nvPr/>
            </p:nvSpPr>
            <p:spPr bwMode="auto">
              <a:xfrm>
                <a:off x="1869" y="1855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6</a:t>
                </a:r>
              </a:p>
            </p:txBody>
          </p:sp>
          <p:sp>
            <p:nvSpPr>
              <p:cNvPr id="7212" name="Text Box 56"/>
              <p:cNvSpPr txBox="1">
                <a:spLocks noChangeArrowheads="1"/>
              </p:cNvSpPr>
              <p:nvPr/>
            </p:nvSpPr>
            <p:spPr bwMode="auto">
              <a:xfrm>
                <a:off x="1597" y="2326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1</a:t>
                </a:r>
              </a:p>
            </p:txBody>
          </p:sp>
          <p:sp>
            <p:nvSpPr>
              <p:cNvPr id="7213" name="Text Box 57"/>
              <p:cNvSpPr txBox="1">
                <a:spLocks noChangeArrowheads="1"/>
              </p:cNvSpPr>
              <p:nvPr/>
            </p:nvSpPr>
            <p:spPr bwMode="auto">
              <a:xfrm>
                <a:off x="1325" y="1855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7</a:t>
                </a:r>
              </a:p>
            </p:txBody>
          </p:sp>
          <p:sp>
            <p:nvSpPr>
              <p:cNvPr id="7214" name="Text Box 58"/>
              <p:cNvSpPr txBox="1">
                <a:spLocks noChangeArrowheads="1"/>
              </p:cNvSpPr>
              <p:nvPr/>
            </p:nvSpPr>
            <p:spPr bwMode="auto">
              <a:xfrm>
                <a:off x="975" y="1645"/>
                <a:ext cx="33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11</a:t>
                </a:r>
              </a:p>
            </p:txBody>
          </p:sp>
          <p:sp>
            <p:nvSpPr>
              <p:cNvPr id="7215" name="Text Box 59"/>
              <p:cNvSpPr txBox="1">
                <a:spLocks noChangeArrowheads="1"/>
              </p:cNvSpPr>
              <p:nvPr/>
            </p:nvSpPr>
            <p:spPr bwMode="auto">
              <a:xfrm>
                <a:off x="793" y="2053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TW" sz="2400" b="1">
                    <a:ea typeface="PMingLiU" pitchFamily="18" charset="-120"/>
                  </a:rPr>
                  <a:t>8</a:t>
                </a:r>
              </a:p>
            </p:txBody>
          </p:sp>
        </p:grpSp>
        <p:sp>
          <p:nvSpPr>
            <p:cNvPr id="63" name="Freeform 63"/>
            <p:cNvSpPr>
              <a:spLocks/>
            </p:cNvSpPr>
            <p:nvPr/>
          </p:nvSpPr>
          <p:spPr bwMode="auto">
            <a:xfrm>
              <a:off x="1874838" y="1023937"/>
              <a:ext cx="6048374" cy="2100263"/>
            </a:xfrm>
            <a:custGeom>
              <a:avLst/>
              <a:gdLst>
                <a:gd name="T0" fmla="*/ 0 w 3810"/>
                <a:gd name="T1" fmla="*/ 1058 h 1323"/>
                <a:gd name="T2" fmla="*/ 816 w 3810"/>
                <a:gd name="T3" fmla="*/ 1058 h 1323"/>
                <a:gd name="T4" fmla="*/ 1769 w 3810"/>
                <a:gd name="T5" fmla="*/ 15 h 1323"/>
                <a:gd name="T6" fmla="*/ 2766 w 3810"/>
                <a:gd name="T7" fmla="*/ 1149 h 1323"/>
                <a:gd name="T8" fmla="*/ 3810 w 3810"/>
                <a:gd name="T9" fmla="*/ 1058 h 13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810"/>
                <a:gd name="T16" fmla="*/ 0 h 1323"/>
                <a:gd name="T17" fmla="*/ 3810 w 3810"/>
                <a:gd name="T18" fmla="*/ 1323 h 13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810" h="1323">
                  <a:moveTo>
                    <a:pt x="0" y="1058"/>
                  </a:moveTo>
                  <a:cubicBezTo>
                    <a:pt x="260" y="1145"/>
                    <a:pt x="521" y="1232"/>
                    <a:pt x="816" y="1058"/>
                  </a:cubicBezTo>
                  <a:cubicBezTo>
                    <a:pt x="1111" y="884"/>
                    <a:pt x="1444" y="0"/>
                    <a:pt x="1769" y="15"/>
                  </a:cubicBezTo>
                  <a:cubicBezTo>
                    <a:pt x="2094" y="30"/>
                    <a:pt x="2426" y="975"/>
                    <a:pt x="2766" y="1149"/>
                  </a:cubicBezTo>
                  <a:cubicBezTo>
                    <a:pt x="3106" y="1323"/>
                    <a:pt x="3458" y="1190"/>
                    <a:pt x="3810" y="1058"/>
                  </a:cubicBezTo>
                </a:path>
              </a:pathLst>
            </a:custGeom>
            <a:noFill/>
            <a:ln w="38100">
              <a:solidFill>
                <a:srgbClr val="7030A0"/>
              </a:solidFill>
              <a:round/>
              <a:headEnd/>
              <a:tailEnd/>
            </a:ln>
          </p:spPr>
          <p:txBody>
            <a:bodyPr/>
            <a:lstStyle/>
            <a:p>
              <a:endParaRPr lang="ar-EG" sz="2400" b="1"/>
            </a:p>
          </p:txBody>
        </p:sp>
      </p:grpSp>
      <p:sp>
        <p:nvSpPr>
          <p:cNvPr id="68" name="Line 45"/>
          <p:cNvSpPr>
            <a:spLocks noChangeShapeType="1"/>
          </p:cNvSpPr>
          <p:nvPr/>
        </p:nvSpPr>
        <p:spPr bwMode="auto">
          <a:xfrm flipV="1">
            <a:off x="4876800" y="1447799"/>
            <a:ext cx="990600" cy="1"/>
          </a:xfrm>
          <a:prstGeom prst="line">
            <a:avLst/>
          </a:prstGeom>
          <a:noFill/>
          <a:ln w="76200">
            <a:solidFill>
              <a:schemeClr val="accent4">
                <a:lumMod val="75000"/>
              </a:schemeClr>
            </a:solidFill>
            <a:round/>
            <a:headEnd/>
            <a:tailEnd/>
          </a:ln>
        </p:spPr>
        <p:txBody>
          <a:bodyPr/>
          <a:lstStyle/>
          <a:p>
            <a:endParaRPr lang="ar-EG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PMingLiU" pitchFamily="18" charset="-120"/>
              </a:rPr>
              <a:t>The algorithms of MST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28775"/>
            <a:ext cx="7772400" cy="446722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TW" sz="2800" dirty="0" err="1">
                <a:solidFill>
                  <a:srgbClr val="C00000"/>
                </a:solidFill>
                <a:latin typeface="+mn-lt"/>
                <a:ea typeface="PMingLiU" pitchFamily="18" charset="-120"/>
              </a:rPr>
              <a:t>Kruskal</a:t>
            </a:r>
            <a:r>
              <a:rPr lang="en-US" altLang="zh-TW" sz="2800" dirty="0">
                <a:solidFill>
                  <a:srgbClr val="C00000"/>
                </a:solidFill>
                <a:latin typeface="+mn-lt"/>
                <a:ea typeface="PMingLiU" pitchFamily="18" charset="-120"/>
              </a:rPr>
              <a:t> and Prim </a:t>
            </a:r>
            <a:r>
              <a:rPr lang="en-US" altLang="zh-TW" sz="2800" dirty="0">
                <a:solidFill>
                  <a:srgbClr val="C00000"/>
                </a:solidFill>
                <a:latin typeface="+mn-lt"/>
                <a:ea typeface="Segoe UI" pitchFamily="34" charset="0"/>
                <a:cs typeface="Segoe UI" pitchFamily="34" charset="0"/>
              </a:rPr>
              <a:t>algorithms</a:t>
            </a:r>
            <a:r>
              <a:rPr lang="en-US" altLang="zh-TW" sz="2800" dirty="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 are elaborations of the generic algorithm.</a:t>
            </a:r>
          </a:p>
          <a:p>
            <a:pPr>
              <a:lnSpc>
                <a:spcPct val="80000"/>
              </a:lnSpc>
            </a:pPr>
            <a:endParaRPr lang="en-US" altLang="zh-TW" sz="2800" dirty="0">
              <a:solidFill>
                <a:schemeClr val="tx1"/>
              </a:solidFill>
              <a:latin typeface="+mn-lt"/>
              <a:ea typeface="Segoe UI" pitchFamily="34" charset="0"/>
              <a:cs typeface="Segoe UI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Each of them uses a specific rule to determine a safe edge of GENERIC_MST.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143000"/>
            <a:ext cx="6400800" cy="22733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Prim</a:t>
            </a:r>
            <a:r>
              <a:rPr lang="en-US" sz="3600" dirty="0"/>
              <a:t> 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8077200" y="5867400"/>
            <a:ext cx="9906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84150" y="3381375"/>
            <a:ext cx="8731250" cy="3019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el-GR" sz="2400" b="0" i="0" u="none" strike="noStrike" kern="1200" spc="1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 </a:t>
            </a:r>
            <a:r>
              <a:rPr kumimoji="0" lang="en-US" altLang="el-GR" sz="2400" b="0" i="0" u="none" strike="noStrike" kern="1200" spc="1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starts with one node. 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el-GR" sz="2400" spc="120" dirty="0"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 </a:t>
            </a:r>
            <a:r>
              <a:rPr kumimoji="0" lang="en-US" altLang="el-GR" sz="2400" b="0" i="0" u="none" strike="noStrike" kern="1200" spc="1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one by one, adds a node 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el-GR" sz="2400" spc="120" dirty="0"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 </a:t>
            </a:r>
            <a:r>
              <a:rPr kumimoji="0" lang="en-US" altLang="el-GR" sz="2400" b="0" i="0" u="none" strike="noStrike" kern="1200" spc="1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each time selecting the node whose connecting edge is safe edge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spc="1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25882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Prim’s Algorithm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990600"/>
            <a:ext cx="8197850" cy="5076825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sz="24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edges in set A always </a:t>
            </a:r>
            <a:r>
              <a:rPr lang="en-US" sz="2400" u="sng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form a single tree</a:t>
            </a:r>
          </a:p>
          <a:p>
            <a:pPr eaLnBrk="1" hangingPunct="1">
              <a:lnSpc>
                <a:spcPct val="14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Starts from an arbitrary “root”: V</a:t>
            </a:r>
            <a:r>
              <a:rPr lang="en-US" sz="2400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= {a}</a:t>
            </a:r>
          </a:p>
          <a:p>
            <a:pPr eaLnBrk="1" hangingPunct="1">
              <a:lnSpc>
                <a:spcPct val="14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At each step:</a:t>
            </a:r>
          </a:p>
          <a:p>
            <a:pPr lvl="1" eaLnBrk="1" hangingPunct="1">
              <a:lnSpc>
                <a:spcPct val="14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Find a light edge crossing (V</a:t>
            </a:r>
            <a:r>
              <a:rPr lang="en-US" sz="2400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V - V</a:t>
            </a:r>
            <a:r>
              <a:rPr lang="en-US" sz="2400" baseline="-25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pPr lvl="1" eaLnBrk="1" hangingPunct="1">
              <a:lnSpc>
                <a:spcPct val="14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Add this edge to A</a:t>
            </a:r>
          </a:p>
          <a:p>
            <a:pPr lvl="1" eaLnBrk="1" hangingPunct="1">
              <a:lnSpc>
                <a:spcPct val="14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Repeat until the tree spans all vertices</a:t>
            </a:r>
          </a:p>
        </p:txBody>
      </p:sp>
      <p:sp>
        <p:nvSpPr>
          <p:cNvPr id="871428" name="Line 4"/>
          <p:cNvSpPr>
            <a:spLocks noChangeShapeType="1"/>
          </p:cNvSpPr>
          <p:nvPr/>
        </p:nvSpPr>
        <p:spPr bwMode="auto">
          <a:xfrm flipV="1">
            <a:off x="5610225" y="3254375"/>
            <a:ext cx="407988" cy="40005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5292725" y="3616325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5973763" y="2878138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6945313" y="2878138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c</a:t>
            </a:r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7916863" y="2878138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d</a:t>
            </a:r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8591550" y="3616325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e</a:t>
            </a:r>
          </a:p>
        </p:txBody>
      </p:sp>
      <p:sp>
        <p:nvSpPr>
          <p:cNvPr id="18443" name="Oval 11"/>
          <p:cNvSpPr>
            <a:spLocks noChangeArrowheads="1"/>
          </p:cNvSpPr>
          <p:nvPr/>
        </p:nvSpPr>
        <p:spPr bwMode="auto">
          <a:xfrm>
            <a:off x="5973763" y="4356100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h</a:t>
            </a:r>
          </a:p>
        </p:txBody>
      </p:sp>
      <p:sp>
        <p:nvSpPr>
          <p:cNvPr id="18444" name="Oval 12"/>
          <p:cNvSpPr>
            <a:spLocks noChangeArrowheads="1"/>
          </p:cNvSpPr>
          <p:nvPr/>
        </p:nvSpPr>
        <p:spPr bwMode="auto">
          <a:xfrm>
            <a:off x="6945313" y="4356100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g</a:t>
            </a:r>
          </a:p>
        </p:txBody>
      </p:sp>
      <p:sp>
        <p:nvSpPr>
          <p:cNvPr id="18445" name="Oval 13"/>
          <p:cNvSpPr>
            <a:spLocks noChangeArrowheads="1"/>
          </p:cNvSpPr>
          <p:nvPr/>
        </p:nvSpPr>
        <p:spPr bwMode="auto">
          <a:xfrm>
            <a:off x="7916863" y="4356100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</a:t>
            </a:r>
          </a:p>
        </p:txBody>
      </p:sp>
      <p:sp>
        <p:nvSpPr>
          <p:cNvPr id="18446" name="Oval 14"/>
          <p:cNvSpPr>
            <a:spLocks noChangeArrowheads="1"/>
          </p:cNvSpPr>
          <p:nvPr/>
        </p:nvSpPr>
        <p:spPr bwMode="auto">
          <a:xfrm>
            <a:off x="6459538" y="3619500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>
            <a:off x="6172200" y="3303588"/>
            <a:ext cx="0" cy="10652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>
            <a:off x="8132763" y="3305175"/>
            <a:ext cx="0" cy="1065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>
            <a:off x="6392863" y="3076575"/>
            <a:ext cx="550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0" name="Line 18"/>
          <p:cNvSpPr>
            <a:spLocks noChangeShapeType="1"/>
          </p:cNvSpPr>
          <p:nvPr/>
        </p:nvSpPr>
        <p:spPr bwMode="auto">
          <a:xfrm>
            <a:off x="7362825" y="3079750"/>
            <a:ext cx="550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>
            <a:off x="6392863" y="4572000"/>
            <a:ext cx="550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>
            <a:off x="7373938" y="4578350"/>
            <a:ext cx="550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3" name="Line 21"/>
          <p:cNvSpPr>
            <a:spLocks noChangeShapeType="1"/>
          </p:cNvSpPr>
          <p:nvPr/>
        </p:nvSpPr>
        <p:spPr bwMode="auto">
          <a:xfrm flipV="1">
            <a:off x="5621338" y="3206750"/>
            <a:ext cx="414337" cy="414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4" name="Line 22"/>
          <p:cNvSpPr>
            <a:spLocks noChangeShapeType="1"/>
          </p:cNvSpPr>
          <p:nvPr/>
        </p:nvSpPr>
        <p:spPr bwMode="auto">
          <a:xfrm flipV="1">
            <a:off x="8288338" y="4005263"/>
            <a:ext cx="414337" cy="4143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5" name="Line 23"/>
          <p:cNvSpPr>
            <a:spLocks noChangeShapeType="1"/>
          </p:cNvSpPr>
          <p:nvPr/>
        </p:nvSpPr>
        <p:spPr bwMode="auto">
          <a:xfrm>
            <a:off x="8286750" y="3224213"/>
            <a:ext cx="40640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6" name="Line 24"/>
          <p:cNvSpPr>
            <a:spLocks noChangeShapeType="1"/>
          </p:cNvSpPr>
          <p:nvPr/>
        </p:nvSpPr>
        <p:spPr bwMode="auto">
          <a:xfrm>
            <a:off x="5622925" y="3981450"/>
            <a:ext cx="40640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7" name="Line 25"/>
          <p:cNvSpPr>
            <a:spLocks noChangeShapeType="1"/>
          </p:cNvSpPr>
          <p:nvPr/>
        </p:nvSpPr>
        <p:spPr bwMode="auto">
          <a:xfrm>
            <a:off x="7278688" y="3252788"/>
            <a:ext cx="722312" cy="11509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8" name="Line 26"/>
          <p:cNvSpPr>
            <a:spLocks noChangeShapeType="1"/>
          </p:cNvSpPr>
          <p:nvPr/>
        </p:nvSpPr>
        <p:spPr bwMode="auto">
          <a:xfrm>
            <a:off x="6786563" y="4003675"/>
            <a:ext cx="263525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9" name="Line 27"/>
          <p:cNvSpPr>
            <a:spLocks noChangeShapeType="1"/>
          </p:cNvSpPr>
          <p:nvPr/>
        </p:nvSpPr>
        <p:spPr bwMode="auto">
          <a:xfrm flipV="1">
            <a:off x="6335713" y="4017963"/>
            <a:ext cx="242887" cy="385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0" name="Line 28"/>
          <p:cNvSpPr>
            <a:spLocks noChangeShapeType="1"/>
          </p:cNvSpPr>
          <p:nvPr/>
        </p:nvSpPr>
        <p:spPr bwMode="auto">
          <a:xfrm flipV="1">
            <a:off x="6786563" y="3252788"/>
            <a:ext cx="249237" cy="385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1" name="Text Box 29"/>
          <p:cNvSpPr txBox="1">
            <a:spLocks noChangeArrowheads="1"/>
          </p:cNvSpPr>
          <p:nvPr/>
        </p:nvSpPr>
        <p:spPr bwMode="auto">
          <a:xfrm>
            <a:off x="5588000" y="3124200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4</a:t>
            </a: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6540500" y="276066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8</a:t>
            </a:r>
          </a:p>
        </p:txBody>
      </p:sp>
      <p:sp>
        <p:nvSpPr>
          <p:cNvPr id="18463" name="Text Box 31"/>
          <p:cNvSpPr txBox="1">
            <a:spLocks noChangeArrowheads="1"/>
          </p:cNvSpPr>
          <p:nvPr/>
        </p:nvSpPr>
        <p:spPr bwMode="auto">
          <a:xfrm>
            <a:off x="7504113" y="2781300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7</a:t>
            </a:r>
          </a:p>
        </p:txBody>
      </p:sp>
      <p:sp>
        <p:nvSpPr>
          <p:cNvPr id="18464" name="Text Box 32"/>
          <p:cNvSpPr txBox="1">
            <a:spLocks noChangeArrowheads="1"/>
          </p:cNvSpPr>
          <p:nvPr/>
        </p:nvSpPr>
        <p:spPr bwMode="auto">
          <a:xfrm>
            <a:off x="5605463" y="4087813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8</a:t>
            </a:r>
          </a:p>
        </p:txBody>
      </p:sp>
      <p:sp>
        <p:nvSpPr>
          <p:cNvPr id="18465" name="Text Box 33"/>
          <p:cNvSpPr txBox="1">
            <a:spLocks noChangeArrowheads="1"/>
          </p:cNvSpPr>
          <p:nvPr/>
        </p:nvSpPr>
        <p:spPr bwMode="auto">
          <a:xfrm>
            <a:off x="5821363" y="362267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11</a:t>
            </a:r>
          </a:p>
        </p:txBody>
      </p:sp>
      <p:sp>
        <p:nvSpPr>
          <p:cNvPr id="18466" name="Text Box 34"/>
          <p:cNvSpPr txBox="1">
            <a:spLocks noChangeArrowheads="1"/>
          </p:cNvSpPr>
          <p:nvPr/>
        </p:nvSpPr>
        <p:spPr bwMode="auto">
          <a:xfrm>
            <a:off x="6550025" y="453231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1</a:t>
            </a:r>
          </a:p>
        </p:txBody>
      </p:sp>
      <p:sp>
        <p:nvSpPr>
          <p:cNvPr id="18467" name="Text Box 35"/>
          <p:cNvSpPr txBox="1">
            <a:spLocks noChangeArrowheads="1"/>
          </p:cNvSpPr>
          <p:nvPr/>
        </p:nvSpPr>
        <p:spPr bwMode="auto">
          <a:xfrm>
            <a:off x="7494588" y="451802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2</a:t>
            </a:r>
          </a:p>
        </p:txBody>
      </p:sp>
      <p:sp>
        <p:nvSpPr>
          <p:cNvPr id="18468" name="Text Box 36"/>
          <p:cNvSpPr txBox="1">
            <a:spLocks noChangeArrowheads="1"/>
          </p:cNvSpPr>
          <p:nvPr/>
        </p:nvSpPr>
        <p:spPr bwMode="auto">
          <a:xfrm>
            <a:off x="6223000" y="3976688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7</a:t>
            </a:r>
          </a:p>
        </p:txBody>
      </p:sp>
      <p:sp>
        <p:nvSpPr>
          <p:cNvPr id="18469" name="Text Box 37"/>
          <p:cNvSpPr txBox="1">
            <a:spLocks noChangeArrowheads="1"/>
          </p:cNvSpPr>
          <p:nvPr/>
        </p:nvSpPr>
        <p:spPr bwMode="auto">
          <a:xfrm>
            <a:off x="6843713" y="3348038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2</a:t>
            </a:r>
          </a:p>
        </p:txBody>
      </p:sp>
      <p:sp>
        <p:nvSpPr>
          <p:cNvPr id="18470" name="Text Box 38"/>
          <p:cNvSpPr txBox="1">
            <a:spLocks noChangeArrowheads="1"/>
          </p:cNvSpPr>
          <p:nvPr/>
        </p:nvSpPr>
        <p:spPr bwMode="auto">
          <a:xfrm>
            <a:off x="7400925" y="3711575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4</a:t>
            </a:r>
          </a:p>
        </p:txBody>
      </p:sp>
      <p:sp>
        <p:nvSpPr>
          <p:cNvPr id="18471" name="Text Box 39"/>
          <p:cNvSpPr txBox="1">
            <a:spLocks noChangeArrowheads="1"/>
          </p:cNvSpPr>
          <p:nvPr/>
        </p:nvSpPr>
        <p:spPr bwMode="auto">
          <a:xfrm>
            <a:off x="8086725" y="3648075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14</a:t>
            </a:r>
          </a:p>
        </p:txBody>
      </p:sp>
      <p:sp>
        <p:nvSpPr>
          <p:cNvPr id="18472" name="Text Box 40"/>
          <p:cNvSpPr txBox="1">
            <a:spLocks noChangeArrowheads="1"/>
          </p:cNvSpPr>
          <p:nvPr/>
        </p:nvSpPr>
        <p:spPr bwMode="auto">
          <a:xfrm>
            <a:off x="8443913" y="3162300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9</a:t>
            </a:r>
          </a:p>
        </p:txBody>
      </p:sp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8415338" y="4125913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10</a:t>
            </a: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6858000" y="395446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6</a:t>
            </a:r>
          </a:p>
        </p:txBody>
      </p:sp>
      <p:sp>
        <p:nvSpPr>
          <p:cNvPr id="871467" name="Oval 43"/>
          <p:cNvSpPr>
            <a:spLocks noChangeArrowheads="1"/>
          </p:cNvSpPr>
          <p:nvPr/>
        </p:nvSpPr>
        <p:spPr bwMode="auto">
          <a:xfrm>
            <a:off x="5957888" y="2863850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1468" name="Oval 44"/>
          <p:cNvSpPr>
            <a:spLocks noChangeArrowheads="1"/>
          </p:cNvSpPr>
          <p:nvPr/>
        </p:nvSpPr>
        <p:spPr bwMode="auto">
          <a:xfrm>
            <a:off x="5276850" y="3598863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71469" name="Freeform 45"/>
          <p:cNvSpPr>
            <a:spLocks/>
          </p:cNvSpPr>
          <p:nvPr/>
        </p:nvSpPr>
        <p:spPr bwMode="auto">
          <a:xfrm>
            <a:off x="5330825" y="2913063"/>
            <a:ext cx="682625" cy="2235200"/>
          </a:xfrm>
          <a:custGeom>
            <a:avLst/>
            <a:gdLst>
              <a:gd name="T0" fmla="*/ 0 w 430"/>
              <a:gd name="T1" fmla="*/ 0 h 1408"/>
              <a:gd name="T2" fmla="*/ 604838 w 430"/>
              <a:gd name="T3" fmla="*/ 712788 h 1408"/>
              <a:gd name="T4" fmla="*/ 465138 w 430"/>
              <a:gd name="T5" fmla="*/ 1177925 h 1408"/>
              <a:gd name="T6" fmla="*/ 449263 w 430"/>
              <a:gd name="T7" fmla="*/ 2062163 h 1408"/>
              <a:gd name="T8" fmla="*/ 496888 w 430"/>
              <a:gd name="T9" fmla="*/ 2216150 h 14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0" h="1408">
                <a:moveTo>
                  <a:pt x="0" y="0"/>
                </a:moveTo>
                <a:cubicBezTo>
                  <a:pt x="166" y="162"/>
                  <a:pt x="332" y="325"/>
                  <a:pt x="381" y="449"/>
                </a:cubicBezTo>
                <a:cubicBezTo>
                  <a:pt x="430" y="573"/>
                  <a:pt x="309" y="600"/>
                  <a:pt x="293" y="742"/>
                </a:cubicBezTo>
                <a:cubicBezTo>
                  <a:pt x="277" y="884"/>
                  <a:pt x="280" y="1190"/>
                  <a:pt x="283" y="1299"/>
                </a:cubicBezTo>
                <a:cubicBezTo>
                  <a:pt x="286" y="1408"/>
                  <a:pt x="299" y="1402"/>
                  <a:pt x="313" y="1396"/>
                </a:cubicBezTo>
              </a:path>
            </a:pathLst>
          </a:custGeom>
          <a:noFill/>
          <a:ln w="9525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1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87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7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87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28" grpId="0" animBg="1"/>
      <p:bldP spid="871467" grpId="0" animBg="1"/>
      <p:bldP spid="871468" grpId="0" animBg="1"/>
      <p:bldP spid="87146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How to Find Light Edges Quickly?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19200"/>
            <a:ext cx="9372600" cy="53355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Use a priority queue Q  contains vertices not yet included in the tree, i.e., (V – VA)</a:t>
            </a:r>
          </a:p>
          <a:p>
            <a:pPr lvl="1"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EX:  V</a:t>
            </a:r>
            <a:r>
              <a:rPr lang="en-US" sz="2400" baseline="-250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= {a, b}, Q = {c, d, e, f, g, h,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}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We associate a key with each vertex v: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key[v] = minimum weight of any edge (u, v) connecting v to V</a:t>
            </a:r>
            <a:r>
              <a:rPr lang="en-US" sz="2400" b="1" baseline="-2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</a:t>
            </a:r>
          </a:p>
        </p:txBody>
      </p:sp>
      <p:grpSp>
        <p:nvGrpSpPr>
          <p:cNvPr id="19461" name="Group 4"/>
          <p:cNvGrpSpPr>
            <a:grpSpLocks/>
          </p:cNvGrpSpPr>
          <p:nvPr/>
        </p:nvGrpSpPr>
        <p:grpSpPr bwMode="auto">
          <a:xfrm>
            <a:off x="2590800" y="4228871"/>
            <a:ext cx="4953000" cy="2552929"/>
            <a:chOff x="3303" y="2273"/>
            <a:chExt cx="2344" cy="1362"/>
          </a:xfrm>
        </p:grpSpPr>
        <p:sp>
          <p:nvSpPr>
            <p:cNvPr id="19469" name="Oval 5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a</a:t>
              </a:r>
            </a:p>
          </p:txBody>
        </p:sp>
        <p:sp>
          <p:nvSpPr>
            <p:cNvPr id="19470" name="Oval 6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b</a:t>
              </a:r>
            </a:p>
          </p:txBody>
        </p:sp>
        <p:sp>
          <p:nvSpPr>
            <p:cNvPr id="19471" name="Oval 7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c</a:t>
              </a:r>
            </a:p>
          </p:txBody>
        </p:sp>
        <p:sp>
          <p:nvSpPr>
            <p:cNvPr id="19472" name="Oval 8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d</a:t>
              </a:r>
            </a:p>
          </p:txBody>
        </p:sp>
        <p:sp>
          <p:nvSpPr>
            <p:cNvPr id="19473" name="Oval 9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e</a:t>
              </a:r>
            </a:p>
          </p:txBody>
        </p:sp>
        <p:sp>
          <p:nvSpPr>
            <p:cNvPr id="19474" name="Oval 10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h</a:t>
              </a:r>
            </a:p>
          </p:txBody>
        </p:sp>
        <p:sp>
          <p:nvSpPr>
            <p:cNvPr id="19475" name="Oval 11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g</a:t>
              </a:r>
            </a:p>
          </p:txBody>
        </p:sp>
        <p:sp>
          <p:nvSpPr>
            <p:cNvPr id="19476" name="Oval 12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 dirty="0"/>
                <a:t>f</a:t>
              </a:r>
            </a:p>
          </p:txBody>
        </p:sp>
        <p:sp>
          <p:nvSpPr>
            <p:cNvPr id="19477" name="Oval 13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i</a:t>
              </a:r>
            </a:p>
          </p:txBody>
        </p:sp>
        <p:sp>
          <p:nvSpPr>
            <p:cNvPr id="19478" name="Line 14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79" name="Line 15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0" name="Line 16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1" name="Line 17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2" name="Line 18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3" name="Line 19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4" name="Line 20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5" name="Line 21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6" name="Line 22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7" name="Line 23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8" name="Line 24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9" name="Line 25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90" name="Line 26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91" name="Line 27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92" name="Text Box 28"/>
            <p:cNvSpPr txBox="1">
              <a:spLocks noChangeArrowheads="1"/>
            </p:cNvSpPr>
            <p:nvPr/>
          </p:nvSpPr>
          <p:spPr bwMode="auto">
            <a:xfrm>
              <a:off x="3489" y="2541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4</a:t>
              </a:r>
            </a:p>
          </p:txBody>
        </p:sp>
        <p:sp>
          <p:nvSpPr>
            <p:cNvPr id="19493" name="Text Box 29"/>
            <p:cNvSpPr txBox="1">
              <a:spLocks noChangeArrowheads="1"/>
            </p:cNvSpPr>
            <p:nvPr/>
          </p:nvSpPr>
          <p:spPr bwMode="auto">
            <a:xfrm>
              <a:off x="4089" y="2273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8</a:t>
              </a:r>
            </a:p>
          </p:txBody>
        </p:sp>
        <p:sp>
          <p:nvSpPr>
            <p:cNvPr id="19494" name="Text Box 30"/>
            <p:cNvSpPr txBox="1">
              <a:spLocks noChangeArrowheads="1"/>
            </p:cNvSpPr>
            <p:nvPr/>
          </p:nvSpPr>
          <p:spPr bwMode="auto">
            <a:xfrm>
              <a:off x="4696" y="2286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7</a:t>
              </a:r>
            </a:p>
          </p:txBody>
        </p:sp>
        <p:sp>
          <p:nvSpPr>
            <p:cNvPr id="19495" name="Text Box 31"/>
            <p:cNvSpPr txBox="1">
              <a:spLocks noChangeArrowheads="1"/>
            </p:cNvSpPr>
            <p:nvPr/>
          </p:nvSpPr>
          <p:spPr bwMode="auto">
            <a:xfrm>
              <a:off x="3500" y="3109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8</a:t>
              </a:r>
            </a:p>
          </p:txBody>
        </p:sp>
        <p:sp>
          <p:nvSpPr>
            <p:cNvPr id="19496" name="Text Box 32"/>
            <p:cNvSpPr txBox="1">
              <a:spLocks noChangeArrowheads="1"/>
            </p:cNvSpPr>
            <p:nvPr/>
          </p:nvSpPr>
          <p:spPr bwMode="auto">
            <a:xfrm>
              <a:off x="3636" y="2942"/>
              <a:ext cx="242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11</a:t>
              </a:r>
            </a:p>
          </p:txBody>
        </p:sp>
        <p:sp>
          <p:nvSpPr>
            <p:cNvPr id="19497" name="Text Box 33"/>
            <p:cNvSpPr txBox="1">
              <a:spLocks noChangeArrowheads="1"/>
            </p:cNvSpPr>
            <p:nvPr/>
          </p:nvSpPr>
          <p:spPr bwMode="auto">
            <a:xfrm>
              <a:off x="4095" y="3389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</a:t>
              </a:r>
            </a:p>
          </p:txBody>
        </p:sp>
        <p:sp>
          <p:nvSpPr>
            <p:cNvPr id="19498" name="Text Box 34"/>
            <p:cNvSpPr txBox="1">
              <a:spLocks noChangeArrowheads="1"/>
            </p:cNvSpPr>
            <p:nvPr/>
          </p:nvSpPr>
          <p:spPr bwMode="auto">
            <a:xfrm>
              <a:off x="4690" y="3380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2</a:t>
              </a:r>
            </a:p>
          </p:txBody>
        </p:sp>
        <p:sp>
          <p:nvSpPr>
            <p:cNvPr id="19499" name="Text Box 35"/>
            <p:cNvSpPr txBox="1">
              <a:spLocks noChangeArrowheads="1"/>
            </p:cNvSpPr>
            <p:nvPr/>
          </p:nvSpPr>
          <p:spPr bwMode="auto">
            <a:xfrm>
              <a:off x="3889" y="3039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7</a:t>
              </a:r>
            </a:p>
          </p:txBody>
        </p:sp>
        <p:sp>
          <p:nvSpPr>
            <p:cNvPr id="19500" name="Text Box 36"/>
            <p:cNvSpPr txBox="1">
              <a:spLocks noChangeArrowheads="1"/>
            </p:cNvSpPr>
            <p:nvPr/>
          </p:nvSpPr>
          <p:spPr bwMode="auto">
            <a:xfrm>
              <a:off x="4280" y="2643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2</a:t>
              </a:r>
            </a:p>
          </p:txBody>
        </p:sp>
        <p:sp>
          <p:nvSpPr>
            <p:cNvPr id="19501" name="Text Box 37"/>
            <p:cNvSpPr txBox="1">
              <a:spLocks noChangeArrowheads="1"/>
            </p:cNvSpPr>
            <p:nvPr/>
          </p:nvSpPr>
          <p:spPr bwMode="auto">
            <a:xfrm>
              <a:off x="4631" y="2872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4</a:t>
              </a:r>
            </a:p>
          </p:txBody>
        </p:sp>
        <p:sp>
          <p:nvSpPr>
            <p:cNvPr id="19502" name="Text Box 38"/>
            <p:cNvSpPr txBox="1">
              <a:spLocks noChangeArrowheads="1"/>
            </p:cNvSpPr>
            <p:nvPr/>
          </p:nvSpPr>
          <p:spPr bwMode="auto">
            <a:xfrm>
              <a:off x="5063" y="2832"/>
              <a:ext cx="250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14</a:t>
              </a:r>
            </a:p>
          </p:txBody>
        </p:sp>
        <p:sp>
          <p:nvSpPr>
            <p:cNvPr id="19503" name="Text Box 39"/>
            <p:cNvSpPr txBox="1">
              <a:spLocks noChangeArrowheads="1"/>
            </p:cNvSpPr>
            <p:nvPr/>
          </p:nvSpPr>
          <p:spPr bwMode="auto">
            <a:xfrm>
              <a:off x="5288" y="2526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9</a:t>
              </a:r>
            </a:p>
          </p:txBody>
        </p:sp>
        <p:sp>
          <p:nvSpPr>
            <p:cNvPr id="19504" name="Text Box 40"/>
            <p:cNvSpPr txBox="1">
              <a:spLocks noChangeArrowheads="1"/>
            </p:cNvSpPr>
            <p:nvPr/>
          </p:nvSpPr>
          <p:spPr bwMode="auto">
            <a:xfrm>
              <a:off x="5270" y="3133"/>
              <a:ext cx="250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10</a:t>
              </a:r>
            </a:p>
          </p:txBody>
        </p:sp>
        <p:sp>
          <p:nvSpPr>
            <p:cNvPr id="19505" name="Text Box 41"/>
            <p:cNvSpPr txBox="1">
              <a:spLocks noChangeArrowheads="1"/>
            </p:cNvSpPr>
            <p:nvPr/>
          </p:nvSpPr>
          <p:spPr bwMode="auto">
            <a:xfrm>
              <a:off x="4289" y="3025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6</a:t>
              </a:r>
            </a:p>
          </p:txBody>
        </p:sp>
      </p:grpSp>
      <p:sp>
        <p:nvSpPr>
          <p:cNvPr id="19462" name="Oval 42"/>
          <p:cNvSpPr>
            <a:spLocks noChangeArrowheads="1"/>
          </p:cNvSpPr>
          <p:nvPr/>
        </p:nvSpPr>
        <p:spPr bwMode="auto">
          <a:xfrm>
            <a:off x="3513137" y="6096000"/>
            <a:ext cx="525463" cy="533400"/>
          </a:xfrm>
          <a:prstGeom prst="ellips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6" name="Text Box 47"/>
          <p:cNvSpPr txBox="1">
            <a:spLocks noChangeArrowheads="1"/>
          </p:cNvSpPr>
          <p:nvPr/>
        </p:nvSpPr>
        <p:spPr bwMode="auto">
          <a:xfrm>
            <a:off x="0" y="6182380"/>
            <a:ext cx="31736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solidFill>
                  <a:srgbClr val="DD0111"/>
                </a:solidFill>
              </a:rPr>
              <a:t>Key[h]=</a:t>
            </a:r>
            <a:r>
              <a:rPr lang="en-US" sz="2800" b="1" dirty="0"/>
              <a:t>min(8, 11)</a:t>
            </a:r>
          </a:p>
        </p:txBody>
      </p:sp>
      <p:sp>
        <p:nvSpPr>
          <p:cNvPr id="50" name="Freeform 45"/>
          <p:cNvSpPr>
            <a:spLocks/>
          </p:cNvSpPr>
          <p:nvPr/>
        </p:nvSpPr>
        <p:spPr bwMode="auto">
          <a:xfrm>
            <a:off x="2416158" y="3886199"/>
            <a:ext cx="1820887" cy="2077915"/>
          </a:xfrm>
          <a:custGeom>
            <a:avLst/>
            <a:gdLst>
              <a:gd name="T0" fmla="*/ 0 w 430"/>
              <a:gd name="T1" fmla="*/ 0 h 1408"/>
              <a:gd name="T2" fmla="*/ 604838 w 430"/>
              <a:gd name="T3" fmla="*/ 712788 h 1408"/>
              <a:gd name="T4" fmla="*/ 465138 w 430"/>
              <a:gd name="T5" fmla="*/ 1177925 h 1408"/>
              <a:gd name="T6" fmla="*/ 449263 w 430"/>
              <a:gd name="T7" fmla="*/ 2062163 h 1408"/>
              <a:gd name="T8" fmla="*/ 496888 w 430"/>
              <a:gd name="T9" fmla="*/ 2216150 h 14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connsiteX0" fmla="*/ 17070 w 27070"/>
              <a:gd name="connsiteY0" fmla="*/ 0 h 10000"/>
              <a:gd name="connsiteX1" fmla="*/ 25930 w 27070"/>
              <a:gd name="connsiteY1" fmla="*/ 3189 h 10000"/>
              <a:gd name="connsiteX2" fmla="*/ 23884 w 27070"/>
              <a:gd name="connsiteY2" fmla="*/ 5270 h 10000"/>
              <a:gd name="connsiteX3" fmla="*/ 23651 w 27070"/>
              <a:gd name="connsiteY3" fmla="*/ 9226 h 10000"/>
              <a:gd name="connsiteX4" fmla="*/ 326 w 27070"/>
              <a:gd name="connsiteY4" fmla="*/ 8182 h 10000"/>
              <a:gd name="connsiteX0" fmla="*/ 17070 w 27070"/>
              <a:gd name="connsiteY0" fmla="*/ 0 h 8956"/>
              <a:gd name="connsiteX1" fmla="*/ 25930 w 27070"/>
              <a:gd name="connsiteY1" fmla="*/ 3189 h 8956"/>
              <a:gd name="connsiteX2" fmla="*/ 23884 w 27070"/>
              <a:gd name="connsiteY2" fmla="*/ 5270 h 8956"/>
              <a:gd name="connsiteX3" fmla="*/ 12605 w 27070"/>
              <a:gd name="connsiteY3" fmla="*/ 8182 h 8956"/>
              <a:gd name="connsiteX4" fmla="*/ 326 w 27070"/>
              <a:gd name="connsiteY4" fmla="*/ 8182 h 8956"/>
              <a:gd name="connsiteX0" fmla="*/ 6306 w 9854"/>
              <a:gd name="connsiteY0" fmla="*/ 0 h 10000"/>
              <a:gd name="connsiteX1" fmla="*/ 9579 w 9854"/>
              <a:gd name="connsiteY1" fmla="*/ 3561 h 10000"/>
              <a:gd name="connsiteX2" fmla="*/ 7955 w 9854"/>
              <a:gd name="connsiteY2" fmla="*/ 5710 h 10000"/>
              <a:gd name="connsiteX3" fmla="*/ 4656 w 9854"/>
              <a:gd name="connsiteY3" fmla="*/ 9136 h 10000"/>
              <a:gd name="connsiteX4" fmla="*/ 120 w 9854"/>
              <a:gd name="connsiteY4" fmla="*/ 9136 h 10000"/>
              <a:gd name="connsiteX0" fmla="*/ 6399 w 10000"/>
              <a:gd name="connsiteY0" fmla="*/ 0 h 10380"/>
              <a:gd name="connsiteX1" fmla="*/ 9721 w 10000"/>
              <a:gd name="connsiteY1" fmla="*/ 3561 h 10380"/>
              <a:gd name="connsiteX2" fmla="*/ 8073 w 10000"/>
              <a:gd name="connsiteY2" fmla="*/ 5710 h 10380"/>
              <a:gd name="connsiteX3" fmla="*/ 3888 w 10000"/>
              <a:gd name="connsiteY3" fmla="*/ 9516 h 10380"/>
              <a:gd name="connsiteX4" fmla="*/ 122 w 10000"/>
              <a:gd name="connsiteY4" fmla="*/ 9136 h 10380"/>
              <a:gd name="connsiteX0" fmla="*/ 6399 w 10000"/>
              <a:gd name="connsiteY0" fmla="*/ 0 h 10380"/>
              <a:gd name="connsiteX1" fmla="*/ 9721 w 10000"/>
              <a:gd name="connsiteY1" fmla="*/ 3561 h 10380"/>
              <a:gd name="connsiteX2" fmla="*/ 8073 w 10000"/>
              <a:gd name="connsiteY2" fmla="*/ 5710 h 10380"/>
              <a:gd name="connsiteX3" fmla="*/ 3888 w 10000"/>
              <a:gd name="connsiteY3" fmla="*/ 9516 h 10380"/>
              <a:gd name="connsiteX4" fmla="*/ 122 w 10000"/>
              <a:gd name="connsiteY4" fmla="*/ 9516 h 10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380">
                <a:moveTo>
                  <a:pt x="6399" y="0"/>
                </a:moveTo>
                <a:cubicBezTo>
                  <a:pt x="7847" y="1285"/>
                  <a:pt x="9442" y="2609"/>
                  <a:pt x="9721" y="3561"/>
                </a:cubicBezTo>
                <a:cubicBezTo>
                  <a:pt x="10000" y="4513"/>
                  <a:pt x="9045" y="4718"/>
                  <a:pt x="8073" y="5710"/>
                </a:cubicBezTo>
                <a:cubicBezTo>
                  <a:pt x="7101" y="6703"/>
                  <a:pt x="3863" y="8652"/>
                  <a:pt x="3888" y="9516"/>
                </a:cubicBezTo>
                <a:cubicBezTo>
                  <a:pt x="3914" y="10380"/>
                  <a:pt x="0" y="9563"/>
                  <a:pt x="122" y="9516"/>
                </a:cubicBezTo>
              </a:path>
            </a:pathLst>
          </a:custGeom>
          <a:noFill/>
          <a:ln w="9525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2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 animBg="1"/>
      <p:bldP spid="19466" grpId="0"/>
      <p:bldP spid="5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How to Find Light Edges Quickly?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19200"/>
            <a:ext cx="8534400" cy="53355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Initially </a:t>
            </a:r>
            <a:r>
              <a:rPr lang="en-US" sz="24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 </a:t>
            </a:r>
            <a:r>
              <a:rPr lang="en-US" sz="2400" b="1" dirty="0">
                <a:solidFill>
                  <a:schemeClr val="tx1"/>
                </a:solidFill>
                <a:latin typeface="+mn-lt"/>
              </a:rPr>
              <a:t>Key of v is </a:t>
            </a:r>
            <a:r>
              <a:rPr lang="en-US" sz="2400" b="1" dirty="0">
                <a:solidFill>
                  <a:schemeClr val="tx1"/>
                </a:solidFill>
                <a:latin typeface="+mn-lt"/>
                <a:sym typeface="Symbol" pitchFamily="18" charset="2"/>
              </a:rPr>
              <a:t> </a:t>
            </a:r>
            <a:r>
              <a:rPr lang="en-US" sz="2400" b="1" dirty="0">
                <a:solidFill>
                  <a:schemeClr val="tx1"/>
                </a:solidFill>
                <a:latin typeface="+mn-lt"/>
              </a:rPr>
              <a:t>if v is not adjacent to any vertices in V</a:t>
            </a:r>
            <a:r>
              <a:rPr lang="en-US" sz="2400" b="1" baseline="-25000" dirty="0">
                <a:solidFill>
                  <a:schemeClr val="tx1"/>
                </a:solidFill>
                <a:latin typeface="+mn-lt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After adding a new node to V</a:t>
            </a:r>
            <a:r>
              <a:rPr lang="en-US" sz="2400" baseline="-250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 </a:t>
            </a:r>
            <a:r>
              <a:rPr lang="en-US" sz="2400" b="1" dirty="0">
                <a:solidFill>
                  <a:schemeClr val="tx1"/>
                </a:solidFill>
                <a:latin typeface="+mn-lt"/>
                <a:sym typeface="Wingdings" pitchFamily="2" charset="2"/>
              </a:rPr>
              <a:t>W</a:t>
            </a:r>
            <a:r>
              <a:rPr lang="en-US" sz="2400" b="1" dirty="0">
                <a:solidFill>
                  <a:schemeClr val="tx1"/>
                </a:solidFill>
                <a:latin typeface="+mn-lt"/>
              </a:rPr>
              <a:t>e update the weights of all the nodes </a:t>
            </a:r>
            <a:r>
              <a:rPr lang="en-US" sz="2400" b="1" u="sng" dirty="0">
                <a:solidFill>
                  <a:schemeClr val="tx1"/>
                </a:solidFill>
                <a:latin typeface="+mn-lt"/>
              </a:rPr>
              <a:t>adjacent to it</a:t>
            </a:r>
          </a:p>
          <a:p>
            <a:pPr>
              <a:lnSpc>
                <a:spcPct val="120000"/>
              </a:lnSpc>
            </a:pPr>
            <a:r>
              <a:rPr lang="en-US" sz="2400" b="1" u="sng" dirty="0">
                <a:solidFill>
                  <a:srgbClr val="C00000"/>
                </a:solidFill>
                <a:latin typeface="+mn-lt"/>
              </a:rPr>
              <a:t>EX: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after adding 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a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to the tree, 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k[b]=4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and </a:t>
            </a:r>
            <a:r>
              <a:rPr lang="en-US" sz="2400" b="1" dirty="0">
                <a:solidFill>
                  <a:srgbClr val="C00000"/>
                </a:solidFill>
                <a:latin typeface="+mn-lt"/>
              </a:rPr>
              <a:t>k[h]=8</a:t>
            </a:r>
          </a:p>
          <a:p>
            <a:pPr>
              <a:lnSpc>
                <a:spcPct val="120000"/>
              </a:lnSpc>
            </a:pPr>
            <a:endParaRPr lang="en-US" sz="2400" b="1" baseline="-250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09800" y="4228871"/>
            <a:ext cx="4953000" cy="2552929"/>
            <a:chOff x="3303" y="2273"/>
            <a:chExt cx="2344" cy="1362"/>
          </a:xfrm>
        </p:grpSpPr>
        <p:sp>
          <p:nvSpPr>
            <p:cNvPr id="19469" name="Oval 5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a</a:t>
              </a:r>
            </a:p>
          </p:txBody>
        </p:sp>
        <p:sp>
          <p:nvSpPr>
            <p:cNvPr id="19470" name="Oval 6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57150">
              <a:solidFill>
                <a:srgbClr val="7030A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b</a:t>
              </a:r>
            </a:p>
          </p:txBody>
        </p:sp>
        <p:sp>
          <p:nvSpPr>
            <p:cNvPr id="19471" name="Oval 7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c</a:t>
              </a:r>
            </a:p>
          </p:txBody>
        </p:sp>
        <p:sp>
          <p:nvSpPr>
            <p:cNvPr id="19472" name="Oval 8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d</a:t>
              </a:r>
            </a:p>
          </p:txBody>
        </p:sp>
        <p:sp>
          <p:nvSpPr>
            <p:cNvPr id="19473" name="Oval 9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e</a:t>
              </a:r>
            </a:p>
          </p:txBody>
        </p:sp>
        <p:sp>
          <p:nvSpPr>
            <p:cNvPr id="19474" name="Oval 10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57150">
              <a:solidFill>
                <a:srgbClr val="7030A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h</a:t>
              </a:r>
            </a:p>
          </p:txBody>
        </p:sp>
        <p:sp>
          <p:nvSpPr>
            <p:cNvPr id="19475" name="Oval 11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g</a:t>
              </a:r>
            </a:p>
          </p:txBody>
        </p:sp>
        <p:sp>
          <p:nvSpPr>
            <p:cNvPr id="19476" name="Oval 12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 dirty="0"/>
                <a:t>f</a:t>
              </a:r>
            </a:p>
          </p:txBody>
        </p:sp>
        <p:sp>
          <p:nvSpPr>
            <p:cNvPr id="19477" name="Oval 13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400" b="1"/>
                <a:t>i</a:t>
              </a:r>
            </a:p>
          </p:txBody>
        </p:sp>
        <p:sp>
          <p:nvSpPr>
            <p:cNvPr id="19478" name="Line 14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79" name="Line 15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0" name="Line 16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1" name="Line 17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2" name="Line 18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3" name="Line 19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4" name="Line 20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57150">
              <a:solidFill>
                <a:srgbClr val="7030A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5" name="Line 21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6" name="Line 22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7" name="Line 23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57150">
              <a:solidFill>
                <a:srgbClr val="7030A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8" name="Line 24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89" name="Line 25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90" name="Line 26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91" name="Line 27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 b="1"/>
            </a:p>
          </p:txBody>
        </p:sp>
        <p:sp>
          <p:nvSpPr>
            <p:cNvPr id="19492" name="Text Box 28"/>
            <p:cNvSpPr txBox="1">
              <a:spLocks noChangeArrowheads="1"/>
            </p:cNvSpPr>
            <p:nvPr/>
          </p:nvSpPr>
          <p:spPr bwMode="auto">
            <a:xfrm>
              <a:off x="3489" y="2541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4</a:t>
              </a:r>
            </a:p>
          </p:txBody>
        </p:sp>
        <p:sp>
          <p:nvSpPr>
            <p:cNvPr id="19493" name="Text Box 29"/>
            <p:cNvSpPr txBox="1">
              <a:spLocks noChangeArrowheads="1"/>
            </p:cNvSpPr>
            <p:nvPr/>
          </p:nvSpPr>
          <p:spPr bwMode="auto">
            <a:xfrm>
              <a:off x="4089" y="2273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8</a:t>
              </a:r>
            </a:p>
          </p:txBody>
        </p:sp>
        <p:sp>
          <p:nvSpPr>
            <p:cNvPr id="19494" name="Text Box 30"/>
            <p:cNvSpPr txBox="1">
              <a:spLocks noChangeArrowheads="1"/>
            </p:cNvSpPr>
            <p:nvPr/>
          </p:nvSpPr>
          <p:spPr bwMode="auto">
            <a:xfrm>
              <a:off x="4696" y="2286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7</a:t>
              </a:r>
            </a:p>
          </p:txBody>
        </p:sp>
        <p:sp>
          <p:nvSpPr>
            <p:cNvPr id="19495" name="Text Box 31"/>
            <p:cNvSpPr txBox="1">
              <a:spLocks noChangeArrowheads="1"/>
            </p:cNvSpPr>
            <p:nvPr/>
          </p:nvSpPr>
          <p:spPr bwMode="auto">
            <a:xfrm>
              <a:off x="3500" y="3109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8</a:t>
              </a:r>
            </a:p>
          </p:txBody>
        </p:sp>
        <p:sp>
          <p:nvSpPr>
            <p:cNvPr id="19496" name="Text Box 32"/>
            <p:cNvSpPr txBox="1">
              <a:spLocks noChangeArrowheads="1"/>
            </p:cNvSpPr>
            <p:nvPr/>
          </p:nvSpPr>
          <p:spPr bwMode="auto">
            <a:xfrm>
              <a:off x="3636" y="2942"/>
              <a:ext cx="242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11</a:t>
              </a:r>
            </a:p>
          </p:txBody>
        </p:sp>
        <p:sp>
          <p:nvSpPr>
            <p:cNvPr id="19497" name="Text Box 33"/>
            <p:cNvSpPr txBox="1">
              <a:spLocks noChangeArrowheads="1"/>
            </p:cNvSpPr>
            <p:nvPr/>
          </p:nvSpPr>
          <p:spPr bwMode="auto">
            <a:xfrm>
              <a:off x="4095" y="3389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</a:t>
              </a:r>
            </a:p>
          </p:txBody>
        </p:sp>
        <p:sp>
          <p:nvSpPr>
            <p:cNvPr id="19498" name="Text Box 34"/>
            <p:cNvSpPr txBox="1">
              <a:spLocks noChangeArrowheads="1"/>
            </p:cNvSpPr>
            <p:nvPr/>
          </p:nvSpPr>
          <p:spPr bwMode="auto">
            <a:xfrm>
              <a:off x="4690" y="3380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2</a:t>
              </a:r>
            </a:p>
          </p:txBody>
        </p:sp>
        <p:sp>
          <p:nvSpPr>
            <p:cNvPr id="19499" name="Text Box 35"/>
            <p:cNvSpPr txBox="1">
              <a:spLocks noChangeArrowheads="1"/>
            </p:cNvSpPr>
            <p:nvPr/>
          </p:nvSpPr>
          <p:spPr bwMode="auto">
            <a:xfrm>
              <a:off x="3889" y="3039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7</a:t>
              </a:r>
            </a:p>
          </p:txBody>
        </p:sp>
        <p:sp>
          <p:nvSpPr>
            <p:cNvPr id="19500" name="Text Box 36"/>
            <p:cNvSpPr txBox="1">
              <a:spLocks noChangeArrowheads="1"/>
            </p:cNvSpPr>
            <p:nvPr/>
          </p:nvSpPr>
          <p:spPr bwMode="auto">
            <a:xfrm>
              <a:off x="4280" y="2643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2</a:t>
              </a:r>
            </a:p>
          </p:txBody>
        </p:sp>
        <p:sp>
          <p:nvSpPr>
            <p:cNvPr id="19501" name="Text Box 37"/>
            <p:cNvSpPr txBox="1">
              <a:spLocks noChangeArrowheads="1"/>
            </p:cNvSpPr>
            <p:nvPr/>
          </p:nvSpPr>
          <p:spPr bwMode="auto">
            <a:xfrm>
              <a:off x="4631" y="2872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4</a:t>
              </a:r>
            </a:p>
          </p:txBody>
        </p:sp>
        <p:sp>
          <p:nvSpPr>
            <p:cNvPr id="19502" name="Text Box 38"/>
            <p:cNvSpPr txBox="1">
              <a:spLocks noChangeArrowheads="1"/>
            </p:cNvSpPr>
            <p:nvPr/>
          </p:nvSpPr>
          <p:spPr bwMode="auto">
            <a:xfrm>
              <a:off x="5063" y="2832"/>
              <a:ext cx="250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14</a:t>
              </a:r>
            </a:p>
          </p:txBody>
        </p:sp>
        <p:sp>
          <p:nvSpPr>
            <p:cNvPr id="19503" name="Text Box 39"/>
            <p:cNvSpPr txBox="1">
              <a:spLocks noChangeArrowheads="1"/>
            </p:cNvSpPr>
            <p:nvPr/>
          </p:nvSpPr>
          <p:spPr bwMode="auto">
            <a:xfrm>
              <a:off x="5288" y="2526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/>
                <a:t>9</a:t>
              </a:r>
            </a:p>
          </p:txBody>
        </p:sp>
        <p:sp>
          <p:nvSpPr>
            <p:cNvPr id="19504" name="Text Box 40"/>
            <p:cNvSpPr txBox="1">
              <a:spLocks noChangeArrowheads="1"/>
            </p:cNvSpPr>
            <p:nvPr/>
          </p:nvSpPr>
          <p:spPr bwMode="auto">
            <a:xfrm>
              <a:off x="5270" y="3133"/>
              <a:ext cx="250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10</a:t>
              </a:r>
            </a:p>
          </p:txBody>
        </p:sp>
        <p:sp>
          <p:nvSpPr>
            <p:cNvPr id="19505" name="Text Box 41"/>
            <p:cNvSpPr txBox="1">
              <a:spLocks noChangeArrowheads="1"/>
            </p:cNvSpPr>
            <p:nvPr/>
          </p:nvSpPr>
          <p:spPr bwMode="auto">
            <a:xfrm>
              <a:off x="4289" y="3025"/>
              <a:ext cx="169" cy="2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400" b="1" dirty="0"/>
                <a:t>6</a:t>
              </a:r>
            </a:p>
          </p:txBody>
        </p:sp>
      </p:grpSp>
      <p:sp>
        <p:nvSpPr>
          <p:cNvPr id="45" name="Freeform 45"/>
          <p:cNvSpPr>
            <a:spLocks/>
          </p:cNvSpPr>
          <p:nvPr/>
        </p:nvSpPr>
        <p:spPr bwMode="auto">
          <a:xfrm>
            <a:off x="2438400" y="4267200"/>
            <a:ext cx="682625" cy="2235200"/>
          </a:xfrm>
          <a:custGeom>
            <a:avLst/>
            <a:gdLst>
              <a:gd name="T0" fmla="*/ 0 w 430"/>
              <a:gd name="T1" fmla="*/ 0 h 1408"/>
              <a:gd name="T2" fmla="*/ 604838 w 430"/>
              <a:gd name="T3" fmla="*/ 712788 h 1408"/>
              <a:gd name="T4" fmla="*/ 465138 w 430"/>
              <a:gd name="T5" fmla="*/ 1177925 h 1408"/>
              <a:gd name="T6" fmla="*/ 449263 w 430"/>
              <a:gd name="T7" fmla="*/ 2062163 h 1408"/>
              <a:gd name="T8" fmla="*/ 496888 w 430"/>
              <a:gd name="T9" fmla="*/ 2216150 h 14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30" h="1408">
                <a:moveTo>
                  <a:pt x="0" y="0"/>
                </a:moveTo>
                <a:cubicBezTo>
                  <a:pt x="166" y="162"/>
                  <a:pt x="332" y="325"/>
                  <a:pt x="381" y="449"/>
                </a:cubicBezTo>
                <a:cubicBezTo>
                  <a:pt x="430" y="573"/>
                  <a:pt x="309" y="600"/>
                  <a:pt x="293" y="742"/>
                </a:cubicBezTo>
                <a:cubicBezTo>
                  <a:pt x="277" y="884"/>
                  <a:pt x="280" y="1190"/>
                  <a:pt x="283" y="1299"/>
                </a:cubicBezTo>
                <a:cubicBezTo>
                  <a:pt x="286" y="1408"/>
                  <a:pt x="299" y="1402"/>
                  <a:pt x="313" y="1396"/>
                </a:cubicBezTo>
              </a:path>
            </a:pathLst>
          </a:custGeom>
          <a:noFill/>
          <a:ln w="38100">
            <a:solidFill>
              <a:srgbClr val="DD011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23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384675" y="1214438"/>
            <a:ext cx="4195763" cy="2073275"/>
          </a:xfrm>
          <a:ln>
            <a:noFill/>
          </a:ln>
        </p:spPr>
        <p:txBody>
          <a:bodyPr/>
          <a:lstStyle/>
          <a:p>
            <a:r>
              <a:rPr lang="en-US" sz="2400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0    </a:t>
            </a:r>
            <a:r>
              <a:rPr lang="en-US" sz="2400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          </a:t>
            </a:r>
          </a:p>
          <a:p>
            <a:pPr eaLnBrk="1" hangingPunct="1">
              <a:buFontTx/>
              <a:buNone/>
            </a:pPr>
            <a:r>
              <a:rPr lang="en-US" sz="2400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Q = {a, b, c, d, e, f, g, h, i} </a:t>
            </a:r>
          </a:p>
          <a:p>
            <a:pPr eaLnBrk="1" hangingPunct="1">
              <a:buFontTx/>
              <a:buNone/>
            </a:pPr>
            <a:r>
              <a:rPr lang="en-US" sz="2400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V</a:t>
            </a:r>
            <a:r>
              <a:rPr lang="en-US" sz="2400" baseline="-25000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</a:t>
            </a:r>
            <a:r>
              <a:rPr lang="en-US" sz="2400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= </a:t>
            </a:r>
            <a:r>
              <a:rPr lang="en-US" sz="2400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</a:t>
            </a:r>
          </a:p>
          <a:p>
            <a:pPr eaLnBrk="1" hangingPunct="1">
              <a:buFontTx/>
              <a:buNone/>
            </a:pPr>
            <a:r>
              <a:rPr lang="en-US" sz="2400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  <a:sym typeface="Symbol" pitchFamily="18" charset="2"/>
              </a:rPr>
              <a:t>Extract-MIN(Q)  a</a:t>
            </a:r>
          </a:p>
        </p:txBody>
      </p:sp>
      <p:grpSp>
        <p:nvGrpSpPr>
          <p:cNvPr id="21509" name="Group 4"/>
          <p:cNvGrpSpPr>
            <a:grpSpLocks/>
          </p:cNvGrpSpPr>
          <p:nvPr/>
        </p:nvGrpSpPr>
        <p:grpSpPr bwMode="auto">
          <a:xfrm>
            <a:off x="382588" y="1203325"/>
            <a:ext cx="3721100" cy="2108200"/>
            <a:chOff x="3303" y="2273"/>
            <a:chExt cx="2344" cy="1328"/>
          </a:xfrm>
        </p:grpSpPr>
        <p:sp>
          <p:nvSpPr>
            <p:cNvPr id="21571" name="Oval 5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21572" name="Oval 6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21573" name="Oval 7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21574" name="Oval 8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21575" name="Oval 9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21576" name="Oval 10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21577" name="Oval 11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1578" name="Oval 12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21579" name="Oval 13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21580" name="Line 14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Line 15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Line 16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Line 17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Line 18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Line 19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Line 20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Line 21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8" name="Line 22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Line 23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Line 24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Line 25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Line 26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Line 27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Text Box 28"/>
            <p:cNvSpPr txBox="1">
              <a:spLocks noChangeArrowheads="1"/>
            </p:cNvSpPr>
            <p:nvPr/>
          </p:nvSpPr>
          <p:spPr bwMode="auto">
            <a:xfrm>
              <a:off x="3489" y="25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1595" name="Text Box 29"/>
            <p:cNvSpPr txBox="1">
              <a:spLocks noChangeArrowheads="1"/>
            </p:cNvSpPr>
            <p:nvPr/>
          </p:nvSpPr>
          <p:spPr bwMode="auto">
            <a:xfrm>
              <a:off x="4089" y="227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1596" name="Text Box 30"/>
            <p:cNvSpPr txBox="1">
              <a:spLocks noChangeArrowheads="1"/>
            </p:cNvSpPr>
            <p:nvPr/>
          </p:nvSpPr>
          <p:spPr bwMode="auto">
            <a:xfrm>
              <a:off x="4696" y="228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1597" name="Text Box 31"/>
            <p:cNvSpPr txBox="1">
              <a:spLocks noChangeArrowheads="1"/>
            </p:cNvSpPr>
            <p:nvPr/>
          </p:nvSpPr>
          <p:spPr bwMode="auto">
            <a:xfrm>
              <a:off x="3500" y="310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1598" name="Text Box 32"/>
            <p:cNvSpPr txBox="1">
              <a:spLocks noChangeArrowheads="1"/>
            </p:cNvSpPr>
            <p:nvPr/>
          </p:nvSpPr>
          <p:spPr bwMode="auto">
            <a:xfrm>
              <a:off x="3636" y="2816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21599" name="Text Box 33"/>
            <p:cNvSpPr txBox="1">
              <a:spLocks noChangeArrowheads="1"/>
            </p:cNvSpPr>
            <p:nvPr/>
          </p:nvSpPr>
          <p:spPr bwMode="auto">
            <a:xfrm>
              <a:off x="4095" y="338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21600" name="Text Box 34"/>
            <p:cNvSpPr txBox="1">
              <a:spLocks noChangeArrowheads="1"/>
            </p:cNvSpPr>
            <p:nvPr/>
          </p:nvSpPr>
          <p:spPr bwMode="auto">
            <a:xfrm>
              <a:off x="4690" y="3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1601" name="Text Box 35"/>
            <p:cNvSpPr txBox="1">
              <a:spLocks noChangeArrowheads="1"/>
            </p:cNvSpPr>
            <p:nvPr/>
          </p:nvSpPr>
          <p:spPr bwMode="auto">
            <a:xfrm>
              <a:off x="3889" y="303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1602" name="Text Box 36"/>
            <p:cNvSpPr txBox="1">
              <a:spLocks noChangeArrowheads="1"/>
            </p:cNvSpPr>
            <p:nvPr/>
          </p:nvSpPr>
          <p:spPr bwMode="auto">
            <a:xfrm>
              <a:off x="4280" y="264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1603" name="Text Box 37"/>
            <p:cNvSpPr txBox="1">
              <a:spLocks noChangeArrowheads="1"/>
            </p:cNvSpPr>
            <p:nvPr/>
          </p:nvSpPr>
          <p:spPr bwMode="auto">
            <a:xfrm>
              <a:off x="4631" y="28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1604" name="Text Box 38"/>
            <p:cNvSpPr txBox="1">
              <a:spLocks noChangeArrowheads="1"/>
            </p:cNvSpPr>
            <p:nvPr/>
          </p:nvSpPr>
          <p:spPr bwMode="auto">
            <a:xfrm>
              <a:off x="5063" y="2832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21605" name="Text Box 39"/>
            <p:cNvSpPr txBox="1">
              <a:spLocks noChangeArrowheads="1"/>
            </p:cNvSpPr>
            <p:nvPr/>
          </p:nvSpPr>
          <p:spPr bwMode="auto">
            <a:xfrm>
              <a:off x="5288" y="252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21606" name="Text Box 40"/>
            <p:cNvSpPr txBox="1">
              <a:spLocks noChangeArrowheads="1"/>
            </p:cNvSpPr>
            <p:nvPr/>
          </p:nvSpPr>
          <p:spPr bwMode="auto">
            <a:xfrm>
              <a:off x="5270" y="313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21607" name="Text Box 41"/>
            <p:cNvSpPr txBox="1">
              <a:spLocks noChangeArrowheads="1"/>
            </p:cNvSpPr>
            <p:nvPr/>
          </p:nvSpPr>
          <p:spPr bwMode="auto">
            <a:xfrm>
              <a:off x="4289" y="302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6</a:t>
              </a:r>
            </a:p>
          </p:txBody>
        </p:sp>
      </p:grpSp>
      <p:sp>
        <p:nvSpPr>
          <p:cNvPr id="21510" name="Oval 42"/>
          <p:cNvSpPr>
            <a:spLocks noChangeArrowheads="1"/>
          </p:cNvSpPr>
          <p:nvPr/>
        </p:nvSpPr>
        <p:spPr bwMode="auto">
          <a:xfrm>
            <a:off x="376238" y="2057400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7611" name="Line 43"/>
          <p:cNvSpPr>
            <a:spLocks noChangeShapeType="1"/>
          </p:cNvSpPr>
          <p:nvPr/>
        </p:nvSpPr>
        <p:spPr bwMode="auto">
          <a:xfrm flipV="1">
            <a:off x="798513" y="4341813"/>
            <a:ext cx="407987" cy="40005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Oval 45"/>
          <p:cNvSpPr>
            <a:spLocks noChangeArrowheads="1"/>
          </p:cNvSpPr>
          <p:nvPr/>
        </p:nvSpPr>
        <p:spPr bwMode="auto">
          <a:xfrm>
            <a:off x="481013" y="4703763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a</a:t>
            </a:r>
          </a:p>
        </p:txBody>
      </p:sp>
      <p:sp>
        <p:nvSpPr>
          <p:cNvPr id="21513" name="Oval 46"/>
          <p:cNvSpPr>
            <a:spLocks noChangeArrowheads="1"/>
          </p:cNvSpPr>
          <p:nvPr/>
        </p:nvSpPr>
        <p:spPr bwMode="auto">
          <a:xfrm>
            <a:off x="1162050" y="3965575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b</a:t>
            </a:r>
          </a:p>
        </p:txBody>
      </p:sp>
      <p:sp>
        <p:nvSpPr>
          <p:cNvPr id="21514" name="Oval 47"/>
          <p:cNvSpPr>
            <a:spLocks noChangeArrowheads="1"/>
          </p:cNvSpPr>
          <p:nvPr/>
        </p:nvSpPr>
        <p:spPr bwMode="auto">
          <a:xfrm>
            <a:off x="2133600" y="3965575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c</a:t>
            </a:r>
          </a:p>
        </p:txBody>
      </p:sp>
      <p:sp>
        <p:nvSpPr>
          <p:cNvPr id="21515" name="Oval 48"/>
          <p:cNvSpPr>
            <a:spLocks noChangeArrowheads="1"/>
          </p:cNvSpPr>
          <p:nvPr/>
        </p:nvSpPr>
        <p:spPr bwMode="auto">
          <a:xfrm>
            <a:off x="3105150" y="3965575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d</a:t>
            </a:r>
          </a:p>
        </p:txBody>
      </p:sp>
      <p:sp>
        <p:nvSpPr>
          <p:cNvPr id="21516" name="Oval 49"/>
          <p:cNvSpPr>
            <a:spLocks noChangeArrowheads="1"/>
          </p:cNvSpPr>
          <p:nvPr/>
        </p:nvSpPr>
        <p:spPr bwMode="auto">
          <a:xfrm>
            <a:off x="3779838" y="4703763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e</a:t>
            </a:r>
          </a:p>
        </p:txBody>
      </p:sp>
      <p:sp>
        <p:nvSpPr>
          <p:cNvPr id="21517" name="Oval 50"/>
          <p:cNvSpPr>
            <a:spLocks noChangeArrowheads="1"/>
          </p:cNvSpPr>
          <p:nvPr/>
        </p:nvSpPr>
        <p:spPr bwMode="auto">
          <a:xfrm>
            <a:off x="1162050" y="5443538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h</a:t>
            </a:r>
          </a:p>
        </p:txBody>
      </p:sp>
      <p:sp>
        <p:nvSpPr>
          <p:cNvPr id="21518" name="Oval 51"/>
          <p:cNvSpPr>
            <a:spLocks noChangeArrowheads="1"/>
          </p:cNvSpPr>
          <p:nvPr/>
        </p:nvSpPr>
        <p:spPr bwMode="auto">
          <a:xfrm>
            <a:off x="2133600" y="5443538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g</a:t>
            </a:r>
          </a:p>
        </p:txBody>
      </p:sp>
      <p:sp>
        <p:nvSpPr>
          <p:cNvPr id="21519" name="Oval 52"/>
          <p:cNvSpPr>
            <a:spLocks noChangeArrowheads="1"/>
          </p:cNvSpPr>
          <p:nvPr/>
        </p:nvSpPr>
        <p:spPr bwMode="auto">
          <a:xfrm>
            <a:off x="3105150" y="5443538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</a:t>
            </a:r>
          </a:p>
        </p:txBody>
      </p:sp>
      <p:sp>
        <p:nvSpPr>
          <p:cNvPr id="21520" name="Oval 53"/>
          <p:cNvSpPr>
            <a:spLocks noChangeArrowheads="1"/>
          </p:cNvSpPr>
          <p:nvPr/>
        </p:nvSpPr>
        <p:spPr bwMode="auto">
          <a:xfrm>
            <a:off x="1647825" y="4706938"/>
            <a:ext cx="422275" cy="420687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21521" name="Line 54"/>
          <p:cNvSpPr>
            <a:spLocks noChangeShapeType="1"/>
          </p:cNvSpPr>
          <p:nvPr/>
        </p:nvSpPr>
        <p:spPr bwMode="auto">
          <a:xfrm>
            <a:off x="1360488" y="4391025"/>
            <a:ext cx="0" cy="1065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2" name="Line 55"/>
          <p:cNvSpPr>
            <a:spLocks noChangeShapeType="1"/>
          </p:cNvSpPr>
          <p:nvPr/>
        </p:nvSpPr>
        <p:spPr bwMode="auto">
          <a:xfrm>
            <a:off x="3321050" y="4392613"/>
            <a:ext cx="0" cy="10652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3" name="Line 56"/>
          <p:cNvSpPr>
            <a:spLocks noChangeShapeType="1"/>
          </p:cNvSpPr>
          <p:nvPr/>
        </p:nvSpPr>
        <p:spPr bwMode="auto">
          <a:xfrm>
            <a:off x="1581150" y="4164013"/>
            <a:ext cx="550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4" name="Line 57"/>
          <p:cNvSpPr>
            <a:spLocks noChangeShapeType="1"/>
          </p:cNvSpPr>
          <p:nvPr/>
        </p:nvSpPr>
        <p:spPr bwMode="auto">
          <a:xfrm>
            <a:off x="2551113" y="4167188"/>
            <a:ext cx="5508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5" name="Line 58"/>
          <p:cNvSpPr>
            <a:spLocks noChangeShapeType="1"/>
          </p:cNvSpPr>
          <p:nvPr/>
        </p:nvSpPr>
        <p:spPr bwMode="auto">
          <a:xfrm>
            <a:off x="1581150" y="5659438"/>
            <a:ext cx="550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6" name="Line 59"/>
          <p:cNvSpPr>
            <a:spLocks noChangeShapeType="1"/>
          </p:cNvSpPr>
          <p:nvPr/>
        </p:nvSpPr>
        <p:spPr bwMode="auto">
          <a:xfrm>
            <a:off x="2562225" y="5665788"/>
            <a:ext cx="550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7" name="Line 60"/>
          <p:cNvSpPr>
            <a:spLocks noChangeShapeType="1"/>
          </p:cNvSpPr>
          <p:nvPr/>
        </p:nvSpPr>
        <p:spPr bwMode="auto">
          <a:xfrm flipV="1">
            <a:off x="823913" y="4325938"/>
            <a:ext cx="414337" cy="414337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8" name="Line 61"/>
          <p:cNvSpPr>
            <a:spLocks noChangeShapeType="1"/>
          </p:cNvSpPr>
          <p:nvPr/>
        </p:nvSpPr>
        <p:spPr bwMode="auto">
          <a:xfrm flipV="1">
            <a:off x="3476625" y="5092700"/>
            <a:ext cx="414338" cy="414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9" name="Line 62"/>
          <p:cNvSpPr>
            <a:spLocks noChangeShapeType="1"/>
          </p:cNvSpPr>
          <p:nvPr/>
        </p:nvSpPr>
        <p:spPr bwMode="auto">
          <a:xfrm>
            <a:off x="3475038" y="4311650"/>
            <a:ext cx="40640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Line 63"/>
          <p:cNvSpPr>
            <a:spLocks noChangeShapeType="1"/>
          </p:cNvSpPr>
          <p:nvPr/>
        </p:nvSpPr>
        <p:spPr bwMode="auto">
          <a:xfrm>
            <a:off x="811213" y="5068888"/>
            <a:ext cx="406400" cy="42862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1" name="Line 64"/>
          <p:cNvSpPr>
            <a:spLocks noChangeShapeType="1"/>
          </p:cNvSpPr>
          <p:nvPr/>
        </p:nvSpPr>
        <p:spPr bwMode="auto">
          <a:xfrm>
            <a:off x="2466975" y="4340225"/>
            <a:ext cx="722313" cy="1150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2" name="Line 65"/>
          <p:cNvSpPr>
            <a:spLocks noChangeShapeType="1"/>
          </p:cNvSpPr>
          <p:nvPr/>
        </p:nvSpPr>
        <p:spPr bwMode="auto">
          <a:xfrm>
            <a:off x="1974850" y="5091113"/>
            <a:ext cx="263525" cy="385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3" name="Line 66"/>
          <p:cNvSpPr>
            <a:spLocks noChangeShapeType="1"/>
          </p:cNvSpPr>
          <p:nvPr/>
        </p:nvSpPr>
        <p:spPr bwMode="auto">
          <a:xfrm flipV="1">
            <a:off x="1524000" y="5105400"/>
            <a:ext cx="242888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4" name="Line 67"/>
          <p:cNvSpPr>
            <a:spLocks noChangeShapeType="1"/>
          </p:cNvSpPr>
          <p:nvPr/>
        </p:nvSpPr>
        <p:spPr bwMode="auto">
          <a:xfrm flipV="1">
            <a:off x="1974850" y="4340225"/>
            <a:ext cx="249238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5" name="Text Box 68"/>
          <p:cNvSpPr txBox="1">
            <a:spLocks noChangeArrowheads="1"/>
          </p:cNvSpPr>
          <p:nvPr/>
        </p:nvSpPr>
        <p:spPr bwMode="auto">
          <a:xfrm>
            <a:off x="760413" y="422592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4</a:t>
            </a:r>
          </a:p>
        </p:txBody>
      </p:sp>
      <p:sp>
        <p:nvSpPr>
          <p:cNvPr id="21536" name="Text Box 69"/>
          <p:cNvSpPr txBox="1">
            <a:spLocks noChangeArrowheads="1"/>
          </p:cNvSpPr>
          <p:nvPr/>
        </p:nvSpPr>
        <p:spPr bwMode="auto">
          <a:xfrm>
            <a:off x="1728788" y="3848100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8</a:t>
            </a:r>
          </a:p>
        </p:txBody>
      </p:sp>
      <p:sp>
        <p:nvSpPr>
          <p:cNvPr id="21537" name="Text Box 70"/>
          <p:cNvSpPr txBox="1">
            <a:spLocks noChangeArrowheads="1"/>
          </p:cNvSpPr>
          <p:nvPr/>
        </p:nvSpPr>
        <p:spPr bwMode="auto">
          <a:xfrm>
            <a:off x="2692400" y="3868738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7</a:t>
            </a:r>
          </a:p>
        </p:txBody>
      </p:sp>
      <p:sp>
        <p:nvSpPr>
          <p:cNvPr id="21538" name="Text Box 71"/>
          <p:cNvSpPr txBox="1">
            <a:spLocks noChangeArrowheads="1"/>
          </p:cNvSpPr>
          <p:nvPr/>
        </p:nvSpPr>
        <p:spPr bwMode="auto">
          <a:xfrm>
            <a:off x="793750" y="5175250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8</a:t>
            </a:r>
          </a:p>
        </p:txBody>
      </p:sp>
      <p:sp>
        <p:nvSpPr>
          <p:cNvPr id="21539" name="Text Box 72"/>
          <p:cNvSpPr txBox="1">
            <a:spLocks noChangeArrowheads="1"/>
          </p:cNvSpPr>
          <p:nvPr/>
        </p:nvSpPr>
        <p:spPr bwMode="auto">
          <a:xfrm>
            <a:off x="1009650" y="4710113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11</a:t>
            </a:r>
          </a:p>
        </p:txBody>
      </p:sp>
      <p:sp>
        <p:nvSpPr>
          <p:cNvPr id="21540" name="Text Box 73"/>
          <p:cNvSpPr txBox="1">
            <a:spLocks noChangeArrowheads="1"/>
          </p:cNvSpPr>
          <p:nvPr/>
        </p:nvSpPr>
        <p:spPr bwMode="auto">
          <a:xfrm>
            <a:off x="1738313" y="5619750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1</a:t>
            </a:r>
          </a:p>
        </p:txBody>
      </p:sp>
      <p:sp>
        <p:nvSpPr>
          <p:cNvPr id="21541" name="Text Box 74"/>
          <p:cNvSpPr txBox="1">
            <a:spLocks noChangeArrowheads="1"/>
          </p:cNvSpPr>
          <p:nvPr/>
        </p:nvSpPr>
        <p:spPr bwMode="auto">
          <a:xfrm>
            <a:off x="2682875" y="5605463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/>
              <a:t>2</a:t>
            </a:r>
          </a:p>
        </p:txBody>
      </p:sp>
      <p:sp>
        <p:nvSpPr>
          <p:cNvPr id="21542" name="Text Box 75"/>
          <p:cNvSpPr txBox="1">
            <a:spLocks noChangeArrowheads="1"/>
          </p:cNvSpPr>
          <p:nvPr/>
        </p:nvSpPr>
        <p:spPr bwMode="auto">
          <a:xfrm>
            <a:off x="1411288" y="5064125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7</a:t>
            </a:r>
          </a:p>
        </p:txBody>
      </p:sp>
      <p:sp>
        <p:nvSpPr>
          <p:cNvPr id="21543" name="Text Box 76"/>
          <p:cNvSpPr txBox="1">
            <a:spLocks noChangeArrowheads="1"/>
          </p:cNvSpPr>
          <p:nvPr/>
        </p:nvSpPr>
        <p:spPr bwMode="auto">
          <a:xfrm>
            <a:off x="2032000" y="4435475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2</a:t>
            </a:r>
          </a:p>
        </p:txBody>
      </p:sp>
      <p:sp>
        <p:nvSpPr>
          <p:cNvPr id="21544" name="Text Box 77"/>
          <p:cNvSpPr txBox="1">
            <a:spLocks noChangeArrowheads="1"/>
          </p:cNvSpPr>
          <p:nvPr/>
        </p:nvSpPr>
        <p:spPr bwMode="auto">
          <a:xfrm>
            <a:off x="2589213" y="4799013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4</a:t>
            </a:r>
          </a:p>
        </p:txBody>
      </p:sp>
      <p:sp>
        <p:nvSpPr>
          <p:cNvPr id="21545" name="Text Box 78"/>
          <p:cNvSpPr txBox="1">
            <a:spLocks noChangeArrowheads="1"/>
          </p:cNvSpPr>
          <p:nvPr/>
        </p:nvSpPr>
        <p:spPr bwMode="auto">
          <a:xfrm>
            <a:off x="3275013" y="4735513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14</a:t>
            </a:r>
          </a:p>
        </p:txBody>
      </p:sp>
      <p:sp>
        <p:nvSpPr>
          <p:cNvPr id="21546" name="Text Box 79"/>
          <p:cNvSpPr txBox="1">
            <a:spLocks noChangeArrowheads="1"/>
          </p:cNvSpPr>
          <p:nvPr/>
        </p:nvSpPr>
        <p:spPr bwMode="auto">
          <a:xfrm>
            <a:off x="3632200" y="4249738"/>
            <a:ext cx="2968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9</a:t>
            </a:r>
          </a:p>
        </p:txBody>
      </p:sp>
      <p:sp>
        <p:nvSpPr>
          <p:cNvPr id="21547" name="Text Box 80"/>
          <p:cNvSpPr txBox="1">
            <a:spLocks noChangeArrowheads="1"/>
          </p:cNvSpPr>
          <p:nvPr/>
        </p:nvSpPr>
        <p:spPr bwMode="auto">
          <a:xfrm>
            <a:off x="3603625" y="5213350"/>
            <a:ext cx="409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10</a:t>
            </a:r>
          </a:p>
        </p:txBody>
      </p:sp>
      <p:sp>
        <p:nvSpPr>
          <p:cNvPr id="21548" name="Text Box 81"/>
          <p:cNvSpPr txBox="1">
            <a:spLocks noChangeArrowheads="1"/>
          </p:cNvSpPr>
          <p:nvPr/>
        </p:nvSpPr>
        <p:spPr bwMode="auto">
          <a:xfrm>
            <a:off x="2046288" y="5041900"/>
            <a:ext cx="2968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/>
              <a:t>6</a:t>
            </a:r>
          </a:p>
        </p:txBody>
      </p:sp>
      <p:sp>
        <p:nvSpPr>
          <p:cNvPr id="877650" name="Oval 82"/>
          <p:cNvSpPr>
            <a:spLocks noChangeArrowheads="1"/>
          </p:cNvSpPr>
          <p:nvPr/>
        </p:nvSpPr>
        <p:spPr bwMode="auto">
          <a:xfrm>
            <a:off x="1146175" y="3951288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50" name="Oval 83"/>
          <p:cNvSpPr>
            <a:spLocks noChangeArrowheads="1"/>
          </p:cNvSpPr>
          <p:nvPr/>
        </p:nvSpPr>
        <p:spPr bwMode="auto">
          <a:xfrm>
            <a:off x="474663" y="4695825"/>
            <a:ext cx="439737" cy="433388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877652" name="Rectangle 84"/>
          <p:cNvSpPr>
            <a:spLocks noChangeArrowheads="1"/>
          </p:cNvSpPr>
          <p:nvPr/>
        </p:nvSpPr>
        <p:spPr bwMode="auto">
          <a:xfrm>
            <a:off x="4191000" y="3505199"/>
            <a:ext cx="4876800" cy="267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key [b] = 4	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[b] = a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key [h] = 8	 [h] = a</a:t>
            </a:r>
          </a:p>
          <a:p>
            <a:pPr marL="342900" indent="-342900">
              <a:spcBef>
                <a:spcPct val="20000"/>
              </a:spcBef>
            </a:pPr>
            <a:endParaRPr lang="en-US" sz="2400" dirty="0">
              <a:solidFill>
                <a:srgbClr val="002060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C00000"/>
                </a:solidFill>
              </a:rPr>
              <a:t>	    </a:t>
            </a:r>
            <a:r>
              <a:rPr lang="en-US" sz="2400" b="1" dirty="0">
                <a:solidFill>
                  <a:srgbClr val="C00000"/>
                </a:solidFill>
              </a:rPr>
              <a:t>4  </a:t>
            </a:r>
            <a:r>
              <a:rPr lang="en-US" sz="2400" b="1" dirty="0">
                <a:solidFill>
                  <a:srgbClr val="C00000"/>
                </a:solidFill>
                <a:sym typeface="Symbol" pitchFamily="18" charset="2"/>
              </a:rPr>
              <a:t>     8 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Q = {b, c, d, e, f, g, h, i}  V</a:t>
            </a:r>
            <a:r>
              <a:rPr lang="en-US" sz="2400" baseline="-250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{a}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 = {a, #, #, #, #,#, a,#}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Extract-MIN(Q)  b</a:t>
            </a:r>
          </a:p>
        </p:txBody>
      </p:sp>
      <p:grpSp>
        <p:nvGrpSpPr>
          <p:cNvPr id="21552" name="Group 85"/>
          <p:cNvGrpSpPr>
            <a:grpSpLocks/>
          </p:cNvGrpSpPr>
          <p:nvPr/>
        </p:nvGrpSpPr>
        <p:grpSpPr bwMode="auto">
          <a:xfrm>
            <a:off x="1068388" y="1011238"/>
            <a:ext cx="3030537" cy="2498725"/>
            <a:chOff x="673" y="637"/>
            <a:chExt cx="1909" cy="1574"/>
          </a:xfrm>
        </p:grpSpPr>
        <p:sp>
          <p:nvSpPr>
            <p:cNvPr id="21563" name="Text Box 86"/>
            <p:cNvSpPr txBox="1">
              <a:spLocks noChangeArrowheads="1"/>
            </p:cNvSpPr>
            <p:nvPr/>
          </p:nvSpPr>
          <p:spPr bwMode="auto">
            <a:xfrm>
              <a:off x="682" y="637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1564" name="Text Box 87"/>
            <p:cNvSpPr txBox="1">
              <a:spLocks noChangeArrowheads="1"/>
            </p:cNvSpPr>
            <p:nvPr/>
          </p:nvSpPr>
          <p:spPr bwMode="auto">
            <a:xfrm>
              <a:off x="1306" y="638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1565" name="Text Box 88"/>
            <p:cNvSpPr txBox="1">
              <a:spLocks noChangeArrowheads="1"/>
            </p:cNvSpPr>
            <p:nvPr/>
          </p:nvSpPr>
          <p:spPr bwMode="auto">
            <a:xfrm>
              <a:off x="1924" y="638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1566" name="Text Box 89"/>
            <p:cNvSpPr txBox="1">
              <a:spLocks noChangeArrowheads="1"/>
            </p:cNvSpPr>
            <p:nvPr/>
          </p:nvSpPr>
          <p:spPr bwMode="auto">
            <a:xfrm>
              <a:off x="985" y="1130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1567" name="Text Box 90"/>
            <p:cNvSpPr txBox="1">
              <a:spLocks noChangeArrowheads="1"/>
            </p:cNvSpPr>
            <p:nvPr/>
          </p:nvSpPr>
          <p:spPr bwMode="auto">
            <a:xfrm>
              <a:off x="2363" y="1114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1568" name="Text Box 91"/>
            <p:cNvSpPr txBox="1">
              <a:spLocks noChangeArrowheads="1"/>
            </p:cNvSpPr>
            <p:nvPr/>
          </p:nvSpPr>
          <p:spPr bwMode="auto">
            <a:xfrm>
              <a:off x="673" y="1980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1569" name="Text Box 92"/>
            <p:cNvSpPr txBox="1">
              <a:spLocks noChangeArrowheads="1"/>
            </p:cNvSpPr>
            <p:nvPr/>
          </p:nvSpPr>
          <p:spPr bwMode="auto">
            <a:xfrm>
              <a:off x="1306" y="1959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1570" name="Text Box 93"/>
            <p:cNvSpPr txBox="1">
              <a:spLocks noChangeArrowheads="1"/>
            </p:cNvSpPr>
            <p:nvPr/>
          </p:nvSpPr>
          <p:spPr bwMode="auto">
            <a:xfrm>
              <a:off x="1930" y="1952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</p:grpSp>
      <p:sp>
        <p:nvSpPr>
          <p:cNvPr id="21553" name="Text Box 96"/>
          <p:cNvSpPr txBox="1">
            <a:spLocks noChangeArrowheads="1"/>
          </p:cNvSpPr>
          <p:nvPr/>
        </p:nvSpPr>
        <p:spPr bwMode="auto">
          <a:xfrm>
            <a:off x="2184400" y="3656013"/>
            <a:ext cx="347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21554" name="Text Box 97"/>
          <p:cNvSpPr txBox="1">
            <a:spLocks noChangeArrowheads="1"/>
          </p:cNvSpPr>
          <p:nvPr/>
        </p:nvSpPr>
        <p:spPr bwMode="auto">
          <a:xfrm>
            <a:off x="3165475" y="3656013"/>
            <a:ext cx="347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21555" name="Text Box 98"/>
          <p:cNvSpPr txBox="1">
            <a:spLocks noChangeArrowheads="1"/>
          </p:cNvSpPr>
          <p:nvPr/>
        </p:nvSpPr>
        <p:spPr bwMode="auto">
          <a:xfrm>
            <a:off x="1674813" y="4437063"/>
            <a:ext cx="347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21556" name="Text Box 99"/>
          <p:cNvSpPr txBox="1">
            <a:spLocks noChangeArrowheads="1"/>
          </p:cNvSpPr>
          <p:nvPr/>
        </p:nvSpPr>
        <p:spPr bwMode="auto">
          <a:xfrm>
            <a:off x="3862388" y="4411663"/>
            <a:ext cx="347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21557" name="Text Box 101"/>
          <p:cNvSpPr txBox="1">
            <a:spLocks noChangeArrowheads="1"/>
          </p:cNvSpPr>
          <p:nvPr/>
        </p:nvSpPr>
        <p:spPr bwMode="auto">
          <a:xfrm>
            <a:off x="2184400" y="5753100"/>
            <a:ext cx="347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21558" name="Text Box 102"/>
          <p:cNvSpPr txBox="1">
            <a:spLocks noChangeArrowheads="1"/>
          </p:cNvSpPr>
          <p:nvPr/>
        </p:nvSpPr>
        <p:spPr bwMode="auto">
          <a:xfrm>
            <a:off x="3175000" y="5741988"/>
            <a:ext cx="347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21559" name="Text Box 103"/>
          <p:cNvSpPr txBox="1">
            <a:spLocks noChangeArrowheads="1"/>
          </p:cNvSpPr>
          <p:nvPr/>
        </p:nvSpPr>
        <p:spPr bwMode="auto">
          <a:xfrm>
            <a:off x="1174750" y="3654425"/>
            <a:ext cx="347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877663" name="Text Box 95"/>
          <p:cNvSpPr txBox="1">
            <a:spLocks noChangeArrowheads="1"/>
          </p:cNvSpPr>
          <p:nvPr/>
        </p:nvSpPr>
        <p:spPr bwMode="auto">
          <a:xfrm>
            <a:off x="1176338" y="3562350"/>
            <a:ext cx="311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4</a:t>
            </a:r>
          </a:p>
        </p:txBody>
      </p:sp>
      <p:sp>
        <p:nvSpPr>
          <p:cNvPr id="21561" name="Text Box 104"/>
          <p:cNvSpPr txBox="1">
            <a:spLocks noChangeArrowheads="1"/>
          </p:cNvSpPr>
          <p:nvPr/>
        </p:nvSpPr>
        <p:spPr bwMode="auto">
          <a:xfrm>
            <a:off x="1204913" y="5808663"/>
            <a:ext cx="347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</a:t>
            </a:r>
          </a:p>
        </p:txBody>
      </p:sp>
      <p:sp>
        <p:nvSpPr>
          <p:cNvPr id="877668" name="Text Box 100"/>
          <p:cNvSpPr txBox="1">
            <a:spLocks noChangeArrowheads="1"/>
          </p:cNvSpPr>
          <p:nvPr/>
        </p:nvSpPr>
        <p:spPr bwMode="auto">
          <a:xfrm>
            <a:off x="1257300" y="5913438"/>
            <a:ext cx="311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3581400"/>
            <a:ext cx="4267200" cy="27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623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7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87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87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8776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776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8776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776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7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7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 animBg="1"/>
      <p:bldP spid="877611" grpId="0" animBg="1"/>
      <p:bldP spid="877650" grpId="0" animBg="1"/>
      <p:bldP spid="877663" grpId="0" animBg="1"/>
      <p:bldP spid="877668" grpId="0" animBg="1"/>
      <p:bldP spid="10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Rectangle 14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467600" cy="833438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</a:p>
        </p:txBody>
      </p:sp>
      <p:grpSp>
        <p:nvGrpSpPr>
          <p:cNvPr id="879618" name="Group 2"/>
          <p:cNvGrpSpPr>
            <a:grpSpLocks/>
          </p:cNvGrpSpPr>
          <p:nvPr/>
        </p:nvGrpSpPr>
        <p:grpSpPr bwMode="auto">
          <a:xfrm>
            <a:off x="919163" y="3417888"/>
            <a:ext cx="3030537" cy="2581275"/>
            <a:chOff x="579" y="2365"/>
            <a:chExt cx="1909" cy="1626"/>
          </a:xfrm>
        </p:grpSpPr>
        <p:grpSp>
          <p:nvGrpSpPr>
            <p:cNvPr id="22636" name="Group 3"/>
            <p:cNvGrpSpPr>
              <a:grpSpLocks/>
            </p:cNvGrpSpPr>
            <p:nvPr/>
          </p:nvGrpSpPr>
          <p:grpSpPr bwMode="auto">
            <a:xfrm>
              <a:off x="579" y="2365"/>
              <a:ext cx="1909" cy="1626"/>
              <a:chOff x="579" y="2365"/>
              <a:chExt cx="1909" cy="1626"/>
            </a:xfrm>
          </p:grpSpPr>
          <p:sp>
            <p:nvSpPr>
              <p:cNvPr id="22638" name="Text Box 4"/>
              <p:cNvSpPr txBox="1">
                <a:spLocks noChangeArrowheads="1"/>
              </p:cNvSpPr>
              <p:nvPr/>
            </p:nvSpPr>
            <p:spPr bwMode="auto">
              <a:xfrm>
                <a:off x="588" y="2369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ym typeface="Symbol" pitchFamily="18" charset="2"/>
                  </a:rPr>
                  <a:t>4</a:t>
                </a:r>
              </a:p>
            </p:txBody>
          </p:sp>
          <p:sp>
            <p:nvSpPr>
              <p:cNvPr id="22639" name="Text Box 5"/>
              <p:cNvSpPr txBox="1">
                <a:spLocks noChangeArrowheads="1"/>
              </p:cNvSpPr>
              <p:nvPr/>
            </p:nvSpPr>
            <p:spPr bwMode="auto">
              <a:xfrm>
                <a:off x="1830" y="2368"/>
                <a:ext cx="21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22640" name="Text Box 6"/>
              <p:cNvSpPr txBox="1">
                <a:spLocks noChangeArrowheads="1"/>
              </p:cNvSpPr>
              <p:nvPr/>
            </p:nvSpPr>
            <p:spPr bwMode="auto">
              <a:xfrm>
                <a:off x="2269" y="2880"/>
                <a:ext cx="21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22641" name="Text Box 7"/>
              <p:cNvSpPr txBox="1">
                <a:spLocks noChangeArrowheads="1"/>
              </p:cNvSpPr>
              <p:nvPr/>
            </p:nvSpPr>
            <p:spPr bwMode="auto">
              <a:xfrm>
                <a:off x="579" y="376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ym typeface="Symbol" pitchFamily="18" charset="2"/>
                  </a:rPr>
                  <a:t>8</a:t>
                </a:r>
              </a:p>
            </p:txBody>
          </p:sp>
          <p:sp>
            <p:nvSpPr>
              <p:cNvPr id="22642" name="Text Box 8"/>
              <p:cNvSpPr txBox="1">
                <a:spLocks noChangeArrowheads="1"/>
              </p:cNvSpPr>
              <p:nvPr/>
            </p:nvSpPr>
            <p:spPr bwMode="auto">
              <a:xfrm>
                <a:off x="1212" y="3737"/>
                <a:ext cx="21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22643" name="Text Box 9"/>
              <p:cNvSpPr txBox="1">
                <a:spLocks noChangeArrowheads="1"/>
              </p:cNvSpPr>
              <p:nvPr/>
            </p:nvSpPr>
            <p:spPr bwMode="auto">
              <a:xfrm>
                <a:off x="1836" y="3730"/>
                <a:ext cx="21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22644" name="Text Box 10"/>
              <p:cNvSpPr txBox="1">
                <a:spLocks noChangeArrowheads="1"/>
              </p:cNvSpPr>
              <p:nvPr/>
            </p:nvSpPr>
            <p:spPr bwMode="auto">
              <a:xfrm>
                <a:off x="1246" y="2365"/>
                <a:ext cx="196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ym typeface="Symbol" pitchFamily="18" charset="2"/>
                  </a:rPr>
                  <a:t>8</a:t>
                </a:r>
              </a:p>
            </p:txBody>
          </p:sp>
        </p:grpSp>
        <p:sp>
          <p:nvSpPr>
            <p:cNvPr id="22637" name="Text Box 11"/>
            <p:cNvSpPr txBox="1">
              <a:spLocks noChangeArrowheads="1"/>
            </p:cNvSpPr>
            <p:nvPr/>
          </p:nvSpPr>
          <p:spPr bwMode="auto">
            <a:xfrm>
              <a:off x="910" y="2884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ym typeface="Symbol" pitchFamily="18" charset="2"/>
                </a:rPr>
                <a:t></a:t>
              </a:r>
            </a:p>
          </p:txBody>
        </p:sp>
      </p:grpSp>
      <p:sp>
        <p:nvSpPr>
          <p:cNvPr id="879628" name="Line 12"/>
          <p:cNvSpPr>
            <a:spLocks noChangeShapeType="1"/>
          </p:cNvSpPr>
          <p:nvPr/>
        </p:nvSpPr>
        <p:spPr bwMode="auto">
          <a:xfrm flipH="1">
            <a:off x="1730375" y="4205288"/>
            <a:ext cx="242888" cy="385762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9629" name="Line 13"/>
          <p:cNvSpPr>
            <a:spLocks noChangeShapeType="1"/>
          </p:cNvSpPr>
          <p:nvPr/>
        </p:nvSpPr>
        <p:spPr bwMode="auto">
          <a:xfrm flipV="1">
            <a:off x="1293813" y="1438275"/>
            <a:ext cx="550862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5" name="Line 15"/>
          <p:cNvSpPr>
            <a:spLocks noChangeShapeType="1"/>
          </p:cNvSpPr>
          <p:nvPr/>
        </p:nvSpPr>
        <p:spPr bwMode="auto">
          <a:xfrm flipV="1">
            <a:off x="484188" y="1611313"/>
            <a:ext cx="407987" cy="40005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536" name="Group 16"/>
          <p:cNvGrpSpPr>
            <a:grpSpLocks/>
          </p:cNvGrpSpPr>
          <p:nvPr/>
        </p:nvGrpSpPr>
        <p:grpSpPr bwMode="auto">
          <a:xfrm>
            <a:off x="166688" y="1117600"/>
            <a:ext cx="3721100" cy="2108200"/>
            <a:chOff x="3303" y="2273"/>
            <a:chExt cx="2344" cy="1328"/>
          </a:xfrm>
        </p:grpSpPr>
        <p:sp>
          <p:nvSpPr>
            <p:cNvPr id="22599" name="Oval 17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22600" name="Oval 18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22601" name="Oval 19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22602" name="Oval 20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22603" name="Oval 21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22604" name="Oval 22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22605" name="Oval 23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2606" name="Oval 24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22607" name="Oval 25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22608" name="Line 26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9" name="Line 27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0" name="Line 28"/>
            <p:cNvSpPr>
              <a:spLocks noChangeShapeType="1"/>
            </p:cNvSpPr>
            <p:nvPr/>
          </p:nvSpPr>
          <p:spPr bwMode="auto">
            <a:xfrm>
              <a:off x="3996" y="2481"/>
              <a:ext cx="34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1" name="Line 29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2" name="Line 30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3" name="Line 31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4" name="Line 32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5" name="Line 33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6" name="Line 34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7" name="Line 35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8" name="Line 36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9" name="Line 37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0" name="Line 38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1" name="Line 39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2" name="Text Box 40"/>
            <p:cNvSpPr txBox="1">
              <a:spLocks noChangeArrowheads="1"/>
            </p:cNvSpPr>
            <p:nvPr/>
          </p:nvSpPr>
          <p:spPr bwMode="auto">
            <a:xfrm>
              <a:off x="3489" y="25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2623" name="Text Box 41"/>
            <p:cNvSpPr txBox="1">
              <a:spLocks noChangeArrowheads="1"/>
            </p:cNvSpPr>
            <p:nvPr/>
          </p:nvSpPr>
          <p:spPr bwMode="auto">
            <a:xfrm>
              <a:off x="4089" y="227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2624" name="Text Box 42"/>
            <p:cNvSpPr txBox="1">
              <a:spLocks noChangeArrowheads="1"/>
            </p:cNvSpPr>
            <p:nvPr/>
          </p:nvSpPr>
          <p:spPr bwMode="auto">
            <a:xfrm>
              <a:off x="4696" y="228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2625" name="Text Box 43"/>
            <p:cNvSpPr txBox="1">
              <a:spLocks noChangeArrowheads="1"/>
            </p:cNvSpPr>
            <p:nvPr/>
          </p:nvSpPr>
          <p:spPr bwMode="auto">
            <a:xfrm>
              <a:off x="3500" y="310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2626" name="Text Box 44"/>
            <p:cNvSpPr txBox="1">
              <a:spLocks noChangeArrowheads="1"/>
            </p:cNvSpPr>
            <p:nvPr/>
          </p:nvSpPr>
          <p:spPr bwMode="auto">
            <a:xfrm>
              <a:off x="3636" y="2816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22627" name="Text Box 45"/>
            <p:cNvSpPr txBox="1">
              <a:spLocks noChangeArrowheads="1"/>
            </p:cNvSpPr>
            <p:nvPr/>
          </p:nvSpPr>
          <p:spPr bwMode="auto">
            <a:xfrm>
              <a:off x="4095" y="338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22628" name="Text Box 46"/>
            <p:cNvSpPr txBox="1">
              <a:spLocks noChangeArrowheads="1"/>
            </p:cNvSpPr>
            <p:nvPr/>
          </p:nvSpPr>
          <p:spPr bwMode="auto">
            <a:xfrm>
              <a:off x="4690" y="3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2629" name="Text Box 47"/>
            <p:cNvSpPr txBox="1">
              <a:spLocks noChangeArrowheads="1"/>
            </p:cNvSpPr>
            <p:nvPr/>
          </p:nvSpPr>
          <p:spPr bwMode="auto">
            <a:xfrm>
              <a:off x="3889" y="303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2630" name="Text Box 48"/>
            <p:cNvSpPr txBox="1">
              <a:spLocks noChangeArrowheads="1"/>
            </p:cNvSpPr>
            <p:nvPr/>
          </p:nvSpPr>
          <p:spPr bwMode="auto">
            <a:xfrm>
              <a:off x="4280" y="264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2631" name="Text Box 49"/>
            <p:cNvSpPr txBox="1">
              <a:spLocks noChangeArrowheads="1"/>
            </p:cNvSpPr>
            <p:nvPr/>
          </p:nvSpPr>
          <p:spPr bwMode="auto">
            <a:xfrm>
              <a:off x="4631" y="28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2632" name="Text Box 50"/>
            <p:cNvSpPr txBox="1">
              <a:spLocks noChangeArrowheads="1"/>
            </p:cNvSpPr>
            <p:nvPr/>
          </p:nvSpPr>
          <p:spPr bwMode="auto">
            <a:xfrm>
              <a:off x="5063" y="2832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22633" name="Text Box 51"/>
            <p:cNvSpPr txBox="1">
              <a:spLocks noChangeArrowheads="1"/>
            </p:cNvSpPr>
            <p:nvPr/>
          </p:nvSpPr>
          <p:spPr bwMode="auto">
            <a:xfrm>
              <a:off x="5288" y="252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22634" name="Text Box 52"/>
            <p:cNvSpPr txBox="1">
              <a:spLocks noChangeArrowheads="1"/>
            </p:cNvSpPr>
            <p:nvPr/>
          </p:nvSpPr>
          <p:spPr bwMode="auto">
            <a:xfrm>
              <a:off x="5270" y="313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22635" name="Text Box 53"/>
            <p:cNvSpPr txBox="1">
              <a:spLocks noChangeArrowheads="1"/>
            </p:cNvSpPr>
            <p:nvPr/>
          </p:nvSpPr>
          <p:spPr bwMode="auto">
            <a:xfrm>
              <a:off x="4289" y="302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6</a:t>
              </a:r>
            </a:p>
          </p:txBody>
        </p:sp>
      </p:grpSp>
      <p:sp>
        <p:nvSpPr>
          <p:cNvPr id="22537" name="Oval 54"/>
          <p:cNvSpPr>
            <a:spLocks noChangeArrowheads="1"/>
          </p:cNvSpPr>
          <p:nvPr/>
        </p:nvSpPr>
        <p:spPr bwMode="auto">
          <a:xfrm>
            <a:off x="841375" y="1220788"/>
            <a:ext cx="439738" cy="442912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8" name="Oval 55"/>
          <p:cNvSpPr>
            <a:spLocks noChangeArrowheads="1"/>
          </p:cNvSpPr>
          <p:nvPr/>
        </p:nvSpPr>
        <p:spPr bwMode="auto">
          <a:xfrm>
            <a:off x="160338" y="1955800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9672" name="Rectangle 56"/>
          <p:cNvSpPr>
            <a:spLocks noChangeArrowheads="1"/>
          </p:cNvSpPr>
          <p:nvPr/>
        </p:nvSpPr>
        <p:spPr bwMode="auto">
          <a:xfrm>
            <a:off x="4070350" y="841375"/>
            <a:ext cx="4845050" cy="253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key [c] = 8	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[c] = b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key [h] = 8	 [h] = a </a:t>
            </a:r>
            <a:r>
              <a:rPr lang="en-US" sz="2400" dirty="0">
                <a:solidFill>
                  <a:srgbClr val="002060"/>
                </a:solidFill>
                <a:sym typeface="Wingdings" pitchFamily="2" charset="2"/>
              </a:rPr>
              <a:t>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unchanged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</a:rPr>
              <a:t>	    </a:t>
            </a:r>
            <a:r>
              <a:rPr lang="en-US" sz="2400" b="1" dirty="0">
                <a:solidFill>
                  <a:srgbClr val="DD0111"/>
                </a:solidFill>
                <a:sym typeface="Symbol" pitchFamily="18" charset="2"/>
              </a:rPr>
              <a:t>8      8 </a:t>
            </a:r>
            <a:r>
              <a:rPr lang="en-US" sz="2400" dirty="0">
                <a:solidFill>
                  <a:srgbClr val="DD0111"/>
                </a:solidFill>
                <a:sym typeface="Symbol" pitchFamily="18" charset="2"/>
              </a:rPr>
              <a:t>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Q = {c, d, e, f, g, h, i}  V</a:t>
            </a:r>
            <a:r>
              <a:rPr lang="en-US" sz="2400" baseline="-250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{a, b}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 = {b, #, #, #,#, a,#}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Extract-MIN(Q)  c</a:t>
            </a:r>
          </a:p>
        </p:txBody>
      </p:sp>
      <p:sp>
        <p:nvSpPr>
          <p:cNvPr id="879673" name="Oval 57"/>
          <p:cNvSpPr>
            <a:spLocks noChangeArrowheads="1"/>
          </p:cNvSpPr>
          <p:nvPr/>
        </p:nvSpPr>
        <p:spPr bwMode="auto">
          <a:xfrm>
            <a:off x="1811338" y="1220788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9674" name="Line 58"/>
          <p:cNvSpPr>
            <a:spLocks noChangeShapeType="1"/>
          </p:cNvSpPr>
          <p:nvPr/>
        </p:nvSpPr>
        <p:spPr bwMode="auto">
          <a:xfrm flipV="1">
            <a:off x="1374775" y="4002088"/>
            <a:ext cx="550863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9675" name="Line 59"/>
          <p:cNvSpPr>
            <a:spLocks noChangeShapeType="1"/>
          </p:cNvSpPr>
          <p:nvPr/>
        </p:nvSpPr>
        <p:spPr bwMode="auto">
          <a:xfrm flipV="1">
            <a:off x="565150" y="4175125"/>
            <a:ext cx="407988" cy="40005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79676" name="Group 60"/>
          <p:cNvGrpSpPr>
            <a:grpSpLocks/>
          </p:cNvGrpSpPr>
          <p:nvPr/>
        </p:nvGrpSpPr>
        <p:grpSpPr bwMode="auto">
          <a:xfrm>
            <a:off x="247650" y="3681413"/>
            <a:ext cx="3721100" cy="2108200"/>
            <a:chOff x="3303" y="2273"/>
            <a:chExt cx="2344" cy="1328"/>
          </a:xfrm>
        </p:grpSpPr>
        <p:sp>
          <p:nvSpPr>
            <p:cNvPr id="22562" name="Oval 61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22563" name="Oval 62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22564" name="Oval 63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22565" name="Oval 64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22566" name="Oval 65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22567" name="Oval 66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22568" name="Oval 67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2569" name="Oval 68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22570" name="Oval 69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22571" name="Line 70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2" name="Line 71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3" name="Line 72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4" name="Line 73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Line 74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6" name="Line 75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7" name="Line 76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8" name="Line 77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Line 78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Line 79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1" name="Line 80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Line 81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3" name="Line 82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4" name="Line 83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5" name="Text Box 84"/>
            <p:cNvSpPr txBox="1">
              <a:spLocks noChangeArrowheads="1"/>
            </p:cNvSpPr>
            <p:nvPr/>
          </p:nvSpPr>
          <p:spPr bwMode="auto">
            <a:xfrm>
              <a:off x="3489" y="25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2586" name="Text Box 85"/>
            <p:cNvSpPr txBox="1">
              <a:spLocks noChangeArrowheads="1"/>
            </p:cNvSpPr>
            <p:nvPr/>
          </p:nvSpPr>
          <p:spPr bwMode="auto">
            <a:xfrm>
              <a:off x="4089" y="227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2587" name="Text Box 86"/>
            <p:cNvSpPr txBox="1">
              <a:spLocks noChangeArrowheads="1"/>
            </p:cNvSpPr>
            <p:nvPr/>
          </p:nvSpPr>
          <p:spPr bwMode="auto">
            <a:xfrm>
              <a:off x="4696" y="228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2588" name="Text Box 87"/>
            <p:cNvSpPr txBox="1">
              <a:spLocks noChangeArrowheads="1"/>
            </p:cNvSpPr>
            <p:nvPr/>
          </p:nvSpPr>
          <p:spPr bwMode="auto">
            <a:xfrm>
              <a:off x="3500" y="310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2589" name="Text Box 88"/>
            <p:cNvSpPr txBox="1">
              <a:spLocks noChangeArrowheads="1"/>
            </p:cNvSpPr>
            <p:nvPr/>
          </p:nvSpPr>
          <p:spPr bwMode="auto">
            <a:xfrm>
              <a:off x="3636" y="2816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22590" name="Text Box 89"/>
            <p:cNvSpPr txBox="1">
              <a:spLocks noChangeArrowheads="1"/>
            </p:cNvSpPr>
            <p:nvPr/>
          </p:nvSpPr>
          <p:spPr bwMode="auto">
            <a:xfrm>
              <a:off x="4095" y="338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22591" name="Text Box 90"/>
            <p:cNvSpPr txBox="1">
              <a:spLocks noChangeArrowheads="1"/>
            </p:cNvSpPr>
            <p:nvPr/>
          </p:nvSpPr>
          <p:spPr bwMode="auto">
            <a:xfrm>
              <a:off x="4690" y="3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2592" name="Text Box 91"/>
            <p:cNvSpPr txBox="1">
              <a:spLocks noChangeArrowheads="1"/>
            </p:cNvSpPr>
            <p:nvPr/>
          </p:nvSpPr>
          <p:spPr bwMode="auto">
            <a:xfrm>
              <a:off x="3889" y="303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2593" name="Text Box 92"/>
            <p:cNvSpPr txBox="1">
              <a:spLocks noChangeArrowheads="1"/>
            </p:cNvSpPr>
            <p:nvPr/>
          </p:nvSpPr>
          <p:spPr bwMode="auto">
            <a:xfrm>
              <a:off x="4280" y="264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2</a:t>
              </a:r>
            </a:p>
          </p:txBody>
        </p:sp>
        <p:sp>
          <p:nvSpPr>
            <p:cNvPr id="22594" name="Text Box 93"/>
            <p:cNvSpPr txBox="1">
              <a:spLocks noChangeArrowheads="1"/>
            </p:cNvSpPr>
            <p:nvPr/>
          </p:nvSpPr>
          <p:spPr bwMode="auto">
            <a:xfrm>
              <a:off x="4631" y="28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2595" name="Text Box 94"/>
            <p:cNvSpPr txBox="1">
              <a:spLocks noChangeArrowheads="1"/>
            </p:cNvSpPr>
            <p:nvPr/>
          </p:nvSpPr>
          <p:spPr bwMode="auto">
            <a:xfrm>
              <a:off x="5063" y="2832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22596" name="Text Box 95"/>
            <p:cNvSpPr txBox="1">
              <a:spLocks noChangeArrowheads="1"/>
            </p:cNvSpPr>
            <p:nvPr/>
          </p:nvSpPr>
          <p:spPr bwMode="auto">
            <a:xfrm>
              <a:off x="5288" y="252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22597" name="Text Box 96"/>
            <p:cNvSpPr txBox="1">
              <a:spLocks noChangeArrowheads="1"/>
            </p:cNvSpPr>
            <p:nvPr/>
          </p:nvSpPr>
          <p:spPr bwMode="auto">
            <a:xfrm>
              <a:off x="5270" y="313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22598" name="Text Box 97"/>
            <p:cNvSpPr txBox="1">
              <a:spLocks noChangeArrowheads="1"/>
            </p:cNvSpPr>
            <p:nvPr/>
          </p:nvSpPr>
          <p:spPr bwMode="auto">
            <a:xfrm>
              <a:off x="4289" y="302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6</a:t>
              </a:r>
            </a:p>
          </p:txBody>
        </p:sp>
      </p:grpSp>
      <p:sp>
        <p:nvSpPr>
          <p:cNvPr id="879714" name="Oval 98"/>
          <p:cNvSpPr>
            <a:spLocks noChangeArrowheads="1"/>
          </p:cNvSpPr>
          <p:nvPr/>
        </p:nvSpPr>
        <p:spPr bwMode="auto">
          <a:xfrm>
            <a:off x="912813" y="3784600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9715" name="Oval 99"/>
          <p:cNvSpPr>
            <a:spLocks noChangeArrowheads="1"/>
          </p:cNvSpPr>
          <p:nvPr/>
        </p:nvSpPr>
        <p:spPr bwMode="auto">
          <a:xfrm>
            <a:off x="241300" y="4519613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9716" name="Rectangle 100"/>
          <p:cNvSpPr>
            <a:spLocks noChangeArrowheads="1"/>
          </p:cNvSpPr>
          <p:nvPr/>
        </p:nvSpPr>
        <p:spPr bwMode="auto">
          <a:xfrm>
            <a:off x="4151313" y="3575050"/>
            <a:ext cx="4554537" cy="282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key [d] = 7	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[d] = c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key [f] = 4	 [f] = c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key [i] = 2	  [i] = c</a:t>
            </a:r>
            <a:endParaRPr lang="en-US" dirty="0">
              <a:solidFill>
                <a:srgbClr val="002060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</a:rPr>
              <a:t>	    </a:t>
            </a:r>
            <a:r>
              <a:rPr lang="en-US" sz="2400" b="1" dirty="0">
                <a:solidFill>
                  <a:srgbClr val="DD0111"/>
                </a:solidFill>
                <a:sym typeface="Symbol" pitchFamily="18" charset="2"/>
              </a:rPr>
              <a:t>7   4   8  2</a:t>
            </a:r>
            <a:r>
              <a:rPr lang="en-US" sz="2400" b="1" dirty="0">
                <a:solidFill>
                  <a:schemeClr val="accent2"/>
                </a:solidFill>
                <a:sym typeface="Symbol" pitchFamily="18" charset="2"/>
              </a:rPr>
              <a:t>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Q = {d, e,  f, g,  h, i}  V</a:t>
            </a:r>
            <a:r>
              <a:rPr lang="en-US" sz="2400" baseline="-250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{a, b, c}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 = { c, #, c ,#, a, c}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Extract-MIN(Q)  i</a:t>
            </a:r>
          </a:p>
        </p:txBody>
      </p:sp>
      <p:sp>
        <p:nvSpPr>
          <p:cNvPr id="879717" name="Oval 101"/>
          <p:cNvSpPr>
            <a:spLocks noChangeArrowheads="1"/>
          </p:cNvSpPr>
          <p:nvPr/>
        </p:nvSpPr>
        <p:spPr bwMode="auto">
          <a:xfrm>
            <a:off x="1892300" y="3795713"/>
            <a:ext cx="439738" cy="4318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9718" name="Oval 102"/>
          <p:cNvSpPr>
            <a:spLocks noChangeArrowheads="1"/>
          </p:cNvSpPr>
          <p:nvPr/>
        </p:nvSpPr>
        <p:spPr bwMode="auto">
          <a:xfrm>
            <a:off x="1404938" y="4535488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9" name="Text Box 103"/>
          <p:cNvSpPr txBox="1">
            <a:spLocks noChangeArrowheads="1"/>
          </p:cNvSpPr>
          <p:nvPr/>
        </p:nvSpPr>
        <p:spPr bwMode="auto">
          <a:xfrm>
            <a:off x="1863725" y="904875"/>
            <a:ext cx="347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ym typeface="Symbol" pitchFamily="18" charset="2"/>
              </a:rPr>
              <a:t></a:t>
            </a:r>
          </a:p>
        </p:txBody>
      </p:sp>
      <p:sp>
        <p:nvSpPr>
          <p:cNvPr id="22550" name="Text Box 104"/>
          <p:cNvSpPr txBox="1">
            <a:spLocks noChangeArrowheads="1"/>
          </p:cNvSpPr>
          <p:nvPr/>
        </p:nvSpPr>
        <p:spPr bwMode="auto">
          <a:xfrm>
            <a:off x="1354138" y="1685925"/>
            <a:ext cx="3476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</a:t>
            </a:r>
          </a:p>
        </p:txBody>
      </p:sp>
      <p:grpSp>
        <p:nvGrpSpPr>
          <p:cNvPr id="22551" name="Group 105"/>
          <p:cNvGrpSpPr>
            <a:grpSpLocks/>
          </p:cNvGrpSpPr>
          <p:nvPr/>
        </p:nvGrpSpPr>
        <p:grpSpPr bwMode="auto">
          <a:xfrm>
            <a:off x="858838" y="904875"/>
            <a:ext cx="3030537" cy="2519363"/>
            <a:chOff x="541" y="686"/>
            <a:chExt cx="1909" cy="1587"/>
          </a:xfrm>
        </p:grpSpPr>
        <p:sp>
          <p:nvSpPr>
            <p:cNvPr id="22556" name="Text Box 106"/>
            <p:cNvSpPr txBox="1">
              <a:spLocks noChangeArrowheads="1"/>
            </p:cNvSpPr>
            <p:nvPr/>
          </p:nvSpPr>
          <p:spPr bwMode="auto">
            <a:xfrm>
              <a:off x="550" y="68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4</a:t>
              </a:r>
            </a:p>
          </p:txBody>
        </p:sp>
        <p:sp>
          <p:nvSpPr>
            <p:cNvPr id="22557" name="Text Box 107"/>
            <p:cNvSpPr txBox="1">
              <a:spLocks noChangeArrowheads="1"/>
            </p:cNvSpPr>
            <p:nvPr/>
          </p:nvSpPr>
          <p:spPr bwMode="auto">
            <a:xfrm>
              <a:off x="1792" y="686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2558" name="Text Box 108"/>
            <p:cNvSpPr txBox="1">
              <a:spLocks noChangeArrowheads="1"/>
            </p:cNvSpPr>
            <p:nvPr/>
          </p:nvSpPr>
          <p:spPr bwMode="auto">
            <a:xfrm>
              <a:off x="2231" y="1162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2559" name="Text Box 109"/>
            <p:cNvSpPr txBox="1">
              <a:spLocks noChangeArrowheads="1"/>
            </p:cNvSpPr>
            <p:nvPr/>
          </p:nvSpPr>
          <p:spPr bwMode="auto">
            <a:xfrm>
              <a:off x="541" y="204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8</a:t>
              </a:r>
            </a:p>
          </p:txBody>
        </p:sp>
        <p:sp>
          <p:nvSpPr>
            <p:cNvPr id="22560" name="Text Box 110"/>
            <p:cNvSpPr txBox="1">
              <a:spLocks noChangeArrowheads="1"/>
            </p:cNvSpPr>
            <p:nvPr/>
          </p:nvSpPr>
          <p:spPr bwMode="auto">
            <a:xfrm>
              <a:off x="1174" y="2019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  <p:sp>
          <p:nvSpPr>
            <p:cNvPr id="22561" name="Text Box 111"/>
            <p:cNvSpPr txBox="1">
              <a:spLocks noChangeArrowheads="1"/>
            </p:cNvSpPr>
            <p:nvPr/>
          </p:nvSpPr>
          <p:spPr bwMode="auto">
            <a:xfrm>
              <a:off x="1798" y="2012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</a:t>
              </a:r>
            </a:p>
          </p:txBody>
        </p:sp>
      </p:grpSp>
      <p:sp>
        <p:nvSpPr>
          <p:cNvPr id="879728" name="Text Box 112"/>
          <p:cNvSpPr txBox="1">
            <a:spLocks noChangeArrowheads="1"/>
          </p:cNvSpPr>
          <p:nvPr/>
        </p:nvSpPr>
        <p:spPr bwMode="auto">
          <a:xfrm>
            <a:off x="1889125" y="855663"/>
            <a:ext cx="311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8</a:t>
            </a:r>
          </a:p>
        </p:txBody>
      </p:sp>
      <p:sp>
        <p:nvSpPr>
          <p:cNvPr id="879729" name="Text Box 113"/>
          <p:cNvSpPr txBox="1">
            <a:spLocks noChangeArrowheads="1"/>
          </p:cNvSpPr>
          <p:nvPr/>
        </p:nvSpPr>
        <p:spPr bwMode="auto">
          <a:xfrm>
            <a:off x="2936875" y="3419475"/>
            <a:ext cx="311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7</a:t>
            </a:r>
          </a:p>
        </p:txBody>
      </p:sp>
      <p:sp>
        <p:nvSpPr>
          <p:cNvPr id="879730" name="Text Box 114"/>
          <p:cNvSpPr txBox="1">
            <a:spLocks noChangeArrowheads="1"/>
          </p:cNvSpPr>
          <p:nvPr/>
        </p:nvSpPr>
        <p:spPr bwMode="auto">
          <a:xfrm>
            <a:off x="2919413" y="5729288"/>
            <a:ext cx="311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4</a:t>
            </a:r>
          </a:p>
        </p:txBody>
      </p:sp>
      <p:sp>
        <p:nvSpPr>
          <p:cNvPr id="879731" name="Text Box 115"/>
          <p:cNvSpPr txBox="1">
            <a:spLocks noChangeArrowheads="1"/>
          </p:cNvSpPr>
          <p:nvPr/>
        </p:nvSpPr>
        <p:spPr bwMode="auto">
          <a:xfrm>
            <a:off x="1449388" y="4151313"/>
            <a:ext cx="311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3164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9628" grpId="0" animBg="1"/>
      <p:bldP spid="879629" grpId="0" animBg="1"/>
      <p:bldP spid="879673" grpId="0" animBg="1"/>
      <p:bldP spid="879674" grpId="0" animBg="1"/>
      <p:bldP spid="879675" grpId="0" animBg="1"/>
      <p:bldP spid="879714" grpId="0" animBg="1"/>
      <p:bldP spid="879715" grpId="0" animBg="1"/>
      <p:bldP spid="879717" grpId="0" animBg="1"/>
      <p:bldP spid="879718" grpId="0" animBg="1"/>
      <p:bldP spid="879728" grpId="0" animBg="1"/>
      <p:bldP spid="879729" grpId="0" animBg="1"/>
      <p:bldP spid="879730" grpId="0" animBg="1"/>
      <p:bldP spid="8797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7467600" cy="1143000"/>
          </a:xfrm>
        </p:spPr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881666" name="Line 2"/>
          <p:cNvSpPr>
            <a:spLocks noChangeShapeType="1"/>
          </p:cNvSpPr>
          <p:nvPr/>
        </p:nvSpPr>
        <p:spPr bwMode="auto">
          <a:xfrm flipV="1">
            <a:off x="2311400" y="5824537"/>
            <a:ext cx="550863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 flipH="1">
            <a:off x="1736725" y="1879600"/>
            <a:ext cx="242888" cy="385762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1668" name="Line 4"/>
          <p:cNvSpPr>
            <a:spLocks noChangeShapeType="1"/>
          </p:cNvSpPr>
          <p:nvPr/>
        </p:nvSpPr>
        <p:spPr bwMode="auto">
          <a:xfrm>
            <a:off x="2235200" y="1839912"/>
            <a:ext cx="728663" cy="1157288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 flipV="1">
            <a:off x="1381125" y="1676400"/>
            <a:ext cx="550863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 flipV="1">
            <a:off x="571500" y="1849437"/>
            <a:ext cx="407988" cy="40005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61" name="Group 8"/>
          <p:cNvGrpSpPr>
            <a:grpSpLocks/>
          </p:cNvGrpSpPr>
          <p:nvPr/>
        </p:nvGrpSpPr>
        <p:grpSpPr bwMode="auto">
          <a:xfrm>
            <a:off x="254000" y="1355725"/>
            <a:ext cx="3721100" cy="2108200"/>
            <a:chOff x="3303" y="2273"/>
            <a:chExt cx="2344" cy="1328"/>
          </a:xfrm>
        </p:grpSpPr>
        <p:sp>
          <p:nvSpPr>
            <p:cNvPr id="23640" name="Oval 9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23641" name="Oval 10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23642" name="Oval 11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23643" name="Oval 12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23644" name="Oval 13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23645" name="Oval 14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23646" name="Oval 15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3647" name="Oval 16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23648" name="Oval 17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23649" name="Line 18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Line 19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Line 20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Line 21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Line 22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4" name="Line 23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5" name="Line 24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Line 25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7" name="Line 26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8" name="Line 27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Line 28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Line 29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1" name="Line 30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Line 31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3" name="Text Box 32"/>
            <p:cNvSpPr txBox="1">
              <a:spLocks noChangeArrowheads="1"/>
            </p:cNvSpPr>
            <p:nvPr/>
          </p:nvSpPr>
          <p:spPr bwMode="auto">
            <a:xfrm>
              <a:off x="3489" y="25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3664" name="Text Box 33"/>
            <p:cNvSpPr txBox="1">
              <a:spLocks noChangeArrowheads="1"/>
            </p:cNvSpPr>
            <p:nvPr/>
          </p:nvSpPr>
          <p:spPr bwMode="auto">
            <a:xfrm>
              <a:off x="4089" y="227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3665" name="Text Box 34"/>
            <p:cNvSpPr txBox="1">
              <a:spLocks noChangeArrowheads="1"/>
            </p:cNvSpPr>
            <p:nvPr/>
          </p:nvSpPr>
          <p:spPr bwMode="auto">
            <a:xfrm>
              <a:off x="4696" y="228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3666" name="Text Box 35"/>
            <p:cNvSpPr txBox="1">
              <a:spLocks noChangeArrowheads="1"/>
            </p:cNvSpPr>
            <p:nvPr/>
          </p:nvSpPr>
          <p:spPr bwMode="auto">
            <a:xfrm>
              <a:off x="3500" y="310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3667" name="Text Box 36"/>
            <p:cNvSpPr txBox="1">
              <a:spLocks noChangeArrowheads="1"/>
            </p:cNvSpPr>
            <p:nvPr/>
          </p:nvSpPr>
          <p:spPr bwMode="auto">
            <a:xfrm>
              <a:off x="3636" y="2816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23668" name="Text Box 37"/>
            <p:cNvSpPr txBox="1">
              <a:spLocks noChangeArrowheads="1"/>
            </p:cNvSpPr>
            <p:nvPr/>
          </p:nvSpPr>
          <p:spPr bwMode="auto">
            <a:xfrm>
              <a:off x="4095" y="338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23669" name="Text Box 38"/>
            <p:cNvSpPr txBox="1">
              <a:spLocks noChangeArrowheads="1"/>
            </p:cNvSpPr>
            <p:nvPr/>
          </p:nvSpPr>
          <p:spPr bwMode="auto">
            <a:xfrm>
              <a:off x="4690" y="3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3670" name="Text Box 39"/>
            <p:cNvSpPr txBox="1">
              <a:spLocks noChangeArrowheads="1"/>
            </p:cNvSpPr>
            <p:nvPr/>
          </p:nvSpPr>
          <p:spPr bwMode="auto">
            <a:xfrm>
              <a:off x="3889" y="303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3671" name="Text Box 40"/>
            <p:cNvSpPr txBox="1">
              <a:spLocks noChangeArrowheads="1"/>
            </p:cNvSpPr>
            <p:nvPr/>
          </p:nvSpPr>
          <p:spPr bwMode="auto">
            <a:xfrm>
              <a:off x="4280" y="264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3672" name="Text Box 41"/>
            <p:cNvSpPr txBox="1">
              <a:spLocks noChangeArrowheads="1"/>
            </p:cNvSpPr>
            <p:nvPr/>
          </p:nvSpPr>
          <p:spPr bwMode="auto">
            <a:xfrm>
              <a:off x="4631" y="28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3673" name="Text Box 42"/>
            <p:cNvSpPr txBox="1">
              <a:spLocks noChangeArrowheads="1"/>
            </p:cNvSpPr>
            <p:nvPr/>
          </p:nvSpPr>
          <p:spPr bwMode="auto">
            <a:xfrm>
              <a:off x="5063" y="2832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23674" name="Text Box 43"/>
            <p:cNvSpPr txBox="1">
              <a:spLocks noChangeArrowheads="1"/>
            </p:cNvSpPr>
            <p:nvPr/>
          </p:nvSpPr>
          <p:spPr bwMode="auto">
            <a:xfrm>
              <a:off x="5288" y="252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23675" name="Text Box 44"/>
            <p:cNvSpPr txBox="1">
              <a:spLocks noChangeArrowheads="1"/>
            </p:cNvSpPr>
            <p:nvPr/>
          </p:nvSpPr>
          <p:spPr bwMode="auto">
            <a:xfrm>
              <a:off x="5270" y="313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23676" name="Text Box 45"/>
            <p:cNvSpPr txBox="1">
              <a:spLocks noChangeArrowheads="1"/>
            </p:cNvSpPr>
            <p:nvPr/>
          </p:nvSpPr>
          <p:spPr bwMode="auto">
            <a:xfrm>
              <a:off x="4289" y="302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6</a:t>
              </a:r>
            </a:p>
          </p:txBody>
        </p:sp>
      </p:grpSp>
      <p:sp>
        <p:nvSpPr>
          <p:cNvPr id="23562" name="Oval 46"/>
          <p:cNvSpPr>
            <a:spLocks noChangeArrowheads="1"/>
          </p:cNvSpPr>
          <p:nvPr/>
        </p:nvSpPr>
        <p:spPr bwMode="auto">
          <a:xfrm>
            <a:off x="919163" y="1458912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3" name="Oval 47"/>
          <p:cNvSpPr>
            <a:spLocks noChangeArrowheads="1"/>
          </p:cNvSpPr>
          <p:nvPr/>
        </p:nvSpPr>
        <p:spPr bwMode="auto">
          <a:xfrm>
            <a:off x="247650" y="2193925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1712" name="Rectangle 48"/>
          <p:cNvSpPr>
            <a:spLocks noChangeArrowheads="1"/>
          </p:cNvSpPr>
          <p:nvPr/>
        </p:nvSpPr>
        <p:spPr bwMode="auto">
          <a:xfrm>
            <a:off x="4157663" y="685800"/>
            <a:ext cx="4554537" cy="2468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key [h] = 7	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[h] = i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key [g] = 6	 [g] = i</a:t>
            </a:r>
            <a:endParaRPr lang="en-US" dirty="0">
              <a:solidFill>
                <a:srgbClr val="002060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</a:rPr>
              <a:t>	    </a:t>
            </a:r>
            <a:r>
              <a:rPr lang="en-US" sz="2400" b="1" dirty="0">
                <a:solidFill>
                  <a:srgbClr val="DD0111"/>
                </a:solidFill>
                <a:sym typeface="Symbol" pitchFamily="18" charset="2"/>
              </a:rPr>
              <a:t>7   4 6  8</a:t>
            </a: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Q = {d, e, f, g, h}  V</a:t>
            </a:r>
            <a:r>
              <a:rPr lang="en-US" sz="2400" baseline="-250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{a, b, c, </a:t>
            </a:r>
            <a:r>
              <a:rPr lang="en-US" sz="2400" dirty="0" err="1">
                <a:solidFill>
                  <a:srgbClr val="002060"/>
                </a:solidFill>
                <a:sym typeface="Symbol" pitchFamily="18" charset="2"/>
              </a:rPr>
              <a:t>i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 = { c, #, c ,</a:t>
            </a:r>
            <a:r>
              <a:rPr lang="en-US" sz="2400" dirty="0" err="1">
                <a:solidFill>
                  <a:srgbClr val="002060"/>
                </a:solidFill>
                <a:sym typeface="Symbol" pitchFamily="18" charset="2"/>
              </a:rPr>
              <a:t>i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, </a:t>
            </a:r>
            <a:r>
              <a:rPr lang="en-US" sz="2400" dirty="0" err="1">
                <a:solidFill>
                  <a:srgbClr val="002060"/>
                </a:solidFill>
                <a:sym typeface="Symbol" pitchFamily="18" charset="2"/>
              </a:rPr>
              <a:t>i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Extract-MIN(Q)  f</a:t>
            </a:r>
          </a:p>
        </p:txBody>
      </p:sp>
      <p:sp>
        <p:nvSpPr>
          <p:cNvPr id="23565" name="Oval 49"/>
          <p:cNvSpPr>
            <a:spLocks noChangeArrowheads="1"/>
          </p:cNvSpPr>
          <p:nvPr/>
        </p:nvSpPr>
        <p:spPr bwMode="auto">
          <a:xfrm>
            <a:off x="1898650" y="1458912"/>
            <a:ext cx="449263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Oval 50"/>
          <p:cNvSpPr>
            <a:spLocks noChangeArrowheads="1"/>
          </p:cNvSpPr>
          <p:nvPr/>
        </p:nvSpPr>
        <p:spPr bwMode="auto">
          <a:xfrm>
            <a:off x="1411288" y="2200275"/>
            <a:ext cx="439737" cy="442912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1715" name="Oval 51"/>
          <p:cNvSpPr>
            <a:spLocks noChangeArrowheads="1"/>
          </p:cNvSpPr>
          <p:nvPr/>
        </p:nvSpPr>
        <p:spPr bwMode="auto">
          <a:xfrm>
            <a:off x="2868613" y="2932112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1716" name="Line 52"/>
          <p:cNvSpPr>
            <a:spLocks noChangeShapeType="1"/>
          </p:cNvSpPr>
          <p:nvPr/>
        </p:nvSpPr>
        <p:spPr bwMode="auto">
          <a:xfrm flipH="1">
            <a:off x="1727200" y="4533900"/>
            <a:ext cx="242888" cy="385762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1717" name="Line 53"/>
          <p:cNvSpPr>
            <a:spLocks noChangeShapeType="1"/>
          </p:cNvSpPr>
          <p:nvPr/>
        </p:nvSpPr>
        <p:spPr bwMode="auto">
          <a:xfrm>
            <a:off x="2225675" y="4494212"/>
            <a:ext cx="728663" cy="1157288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1718" name="Line 54"/>
          <p:cNvSpPr>
            <a:spLocks noChangeShapeType="1"/>
          </p:cNvSpPr>
          <p:nvPr/>
        </p:nvSpPr>
        <p:spPr bwMode="auto">
          <a:xfrm flipV="1">
            <a:off x="1371600" y="4330700"/>
            <a:ext cx="550863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1719" name="Line 55"/>
          <p:cNvSpPr>
            <a:spLocks noChangeShapeType="1"/>
          </p:cNvSpPr>
          <p:nvPr/>
        </p:nvSpPr>
        <p:spPr bwMode="auto">
          <a:xfrm flipV="1">
            <a:off x="561975" y="4503737"/>
            <a:ext cx="407988" cy="40005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81720" name="Group 56"/>
          <p:cNvGrpSpPr>
            <a:grpSpLocks/>
          </p:cNvGrpSpPr>
          <p:nvPr/>
        </p:nvGrpSpPr>
        <p:grpSpPr bwMode="auto">
          <a:xfrm>
            <a:off x="244475" y="4010025"/>
            <a:ext cx="3721100" cy="2108200"/>
            <a:chOff x="3303" y="2273"/>
            <a:chExt cx="2344" cy="1328"/>
          </a:xfrm>
        </p:grpSpPr>
        <p:sp>
          <p:nvSpPr>
            <p:cNvPr id="23603" name="Oval 57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23604" name="Oval 58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23605" name="Oval 59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23606" name="Oval 60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23607" name="Oval 61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23608" name="Oval 62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23609" name="Oval 63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3610" name="Oval 64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23611" name="Oval 65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23612" name="Line 66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Line 67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Line 68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Line 69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Line 70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Line 71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Line 72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Line 73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Line 74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1" name="Line 75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2" name="Line 76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3" name="Line 77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Line 78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5" name="Line 79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6" name="Text Box 80"/>
            <p:cNvSpPr txBox="1">
              <a:spLocks noChangeArrowheads="1"/>
            </p:cNvSpPr>
            <p:nvPr/>
          </p:nvSpPr>
          <p:spPr bwMode="auto">
            <a:xfrm>
              <a:off x="3489" y="25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3627" name="Text Box 81"/>
            <p:cNvSpPr txBox="1">
              <a:spLocks noChangeArrowheads="1"/>
            </p:cNvSpPr>
            <p:nvPr/>
          </p:nvSpPr>
          <p:spPr bwMode="auto">
            <a:xfrm>
              <a:off x="4089" y="227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3628" name="Text Box 82"/>
            <p:cNvSpPr txBox="1">
              <a:spLocks noChangeArrowheads="1"/>
            </p:cNvSpPr>
            <p:nvPr/>
          </p:nvSpPr>
          <p:spPr bwMode="auto">
            <a:xfrm>
              <a:off x="4696" y="228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3629" name="Text Box 83"/>
            <p:cNvSpPr txBox="1">
              <a:spLocks noChangeArrowheads="1"/>
            </p:cNvSpPr>
            <p:nvPr/>
          </p:nvSpPr>
          <p:spPr bwMode="auto">
            <a:xfrm>
              <a:off x="3500" y="310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3630" name="Text Box 84"/>
            <p:cNvSpPr txBox="1">
              <a:spLocks noChangeArrowheads="1"/>
            </p:cNvSpPr>
            <p:nvPr/>
          </p:nvSpPr>
          <p:spPr bwMode="auto">
            <a:xfrm>
              <a:off x="3636" y="2816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23631" name="Text Box 85"/>
            <p:cNvSpPr txBox="1">
              <a:spLocks noChangeArrowheads="1"/>
            </p:cNvSpPr>
            <p:nvPr/>
          </p:nvSpPr>
          <p:spPr bwMode="auto">
            <a:xfrm>
              <a:off x="4095" y="338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23632" name="Text Box 86"/>
            <p:cNvSpPr txBox="1">
              <a:spLocks noChangeArrowheads="1"/>
            </p:cNvSpPr>
            <p:nvPr/>
          </p:nvSpPr>
          <p:spPr bwMode="auto">
            <a:xfrm>
              <a:off x="4690" y="3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3633" name="Text Box 87"/>
            <p:cNvSpPr txBox="1">
              <a:spLocks noChangeArrowheads="1"/>
            </p:cNvSpPr>
            <p:nvPr/>
          </p:nvSpPr>
          <p:spPr bwMode="auto">
            <a:xfrm>
              <a:off x="3889" y="303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3634" name="Text Box 88"/>
            <p:cNvSpPr txBox="1">
              <a:spLocks noChangeArrowheads="1"/>
            </p:cNvSpPr>
            <p:nvPr/>
          </p:nvSpPr>
          <p:spPr bwMode="auto">
            <a:xfrm>
              <a:off x="4280" y="264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3635" name="Text Box 89"/>
            <p:cNvSpPr txBox="1">
              <a:spLocks noChangeArrowheads="1"/>
            </p:cNvSpPr>
            <p:nvPr/>
          </p:nvSpPr>
          <p:spPr bwMode="auto">
            <a:xfrm>
              <a:off x="4631" y="28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3636" name="Text Box 90"/>
            <p:cNvSpPr txBox="1">
              <a:spLocks noChangeArrowheads="1"/>
            </p:cNvSpPr>
            <p:nvPr/>
          </p:nvSpPr>
          <p:spPr bwMode="auto">
            <a:xfrm>
              <a:off x="5063" y="2832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23637" name="Text Box 91"/>
            <p:cNvSpPr txBox="1">
              <a:spLocks noChangeArrowheads="1"/>
            </p:cNvSpPr>
            <p:nvPr/>
          </p:nvSpPr>
          <p:spPr bwMode="auto">
            <a:xfrm>
              <a:off x="5288" y="252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23638" name="Text Box 92"/>
            <p:cNvSpPr txBox="1">
              <a:spLocks noChangeArrowheads="1"/>
            </p:cNvSpPr>
            <p:nvPr/>
          </p:nvSpPr>
          <p:spPr bwMode="auto">
            <a:xfrm>
              <a:off x="5270" y="313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23639" name="Text Box 93"/>
            <p:cNvSpPr txBox="1">
              <a:spLocks noChangeArrowheads="1"/>
            </p:cNvSpPr>
            <p:nvPr/>
          </p:nvSpPr>
          <p:spPr bwMode="auto">
            <a:xfrm>
              <a:off x="4289" y="302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6</a:t>
              </a:r>
            </a:p>
          </p:txBody>
        </p:sp>
      </p:grpSp>
      <p:sp>
        <p:nvSpPr>
          <p:cNvPr id="881758" name="Oval 94"/>
          <p:cNvSpPr>
            <a:spLocks noChangeArrowheads="1"/>
          </p:cNvSpPr>
          <p:nvPr/>
        </p:nvSpPr>
        <p:spPr bwMode="auto">
          <a:xfrm>
            <a:off x="909638" y="4113212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1759" name="Oval 95"/>
          <p:cNvSpPr>
            <a:spLocks noChangeArrowheads="1"/>
          </p:cNvSpPr>
          <p:nvPr/>
        </p:nvSpPr>
        <p:spPr bwMode="auto">
          <a:xfrm>
            <a:off x="238125" y="4848225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1760" name="Rectangle 96"/>
          <p:cNvSpPr>
            <a:spLocks noChangeArrowheads="1"/>
          </p:cNvSpPr>
          <p:nvPr/>
        </p:nvSpPr>
        <p:spPr bwMode="auto">
          <a:xfrm>
            <a:off x="4295775" y="3505200"/>
            <a:ext cx="4554538" cy="282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key [g] = 2	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[g] = f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key [d] = 7	 [d] = c </a:t>
            </a:r>
            <a:r>
              <a:rPr lang="en-US" sz="2000" b="1" dirty="0">
                <a:solidFill>
                  <a:srgbClr val="C00000"/>
                </a:solidFill>
                <a:sym typeface="Symbol" pitchFamily="18" charset="2"/>
              </a:rPr>
              <a:t>unchanged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key [e] = 10	 [e] = f</a:t>
            </a:r>
            <a:endParaRPr lang="en-US" dirty="0">
              <a:solidFill>
                <a:srgbClr val="002060"/>
              </a:solidFill>
              <a:sym typeface="Symbol" pitchFamily="18" charset="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</a:rPr>
              <a:t>	    </a:t>
            </a:r>
            <a:r>
              <a:rPr lang="en-US" sz="2400" b="1" dirty="0">
                <a:solidFill>
                  <a:srgbClr val="DD0111"/>
                </a:solidFill>
                <a:sym typeface="Symbol" pitchFamily="18" charset="2"/>
              </a:rPr>
              <a:t>7 10 2 8</a:t>
            </a: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Q = {d, e, g, h}  V</a:t>
            </a:r>
            <a:r>
              <a:rPr lang="en-US" sz="2400" baseline="-250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{a, b, c, i, f}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 = { c, f ,f, </a:t>
            </a:r>
            <a:r>
              <a:rPr lang="en-US" sz="2400" dirty="0" err="1">
                <a:solidFill>
                  <a:srgbClr val="002060"/>
                </a:solidFill>
                <a:sym typeface="Symbol" pitchFamily="18" charset="2"/>
              </a:rPr>
              <a:t>i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Extract-MIN(Q)  g</a:t>
            </a:r>
          </a:p>
        </p:txBody>
      </p:sp>
      <p:sp>
        <p:nvSpPr>
          <p:cNvPr id="881761" name="Oval 97"/>
          <p:cNvSpPr>
            <a:spLocks noChangeArrowheads="1"/>
          </p:cNvSpPr>
          <p:nvPr/>
        </p:nvSpPr>
        <p:spPr bwMode="auto">
          <a:xfrm>
            <a:off x="1889125" y="4113212"/>
            <a:ext cx="449263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1762" name="Oval 98"/>
          <p:cNvSpPr>
            <a:spLocks noChangeArrowheads="1"/>
          </p:cNvSpPr>
          <p:nvPr/>
        </p:nvSpPr>
        <p:spPr bwMode="auto">
          <a:xfrm>
            <a:off x="1401763" y="4864100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1763" name="Oval 99"/>
          <p:cNvSpPr>
            <a:spLocks noChangeArrowheads="1"/>
          </p:cNvSpPr>
          <p:nvPr/>
        </p:nvSpPr>
        <p:spPr bwMode="auto">
          <a:xfrm>
            <a:off x="2859088" y="5614987"/>
            <a:ext cx="430212" cy="414338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1764" name="Oval 100"/>
          <p:cNvSpPr>
            <a:spLocks noChangeArrowheads="1"/>
          </p:cNvSpPr>
          <p:nvPr/>
        </p:nvSpPr>
        <p:spPr bwMode="auto">
          <a:xfrm>
            <a:off x="1885950" y="5599112"/>
            <a:ext cx="449263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80" name="Group 101"/>
          <p:cNvGrpSpPr>
            <a:grpSpLocks/>
          </p:cNvGrpSpPr>
          <p:nvPr/>
        </p:nvGrpSpPr>
        <p:grpSpPr bwMode="auto">
          <a:xfrm>
            <a:off x="936625" y="1066801"/>
            <a:ext cx="3030538" cy="2667001"/>
            <a:chOff x="579" y="2340"/>
            <a:chExt cx="1909" cy="1680"/>
          </a:xfrm>
        </p:grpSpPr>
        <p:grpSp>
          <p:nvGrpSpPr>
            <p:cNvPr id="23594" name="Group 102"/>
            <p:cNvGrpSpPr>
              <a:grpSpLocks/>
            </p:cNvGrpSpPr>
            <p:nvPr/>
          </p:nvGrpSpPr>
          <p:grpSpPr bwMode="auto">
            <a:xfrm>
              <a:off x="579" y="2340"/>
              <a:ext cx="1909" cy="1680"/>
              <a:chOff x="579" y="2340"/>
              <a:chExt cx="1909" cy="1680"/>
            </a:xfrm>
          </p:grpSpPr>
          <p:sp>
            <p:nvSpPr>
              <p:cNvPr id="23596" name="Text Box 103"/>
              <p:cNvSpPr txBox="1">
                <a:spLocks noChangeArrowheads="1"/>
              </p:cNvSpPr>
              <p:nvPr/>
            </p:nvSpPr>
            <p:spPr bwMode="auto">
              <a:xfrm>
                <a:off x="588" y="2369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ym typeface="Symbol" pitchFamily="18" charset="2"/>
                  </a:rPr>
                  <a:t>4</a:t>
                </a:r>
              </a:p>
            </p:txBody>
          </p:sp>
          <p:sp>
            <p:nvSpPr>
              <p:cNvPr id="23597" name="Text Box 104"/>
              <p:cNvSpPr txBox="1">
                <a:spLocks noChangeArrowheads="1"/>
              </p:cNvSpPr>
              <p:nvPr/>
            </p:nvSpPr>
            <p:spPr bwMode="auto">
              <a:xfrm>
                <a:off x="1830" y="237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ym typeface="Symbol" pitchFamily="18" charset="2"/>
                  </a:rPr>
                  <a:t>7</a:t>
                </a:r>
              </a:p>
            </p:txBody>
          </p:sp>
          <p:sp>
            <p:nvSpPr>
              <p:cNvPr id="23598" name="Text Box 105"/>
              <p:cNvSpPr txBox="1">
                <a:spLocks noChangeArrowheads="1"/>
              </p:cNvSpPr>
              <p:nvPr/>
            </p:nvSpPr>
            <p:spPr bwMode="auto">
              <a:xfrm>
                <a:off x="2269" y="2880"/>
                <a:ext cx="21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23599" name="Text Box 106"/>
              <p:cNvSpPr txBox="1">
                <a:spLocks noChangeArrowheads="1"/>
              </p:cNvSpPr>
              <p:nvPr/>
            </p:nvSpPr>
            <p:spPr bwMode="auto">
              <a:xfrm>
                <a:off x="579" y="376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>
                    <a:sym typeface="Symbol" pitchFamily="18" charset="2"/>
                  </a:rPr>
                  <a:t>8</a:t>
                </a:r>
              </a:p>
            </p:txBody>
          </p:sp>
          <p:sp>
            <p:nvSpPr>
              <p:cNvPr id="23600" name="Text Box 107"/>
              <p:cNvSpPr txBox="1">
                <a:spLocks noChangeArrowheads="1"/>
              </p:cNvSpPr>
              <p:nvPr/>
            </p:nvSpPr>
            <p:spPr bwMode="auto">
              <a:xfrm>
                <a:off x="1212" y="3737"/>
                <a:ext cx="21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>
                    <a:sym typeface="Symbol" pitchFamily="18" charset="2"/>
                  </a:rPr>
                  <a:t></a:t>
                </a:r>
              </a:p>
            </p:txBody>
          </p:sp>
          <p:sp>
            <p:nvSpPr>
              <p:cNvPr id="23601" name="Text Box 108"/>
              <p:cNvSpPr txBox="1">
                <a:spLocks noChangeArrowheads="1"/>
              </p:cNvSpPr>
              <p:nvPr/>
            </p:nvSpPr>
            <p:spPr bwMode="auto">
              <a:xfrm>
                <a:off x="1836" y="3789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 dirty="0">
                    <a:sym typeface="Symbol" pitchFamily="18" charset="2"/>
                  </a:rPr>
                  <a:t>4</a:t>
                </a:r>
              </a:p>
            </p:txBody>
          </p:sp>
          <p:sp>
            <p:nvSpPr>
              <p:cNvPr id="23602" name="Text Box 109"/>
              <p:cNvSpPr txBox="1">
                <a:spLocks noChangeArrowheads="1"/>
              </p:cNvSpPr>
              <p:nvPr/>
            </p:nvSpPr>
            <p:spPr bwMode="auto">
              <a:xfrm>
                <a:off x="1246" y="2340"/>
                <a:ext cx="196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b="1">
                    <a:sym typeface="Symbol" pitchFamily="18" charset="2"/>
                  </a:rPr>
                  <a:t>8</a:t>
                </a:r>
              </a:p>
            </p:txBody>
          </p:sp>
        </p:grpSp>
        <p:sp>
          <p:nvSpPr>
            <p:cNvPr id="23595" name="Text Box 110"/>
            <p:cNvSpPr txBox="1">
              <a:spLocks noChangeArrowheads="1"/>
            </p:cNvSpPr>
            <p:nvPr/>
          </p:nvSpPr>
          <p:spPr bwMode="auto">
            <a:xfrm>
              <a:off x="910" y="288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2</a:t>
              </a:r>
            </a:p>
          </p:txBody>
        </p:sp>
      </p:grpSp>
      <p:sp>
        <p:nvSpPr>
          <p:cNvPr id="881775" name="Text Box 111"/>
          <p:cNvSpPr txBox="1">
            <a:spLocks noChangeArrowheads="1"/>
          </p:cNvSpPr>
          <p:nvPr/>
        </p:nvSpPr>
        <p:spPr bwMode="auto">
          <a:xfrm>
            <a:off x="984250" y="3390900"/>
            <a:ext cx="311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7</a:t>
            </a:r>
          </a:p>
        </p:txBody>
      </p:sp>
      <p:sp>
        <p:nvSpPr>
          <p:cNvPr id="881776" name="Text Box 112"/>
          <p:cNvSpPr txBox="1">
            <a:spLocks noChangeArrowheads="1"/>
          </p:cNvSpPr>
          <p:nvPr/>
        </p:nvSpPr>
        <p:spPr bwMode="auto">
          <a:xfrm>
            <a:off x="1968500" y="3387725"/>
            <a:ext cx="311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6</a:t>
            </a:r>
          </a:p>
        </p:txBody>
      </p:sp>
      <p:grpSp>
        <p:nvGrpSpPr>
          <p:cNvPr id="881777" name="Group 113"/>
          <p:cNvGrpSpPr>
            <a:grpSpLocks/>
          </p:cNvGrpSpPr>
          <p:nvPr/>
        </p:nvGrpSpPr>
        <p:grpSpPr bwMode="auto">
          <a:xfrm>
            <a:off x="938213" y="3719512"/>
            <a:ext cx="3030537" cy="2686050"/>
            <a:chOff x="591" y="2468"/>
            <a:chExt cx="1909" cy="1692"/>
          </a:xfrm>
        </p:grpSpPr>
        <p:sp>
          <p:nvSpPr>
            <p:cNvPr id="23586" name="Text Box 114"/>
            <p:cNvSpPr txBox="1">
              <a:spLocks noChangeArrowheads="1"/>
            </p:cNvSpPr>
            <p:nvPr/>
          </p:nvSpPr>
          <p:spPr bwMode="auto">
            <a:xfrm>
              <a:off x="600" y="247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4</a:t>
              </a:r>
            </a:p>
          </p:txBody>
        </p:sp>
        <p:sp>
          <p:nvSpPr>
            <p:cNvPr id="23587" name="Text Box 115"/>
            <p:cNvSpPr txBox="1">
              <a:spLocks noChangeArrowheads="1"/>
            </p:cNvSpPr>
            <p:nvPr/>
          </p:nvSpPr>
          <p:spPr bwMode="auto">
            <a:xfrm>
              <a:off x="1842" y="247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7</a:t>
              </a:r>
            </a:p>
          </p:txBody>
        </p:sp>
        <p:sp>
          <p:nvSpPr>
            <p:cNvPr id="23588" name="Text Box 116"/>
            <p:cNvSpPr txBox="1">
              <a:spLocks noChangeArrowheads="1"/>
            </p:cNvSpPr>
            <p:nvPr/>
          </p:nvSpPr>
          <p:spPr bwMode="auto">
            <a:xfrm>
              <a:off x="2281" y="2983"/>
              <a:ext cx="21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ym typeface="Symbol" pitchFamily="18" charset="2"/>
                </a:rPr>
                <a:t></a:t>
              </a:r>
            </a:p>
          </p:txBody>
        </p:sp>
        <p:sp>
          <p:nvSpPr>
            <p:cNvPr id="23589" name="Text Box 117"/>
            <p:cNvSpPr txBox="1">
              <a:spLocks noChangeArrowheads="1"/>
            </p:cNvSpPr>
            <p:nvPr/>
          </p:nvSpPr>
          <p:spPr bwMode="auto">
            <a:xfrm>
              <a:off x="591" y="39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7</a:t>
              </a:r>
            </a:p>
          </p:txBody>
        </p:sp>
        <p:sp>
          <p:nvSpPr>
            <p:cNvPr id="23590" name="Text Box 118"/>
            <p:cNvSpPr txBox="1">
              <a:spLocks noChangeArrowheads="1"/>
            </p:cNvSpPr>
            <p:nvPr/>
          </p:nvSpPr>
          <p:spPr bwMode="auto">
            <a:xfrm>
              <a:off x="1224" y="3908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ym typeface="Symbol" pitchFamily="18" charset="2"/>
                </a:rPr>
                <a:t>6</a:t>
              </a:r>
            </a:p>
          </p:txBody>
        </p:sp>
        <p:sp>
          <p:nvSpPr>
            <p:cNvPr id="23591" name="Text Box 119"/>
            <p:cNvSpPr txBox="1">
              <a:spLocks noChangeArrowheads="1"/>
            </p:cNvSpPr>
            <p:nvPr/>
          </p:nvSpPr>
          <p:spPr bwMode="auto">
            <a:xfrm>
              <a:off x="1848" y="390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4</a:t>
              </a:r>
            </a:p>
          </p:txBody>
        </p:sp>
        <p:sp>
          <p:nvSpPr>
            <p:cNvPr id="23592" name="Text Box 120"/>
            <p:cNvSpPr txBox="1">
              <a:spLocks noChangeArrowheads="1"/>
            </p:cNvSpPr>
            <p:nvPr/>
          </p:nvSpPr>
          <p:spPr bwMode="auto">
            <a:xfrm>
              <a:off x="1258" y="2468"/>
              <a:ext cx="196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8</a:t>
              </a:r>
            </a:p>
          </p:txBody>
        </p:sp>
        <p:sp>
          <p:nvSpPr>
            <p:cNvPr id="23593" name="Text Box 121"/>
            <p:cNvSpPr txBox="1">
              <a:spLocks noChangeArrowheads="1"/>
            </p:cNvSpPr>
            <p:nvPr/>
          </p:nvSpPr>
          <p:spPr bwMode="auto">
            <a:xfrm>
              <a:off x="922" y="300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2</a:t>
              </a:r>
            </a:p>
          </p:txBody>
        </p:sp>
      </p:grpSp>
      <p:sp>
        <p:nvSpPr>
          <p:cNvPr id="881786" name="Text Box 122"/>
          <p:cNvSpPr txBox="1">
            <a:spLocks noChangeArrowheads="1"/>
          </p:cNvSpPr>
          <p:nvPr/>
        </p:nvSpPr>
        <p:spPr bwMode="auto">
          <a:xfrm>
            <a:off x="1941513" y="6070600"/>
            <a:ext cx="311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2</a:t>
            </a:r>
          </a:p>
        </p:txBody>
      </p:sp>
      <p:sp>
        <p:nvSpPr>
          <p:cNvPr id="881787" name="Text Box 123"/>
          <p:cNvSpPr txBox="1">
            <a:spLocks noChangeArrowheads="1"/>
          </p:cNvSpPr>
          <p:nvPr/>
        </p:nvSpPr>
        <p:spPr bwMode="auto">
          <a:xfrm>
            <a:off x="3600450" y="4419600"/>
            <a:ext cx="438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>
                <a:sym typeface="Symbol" pitchFamily="18" charset="2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2927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666" grpId="0" animBg="1"/>
      <p:bldP spid="881668" grpId="0" animBg="1"/>
      <p:bldP spid="881715" grpId="0" animBg="1"/>
      <p:bldP spid="881716" grpId="0" animBg="1"/>
      <p:bldP spid="881717" grpId="0" animBg="1"/>
      <p:bldP spid="881718" grpId="0" animBg="1"/>
      <p:bldP spid="881719" grpId="0" animBg="1"/>
      <p:bldP spid="881758" grpId="0" animBg="1"/>
      <p:bldP spid="881759" grpId="0" animBg="1"/>
      <p:bldP spid="881761" grpId="0" animBg="1"/>
      <p:bldP spid="881762" grpId="0" animBg="1"/>
      <p:bldP spid="881763" grpId="0" animBg="1"/>
      <p:bldP spid="881764" grpId="0" animBg="1"/>
      <p:bldP spid="881775" grpId="0" animBg="1"/>
      <p:bldP spid="881776" grpId="0" animBg="1"/>
      <p:bldP spid="881786" grpId="0" animBg="1"/>
      <p:bldP spid="88178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6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883714" name="Line 2"/>
          <p:cNvSpPr>
            <a:spLocks noChangeShapeType="1"/>
          </p:cNvSpPr>
          <p:nvPr/>
        </p:nvSpPr>
        <p:spPr bwMode="auto">
          <a:xfrm flipV="1">
            <a:off x="2333625" y="4479925"/>
            <a:ext cx="550863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3715" name="Line 3"/>
          <p:cNvSpPr>
            <a:spLocks noChangeShapeType="1"/>
          </p:cNvSpPr>
          <p:nvPr/>
        </p:nvSpPr>
        <p:spPr bwMode="auto">
          <a:xfrm flipV="1">
            <a:off x="1346200" y="5976938"/>
            <a:ext cx="550863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1" name="Line 4"/>
          <p:cNvSpPr>
            <a:spLocks noChangeShapeType="1"/>
          </p:cNvSpPr>
          <p:nvPr/>
        </p:nvSpPr>
        <p:spPr bwMode="auto">
          <a:xfrm flipV="1">
            <a:off x="2333625" y="3328988"/>
            <a:ext cx="550863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3717" name="Line 5"/>
          <p:cNvSpPr>
            <a:spLocks noChangeShapeType="1"/>
          </p:cNvSpPr>
          <p:nvPr/>
        </p:nvSpPr>
        <p:spPr bwMode="auto">
          <a:xfrm flipV="1">
            <a:off x="1366838" y="3321050"/>
            <a:ext cx="550862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3718" name="Line 6"/>
          <p:cNvSpPr>
            <a:spLocks noChangeShapeType="1"/>
          </p:cNvSpPr>
          <p:nvPr/>
        </p:nvSpPr>
        <p:spPr bwMode="auto">
          <a:xfrm flipV="1">
            <a:off x="2309813" y="5988050"/>
            <a:ext cx="550862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Line 7"/>
          <p:cNvSpPr>
            <a:spLocks noChangeShapeType="1"/>
          </p:cNvSpPr>
          <p:nvPr/>
        </p:nvSpPr>
        <p:spPr bwMode="auto">
          <a:xfrm flipH="1">
            <a:off x="1746250" y="2032000"/>
            <a:ext cx="242888" cy="385763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5" name="Line 8"/>
          <p:cNvSpPr>
            <a:spLocks noChangeShapeType="1"/>
          </p:cNvSpPr>
          <p:nvPr/>
        </p:nvSpPr>
        <p:spPr bwMode="auto">
          <a:xfrm>
            <a:off x="2244725" y="1992313"/>
            <a:ext cx="728663" cy="1157287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7" name="Line 10"/>
          <p:cNvSpPr>
            <a:spLocks noChangeShapeType="1"/>
          </p:cNvSpPr>
          <p:nvPr/>
        </p:nvSpPr>
        <p:spPr bwMode="auto">
          <a:xfrm flipV="1">
            <a:off x="1390650" y="1828800"/>
            <a:ext cx="550863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8" name="Line 11"/>
          <p:cNvSpPr>
            <a:spLocks noChangeShapeType="1"/>
          </p:cNvSpPr>
          <p:nvPr/>
        </p:nvSpPr>
        <p:spPr bwMode="auto">
          <a:xfrm flipV="1">
            <a:off x="581025" y="2001838"/>
            <a:ext cx="407988" cy="40005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589" name="Group 12"/>
          <p:cNvGrpSpPr>
            <a:grpSpLocks/>
          </p:cNvGrpSpPr>
          <p:nvPr/>
        </p:nvGrpSpPr>
        <p:grpSpPr bwMode="auto">
          <a:xfrm>
            <a:off x="263525" y="1508125"/>
            <a:ext cx="3721100" cy="2108200"/>
            <a:chOff x="3303" y="2273"/>
            <a:chExt cx="2344" cy="1328"/>
          </a:xfrm>
        </p:grpSpPr>
        <p:sp>
          <p:nvSpPr>
            <p:cNvPr id="24668" name="Oval 13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24669" name="Oval 14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24670" name="Oval 15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24671" name="Oval 16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24672" name="Oval 17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24673" name="Oval 18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24674" name="Oval 19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4675" name="Oval 20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24676" name="Oval 21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24677" name="Line 22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8" name="Line 23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79" name="Line 24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0" name="Line 25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1" name="Line 26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2" name="Line 27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3" name="Line 28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4" name="Line 29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5" name="Line 30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6" name="Line 31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7" name="Line 32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8" name="Line 33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89" name="Line 34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0" name="Line 35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91" name="Text Box 36"/>
            <p:cNvSpPr txBox="1">
              <a:spLocks noChangeArrowheads="1"/>
            </p:cNvSpPr>
            <p:nvPr/>
          </p:nvSpPr>
          <p:spPr bwMode="auto">
            <a:xfrm>
              <a:off x="3489" y="25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4692" name="Text Box 37"/>
            <p:cNvSpPr txBox="1">
              <a:spLocks noChangeArrowheads="1"/>
            </p:cNvSpPr>
            <p:nvPr/>
          </p:nvSpPr>
          <p:spPr bwMode="auto">
            <a:xfrm>
              <a:off x="4089" y="227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4693" name="Text Box 38"/>
            <p:cNvSpPr txBox="1">
              <a:spLocks noChangeArrowheads="1"/>
            </p:cNvSpPr>
            <p:nvPr/>
          </p:nvSpPr>
          <p:spPr bwMode="auto">
            <a:xfrm>
              <a:off x="4696" y="228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4694" name="Text Box 39"/>
            <p:cNvSpPr txBox="1">
              <a:spLocks noChangeArrowheads="1"/>
            </p:cNvSpPr>
            <p:nvPr/>
          </p:nvSpPr>
          <p:spPr bwMode="auto">
            <a:xfrm>
              <a:off x="3500" y="310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4695" name="Text Box 40"/>
            <p:cNvSpPr txBox="1">
              <a:spLocks noChangeArrowheads="1"/>
            </p:cNvSpPr>
            <p:nvPr/>
          </p:nvSpPr>
          <p:spPr bwMode="auto">
            <a:xfrm>
              <a:off x="3636" y="2816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24696" name="Text Box 41"/>
            <p:cNvSpPr txBox="1">
              <a:spLocks noChangeArrowheads="1"/>
            </p:cNvSpPr>
            <p:nvPr/>
          </p:nvSpPr>
          <p:spPr bwMode="auto">
            <a:xfrm>
              <a:off x="4095" y="338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24697" name="Text Box 42"/>
            <p:cNvSpPr txBox="1">
              <a:spLocks noChangeArrowheads="1"/>
            </p:cNvSpPr>
            <p:nvPr/>
          </p:nvSpPr>
          <p:spPr bwMode="auto">
            <a:xfrm>
              <a:off x="4690" y="3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4698" name="Text Box 43"/>
            <p:cNvSpPr txBox="1">
              <a:spLocks noChangeArrowheads="1"/>
            </p:cNvSpPr>
            <p:nvPr/>
          </p:nvSpPr>
          <p:spPr bwMode="auto">
            <a:xfrm>
              <a:off x="3889" y="303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4699" name="Text Box 44"/>
            <p:cNvSpPr txBox="1">
              <a:spLocks noChangeArrowheads="1"/>
            </p:cNvSpPr>
            <p:nvPr/>
          </p:nvSpPr>
          <p:spPr bwMode="auto">
            <a:xfrm>
              <a:off x="4280" y="264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4700" name="Text Box 45"/>
            <p:cNvSpPr txBox="1">
              <a:spLocks noChangeArrowheads="1"/>
            </p:cNvSpPr>
            <p:nvPr/>
          </p:nvSpPr>
          <p:spPr bwMode="auto">
            <a:xfrm>
              <a:off x="4631" y="28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4701" name="Text Box 46"/>
            <p:cNvSpPr txBox="1">
              <a:spLocks noChangeArrowheads="1"/>
            </p:cNvSpPr>
            <p:nvPr/>
          </p:nvSpPr>
          <p:spPr bwMode="auto">
            <a:xfrm>
              <a:off x="5063" y="2832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24702" name="Text Box 47"/>
            <p:cNvSpPr txBox="1">
              <a:spLocks noChangeArrowheads="1"/>
            </p:cNvSpPr>
            <p:nvPr/>
          </p:nvSpPr>
          <p:spPr bwMode="auto">
            <a:xfrm>
              <a:off x="5288" y="252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24703" name="Text Box 48"/>
            <p:cNvSpPr txBox="1">
              <a:spLocks noChangeArrowheads="1"/>
            </p:cNvSpPr>
            <p:nvPr/>
          </p:nvSpPr>
          <p:spPr bwMode="auto">
            <a:xfrm>
              <a:off x="5270" y="313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24704" name="Text Box 49"/>
            <p:cNvSpPr txBox="1">
              <a:spLocks noChangeArrowheads="1"/>
            </p:cNvSpPr>
            <p:nvPr/>
          </p:nvSpPr>
          <p:spPr bwMode="auto">
            <a:xfrm>
              <a:off x="4289" y="302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 dirty="0"/>
                <a:t>6</a:t>
              </a:r>
            </a:p>
          </p:txBody>
        </p:sp>
      </p:grpSp>
      <p:sp>
        <p:nvSpPr>
          <p:cNvPr id="24590" name="Oval 50"/>
          <p:cNvSpPr>
            <a:spLocks noChangeArrowheads="1"/>
          </p:cNvSpPr>
          <p:nvPr/>
        </p:nvSpPr>
        <p:spPr bwMode="auto">
          <a:xfrm>
            <a:off x="928688" y="1611313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Oval 51"/>
          <p:cNvSpPr>
            <a:spLocks noChangeArrowheads="1"/>
          </p:cNvSpPr>
          <p:nvPr/>
        </p:nvSpPr>
        <p:spPr bwMode="auto">
          <a:xfrm>
            <a:off x="257175" y="2346325"/>
            <a:ext cx="449263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764" name="Rectangle 52"/>
          <p:cNvSpPr>
            <a:spLocks noChangeArrowheads="1"/>
          </p:cNvSpPr>
          <p:nvPr/>
        </p:nvSpPr>
        <p:spPr bwMode="auto">
          <a:xfrm>
            <a:off x="4157663" y="1179513"/>
            <a:ext cx="4554537" cy="214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key [h] = 1	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[h] = g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</a:rPr>
              <a:t>        </a:t>
            </a:r>
            <a:r>
              <a:rPr lang="en-US" sz="2400" b="1" dirty="0">
                <a:solidFill>
                  <a:srgbClr val="DD0111"/>
                </a:solidFill>
                <a:sym typeface="Symbol" pitchFamily="18" charset="2"/>
              </a:rPr>
              <a:t>7 10 1</a:t>
            </a: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 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Q = {d, e, h}  V</a:t>
            </a:r>
            <a:r>
              <a:rPr lang="en-US" sz="2400" baseline="-250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{a, b, c, i, f, g}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 = { c, f ,g}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Extract-MIN(Q)  h</a:t>
            </a:r>
          </a:p>
        </p:txBody>
      </p:sp>
      <p:sp>
        <p:nvSpPr>
          <p:cNvPr id="24593" name="Oval 53"/>
          <p:cNvSpPr>
            <a:spLocks noChangeArrowheads="1"/>
          </p:cNvSpPr>
          <p:nvPr/>
        </p:nvSpPr>
        <p:spPr bwMode="auto">
          <a:xfrm>
            <a:off x="1908175" y="1611313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Oval 54"/>
          <p:cNvSpPr>
            <a:spLocks noChangeArrowheads="1"/>
          </p:cNvSpPr>
          <p:nvPr/>
        </p:nvSpPr>
        <p:spPr bwMode="auto">
          <a:xfrm>
            <a:off x="1420813" y="2362200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Oval 55"/>
          <p:cNvSpPr>
            <a:spLocks noChangeArrowheads="1"/>
          </p:cNvSpPr>
          <p:nvPr/>
        </p:nvSpPr>
        <p:spPr bwMode="auto">
          <a:xfrm>
            <a:off x="2878138" y="3084513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768" name="Line 56"/>
          <p:cNvSpPr>
            <a:spLocks noChangeShapeType="1"/>
          </p:cNvSpPr>
          <p:nvPr/>
        </p:nvSpPr>
        <p:spPr bwMode="auto">
          <a:xfrm flipH="1">
            <a:off x="1725613" y="4687888"/>
            <a:ext cx="242887" cy="385762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3769" name="Line 57"/>
          <p:cNvSpPr>
            <a:spLocks noChangeShapeType="1"/>
          </p:cNvSpPr>
          <p:nvPr/>
        </p:nvSpPr>
        <p:spPr bwMode="auto">
          <a:xfrm>
            <a:off x="2224088" y="4648200"/>
            <a:ext cx="728662" cy="1157288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3770" name="Line 58"/>
          <p:cNvSpPr>
            <a:spLocks noChangeShapeType="1"/>
          </p:cNvSpPr>
          <p:nvPr/>
        </p:nvSpPr>
        <p:spPr bwMode="auto">
          <a:xfrm flipV="1">
            <a:off x="1370013" y="4484688"/>
            <a:ext cx="550862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3771" name="Line 59"/>
          <p:cNvSpPr>
            <a:spLocks noChangeShapeType="1"/>
          </p:cNvSpPr>
          <p:nvPr/>
        </p:nvSpPr>
        <p:spPr bwMode="auto">
          <a:xfrm flipV="1">
            <a:off x="560388" y="4657725"/>
            <a:ext cx="407987" cy="40005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83772" name="Group 60"/>
          <p:cNvGrpSpPr>
            <a:grpSpLocks/>
          </p:cNvGrpSpPr>
          <p:nvPr/>
        </p:nvGrpSpPr>
        <p:grpSpPr bwMode="auto">
          <a:xfrm>
            <a:off x="242888" y="4164013"/>
            <a:ext cx="3721100" cy="2108200"/>
            <a:chOff x="3303" y="2273"/>
            <a:chExt cx="2344" cy="1328"/>
          </a:xfrm>
        </p:grpSpPr>
        <p:sp>
          <p:nvSpPr>
            <p:cNvPr id="24631" name="Oval 61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a</a:t>
              </a:r>
            </a:p>
          </p:txBody>
        </p:sp>
        <p:sp>
          <p:nvSpPr>
            <p:cNvPr id="24632" name="Oval 62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24633" name="Oval 63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24634" name="Oval 64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24635" name="Oval 65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24636" name="Oval 66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24637" name="Oval 67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4638" name="Oval 68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24639" name="Oval 69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24640" name="Line 70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1" name="Line 71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2" name="Line 72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3" name="Line 73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4" name="Line 74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5" name="Line 75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6" name="Line 76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7" name="Line 77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8" name="Line 78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49" name="Line 79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0" name="Line 80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1" name="Line 81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2" name="Line 82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3" name="Line 83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54" name="Text Box 84"/>
            <p:cNvSpPr txBox="1">
              <a:spLocks noChangeArrowheads="1"/>
            </p:cNvSpPr>
            <p:nvPr/>
          </p:nvSpPr>
          <p:spPr bwMode="auto">
            <a:xfrm>
              <a:off x="3489" y="25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4655" name="Text Box 85"/>
            <p:cNvSpPr txBox="1">
              <a:spLocks noChangeArrowheads="1"/>
            </p:cNvSpPr>
            <p:nvPr/>
          </p:nvSpPr>
          <p:spPr bwMode="auto">
            <a:xfrm>
              <a:off x="4089" y="227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4656" name="Text Box 86"/>
            <p:cNvSpPr txBox="1">
              <a:spLocks noChangeArrowheads="1"/>
            </p:cNvSpPr>
            <p:nvPr/>
          </p:nvSpPr>
          <p:spPr bwMode="auto">
            <a:xfrm>
              <a:off x="4696" y="228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4657" name="Text Box 87"/>
            <p:cNvSpPr txBox="1">
              <a:spLocks noChangeArrowheads="1"/>
            </p:cNvSpPr>
            <p:nvPr/>
          </p:nvSpPr>
          <p:spPr bwMode="auto">
            <a:xfrm>
              <a:off x="3500" y="310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4658" name="Text Box 88"/>
            <p:cNvSpPr txBox="1">
              <a:spLocks noChangeArrowheads="1"/>
            </p:cNvSpPr>
            <p:nvPr/>
          </p:nvSpPr>
          <p:spPr bwMode="auto">
            <a:xfrm>
              <a:off x="3636" y="2816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24659" name="Text Box 89"/>
            <p:cNvSpPr txBox="1">
              <a:spLocks noChangeArrowheads="1"/>
            </p:cNvSpPr>
            <p:nvPr/>
          </p:nvSpPr>
          <p:spPr bwMode="auto">
            <a:xfrm>
              <a:off x="4095" y="338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24660" name="Text Box 90"/>
            <p:cNvSpPr txBox="1">
              <a:spLocks noChangeArrowheads="1"/>
            </p:cNvSpPr>
            <p:nvPr/>
          </p:nvSpPr>
          <p:spPr bwMode="auto">
            <a:xfrm>
              <a:off x="4690" y="3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4661" name="Text Box 91"/>
            <p:cNvSpPr txBox="1">
              <a:spLocks noChangeArrowheads="1"/>
            </p:cNvSpPr>
            <p:nvPr/>
          </p:nvSpPr>
          <p:spPr bwMode="auto">
            <a:xfrm>
              <a:off x="3889" y="303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4662" name="Text Box 92"/>
            <p:cNvSpPr txBox="1">
              <a:spLocks noChangeArrowheads="1"/>
            </p:cNvSpPr>
            <p:nvPr/>
          </p:nvSpPr>
          <p:spPr bwMode="auto">
            <a:xfrm>
              <a:off x="4280" y="264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4663" name="Text Box 93"/>
            <p:cNvSpPr txBox="1">
              <a:spLocks noChangeArrowheads="1"/>
            </p:cNvSpPr>
            <p:nvPr/>
          </p:nvSpPr>
          <p:spPr bwMode="auto">
            <a:xfrm>
              <a:off x="4631" y="28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4664" name="Text Box 94"/>
            <p:cNvSpPr txBox="1">
              <a:spLocks noChangeArrowheads="1"/>
            </p:cNvSpPr>
            <p:nvPr/>
          </p:nvSpPr>
          <p:spPr bwMode="auto">
            <a:xfrm>
              <a:off x="5063" y="2832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24665" name="Text Box 95"/>
            <p:cNvSpPr txBox="1">
              <a:spLocks noChangeArrowheads="1"/>
            </p:cNvSpPr>
            <p:nvPr/>
          </p:nvSpPr>
          <p:spPr bwMode="auto">
            <a:xfrm>
              <a:off x="5288" y="252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24666" name="Text Box 96"/>
            <p:cNvSpPr txBox="1">
              <a:spLocks noChangeArrowheads="1"/>
            </p:cNvSpPr>
            <p:nvPr/>
          </p:nvSpPr>
          <p:spPr bwMode="auto">
            <a:xfrm>
              <a:off x="5270" y="313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24667" name="Text Box 97"/>
            <p:cNvSpPr txBox="1">
              <a:spLocks noChangeArrowheads="1"/>
            </p:cNvSpPr>
            <p:nvPr/>
          </p:nvSpPr>
          <p:spPr bwMode="auto">
            <a:xfrm>
              <a:off x="4289" y="302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6</a:t>
              </a:r>
            </a:p>
          </p:txBody>
        </p:sp>
      </p:grpSp>
      <p:sp>
        <p:nvSpPr>
          <p:cNvPr id="883810" name="Oval 98"/>
          <p:cNvSpPr>
            <a:spLocks noChangeArrowheads="1"/>
          </p:cNvSpPr>
          <p:nvPr/>
        </p:nvSpPr>
        <p:spPr bwMode="auto">
          <a:xfrm>
            <a:off x="908050" y="4267200"/>
            <a:ext cx="449263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811" name="Oval 99"/>
          <p:cNvSpPr>
            <a:spLocks noChangeArrowheads="1"/>
          </p:cNvSpPr>
          <p:nvPr/>
        </p:nvSpPr>
        <p:spPr bwMode="auto">
          <a:xfrm>
            <a:off x="236538" y="5002213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812" name="Rectangle 100"/>
          <p:cNvSpPr>
            <a:spLocks noChangeArrowheads="1"/>
          </p:cNvSpPr>
          <p:nvPr/>
        </p:nvSpPr>
        <p:spPr bwMode="auto">
          <a:xfrm>
            <a:off x="4281488" y="3808413"/>
            <a:ext cx="4554537" cy="243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        </a:t>
            </a:r>
            <a:r>
              <a:rPr lang="en-US" sz="2400" b="1" dirty="0">
                <a:solidFill>
                  <a:srgbClr val="DD0111"/>
                </a:solidFill>
                <a:sym typeface="Symbol" pitchFamily="18" charset="2"/>
              </a:rPr>
              <a:t>7 10</a:t>
            </a: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 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Q = {d, e}  V</a:t>
            </a:r>
            <a:r>
              <a:rPr lang="en-US" sz="2400" baseline="-250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{a, b, c, i, f, g, h}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 = { c, f}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Extract-MIN(Q)  d</a:t>
            </a:r>
          </a:p>
          <a:p>
            <a:pPr marL="342900" indent="-342900">
              <a:spcBef>
                <a:spcPct val="20000"/>
              </a:spcBef>
            </a:pPr>
            <a:endParaRPr lang="en-US" sz="2400" dirty="0">
              <a:solidFill>
                <a:srgbClr val="002060"/>
              </a:solidFill>
              <a:sym typeface="Symbol" pitchFamily="18" charset="2"/>
            </a:endParaRPr>
          </a:p>
        </p:txBody>
      </p:sp>
      <p:sp>
        <p:nvSpPr>
          <p:cNvPr id="883813" name="Oval 101"/>
          <p:cNvSpPr>
            <a:spLocks noChangeArrowheads="1"/>
          </p:cNvSpPr>
          <p:nvPr/>
        </p:nvSpPr>
        <p:spPr bwMode="auto">
          <a:xfrm>
            <a:off x="1887538" y="4267200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814" name="Oval 102"/>
          <p:cNvSpPr>
            <a:spLocks noChangeArrowheads="1"/>
          </p:cNvSpPr>
          <p:nvPr/>
        </p:nvSpPr>
        <p:spPr bwMode="auto">
          <a:xfrm>
            <a:off x="1400175" y="5018088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815" name="Oval 103"/>
          <p:cNvSpPr>
            <a:spLocks noChangeArrowheads="1"/>
          </p:cNvSpPr>
          <p:nvPr/>
        </p:nvSpPr>
        <p:spPr bwMode="auto">
          <a:xfrm>
            <a:off x="2857500" y="5740400"/>
            <a:ext cx="449263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816" name="Oval 104"/>
          <p:cNvSpPr>
            <a:spLocks noChangeArrowheads="1"/>
          </p:cNvSpPr>
          <p:nvPr/>
        </p:nvSpPr>
        <p:spPr bwMode="auto">
          <a:xfrm>
            <a:off x="1884363" y="5753100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817" name="Oval 105"/>
          <p:cNvSpPr>
            <a:spLocks noChangeArrowheads="1"/>
          </p:cNvSpPr>
          <p:nvPr/>
        </p:nvSpPr>
        <p:spPr bwMode="auto">
          <a:xfrm>
            <a:off x="922338" y="3094038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9" name="Oval 106"/>
          <p:cNvSpPr>
            <a:spLocks noChangeArrowheads="1"/>
          </p:cNvSpPr>
          <p:nvPr/>
        </p:nvSpPr>
        <p:spPr bwMode="auto">
          <a:xfrm>
            <a:off x="1905000" y="3108325"/>
            <a:ext cx="449263" cy="422275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819" name="Oval 107"/>
          <p:cNvSpPr>
            <a:spLocks noChangeArrowheads="1"/>
          </p:cNvSpPr>
          <p:nvPr/>
        </p:nvSpPr>
        <p:spPr bwMode="auto">
          <a:xfrm>
            <a:off x="920750" y="5759450"/>
            <a:ext cx="430213" cy="422275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3820" name="Oval 108"/>
          <p:cNvSpPr>
            <a:spLocks noChangeArrowheads="1"/>
          </p:cNvSpPr>
          <p:nvPr/>
        </p:nvSpPr>
        <p:spPr bwMode="auto">
          <a:xfrm>
            <a:off x="2851150" y="4262438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612" name="Group 109"/>
          <p:cNvGrpSpPr>
            <a:grpSpLocks/>
          </p:cNvGrpSpPr>
          <p:nvPr/>
        </p:nvGrpSpPr>
        <p:grpSpPr bwMode="auto">
          <a:xfrm>
            <a:off x="938213" y="1219200"/>
            <a:ext cx="3121025" cy="2686050"/>
            <a:chOff x="591" y="2468"/>
            <a:chExt cx="1966" cy="1692"/>
          </a:xfrm>
        </p:grpSpPr>
        <p:sp>
          <p:nvSpPr>
            <p:cNvPr id="24623" name="Text Box 110"/>
            <p:cNvSpPr txBox="1">
              <a:spLocks noChangeArrowheads="1"/>
            </p:cNvSpPr>
            <p:nvPr/>
          </p:nvSpPr>
          <p:spPr bwMode="auto">
            <a:xfrm>
              <a:off x="600" y="247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4</a:t>
              </a:r>
            </a:p>
          </p:txBody>
        </p:sp>
        <p:sp>
          <p:nvSpPr>
            <p:cNvPr id="24624" name="Text Box 111"/>
            <p:cNvSpPr txBox="1">
              <a:spLocks noChangeArrowheads="1"/>
            </p:cNvSpPr>
            <p:nvPr/>
          </p:nvSpPr>
          <p:spPr bwMode="auto">
            <a:xfrm>
              <a:off x="1842" y="247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7</a:t>
              </a:r>
            </a:p>
          </p:txBody>
        </p:sp>
        <p:sp>
          <p:nvSpPr>
            <p:cNvPr id="24625" name="Text Box 112"/>
            <p:cNvSpPr txBox="1">
              <a:spLocks noChangeArrowheads="1"/>
            </p:cNvSpPr>
            <p:nvPr/>
          </p:nvSpPr>
          <p:spPr bwMode="auto">
            <a:xfrm>
              <a:off x="2281" y="2985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10</a:t>
              </a:r>
            </a:p>
          </p:txBody>
        </p:sp>
        <p:sp>
          <p:nvSpPr>
            <p:cNvPr id="24626" name="Text Box 113"/>
            <p:cNvSpPr txBox="1">
              <a:spLocks noChangeArrowheads="1"/>
            </p:cNvSpPr>
            <p:nvPr/>
          </p:nvSpPr>
          <p:spPr bwMode="auto">
            <a:xfrm>
              <a:off x="591" y="39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ym typeface="Symbol" pitchFamily="18" charset="2"/>
                </a:rPr>
                <a:t>7</a:t>
              </a:r>
            </a:p>
          </p:txBody>
        </p:sp>
        <p:sp>
          <p:nvSpPr>
            <p:cNvPr id="24627" name="Text Box 114"/>
            <p:cNvSpPr txBox="1">
              <a:spLocks noChangeArrowheads="1"/>
            </p:cNvSpPr>
            <p:nvPr/>
          </p:nvSpPr>
          <p:spPr bwMode="auto">
            <a:xfrm>
              <a:off x="1224" y="3908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2</a:t>
              </a:r>
            </a:p>
          </p:txBody>
        </p:sp>
        <p:sp>
          <p:nvSpPr>
            <p:cNvPr id="24628" name="Text Box 115"/>
            <p:cNvSpPr txBox="1">
              <a:spLocks noChangeArrowheads="1"/>
            </p:cNvSpPr>
            <p:nvPr/>
          </p:nvSpPr>
          <p:spPr bwMode="auto">
            <a:xfrm>
              <a:off x="1848" y="390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4</a:t>
              </a:r>
            </a:p>
          </p:txBody>
        </p:sp>
        <p:sp>
          <p:nvSpPr>
            <p:cNvPr id="24629" name="Text Box 116"/>
            <p:cNvSpPr txBox="1">
              <a:spLocks noChangeArrowheads="1"/>
            </p:cNvSpPr>
            <p:nvPr/>
          </p:nvSpPr>
          <p:spPr bwMode="auto">
            <a:xfrm>
              <a:off x="1258" y="2468"/>
              <a:ext cx="196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8</a:t>
              </a:r>
            </a:p>
          </p:txBody>
        </p:sp>
        <p:sp>
          <p:nvSpPr>
            <p:cNvPr id="24630" name="Text Box 117"/>
            <p:cNvSpPr txBox="1">
              <a:spLocks noChangeArrowheads="1"/>
            </p:cNvSpPr>
            <p:nvPr/>
          </p:nvSpPr>
          <p:spPr bwMode="auto">
            <a:xfrm>
              <a:off x="922" y="300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2</a:t>
              </a:r>
            </a:p>
          </p:txBody>
        </p:sp>
      </p:grpSp>
      <p:sp>
        <p:nvSpPr>
          <p:cNvPr id="883830" name="Text Box 118"/>
          <p:cNvSpPr txBox="1">
            <a:spLocks noChangeArrowheads="1"/>
          </p:cNvSpPr>
          <p:nvPr/>
        </p:nvSpPr>
        <p:spPr bwMode="auto">
          <a:xfrm>
            <a:off x="946150" y="3570288"/>
            <a:ext cx="3111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1</a:t>
            </a:r>
          </a:p>
        </p:txBody>
      </p:sp>
      <p:grpSp>
        <p:nvGrpSpPr>
          <p:cNvPr id="883831" name="Group 119"/>
          <p:cNvGrpSpPr>
            <a:grpSpLocks/>
          </p:cNvGrpSpPr>
          <p:nvPr/>
        </p:nvGrpSpPr>
        <p:grpSpPr bwMode="auto">
          <a:xfrm>
            <a:off x="931863" y="3881438"/>
            <a:ext cx="3121025" cy="2686050"/>
            <a:chOff x="591" y="2468"/>
            <a:chExt cx="1966" cy="1692"/>
          </a:xfrm>
        </p:grpSpPr>
        <p:sp>
          <p:nvSpPr>
            <p:cNvPr id="24615" name="Text Box 120"/>
            <p:cNvSpPr txBox="1">
              <a:spLocks noChangeArrowheads="1"/>
            </p:cNvSpPr>
            <p:nvPr/>
          </p:nvSpPr>
          <p:spPr bwMode="auto">
            <a:xfrm>
              <a:off x="600" y="247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4</a:t>
              </a:r>
            </a:p>
          </p:txBody>
        </p:sp>
        <p:sp>
          <p:nvSpPr>
            <p:cNvPr id="24616" name="Text Box 121"/>
            <p:cNvSpPr txBox="1">
              <a:spLocks noChangeArrowheads="1"/>
            </p:cNvSpPr>
            <p:nvPr/>
          </p:nvSpPr>
          <p:spPr bwMode="auto">
            <a:xfrm>
              <a:off x="1842" y="247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7</a:t>
              </a:r>
            </a:p>
          </p:txBody>
        </p:sp>
        <p:sp>
          <p:nvSpPr>
            <p:cNvPr id="24617" name="Text Box 122"/>
            <p:cNvSpPr txBox="1">
              <a:spLocks noChangeArrowheads="1"/>
            </p:cNvSpPr>
            <p:nvPr/>
          </p:nvSpPr>
          <p:spPr bwMode="auto">
            <a:xfrm>
              <a:off x="2281" y="2985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10</a:t>
              </a:r>
            </a:p>
          </p:txBody>
        </p:sp>
        <p:sp>
          <p:nvSpPr>
            <p:cNvPr id="24618" name="Text Box 123"/>
            <p:cNvSpPr txBox="1">
              <a:spLocks noChangeArrowheads="1"/>
            </p:cNvSpPr>
            <p:nvPr/>
          </p:nvSpPr>
          <p:spPr bwMode="auto">
            <a:xfrm>
              <a:off x="591" y="39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1</a:t>
              </a:r>
            </a:p>
          </p:txBody>
        </p:sp>
        <p:sp>
          <p:nvSpPr>
            <p:cNvPr id="24619" name="Text Box 124"/>
            <p:cNvSpPr txBox="1">
              <a:spLocks noChangeArrowheads="1"/>
            </p:cNvSpPr>
            <p:nvPr/>
          </p:nvSpPr>
          <p:spPr bwMode="auto">
            <a:xfrm>
              <a:off x="1224" y="3908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2</a:t>
              </a:r>
            </a:p>
          </p:txBody>
        </p:sp>
        <p:sp>
          <p:nvSpPr>
            <p:cNvPr id="24620" name="Text Box 125"/>
            <p:cNvSpPr txBox="1">
              <a:spLocks noChangeArrowheads="1"/>
            </p:cNvSpPr>
            <p:nvPr/>
          </p:nvSpPr>
          <p:spPr bwMode="auto">
            <a:xfrm>
              <a:off x="1848" y="390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4</a:t>
              </a:r>
            </a:p>
          </p:txBody>
        </p:sp>
        <p:sp>
          <p:nvSpPr>
            <p:cNvPr id="24621" name="Text Box 126"/>
            <p:cNvSpPr txBox="1">
              <a:spLocks noChangeArrowheads="1"/>
            </p:cNvSpPr>
            <p:nvPr/>
          </p:nvSpPr>
          <p:spPr bwMode="auto">
            <a:xfrm>
              <a:off x="1258" y="2468"/>
              <a:ext cx="196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8</a:t>
              </a:r>
            </a:p>
          </p:txBody>
        </p:sp>
        <p:sp>
          <p:nvSpPr>
            <p:cNvPr id="24622" name="Text Box 127"/>
            <p:cNvSpPr txBox="1">
              <a:spLocks noChangeArrowheads="1"/>
            </p:cNvSpPr>
            <p:nvPr/>
          </p:nvSpPr>
          <p:spPr bwMode="auto">
            <a:xfrm>
              <a:off x="922" y="300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593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714" grpId="0" animBg="1"/>
      <p:bldP spid="883715" grpId="0" animBg="1"/>
      <p:bldP spid="883717" grpId="0" animBg="1"/>
      <p:bldP spid="883718" grpId="0" animBg="1"/>
      <p:bldP spid="883768" grpId="0" animBg="1"/>
      <p:bldP spid="883769" grpId="0" animBg="1"/>
      <p:bldP spid="883770" grpId="0" animBg="1"/>
      <p:bldP spid="883771" grpId="0" animBg="1"/>
      <p:bldP spid="883810" grpId="0" animBg="1"/>
      <p:bldP spid="883811" grpId="0" animBg="1"/>
      <p:bldP spid="883813" grpId="0" animBg="1"/>
      <p:bldP spid="883814" grpId="0" animBg="1"/>
      <p:bldP spid="883815" grpId="0" animBg="1"/>
      <p:bldP spid="883816" grpId="0" animBg="1"/>
      <p:bldP spid="883817" grpId="0" animBg="1"/>
      <p:bldP spid="883819" grpId="0" animBg="1"/>
      <p:bldP spid="883820" grpId="0" animBg="1"/>
      <p:bldP spid="8838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885762" name="Line 2"/>
          <p:cNvSpPr>
            <a:spLocks noChangeShapeType="1"/>
          </p:cNvSpPr>
          <p:nvPr/>
        </p:nvSpPr>
        <p:spPr bwMode="auto">
          <a:xfrm>
            <a:off x="3148013" y="2989263"/>
            <a:ext cx="406400" cy="434975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4" name="Line 3"/>
          <p:cNvSpPr>
            <a:spLocks noChangeShapeType="1"/>
          </p:cNvSpPr>
          <p:nvPr/>
        </p:nvSpPr>
        <p:spPr bwMode="auto">
          <a:xfrm flipV="1">
            <a:off x="2239963" y="2830513"/>
            <a:ext cx="550862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5" name="Line 4"/>
          <p:cNvSpPr>
            <a:spLocks noChangeShapeType="1"/>
          </p:cNvSpPr>
          <p:nvPr/>
        </p:nvSpPr>
        <p:spPr bwMode="auto">
          <a:xfrm flipV="1">
            <a:off x="1249363" y="4318000"/>
            <a:ext cx="550862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6" name="Line 5"/>
          <p:cNvSpPr>
            <a:spLocks noChangeShapeType="1"/>
          </p:cNvSpPr>
          <p:nvPr/>
        </p:nvSpPr>
        <p:spPr bwMode="auto">
          <a:xfrm flipV="1">
            <a:off x="2208213" y="4338638"/>
            <a:ext cx="550862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Line 7"/>
          <p:cNvSpPr>
            <a:spLocks noChangeShapeType="1"/>
          </p:cNvSpPr>
          <p:nvPr/>
        </p:nvSpPr>
        <p:spPr bwMode="auto">
          <a:xfrm flipH="1">
            <a:off x="1624013" y="3038475"/>
            <a:ext cx="242887" cy="385763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9" name="Line 8"/>
          <p:cNvSpPr>
            <a:spLocks noChangeShapeType="1"/>
          </p:cNvSpPr>
          <p:nvPr/>
        </p:nvSpPr>
        <p:spPr bwMode="auto">
          <a:xfrm>
            <a:off x="2122488" y="2998788"/>
            <a:ext cx="728662" cy="1157287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0" name="Line 9"/>
          <p:cNvSpPr>
            <a:spLocks noChangeShapeType="1"/>
          </p:cNvSpPr>
          <p:nvPr/>
        </p:nvSpPr>
        <p:spPr bwMode="auto">
          <a:xfrm flipV="1">
            <a:off x="1268413" y="2835275"/>
            <a:ext cx="550862" cy="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1" name="Line 10"/>
          <p:cNvSpPr>
            <a:spLocks noChangeShapeType="1"/>
          </p:cNvSpPr>
          <p:nvPr/>
        </p:nvSpPr>
        <p:spPr bwMode="auto">
          <a:xfrm flipV="1">
            <a:off x="458788" y="3008313"/>
            <a:ext cx="407987" cy="400050"/>
          </a:xfrm>
          <a:prstGeom prst="line">
            <a:avLst/>
          </a:prstGeom>
          <a:noFill/>
          <a:ln w="762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612" name="Group 11"/>
          <p:cNvGrpSpPr>
            <a:grpSpLocks/>
          </p:cNvGrpSpPr>
          <p:nvPr/>
        </p:nvGrpSpPr>
        <p:grpSpPr bwMode="auto">
          <a:xfrm>
            <a:off x="165100" y="2514600"/>
            <a:ext cx="3721100" cy="2108200"/>
            <a:chOff x="3303" y="2273"/>
            <a:chExt cx="2344" cy="1328"/>
          </a:xfrm>
        </p:grpSpPr>
        <p:sp>
          <p:nvSpPr>
            <p:cNvPr id="25633" name="Oval 12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25634" name="Oval 13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25635" name="Oval 14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25636" name="Oval 15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25637" name="Oval 16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25638" name="Oval 17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25639" name="Oval 18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25640" name="Oval 19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25641" name="Oval 20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25642" name="Line 21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3" name="Line 22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4" name="Line 23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5" name="Line 24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6" name="Line 25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7" name="Line 26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8" name="Line 27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9" name="Line 28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0" name="Line 29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1" name="Line 30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2" name="Line 31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3" name="Line 32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4" name="Line 33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5" name="Line 34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6" name="Text Box 35"/>
            <p:cNvSpPr txBox="1">
              <a:spLocks noChangeArrowheads="1"/>
            </p:cNvSpPr>
            <p:nvPr/>
          </p:nvSpPr>
          <p:spPr bwMode="auto">
            <a:xfrm>
              <a:off x="3489" y="25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5657" name="Text Box 36"/>
            <p:cNvSpPr txBox="1">
              <a:spLocks noChangeArrowheads="1"/>
            </p:cNvSpPr>
            <p:nvPr/>
          </p:nvSpPr>
          <p:spPr bwMode="auto">
            <a:xfrm>
              <a:off x="4089" y="227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5658" name="Text Box 37"/>
            <p:cNvSpPr txBox="1">
              <a:spLocks noChangeArrowheads="1"/>
            </p:cNvSpPr>
            <p:nvPr/>
          </p:nvSpPr>
          <p:spPr bwMode="auto">
            <a:xfrm>
              <a:off x="4696" y="228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5659" name="Text Box 38"/>
            <p:cNvSpPr txBox="1">
              <a:spLocks noChangeArrowheads="1"/>
            </p:cNvSpPr>
            <p:nvPr/>
          </p:nvSpPr>
          <p:spPr bwMode="auto">
            <a:xfrm>
              <a:off x="3500" y="310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25660" name="Text Box 39"/>
            <p:cNvSpPr txBox="1">
              <a:spLocks noChangeArrowheads="1"/>
            </p:cNvSpPr>
            <p:nvPr/>
          </p:nvSpPr>
          <p:spPr bwMode="auto">
            <a:xfrm>
              <a:off x="3636" y="2816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25661" name="Text Box 40"/>
            <p:cNvSpPr txBox="1">
              <a:spLocks noChangeArrowheads="1"/>
            </p:cNvSpPr>
            <p:nvPr/>
          </p:nvSpPr>
          <p:spPr bwMode="auto">
            <a:xfrm>
              <a:off x="4095" y="338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25662" name="Text Box 41"/>
            <p:cNvSpPr txBox="1">
              <a:spLocks noChangeArrowheads="1"/>
            </p:cNvSpPr>
            <p:nvPr/>
          </p:nvSpPr>
          <p:spPr bwMode="auto">
            <a:xfrm>
              <a:off x="4690" y="3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5663" name="Text Box 42"/>
            <p:cNvSpPr txBox="1">
              <a:spLocks noChangeArrowheads="1"/>
            </p:cNvSpPr>
            <p:nvPr/>
          </p:nvSpPr>
          <p:spPr bwMode="auto">
            <a:xfrm>
              <a:off x="3889" y="303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25664" name="Text Box 43"/>
            <p:cNvSpPr txBox="1">
              <a:spLocks noChangeArrowheads="1"/>
            </p:cNvSpPr>
            <p:nvPr/>
          </p:nvSpPr>
          <p:spPr bwMode="auto">
            <a:xfrm>
              <a:off x="4280" y="264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25665" name="Text Box 44"/>
            <p:cNvSpPr txBox="1">
              <a:spLocks noChangeArrowheads="1"/>
            </p:cNvSpPr>
            <p:nvPr/>
          </p:nvSpPr>
          <p:spPr bwMode="auto">
            <a:xfrm>
              <a:off x="4631" y="28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25666" name="Text Box 45"/>
            <p:cNvSpPr txBox="1">
              <a:spLocks noChangeArrowheads="1"/>
            </p:cNvSpPr>
            <p:nvPr/>
          </p:nvSpPr>
          <p:spPr bwMode="auto">
            <a:xfrm>
              <a:off x="5063" y="2832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25667" name="Text Box 46"/>
            <p:cNvSpPr txBox="1">
              <a:spLocks noChangeArrowheads="1"/>
            </p:cNvSpPr>
            <p:nvPr/>
          </p:nvSpPr>
          <p:spPr bwMode="auto">
            <a:xfrm>
              <a:off x="5288" y="252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25668" name="Text Box 47"/>
            <p:cNvSpPr txBox="1">
              <a:spLocks noChangeArrowheads="1"/>
            </p:cNvSpPr>
            <p:nvPr/>
          </p:nvSpPr>
          <p:spPr bwMode="auto">
            <a:xfrm>
              <a:off x="5270" y="313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25669" name="Text Box 48"/>
            <p:cNvSpPr txBox="1">
              <a:spLocks noChangeArrowheads="1"/>
            </p:cNvSpPr>
            <p:nvPr/>
          </p:nvSpPr>
          <p:spPr bwMode="auto">
            <a:xfrm>
              <a:off x="4289" y="302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6</a:t>
              </a:r>
            </a:p>
          </p:txBody>
        </p:sp>
      </p:grpSp>
      <p:sp>
        <p:nvSpPr>
          <p:cNvPr id="25613" name="Oval 49"/>
          <p:cNvSpPr>
            <a:spLocks noChangeArrowheads="1"/>
          </p:cNvSpPr>
          <p:nvPr/>
        </p:nvSpPr>
        <p:spPr bwMode="auto">
          <a:xfrm>
            <a:off x="806450" y="2617788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4" name="Oval 50"/>
          <p:cNvSpPr>
            <a:spLocks noChangeArrowheads="1"/>
          </p:cNvSpPr>
          <p:nvPr/>
        </p:nvSpPr>
        <p:spPr bwMode="auto">
          <a:xfrm>
            <a:off x="134938" y="3352800"/>
            <a:ext cx="449262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5811" name="Rectangle 51"/>
          <p:cNvSpPr>
            <a:spLocks noChangeArrowheads="1"/>
          </p:cNvSpPr>
          <p:nvPr/>
        </p:nvSpPr>
        <p:spPr bwMode="auto">
          <a:xfrm>
            <a:off x="4181475" y="3108325"/>
            <a:ext cx="4768850" cy="245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key [e] = 9	  [e] = d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        </a:t>
            </a:r>
            <a:r>
              <a:rPr lang="en-US" sz="2400" b="1" dirty="0">
                <a:solidFill>
                  <a:srgbClr val="DD0111"/>
                </a:solidFill>
                <a:sym typeface="Symbol" pitchFamily="18" charset="2"/>
              </a:rPr>
              <a:t>9</a:t>
            </a:r>
            <a:r>
              <a:rPr lang="en-US" sz="2400" dirty="0">
                <a:solidFill>
                  <a:schemeClr val="accent2"/>
                </a:solidFill>
                <a:sym typeface="Symbol" pitchFamily="18" charset="2"/>
              </a:rPr>
              <a:t>  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Q = {e}  V</a:t>
            </a:r>
            <a:r>
              <a:rPr lang="en-US" sz="2400" baseline="-250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{a, b, c, i, f, g, h, d}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  = { d}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Extract-MIN(Q)  e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2060"/>
                </a:solidFill>
              </a:rPr>
              <a:t>Q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</a:t>
            </a:r>
            <a:r>
              <a:rPr lang="en-US" sz="2400" dirty="0">
                <a:solidFill>
                  <a:srgbClr val="002060"/>
                </a:solidFill>
              </a:rPr>
              <a:t>  V</a:t>
            </a:r>
            <a:r>
              <a:rPr lang="en-US" sz="2400" baseline="-25000" dirty="0">
                <a:solidFill>
                  <a:srgbClr val="002060"/>
                </a:solidFill>
              </a:rPr>
              <a:t>A</a:t>
            </a:r>
            <a:r>
              <a:rPr lang="en-US" sz="2400" dirty="0">
                <a:solidFill>
                  <a:srgbClr val="002060"/>
                </a:solidFill>
              </a:rPr>
              <a:t> = </a:t>
            </a:r>
            <a:r>
              <a:rPr lang="en-US" sz="2400" dirty="0">
                <a:solidFill>
                  <a:srgbClr val="002060"/>
                </a:solidFill>
                <a:sym typeface="Symbol" pitchFamily="18" charset="2"/>
              </a:rPr>
              <a:t>{a, b, c, i, f, g, h, d, e}</a:t>
            </a:r>
          </a:p>
        </p:txBody>
      </p:sp>
      <p:sp>
        <p:nvSpPr>
          <p:cNvPr id="25616" name="Oval 52"/>
          <p:cNvSpPr>
            <a:spLocks noChangeArrowheads="1"/>
          </p:cNvSpPr>
          <p:nvPr/>
        </p:nvSpPr>
        <p:spPr bwMode="auto">
          <a:xfrm>
            <a:off x="1785938" y="2617788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7" name="Oval 53"/>
          <p:cNvSpPr>
            <a:spLocks noChangeArrowheads="1"/>
          </p:cNvSpPr>
          <p:nvPr/>
        </p:nvSpPr>
        <p:spPr bwMode="auto">
          <a:xfrm>
            <a:off x="1298575" y="3368675"/>
            <a:ext cx="449263" cy="44291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8" name="Oval 54"/>
          <p:cNvSpPr>
            <a:spLocks noChangeArrowheads="1"/>
          </p:cNvSpPr>
          <p:nvPr/>
        </p:nvSpPr>
        <p:spPr bwMode="auto">
          <a:xfrm>
            <a:off x="2755900" y="4090988"/>
            <a:ext cx="449263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9" name="Oval 55"/>
          <p:cNvSpPr>
            <a:spLocks noChangeArrowheads="1"/>
          </p:cNvSpPr>
          <p:nvPr/>
        </p:nvSpPr>
        <p:spPr bwMode="auto">
          <a:xfrm>
            <a:off x="1782763" y="4103688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0" name="Oval 56"/>
          <p:cNvSpPr>
            <a:spLocks noChangeArrowheads="1"/>
          </p:cNvSpPr>
          <p:nvPr/>
        </p:nvSpPr>
        <p:spPr bwMode="auto">
          <a:xfrm>
            <a:off x="804863" y="4090988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1" name="Oval 57"/>
          <p:cNvSpPr>
            <a:spLocks noChangeArrowheads="1"/>
          </p:cNvSpPr>
          <p:nvPr/>
        </p:nvSpPr>
        <p:spPr bwMode="auto">
          <a:xfrm>
            <a:off x="2757488" y="2633663"/>
            <a:ext cx="428625" cy="422275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5818" name="Oval 58"/>
          <p:cNvSpPr>
            <a:spLocks noChangeArrowheads="1"/>
          </p:cNvSpPr>
          <p:nvPr/>
        </p:nvSpPr>
        <p:spPr bwMode="auto">
          <a:xfrm>
            <a:off x="3430588" y="3363913"/>
            <a:ext cx="449262" cy="442912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623" name="Group 59"/>
          <p:cNvGrpSpPr>
            <a:grpSpLocks/>
          </p:cNvGrpSpPr>
          <p:nvPr/>
        </p:nvGrpSpPr>
        <p:grpSpPr bwMode="auto">
          <a:xfrm>
            <a:off x="825500" y="2190750"/>
            <a:ext cx="3121025" cy="2686050"/>
            <a:chOff x="591" y="2468"/>
            <a:chExt cx="1966" cy="1692"/>
          </a:xfrm>
        </p:grpSpPr>
        <p:sp>
          <p:nvSpPr>
            <p:cNvPr id="25625" name="Text Box 60"/>
            <p:cNvSpPr txBox="1">
              <a:spLocks noChangeArrowheads="1"/>
            </p:cNvSpPr>
            <p:nvPr/>
          </p:nvSpPr>
          <p:spPr bwMode="auto">
            <a:xfrm>
              <a:off x="600" y="247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4</a:t>
              </a:r>
            </a:p>
          </p:txBody>
        </p:sp>
        <p:sp>
          <p:nvSpPr>
            <p:cNvPr id="25626" name="Text Box 61"/>
            <p:cNvSpPr txBox="1">
              <a:spLocks noChangeArrowheads="1"/>
            </p:cNvSpPr>
            <p:nvPr/>
          </p:nvSpPr>
          <p:spPr bwMode="auto">
            <a:xfrm>
              <a:off x="1842" y="247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7</a:t>
              </a:r>
            </a:p>
          </p:txBody>
        </p:sp>
        <p:sp>
          <p:nvSpPr>
            <p:cNvPr id="25627" name="Text Box 62"/>
            <p:cNvSpPr txBox="1">
              <a:spLocks noChangeArrowheads="1"/>
            </p:cNvSpPr>
            <p:nvPr/>
          </p:nvSpPr>
          <p:spPr bwMode="auto">
            <a:xfrm>
              <a:off x="2281" y="2985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ym typeface="Symbol" pitchFamily="18" charset="2"/>
                </a:rPr>
                <a:t>10</a:t>
              </a:r>
            </a:p>
          </p:txBody>
        </p:sp>
        <p:sp>
          <p:nvSpPr>
            <p:cNvPr id="25628" name="Text Box 63"/>
            <p:cNvSpPr txBox="1">
              <a:spLocks noChangeArrowheads="1"/>
            </p:cNvSpPr>
            <p:nvPr/>
          </p:nvSpPr>
          <p:spPr bwMode="auto">
            <a:xfrm>
              <a:off x="591" y="39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1</a:t>
              </a:r>
            </a:p>
          </p:txBody>
        </p:sp>
        <p:sp>
          <p:nvSpPr>
            <p:cNvPr id="25629" name="Text Box 64"/>
            <p:cNvSpPr txBox="1">
              <a:spLocks noChangeArrowheads="1"/>
            </p:cNvSpPr>
            <p:nvPr/>
          </p:nvSpPr>
          <p:spPr bwMode="auto">
            <a:xfrm>
              <a:off x="1224" y="3908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2</a:t>
              </a:r>
            </a:p>
          </p:txBody>
        </p:sp>
        <p:sp>
          <p:nvSpPr>
            <p:cNvPr id="25630" name="Text Box 65"/>
            <p:cNvSpPr txBox="1">
              <a:spLocks noChangeArrowheads="1"/>
            </p:cNvSpPr>
            <p:nvPr/>
          </p:nvSpPr>
          <p:spPr bwMode="auto">
            <a:xfrm>
              <a:off x="1848" y="390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 dirty="0">
                  <a:sym typeface="Symbol" pitchFamily="18" charset="2"/>
                </a:rPr>
                <a:t>4</a:t>
              </a:r>
            </a:p>
          </p:txBody>
        </p:sp>
        <p:sp>
          <p:nvSpPr>
            <p:cNvPr id="25631" name="Text Box 66"/>
            <p:cNvSpPr txBox="1">
              <a:spLocks noChangeArrowheads="1"/>
            </p:cNvSpPr>
            <p:nvPr/>
          </p:nvSpPr>
          <p:spPr bwMode="auto">
            <a:xfrm>
              <a:off x="1258" y="2468"/>
              <a:ext cx="196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8</a:t>
              </a:r>
            </a:p>
          </p:txBody>
        </p:sp>
        <p:sp>
          <p:nvSpPr>
            <p:cNvPr id="25632" name="Text Box 67"/>
            <p:cNvSpPr txBox="1">
              <a:spLocks noChangeArrowheads="1"/>
            </p:cNvSpPr>
            <p:nvPr/>
          </p:nvSpPr>
          <p:spPr bwMode="auto">
            <a:xfrm>
              <a:off x="922" y="300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b="1">
                  <a:sym typeface="Symbol" pitchFamily="18" charset="2"/>
                </a:rPr>
                <a:t>2</a:t>
              </a:r>
            </a:p>
          </p:txBody>
        </p:sp>
      </p:grpSp>
      <p:sp>
        <p:nvSpPr>
          <p:cNvPr id="885828" name="Text Box 68"/>
          <p:cNvSpPr txBox="1">
            <a:spLocks noChangeArrowheads="1"/>
          </p:cNvSpPr>
          <p:nvPr/>
        </p:nvSpPr>
        <p:spPr bwMode="auto">
          <a:xfrm>
            <a:off x="3590925" y="2978150"/>
            <a:ext cx="311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ym typeface="Symbol" pitchFamily="18" charset="2"/>
              </a:rPr>
              <a:t>9</a:t>
            </a:r>
          </a:p>
        </p:txBody>
      </p:sp>
      <p:grpSp>
        <p:nvGrpSpPr>
          <p:cNvPr id="69" name="Group 11"/>
          <p:cNvGrpSpPr>
            <a:grpSpLocks/>
          </p:cNvGrpSpPr>
          <p:nvPr/>
        </p:nvGrpSpPr>
        <p:grpSpPr bwMode="auto">
          <a:xfrm>
            <a:off x="4660900" y="533400"/>
            <a:ext cx="3721100" cy="2108200"/>
            <a:chOff x="3303" y="2273"/>
            <a:chExt cx="2344" cy="1328"/>
          </a:xfrm>
        </p:grpSpPr>
        <p:sp>
          <p:nvSpPr>
            <p:cNvPr id="70" name="Oval 12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1" name="Oval 13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b</a:t>
              </a:r>
            </a:p>
          </p:txBody>
        </p:sp>
        <p:sp>
          <p:nvSpPr>
            <p:cNvPr id="72" name="Oval 14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c</a:t>
              </a:r>
            </a:p>
          </p:txBody>
        </p:sp>
        <p:sp>
          <p:nvSpPr>
            <p:cNvPr id="73" name="Oval 15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d</a:t>
              </a:r>
            </a:p>
          </p:txBody>
        </p:sp>
        <p:sp>
          <p:nvSpPr>
            <p:cNvPr id="74" name="Oval 16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e</a:t>
              </a:r>
            </a:p>
          </p:txBody>
        </p:sp>
        <p:sp>
          <p:nvSpPr>
            <p:cNvPr id="75" name="Oval 17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h</a:t>
              </a:r>
            </a:p>
          </p:txBody>
        </p:sp>
        <p:sp>
          <p:nvSpPr>
            <p:cNvPr id="76" name="Oval 18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g</a:t>
              </a:r>
            </a:p>
          </p:txBody>
        </p:sp>
        <p:sp>
          <p:nvSpPr>
            <p:cNvPr id="77" name="Oval 19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f</a:t>
              </a:r>
            </a:p>
          </p:txBody>
        </p:sp>
        <p:sp>
          <p:nvSpPr>
            <p:cNvPr id="78" name="Oval 20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i</a:t>
              </a:r>
            </a:p>
          </p:txBody>
        </p:sp>
        <p:sp>
          <p:nvSpPr>
            <p:cNvPr id="79" name="Line 21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22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23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24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25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26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27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28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29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30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31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32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33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34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76200">
              <a:solidFill>
                <a:srgbClr val="00206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 Box 35"/>
            <p:cNvSpPr txBox="1">
              <a:spLocks noChangeArrowheads="1"/>
            </p:cNvSpPr>
            <p:nvPr/>
          </p:nvSpPr>
          <p:spPr bwMode="auto">
            <a:xfrm>
              <a:off x="3489" y="2541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94" name="Text Box 36"/>
            <p:cNvSpPr txBox="1">
              <a:spLocks noChangeArrowheads="1"/>
            </p:cNvSpPr>
            <p:nvPr/>
          </p:nvSpPr>
          <p:spPr bwMode="auto">
            <a:xfrm>
              <a:off x="4089" y="227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95" name="Text Box 37"/>
            <p:cNvSpPr txBox="1">
              <a:spLocks noChangeArrowheads="1"/>
            </p:cNvSpPr>
            <p:nvPr/>
          </p:nvSpPr>
          <p:spPr bwMode="auto">
            <a:xfrm>
              <a:off x="4696" y="228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96" name="Text Box 38"/>
            <p:cNvSpPr txBox="1">
              <a:spLocks noChangeArrowheads="1"/>
            </p:cNvSpPr>
            <p:nvPr/>
          </p:nvSpPr>
          <p:spPr bwMode="auto">
            <a:xfrm>
              <a:off x="3500" y="310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8</a:t>
              </a:r>
            </a:p>
          </p:txBody>
        </p:sp>
        <p:sp>
          <p:nvSpPr>
            <p:cNvPr id="97" name="Text Box 39"/>
            <p:cNvSpPr txBox="1">
              <a:spLocks noChangeArrowheads="1"/>
            </p:cNvSpPr>
            <p:nvPr/>
          </p:nvSpPr>
          <p:spPr bwMode="auto">
            <a:xfrm>
              <a:off x="3636" y="2816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11</a:t>
              </a:r>
            </a:p>
          </p:txBody>
        </p:sp>
        <p:sp>
          <p:nvSpPr>
            <p:cNvPr id="98" name="Text Box 40"/>
            <p:cNvSpPr txBox="1">
              <a:spLocks noChangeArrowheads="1"/>
            </p:cNvSpPr>
            <p:nvPr/>
          </p:nvSpPr>
          <p:spPr bwMode="auto">
            <a:xfrm>
              <a:off x="4095" y="338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</a:t>
              </a:r>
            </a:p>
          </p:txBody>
        </p:sp>
        <p:sp>
          <p:nvSpPr>
            <p:cNvPr id="99" name="Text Box 41"/>
            <p:cNvSpPr txBox="1">
              <a:spLocks noChangeArrowheads="1"/>
            </p:cNvSpPr>
            <p:nvPr/>
          </p:nvSpPr>
          <p:spPr bwMode="auto">
            <a:xfrm>
              <a:off x="4690" y="3380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100" name="Text Box 42"/>
            <p:cNvSpPr txBox="1">
              <a:spLocks noChangeArrowheads="1"/>
            </p:cNvSpPr>
            <p:nvPr/>
          </p:nvSpPr>
          <p:spPr bwMode="auto">
            <a:xfrm>
              <a:off x="3889" y="3039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7</a:t>
              </a:r>
            </a:p>
          </p:txBody>
        </p:sp>
        <p:sp>
          <p:nvSpPr>
            <p:cNvPr id="101" name="Text Box 43"/>
            <p:cNvSpPr txBox="1">
              <a:spLocks noChangeArrowheads="1"/>
            </p:cNvSpPr>
            <p:nvPr/>
          </p:nvSpPr>
          <p:spPr bwMode="auto">
            <a:xfrm>
              <a:off x="4280" y="2643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2</a:t>
              </a:r>
            </a:p>
          </p:txBody>
        </p:sp>
        <p:sp>
          <p:nvSpPr>
            <p:cNvPr id="102" name="Text Box 44"/>
            <p:cNvSpPr txBox="1">
              <a:spLocks noChangeArrowheads="1"/>
            </p:cNvSpPr>
            <p:nvPr/>
          </p:nvSpPr>
          <p:spPr bwMode="auto">
            <a:xfrm>
              <a:off x="4631" y="2872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4</a:t>
              </a:r>
            </a:p>
          </p:txBody>
        </p:sp>
        <p:sp>
          <p:nvSpPr>
            <p:cNvPr id="103" name="Text Box 45"/>
            <p:cNvSpPr txBox="1">
              <a:spLocks noChangeArrowheads="1"/>
            </p:cNvSpPr>
            <p:nvPr/>
          </p:nvSpPr>
          <p:spPr bwMode="auto">
            <a:xfrm>
              <a:off x="5063" y="2832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14</a:t>
              </a:r>
            </a:p>
          </p:txBody>
        </p:sp>
        <p:sp>
          <p:nvSpPr>
            <p:cNvPr id="104" name="Text Box 46"/>
            <p:cNvSpPr txBox="1">
              <a:spLocks noChangeArrowheads="1"/>
            </p:cNvSpPr>
            <p:nvPr/>
          </p:nvSpPr>
          <p:spPr bwMode="auto">
            <a:xfrm>
              <a:off x="5288" y="2526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9</a:t>
              </a:r>
            </a:p>
          </p:txBody>
        </p:sp>
        <p:sp>
          <p:nvSpPr>
            <p:cNvPr id="105" name="Text Box 47"/>
            <p:cNvSpPr txBox="1">
              <a:spLocks noChangeArrowheads="1"/>
            </p:cNvSpPr>
            <p:nvPr/>
          </p:nvSpPr>
          <p:spPr bwMode="auto">
            <a:xfrm>
              <a:off x="5270" y="3133"/>
              <a:ext cx="25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10</a:t>
              </a:r>
            </a:p>
          </p:txBody>
        </p:sp>
        <p:sp>
          <p:nvSpPr>
            <p:cNvPr id="106" name="Text Box 48"/>
            <p:cNvSpPr txBox="1">
              <a:spLocks noChangeArrowheads="1"/>
            </p:cNvSpPr>
            <p:nvPr/>
          </p:nvSpPr>
          <p:spPr bwMode="auto">
            <a:xfrm>
              <a:off x="4289" y="3025"/>
              <a:ext cx="1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1600"/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982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5762" grpId="0" animBg="1"/>
      <p:bldP spid="885818" grpId="0" animBg="1"/>
      <p:bldP spid="8858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70" y="167923"/>
            <a:ext cx="6171530" cy="6561767"/>
          </a:xfrm>
        </p:spPr>
      </p:pic>
    </p:spTree>
    <p:extLst>
      <p:ext uri="{BB962C8B-B14F-4D97-AF65-F5344CB8AC3E}">
        <p14:creationId xmlns:p14="http://schemas.microsoft.com/office/powerpoint/2010/main" val="4239840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14312" y="955675"/>
            <a:ext cx="8472488" cy="5597525"/>
          </a:xfrm>
        </p:spPr>
        <p:txBody>
          <a:bodyPr>
            <a:noAutofit/>
          </a:bodyPr>
          <a:lstStyle/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Q ← 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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+mn-lt"/>
              </a:rPr>
              <a:t> for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each u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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 V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do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key[u] ← ∞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π[u] ← NIL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INSERT(Q, u)</a:t>
            </a:r>
          </a:p>
          <a:p>
            <a:pPr marL="533400" indent="-533400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key[r] ← 0 	► DECREASE-KEY(Q, r, 0)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while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Q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 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  </a:t>
            </a:r>
          </a:p>
          <a:p>
            <a:pPr marL="533400" indent="-533400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do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u ← EXTRACT-MIN(Q)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for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each v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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+mn-lt"/>
              </a:rPr>
              <a:t>Adj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[u]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    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do if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v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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 Q and w(u, v)&lt;key[v]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             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then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π[v] ← u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                             DECREASE-KEY(Q, v, w(u, v))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1447800"/>
            <a:ext cx="5257800" cy="472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r>
              <a:rPr lang="en-US" sz="2400" b="1" dirty="0">
                <a:solidFill>
                  <a:srgbClr val="C00000"/>
                </a:solidFill>
              </a:rPr>
              <a:t>A binary heap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is a </a:t>
            </a:r>
            <a:r>
              <a:rPr lang="en-US" sz="2400" b="1" u="sng" dirty="0">
                <a:solidFill>
                  <a:srgbClr val="7030A0"/>
                </a:solidFill>
              </a:rPr>
              <a:t>complete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u="sng" dirty="0">
                <a:solidFill>
                  <a:srgbClr val="7030A0"/>
                </a:solidFill>
              </a:rPr>
              <a:t>binary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tree which satisfies the </a:t>
            </a:r>
            <a:r>
              <a:rPr lang="en-US" sz="2400" b="1" u="sng" dirty="0">
                <a:solidFill>
                  <a:srgbClr val="7030A0"/>
                </a:solidFill>
              </a:rPr>
              <a:t>heap ordering property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400" b="1" dirty="0">
                <a:solidFill>
                  <a:srgbClr val="C00000"/>
                </a:solidFill>
              </a:rPr>
              <a:t>The min-heap property: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value of each node is greater than or equal to the value of its parent. Root node hold the smallest key element.</a:t>
            </a:r>
          </a:p>
          <a:p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heap with N nodes always has O(log N) height.</a:t>
            </a:r>
            <a:endParaRPr lang="ar-EG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304800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/>
              <a:t>PRIM(</a:t>
            </a:r>
            <a:r>
              <a:rPr lang="en-US" dirty="0">
                <a:latin typeface="Comic Sans MS" pitchFamily="66" charset="0"/>
              </a:rPr>
              <a:t>V, E, w, r</a:t>
            </a:r>
            <a:r>
              <a:rPr lang="en-US" dirty="0"/>
              <a:t>)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524000" y="228600"/>
            <a:ext cx="5638800" cy="746760"/>
            <a:chOff x="1524000" y="228600"/>
            <a:chExt cx="5638800" cy="746760"/>
          </a:xfrm>
        </p:grpSpPr>
        <p:sp>
          <p:nvSpPr>
            <p:cNvPr id="24" name="Rectangle 23"/>
            <p:cNvSpPr/>
            <p:nvPr/>
          </p:nvSpPr>
          <p:spPr>
            <a:xfrm>
              <a:off x="1524000" y="228600"/>
              <a:ext cx="1447800" cy="533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362200" y="577042"/>
              <a:ext cx="2057400" cy="398318"/>
            </a:xfrm>
            <a:custGeom>
              <a:avLst/>
              <a:gdLst>
                <a:gd name="connsiteX0" fmla="*/ 0 w 2061556"/>
                <a:gd name="connsiteY0" fmla="*/ 232756 h 426720"/>
                <a:gd name="connsiteX1" fmla="*/ 465513 w 2061556"/>
                <a:gd name="connsiteY1" fmla="*/ 399011 h 426720"/>
                <a:gd name="connsiteX2" fmla="*/ 482138 w 2061556"/>
                <a:gd name="connsiteY2" fmla="*/ 399011 h 426720"/>
                <a:gd name="connsiteX3" fmla="*/ 1230284 w 2061556"/>
                <a:gd name="connsiteY3" fmla="*/ 332509 h 426720"/>
                <a:gd name="connsiteX4" fmla="*/ 1795549 w 2061556"/>
                <a:gd name="connsiteY4" fmla="*/ 66502 h 426720"/>
                <a:gd name="connsiteX5" fmla="*/ 2061556 w 2061556"/>
                <a:gd name="connsiteY5" fmla="*/ 0 h 426720"/>
                <a:gd name="connsiteX0" fmla="*/ 0 w 1908021"/>
                <a:gd name="connsiteY0" fmla="*/ 213360 h 426720"/>
                <a:gd name="connsiteX1" fmla="*/ 311978 w 1908021"/>
                <a:gd name="connsiteY1" fmla="*/ 399011 h 426720"/>
                <a:gd name="connsiteX2" fmla="*/ 328603 w 1908021"/>
                <a:gd name="connsiteY2" fmla="*/ 399011 h 426720"/>
                <a:gd name="connsiteX3" fmla="*/ 1076749 w 1908021"/>
                <a:gd name="connsiteY3" fmla="*/ 332509 h 426720"/>
                <a:gd name="connsiteX4" fmla="*/ 1642014 w 1908021"/>
                <a:gd name="connsiteY4" fmla="*/ 66502 h 426720"/>
                <a:gd name="connsiteX5" fmla="*/ 1908021 w 1908021"/>
                <a:gd name="connsiteY5" fmla="*/ 0 h 426720"/>
                <a:gd name="connsiteX0" fmla="*/ 0 w 1908021"/>
                <a:gd name="connsiteY0" fmla="*/ 213360 h 426720"/>
                <a:gd name="connsiteX1" fmla="*/ 311978 w 1908021"/>
                <a:gd name="connsiteY1" fmla="*/ 399011 h 426720"/>
                <a:gd name="connsiteX2" fmla="*/ 844443 w 1908021"/>
                <a:gd name="connsiteY2" fmla="*/ 365760 h 426720"/>
                <a:gd name="connsiteX3" fmla="*/ 1076749 w 1908021"/>
                <a:gd name="connsiteY3" fmla="*/ 332509 h 426720"/>
                <a:gd name="connsiteX4" fmla="*/ 1642014 w 1908021"/>
                <a:gd name="connsiteY4" fmla="*/ 66502 h 426720"/>
                <a:gd name="connsiteX5" fmla="*/ 1908021 w 1908021"/>
                <a:gd name="connsiteY5" fmla="*/ 0 h 426720"/>
                <a:gd name="connsiteX0" fmla="*/ 0 w 1908021"/>
                <a:gd name="connsiteY0" fmla="*/ 213360 h 426720"/>
                <a:gd name="connsiteX1" fmla="*/ 311978 w 1908021"/>
                <a:gd name="connsiteY1" fmla="*/ 399011 h 426720"/>
                <a:gd name="connsiteX2" fmla="*/ 844443 w 1908021"/>
                <a:gd name="connsiteY2" fmla="*/ 365760 h 426720"/>
                <a:gd name="connsiteX3" fmla="*/ 1228280 w 1908021"/>
                <a:gd name="connsiteY3" fmla="*/ 365760 h 426720"/>
                <a:gd name="connsiteX4" fmla="*/ 1642014 w 1908021"/>
                <a:gd name="connsiteY4" fmla="*/ 66502 h 426720"/>
                <a:gd name="connsiteX5" fmla="*/ 1908021 w 1908021"/>
                <a:gd name="connsiteY5" fmla="*/ 0 h 426720"/>
                <a:gd name="connsiteX0" fmla="*/ 0 w 2072723"/>
                <a:gd name="connsiteY0" fmla="*/ 184958 h 398318"/>
                <a:gd name="connsiteX1" fmla="*/ 311978 w 2072723"/>
                <a:gd name="connsiteY1" fmla="*/ 370609 h 398318"/>
                <a:gd name="connsiteX2" fmla="*/ 844443 w 2072723"/>
                <a:gd name="connsiteY2" fmla="*/ 337358 h 398318"/>
                <a:gd name="connsiteX3" fmla="*/ 1228280 w 2072723"/>
                <a:gd name="connsiteY3" fmla="*/ 337358 h 398318"/>
                <a:gd name="connsiteX4" fmla="*/ 1642014 w 2072723"/>
                <a:gd name="connsiteY4" fmla="*/ 38100 h 398318"/>
                <a:gd name="connsiteX5" fmla="*/ 2072723 w 2072723"/>
                <a:gd name="connsiteY5" fmla="*/ 108758 h 39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2723" h="398318">
                  <a:moveTo>
                    <a:pt x="0" y="184958"/>
                  </a:moveTo>
                  <a:lnTo>
                    <a:pt x="311978" y="370609"/>
                  </a:lnTo>
                  <a:cubicBezTo>
                    <a:pt x="392334" y="398318"/>
                    <a:pt x="844443" y="337358"/>
                    <a:pt x="844443" y="337358"/>
                  </a:cubicBezTo>
                  <a:cubicBezTo>
                    <a:pt x="971905" y="326274"/>
                    <a:pt x="1095352" y="387234"/>
                    <a:pt x="1228280" y="337358"/>
                  </a:cubicBezTo>
                  <a:cubicBezTo>
                    <a:pt x="1361209" y="287482"/>
                    <a:pt x="1501274" y="76200"/>
                    <a:pt x="1642014" y="38100"/>
                  </a:cubicBezTo>
                  <a:cubicBezTo>
                    <a:pt x="1782755" y="0"/>
                    <a:pt x="2008992" y="114300"/>
                    <a:pt x="2072723" y="108758"/>
                  </a:cubicBezTo>
                </a:path>
              </a:pathLst>
            </a:cu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419600" y="304800"/>
              <a:ext cx="27432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For the graph</a:t>
              </a:r>
              <a:endParaRPr lang="ar-E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838200" y="381000"/>
            <a:ext cx="8305800" cy="1219200"/>
            <a:chOff x="1524000" y="-320040"/>
            <a:chExt cx="6608916" cy="1219200"/>
          </a:xfrm>
        </p:grpSpPr>
        <p:sp>
          <p:nvSpPr>
            <p:cNvPr id="32" name="Rectangle 31"/>
            <p:cNvSpPr/>
            <p:nvPr/>
          </p:nvSpPr>
          <p:spPr>
            <a:xfrm>
              <a:off x="1524000" y="289560"/>
              <a:ext cx="1447800" cy="381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2979174" y="-15240"/>
              <a:ext cx="1212645" cy="914400"/>
            </a:xfrm>
            <a:custGeom>
              <a:avLst/>
              <a:gdLst>
                <a:gd name="connsiteX0" fmla="*/ 0 w 2061556"/>
                <a:gd name="connsiteY0" fmla="*/ 232756 h 426720"/>
                <a:gd name="connsiteX1" fmla="*/ 465513 w 2061556"/>
                <a:gd name="connsiteY1" fmla="*/ 399011 h 426720"/>
                <a:gd name="connsiteX2" fmla="*/ 482138 w 2061556"/>
                <a:gd name="connsiteY2" fmla="*/ 399011 h 426720"/>
                <a:gd name="connsiteX3" fmla="*/ 1230284 w 2061556"/>
                <a:gd name="connsiteY3" fmla="*/ 332509 h 426720"/>
                <a:gd name="connsiteX4" fmla="*/ 1795549 w 2061556"/>
                <a:gd name="connsiteY4" fmla="*/ 66502 h 426720"/>
                <a:gd name="connsiteX5" fmla="*/ 2061556 w 2061556"/>
                <a:gd name="connsiteY5" fmla="*/ 0 h 426720"/>
                <a:gd name="connsiteX0" fmla="*/ 0 w 1908021"/>
                <a:gd name="connsiteY0" fmla="*/ 213360 h 426720"/>
                <a:gd name="connsiteX1" fmla="*/ 311978 w 1908021"/>
                <a:gd name="connsiteY1" fmla="*/ 399011 h 426720"/>
                <a:gd name="connsiteX2" fmla="*/ 328603 w 1908021"/>
                <a:gd name="connsiteY2" fmla="*/ 399011 h 426720"/>
                <a:gd name="connsiteX3" fmla="*/ 1076749 w 1908021"/>
                <a:gd name="connsiteY3" fmla="*/ 332509 h 426720"/>
                <a:gd name="connsiteX4" fmla="*/ 1642014 w 1908021"/>
                <a:gd name="connsiteY4" fmla="*/ 66502 h 426720"/>
                <a:gd name="connsiteX5" fmla="*/ 1908021 w 1908021"/>
                <a:gd name="connsiteY5" fmla="*/ 0 h 426720"/>
                <a:gd name="connsiteX0" fmla="*/ 0 w 1908021"/>
                <a:gd name="connsiteY0" fmla="*/ 213360 h 426720"/>
                <a:gd name="connsiteX1" fmla="*/ 311978 w 1908021"/>
                <a:gd name="connsiteY1" fmla="*/ 399011 h 426720"/>
                <a:gd name="connsiteX2" fmla="*/ 844443 w 1908021"/>
                <a:gd name="connsiteY2" fmla="*/ 365760 h 426720"/>
                <a:gd name="connsiteX3" fmla="*/ 1076749 w 1908021"/>
                <a:gd name="connsiteY3" fmla="*/ 332509 h 426720"/>
                <a:gd name="connsiteX4" fmla="*/ 1642014 w 1908021"/>
                <a:gd name="connsiteY4" fmla="*/ 66502 h 426720"/>
                <a:gd name="connsiteX5" fmla="*/ 1908021 w 1908021"/>
                <a:gd name="connsiteY5" fmla="*/ 0 h 426720"/>
                <a:gd name="connsiteX0" fmla="*/ 0 w 1908021"/>
                <a:gd name="connsiteY0" fmla="*/ 213360 h 426720"/>
                <a:gd name="connsiteX1" fmla="*/ 311978 w 1908021"/>
                <a:gd name="connsiteY1" fmla="*/ 399011 h 426720"/>
                <a:gd name="connsiteX2" fmla="*/ 844443 w 1908021"/>
                <a:gd name="connsiteY2" fmla="*/ 365760 h 426720"/>
                <a:gd name="connsiteX3" fmla="*/ 1228280 w 1908021"/>
                <a:gd name="connsiteY3" fmla="*/ 365760 h 426720"/>
                <a:gd name="connsiteX4" fmla="*/ 1642014 w 1908021"/>
                <a:gd name="connsiteY4" fmla="*/ 66502 h 426720"/>
                <a:gd name="connsiteX5" fmla="*/ 1908021 w 1908021"/>
                <a:gd name="connsiteY5" fmla="*/ 0 h 426720"/>
                <a:gd name="connsiteX0" fmla="*/ 0 w 2072723"/>
                <a:gd name="connsiteY0" fmla="*/ 184958 h 398318"/>
                <a:gd name="connsiteX1" fmla="*/ 311978 w 2072723"/>
                <a:gd name="connsiteY1" fmla="*/ 370609 h 398318"/>
                <a:gd name="connsiteX2" fmla="*/ 844443 w 2072723"/>
                <a:gd name="connsiteY2" fmla="*/ 337358 h 398318"/>
                <a:gd name="connsiteX3" fmla="*/ 1228280 w 2072723"/>
                <a:gd name="connsiteY3" fmla="*/ 337358 h 398318"/>
                <a:gd name="connsiteX4" fmla="*/ 1642014 w 2072723"/>
                <a:gd name="connsiteY4" fmla="*/ 38100 h 398318"/>
                <a:gd name="connsiteX5" fmla="*/ 2072723 w 2072723"/>
                <a:gd name="connsiteY5" fmla="*/ 108758 h 39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2723" h="398318">
                  <a:moveTo>
                    <a:pt x="0" y="184958"/>
                  </a:moveTo>
                  <a:lnTo>
                    <a:pt x="311978" y="370609"/>
                  </a:lnTo>
                  <a:cubicBezTo>
                    <a:pt x="392334" y="398318"/>
                    <a:pt x="844443" y="337358"/>
                    <a:pt x="844443" y="337358"/>
                  </a:cubicBezTo>
                  <a:cubicBezTo>
                    <a:pt x="971905" y="326274"/>
                    <a:pt x="1095352" y="387234"/>
                    <a:pt x="1228280" y="337358"/>
                  </a:cubicBezTo>
                  <a:cubicBezTo>
                    <a:pt x="1361209" y="287482"/>
                    <a:pt x="1501274" y="76200"/>
                    <a:pt x="1642014" y="38100"/>
                  </a:cubicBezTo>
                  <a:cubicBezTo>
                    <a:pt x="1782755" y="0"/>
                    <a:pt x="2008992" y="114300"/>
                    <a:pt x="2072723" y="108758"/>
                  </a:cubicBezTo>
                </a:path>
              </a:pathLst>
            </a:cu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191819" y="-320040"/>
              <a:ext cx="3941097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7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Preferred to be implemented as a binary heap</a:t>
              </a:r>
              <a:endParaRPr lang="ar-EG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3794" name="AutoShape 2" descr="Image result for min heap data structure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sp>
        <p:nvSpPr>
          <p:cNvPr id="33796" name="AutoShape 4" descr="Image result for min heap data structure"/>
          <p:cNvSpPr>
            <a:spLocks noChangeAspect="1" noChangeArrowheads="1"/>
          </p:cNvSpPr>
          <p:nvPr/>
        </p:nvSpPr>
        <p:spPr bwMode="auto">
          <a:xfrm>
            <a:off x="8923338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sp>
        <p:nvSpPr>
          <p:cNvPr id="33798" name="AutoShape 6" descr="Image result for min heap data structure"/>
          <p:cNvSpPr>
            <a:spLocks noChangeAspect="1" noChangeArrowheads="1"/>
          </p:cNvSpPr>
          <p:nvPr/>
        </p:nvSpPr>
        <p:spPr bwMode="auto">
          <a:xfrm>
            <a:off x="8245475" y="-1608138"/>
            <a:ext cx="4543425" cy="33623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sp>
        <p:nvSpPr>
          <p:cNvPr id="33800" name="AutoShape 8" descr="Image result for min heap data structure"/>
          <p:cNvSpPr>
            <a:spLocks noChangeAspect="1" noChangeArrowheads="1"/>
          </p:cNvSpPr>
          <p:nvPr/>
        </p:nvSpPr>
        <p:spPr bwMode="auto">
          <a:xfrm>
            <a:off x="8245475" y="-1608138"/>
            <a:ext cx="4543425" cy="33623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EG"/>
          </a:p>
        </p:txBody>
      </p:sp>
      <p:pic>
        <p:nvPicPr>
          <p:cNvPr id="21" name="Content Placeholder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080" y="1489074"/>
            <a:ext cx="3366320" cy="4683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45" name="Group 44"/>
          <p:cNvGrpSpPr/>
          <p:nvPr/>
        </p:nvGrpSpPr>
        <p:grpSpPr>
          <a:xfrm>
            <a:off x="3276601" y="2057400"/>
            <a:ext cx="4952999" cy="1600200"/>
            <a:chOff x="1524000" y="-929640"/>
            <a:chExt cx="3941096" cy="1600200"/>
          </a:xfrm>
        </p:grpSpPr>
        <p:sp>
          <p:nvSpPr>
            <p:cNvPr id="46" name="Rectangle 45"/>
            <p:cNvSpPr/>
            <p:nvPr/>
          </p:nvSpPr>
          <p:spPr>
            <a:xfrm>
              <a:off x="1524000" y="137160"/>
              <a:ext cx="2485923" cy="533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069690" y="-929640"/>
              <a:ext cx="3395406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27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 Q change the key of r to be 0</a:t>
              </a:r>
              <a:endParaRPr lang="ar-EG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1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66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66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66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662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Running Time Analysis</a:t>
            </a: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685800" y="1663700"/>
            <a:ext cx="83057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sz="2400" dirty="0"/>
              <a:t>  Depending on the heap implementation, running time is :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190874"/>
              </p:ext>
            </p:extLst>
          </p:nvPr>
        </p:nvGraphicFramePr>
        <p:xfrm>
          <a:off x="1142999" y="2514600"/>
          <a:ext cx="7239001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8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884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Extract_Min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Decrease_Key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716">
                <a:tc>
                  <a:txBody>
                    <a:bodyPr/>
                    <a:lstStyle/>
                    <a:p>
                      <a:r>
                        <a:rPr lang="en-US" sz="2800" dirty="0"/>
                        <a:t>Binary heap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O(</a:t>
                      </a:r>
                      <a:r>
                        <a:rPr lang="en-US" sz="2800" dirty="0" err="1"/>
                        <a:t>lg</a:t>
                      </a:r>
                      <a:r>
                        <a:rPr lang="en-US" sz="2800" dirty="0"/>
                        <a:t> 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O(</a:t>
                      </a:r>
                      <a:r>
                        <a:rPr lang="en-US" sz="2800" dirty="0" err="1"/>
                        <a:t>lg</a:t>
                      </a:r>
                      <a:r>
                        <a:rPr lang="en-US" sz="2800" dirty="0"/>
                        <a:t> 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601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304800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/>
              <a:t>PRIM(</a:t>
            </a:r>
            <a:r>
              <a:rPr lang="en-US" dirty="0">
                <a:latin typeface="Comic Sans MS" pitchFamily="66" charset="0"/>
              </a:rPr>
              <a:t>V, E, w, r</a:t>
            </a:r>
            <a:r>
              <a:rPr lang="en-US" dirty="0"/>
              <a:t>)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14312" y="955675"/>
            <a:ext cx="8472488" cy="5597525"/>
          </a:xfrm>
        </p:spPr>
        <p:txBody>
          <a:bodyPr>
            <a:noAutofit/>
          </a:bodyPr>
          <a:lstStyle/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Q ← 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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+mn-lt"/>
              </a:rPr>
              <a:t> for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each u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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 V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do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key[u] ← ∞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π[u] ← NIL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INSERT(Q, u)</a:t>
            </a:r>
          </a:p>
          <a:p>
            <a:pPr marL="533400" indent="-533400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key[r] ← 0 	► DECREASE-KEY(Q, r, 0)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while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Q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 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  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do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u ← EXTRACT-MIN(Q)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for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each v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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+mn-lt"/>
              </a:rPr>
              <a:t>Adj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[u]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    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do if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v </a:t>
            </a:r>
            <a:r>
              <a:rPr lang="en-US" sz="2400" dirty="0">
                <a:solidFill>
                  <a:srgbClr val="002060"/>
                </a:solidFill>
                <a:latin typeface="+mn-lt"/>
                <a:sym typeface="Symbol" pitchFamily="18" charset="2"/>
              </a:rPr>
              <a:t>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 Q and w(u, v)&lt;key[v]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                    </a:t>
            </a:r>
            <a:r>
              <a:rPr lang="en-US" sz="2400" b="1" dirty="0">
                <a:solidFill>
                  <a:srgbClr val="002060"/>
                </a:solidFill>
                <a:latin typeface="+mn-lt"/>
              </a:rPr>
              <a:t>then </a:t>
            </a:r>
            <a:r>
              <a:rPr lang="en-US" sz="2400" dirty="0">
                <a:solidFill>
                  <a:srgbClr val="002060"/>
                </a:solidFill>
                <a:latin typeface="+mn-lt"/>
              </a:rPr>
              <a:t>π[v] ← u</a:t>
            </a:r>
          </a:p>
          <a:p>
            <a:pPr marL="533400" indent="-533400" eaLnBrk="1" hangingPunct="1">
              <a:spcBef>
                <a:spcPts val="0"/>
              </a:spcBef>
              <a:buFontTx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+mn-lt"/>
              </a:rPr>
              <a:t>                                         DECREASE-KEY(Q, v, w(u, v))</a:t>
            </a:r>
          </a:p>
        </p:txBody>
      </p:sp>
      <p:sp>
        <p:nvSpPr>
          <p:cNvPr id="887812" name="AutoShape 4"/>
          <p:cNvSpPr>
            <a:spLocks/>
          </p:cNvSpPr>
          <p:nvPr/>
        </p:nvSpPr>
        <p:spPr bwMode="auto">
          <a:xfrm>
            <a:off x="3733800" y="1447800"/>
            <a:ext cx="304800" cy="1752600"/>
          </a:xfrm>
          <a:prstGeom prst="rightBrace">
            <a:avLst>
              <a:gd name="adj1" fmla="val 8051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7813" name="Text Box 5"/>
          <p:cNvSpPr txBox="1">
            <a:spLocks noChangeArrowheads="1"/>
          </p:cNvSpPr>
          <p:nvPr/>
        </p:nvSpPr>
        <p:spPr bwMode="auto">
          <a:xfrm>
            <a:off x="4135438" y="2025650"/>
            <a:ext cx="28749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latin typeface="Comic Sans MS" pitchFamily="66" charset="0"/>
              </a:rPr>
              <a:t>O(V)</a:t>
            </a:r>
            <a:r>
              <a:rPr lang="en-US" dirty="0"/>
              <a:t> if Q is implemented as a min-heap</a:t>
            </a:r>
          </a:p>
        </p:txBody>
      </p:sp>
      <p:sp>
        <p:nvSpPr>
          <p:cNvPr id="887814" name="Line 6"/>
          <p:cNvSpPr>
            <a:spLocks noChangeShapeType="1"/>
          </p:cNvSpPr>
          <p:nvPr/>
        </p:nvSpPr>
        <p:spPr bwMode="auto">
          <a:xfrm flipH="1" flipV="1">
            <a:off x="2555875" y="3886200"/>
            <a:ext cx="2278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7815" name="Text Box 7"/>
          <p:cNvSpPr txBox="1">
            <a:spLocks noChangeArrowheads="1"/>
          </p:cNvSpPr>
          <p:nvPr/>
        </p:nvSpPr>
        <p:spPr bwMode="auto">
          <a:xfrm>
            <a:off x="4951413" y="3706813"/>
            <a:ext cx="2146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Executed |V| times</a:t>
            </a:r>
          </a:p>
        </p:txBody>
      </p:sp>
      <p:sp>
        <p:nvSpPr>
          <p:cNvPr id="887816" name="Line 8"/>
          <p:cNvSpPr>
            <a:spLocks noChangeShapeType="1"/>
          </p:cNvSpPr>
          <p:nvPr/>
        </p:nvSpPr>
        <p:spPr bwMode="auto">
          <a:xfrm flipH="1">
            <a:off x="5257800" y="4295775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7817" name="Text Box 9"/>
          <p:cNvSpPr txBox="1">
            <a:spLocks noChangeArrowheads="1"/>
          </p:cNvSpPr>
          <p:nvPr/>
        </p:nvSpPr>
        <p:spPr bwMode="auto">
          <a:xfrm>
            <a:off x="5638800" y="4116388"/>
            <a:ext cx="16240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Takes </a:t>
            </a:r>
            <a:r>
              <a:rPr lang="en-US" dirty="0">
                <a:latin typeface="Comic Sans MS" pitchFamily="66" charset="0"/>
              </a:rPr>
              <a:t>O(</a:t>
            </a:r>
            <a:r>
              <a:rPr lang="en-US" dirty="0" err="1">
                <a:latin typeface="Comic Sans MS" pitchFamily="66" charset="0"/>
              </a:rPr>
              <a:t>lgV</a:t>
            </a:r>
            <a:r>
              <a:rPr lang="en-US" dirty="0">
                <a:latin typeface="Comic Sans MS" pitchFamily="66" charset="0"/>
              </a:rPr>
              <a:t>)</a:t>
            </a:r>
          </a:p>
        </p:txBody>
      </p:sp>
      <p:sp>
        <p:nvSpPr>
          <p:cNvPr id="887818" name="Text Box 10"/>
          <p:cNvSpPr txBox="1">
            <a:spLocks noChangeArrowheads="1"/>
          </p:cNvSpPr>
          <p:nvPr/>
        </p:nvSpPr>
        <p:spPr bwMode="auto">
          <a:xfrm>
            <a:off x="7192962" y="3568700"/>
            <a:ext cx="1646238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Min-heap operations:</a:t>
            </a:r>
          </a:p>
          <a:p>
            <a:pPr eaLnBrk="1" hangingPunct="1"/>
            <a:r>
              <a:rPr lang="en-US">
                <a:latin typeface="Comic Sans MS" pitchFamily="66" charset="0"/>
              </a:rPr>
              <a:t>O(VlgV)</a:t>
            </a:r>
          </a:p>
        </p:txBody>
      </p:sp>
      <p:sp>
        <p:nvSpPr>
          <p:cNvPr id="887819" name="AutoShape 11"/>
          <p:cNvSpPr>
            <a:spLocks/>
          </p:cNvSpPr>
          <p:nvPr/>
        </p:nvSpPr>
        <p:spPr bwMode="auto">
          <a:xfrm>
            <a:off x="7070725" y="3694113"/>
            <a:ext cx="88900" cy="771525"/>
          </a:xfrm>
          <a:prstGeom prst="rightBrace">
            <a:avLst>
              <a:gd name="adj1" fmla="val 72321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7820" name="Text Box 12"/>
          <p:cNvSpPr txBox="1">
            <a:spLocks noChangeArrowheads="1"/>
          </p:cNvSpPr>
          <p:nvPr/>
        </p:nvSpPr>
        <p:spPr bwMode="auto">
          <a:xfrm>
            <a:off x="5375275" y="4530725"/>
            <a:ext cx="2798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Executed O(E) times total</a:t>
            </a:r>
          </a:p>
        </p:txBody>
      </p:sp>
      <p:sp>
        <p:nvSpPr>
          <p:cNvPr id="887821" name="Line 13"/>
          <p:cNvSpPr>
            <a:spLocks noChangeShapeType="1"/>
          </p:cNvSpPr>
          <p:nvPr/>
        </p:nvSpPr>
        <p:spPr bwMode="auto">
          <a:xfrm flipH="1">
            <a:off x="4783138" y="4725988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7823" name="Text Box 15"/>
          <p:cNvSpPr txBox="1">
            <a:spLocks noChangeArrowheads="1"/>
          </p:cNvSpPr>
          <p:nvPr/>
        </p:nvSpPr>
        <p:spPr bwMode="auto">
          <a:xfrm>
            <a:off x="7062788" y="4968875"/>
            <a:ext cx="11668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Constant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887824" name="Line 16"/>
          <p:cNvSpPr>
            <a:spLocks noChangeShapeType="1"/>
          </p:cNvSpPr>
          <p:nvPr/>
        </p:nvSpPr>
        <p:spPr bwMode="auto">
          <a:xfrm rot="16200000" flipH="1">
            <a:off x="5415756" y="5709444"/>
            <a:ext cx="2936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7825" name="Text Box 17"/>
          <p:cNvSpPr txBox="1">
            <a:spLocks noChangeArrowheads="1"/>
          </p:cNvSpPr>
          <p:nvPr/>
        </p:nvSpPr>
        <p:spPr bwMode="auto">
          <a:xfrm>
            <a:off x="6570663" y="5397500"/>
            <a:ext cx="16240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Takes </a:t>
            </a:r>
            <a:r>
              <a:rPr lang="en-US">
                <a:latin typeface="Comic Sans MS" pitchFamily="66" charset="0"/>
              </a:rPr>
              <a:t>O(lgV)</a:t>
            </a:r>
          </a:p>
        </p:txBody>
      </p:sp>
      <p:sp>
        <p:nvSpPr>
          <p:cNvPr id="887826" name="Line 18"/>
          <p:cNvSpPr>
            <a:spLocks noChangeShapeType="1"/>
          </p:cNvSpPr>
          <p:nvPr/>
        </p:nvSpPr>
        <p:spPr bwMode="auto">
          <a:xfrm>
            <a:off x="5562599" y="5562600"/>
            <a:ext cx="957263" cy="317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7827" name="Text Box 19"/>
          <p:cNvSpPr txBox="1">
            <a:spLocks noChangeArrowheads="1"/>
          </p:cNvSpPr>
          <p:nvPr/>
        </p:nvSpPr>
        <p:spPr bwMode="auto">
          <a:xfrm>
            <a:off x="8221663" y="4967288"/>
            <a:ext cx="10747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latin typeface="Comic Sans MS" pitchFamily="66" charset="0"/>
              </a:rPr>
              <a:t>O(</a:t>
            </a:r>
            <a:r>
              <a:rPr lang="en-US" dirty="0" err="1">
                <a:latin typeface="Comic Sans MS" pitchFamily="66" charset="0"/>
              </a:rPr>
              <a:t>ElgV</a:t>
            </a:r>
            <a:r>
              <a:rPr lang="en-US" dirty="0">
                <a:latin typeface="Comic Sans MS" pitchFamily="66" charset="0"/>
              </a:rPr>
              <a:t>)</a:t>
            </a:r>
          </a:p>
        </p:txBody>
      </p:sp>
      <p:sp>
        <p:nvSpPr>
          <p:cNvPr id="887828" name="AutoShape 20"/>
          <p:cNvSpPr>
            <a:spLocks/>
          </p:cNvSpPr>
          <p:nvPr/>
        </p:nvSpPr>
        <p:spPr bwMode="auto">
          <a:xfrm>
            <a:off x="8077200" y="4548188"/>
            <a:ext cx="152400" cy="1177925"/>
          </a:xfrm>
          <a:prstGeom prst="rightBrace">
            <a:avLst>
              <a:gd name="adj1" fmla="val 6441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7829" name="Text Box 21"/>
          <p:cNvSpPr txBox="1">
            <a:spLocks noChangeArrowheads="1"/>
          </p:cNvSpPr>
          <p:nvPr/>
        </p:nvSpPr>
        <p:spPr bwMode="auto">
          <a:xfrm>
            <a:off x="4114800" y="1377950"/>
            <a:ext cx="4332287" cy="3667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DD0111"/>
                </a:solidFill>
              </a:rPr>
              <a:t>Total time</a:t>
            </a:r>
            <a:r>
              <a:rPr lang="en-US" dirty="0"/>
              <a:t>: </a:t>
            </a:r>
            <a:r>
              <a:rPr lang="en-US" dirty="0">
                <a:latin typeface="Comic Sans MS" pitchFamily="66" charset="0"/>
              </a:rPr>
              <a:t>O(</a:t>
            </a:r>
            <a:r>
              <a:rPr lang="en-US" dirty="0" err="1">
                <a:latin typeface="Comic Sans MS" pitchFamily="66" charset="0"/>
              </a:rPr>
              <a:t>VlgV</a:t>
            </a:r>
            <a:r>
              <a:rPr lang="en-US" dirty="0">
                <a:latin typeface="Comic Sans MS" pitchFamily="66" charset="0"/>
              </a:rPr>
              <a:t> + </a:t>
            </a:r>
            <a:r>
              <a:rPr lang="en-US" dirty="0" err="1">
                <a:latin typeface="Comic Sans MS" pitchFamily="66" charset="0"/>
              </a:rPr>
              <a:t>ElgV</a:t>
            </a:r>
            <a:r>
              <a:rPr lang="en-US" dirty="0">
                <a:latin typeface="Comic Sans MS" pitchFamily="66" charset="0"/>
              </a:rPr>
              <a:t>) = O(</a:t>
            </a:r>
            <a:r>
              <a:rPr lang="en-US" dirty="0" err="1">
                <a:latin typeface="Comic Sans MS" pitchFamily="66" charset="0"/>
              </a:rPr>
              <a:t>ElgV</a:t>
            </a:r>
            <a:r>
              <a:rPr lang="en-US" dirty="0">
                <a:latin typeface="Comic Sans MS" pitchFamily="66" charset="0"/>
              </a:rPr>
              <a:t>)</a:t>
            </a:r>
            <a:endParaRPr lang="en-US" dirty="0"/>
          </a:p>
        </p:txBody>
      </p:sp>
      <p:sp>
        <p:nvSpPr>
          <p:cNvPr id="26647" name="Text Box 23"/>
          <p:cNvSpPr txBox="1">
            <a:spLocks noChangeArrowheads="1"/>
          </p:cNvSpPr>
          <p:nvPr/>
        </p:nvSpPr>
        <p:spPr bwMode="auto">
          <a:xfrm>
            <a:off x="7364412" y="3208338"/>
            <a:ext cx="10937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latin typeface="Comic Sans MS" pitchFamily="66" charset="0"/>
              </a:rPr>
              <a:t>O(lgV)</a:t>
            </a:r>
            <a:r>
              <a:rPr lang="en-US"/>
              <a:t> </a:t>
            </a:r>
          </a:p>
        </p:txBody>
      </p:sp>
      <p:sp>
        <p:nvSpPr>
          <p:cNvPr id="26648" name="Line 24"/>
          <p:cNvSpPr>
            <a:spLocks noChangeShapeType="1"/>
          </p:cNvSpPr>
          <p:nvPr/>
        </p:nvSpPr>
        <p:spPr bwMode="auto">
          <a:xfrm flipH="1">
            <a:off x="6518275" y="3379788"/>
            <a:ext cx="774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13"/>
          <p:cNvSpPr>
            <a:spLocks noChangeShapeType="1"/>
          </p:cNvSpPr>
          <p:nvPr/>
        </p:nvSpPr>
        <p:spPr bwMode="auto">
          <a:xfrm flipH="1">
            <a:off x="6858000" y="5105400"/>
            <a:ext cx="304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7812" grpId="0" animBg="1"/>
      <p:bldP spid="887813" grpId="0"/>
      <p:bldP spid="887814" grpId="0" animBg="1"/>
      <p:bldP spid="887815" grpId="0"/>
      <p:bldP spid="887816" grpId="0" animBg="1"/>
      <p:bldP spid="887817" grpId="0"/>
      <p:bldP spid="887818" grpId="0"/>
      <p:bldP spid="887819" grpId="0" animBg="1"/>
      <p:bldP spid="887820" grpId="0"/>
      <p:bldP spid="887821" grpId="0" animBg="1"/>
      <p:bldP spid="887823" grpId="0"/>
      <p:bldP spid="887824" grpId="0" animBg="1"/>
      <p:bldP spid="887825" grpId="0"/>
      <p:bldP spid="887826" grpId="0" animBg="1"/>
      <p:bldP spid="887827" grpId="0"/>
      <p:bldP spid="887828" grpId="0" animBg="1"/>
      <p:bldP spid="887829" grpId="0" animBg="1"/>
      <p:bldP spid="26647" grpId="0"/>
      <p:bldP spid="26648" grpId="0" animBg="1"/>
      <p:bldP spid="3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Prim’s Algorithm 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0838" y="1214438"/>
            <a:ext cx="8358187" cy="5076825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Prim’s algorithm is a </a:t>
            </a:r>
            <a:r>
              <a:rPr lang="en-US" sz="24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“greedy”</a:t>
            </a:r>
            <a:r>
              <a:rPr lang="en-US" sz="24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algorithm</a:t>
            </a:r>
          </a:p>
          <a:p>
            <a:pPr lvl="1" eaLnBrk="1" hangingPunct="1">
              <a:lnSpc>
                <a:spcPct val="14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Greedy algorithms find solutions based on a sequence of choices which are </a:t>
            </a:r>
            <a:r>
              <a:rPr lang="en-US" sz="24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“locally”</a:t>
            </a:r>
            <a:r>
              <a:rPr lang="en-US" sz="2400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optimal at each step.</a:t>
            </a:r>
          </a:p>
          <a:p>
            <a:pPr eaLnBrk="1" hangingPunct="1">
              <a:lnSpc>
                <a:spcPct val="140000"/>
              </a:lnSpc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Nevertheless, Prim’s greedy strategy produces a globally optimum solution!</a:t>
            </a:r>
          </a:p>
        </p:txBody>
      </p:sp>
    </p:spTree>
    <p:extLst>
      <p:ext uri="{BB962C8B-B14F-4D97-AF65-F5344CB8AC3E}">
        <p14:creationId xmlns:p14="http://schemas.microsoft.com/office/powerpoint/2010/main" val="22073363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447800"/>
            <a:ext cx="6400800" cy="2273300"/>
          </a:xfrm>
        </p:spPr>
        <p:txBody>
          <a:bodyPr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Kruskal’s</a:t>
            </a:r>
            <a:r>
              <a:rPr lang="en-US" dirty="0"/>
              <a:t> </a:t>
            </a:r>
            <a:r>
              <a:rPr lang="en-US" sz="3600" dirty="0"/>
              <a:t>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8077200" y="5867400"/>
            <a:ext cx="9906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793750" y="3609975"/>
            <a:ext cx="7969250" cy="3019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25000"/>
              </a:lnSpc>
              <a:buFont typeface="Wingdings" pitchFamily="2" charset="2"/>
              <a:buChar char="è"/>
            </a:pPr>
            <a:r>
              <a:rPr lang="en-US" altLang="el-GR" sz="2400" spc="120" dirty="0">
                <a:latin typeface="Segoe UI" pitchFamily="34" charset="0"/>
                <a:ea typeface="Segoe UI" pitchFamily="34" charset="0"/>
                <a:cs typeface="Segoe UI" pitchFamily="34" charset="0"/>
                <a:sym typeface="Wingdings" pitchFamily="2" charset="2"/>
              </a:rPr>
              <a:t> C</a:t>
            </a:r>
            <a:r>
              <a:rPr lang="en-US" altLang="el-GR" sz="2400" dirty="0"/>
              <a:t>reates a forest of trees. Initially the forest consists of n single node trees (and no edges). </a:t>
            </a:r>
          </a:p>
          <a:p>
            <a:pPr>
              <a:lnSpc>
                <a:spcPct val="125000"/>
              </a:lnSpc>
              <a:buFont typeface="Wingdings" pitchFamily="2" charset="2"/>
              <a:buChar char="è"/>
            </a:pPr>
            <a:r>
              <a:rPr lang="en-US" altLang="el-GR" sz="2400" dirty="0"/>
              <a:t> At each step, we add one safe edge (the cheapest one) so that it joins two trees together. </a:t>
            </a:r>
          </a:p>
        </p:txBody>
      </p:sp>
    </p:spTree>
    <p:extLst>
      <p:ext uri="{BB962C8B-B14F-4D97-AF65-F5344CB8AC3E}">
        <p14:creationId xmlns:p14="http://schemas.microsoft.com/office/powerpoint/2010/main" val="1098258828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Kruskal’s</a:t>
            </a:r>
            <a:r>
              <a:rPr lang="en-US" dirty="0"/>
              <a:t> Algorithm</a:t>
            </a:r>
          </a:p>
        </p:txBody>
      </p:sp>
      <p:sp>
        <p:nvSpPr>
          <p:cNvPr id="30724" name="Rectangle 52"/>
          <p:cNvSpPr>
            <a:spLocks noGrp="1" noChangeArrowheads="1"/>
          </p:cNvSpPr>
          <p:nvPr>
            <p:ph sz="quarter" idx="1"/>
          </p:nvPr>
        </p:nvSpPr>
        <p:spPr>
          <a:xfrm>
            <a:off x="336550" y="1357313"/>
            <a:ext cx="8229600" cy="5076825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How is it different from Prim’s algorithm?</a:t>
            </a:r>
          </a:p>
          <a:p>
            <a:pPr lvl="1" eaLnBrk="1" hangingPunct="1"/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Prim’s algorithm grows one 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tree all the time</a:t>
            </a:r>
          </a:p>
          <a:p>
            <a:pPr lvl="1" eaLnBrk="1" hangingPunct="1"/>
            <a:r>
              <a:rPr lang="en-US" sz="24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Kruskal’s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algorithm grows 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multiple trees  (i.e., a forest) 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at the same time.</a:t>
            </a:r>
          </a:p>
          <a:p>
            <a:pPr lvl="1" eaLnBrk="1" hangingPunct="1"/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Trees are merged together 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using </a:t>
            </a:r>
            <a:r>
              <a:rPr lang="en-US" sz="2400" b="1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safe</a:t>
            </a: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edges</a:t>
            </a:r>
          </a:p>
          <a:p>
            <a:pPr lvl="1" eaLnBrk="1" hangingPunct="1"/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Since an MST has exactly |V| - 1 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edges, after |V| - 1 merges, </a:t>
            </a:r>
          </a:p>
          <a:p>
            <a:pPr lvl="1" eaLnBrk="1" hangingPunct="1"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we would have only one component</a:t>
            </a:r>
          </a:p>
          <a:p>
            <a:pPr lvl="1" eaLnBrk="1" hangingPunct="1">
              <a:buFontTx/>
              <a:buNone/>
            </a:pPr>
            <a:endParaRPr lang="en-US" sz="2400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0725" name="Group 125"/>
          <p:cNvGrpSpPr>
            <a:grpSpLocks/>
          </p:cNvGrpSpPr>
          <p:nvPr/>
        </p:nvGrpSpPr>
        <p:grpSpPr bwMode="auto">
          <a:xfrm>
            <a:off x="5410200" y="2420938"/>
            <a:ext cx="3554413" cy="3446462"/>
            <a:chOff x="3249" y="1900"/>
            <a:chExt cx="2239" cy="2171"/>
          </a:xfrm>
        </p:grpSpPr>
        <p:sp>
          <p:nvSpPr>
            <p:cNvPr id="30726" name="Freeform 126"/>
            <p:cNvSpPr>
              <a:spLocks/>
            </p:cNvSpPr>
            <p:nvPr/>
          </p:nvSpPr>
          <p:spPr bwMode="auto">
            <a:xfrm>
              <a:off x="3652" y="2881"/>
              <a:ext cx="1636" cy="1190"/>
            </a:xfrm>
            <a:custGeom>
              <a:avLst/>
              <a:gdLst>
                <a:gd name="T0" fmla="*/ 542 w 1894"/>
                <a:gd name="T1" fmla="*/ 494 h 1345"/>
                <a:gd name="T2" fmla="*/ 375 w 1894"/>
                <a:gd name="T3" fmla="*/ 510 h 1345"/>
                <a:gd name="T4" fmla="*/ 188 w 1894"/>
                <a:gd name="T5" fmla="*/ 561 h 1345"/>
                <a:gd name="T6" fmla="*/ 154 w 1894"/>
                <a:gd name="T7" fmla="*/ 577 h 1345"/>
                <a:gd name="T8" fmla="*/ 45 w 1894"/>
                <a:gd name="T9" fmla="*/ 685 h 1345"/>
                <a:gd name="T10" fmla="*/ 22 w 1894"/>
                <a:gd name="T11" fmla="*/ 741 h 1345"/>
                <a:gd name="T12" fmla="*/ 41 w 1894"/>
                <a:gd name="T13" fmla="*/ 856 h 1345"/>
                <a:gd name="T14" fmla="*/ 84 w 1894"/>
                <a:gd name="T15" fmla="*/ 892 h 1345"/>
                <a:gd name="T16" fmla="*/ 231 w 1894"/>
                <a:gd name="T17" fmla="*/ 951 h 1345"/>
                <a:gd name="T18" fmla="*/ 488 w 1894"/>
                <a:gd name="T19" fmla="*/ 932 h 1345"/>
                <a:gd name="T20" fmla="*/ 815 w 1894"/>
                <a:gd name="T21" fmla="*/ 959 h 1345"/>
                <a:gd name="T22" fmla="*/ 927 w 1894"/>
                <a:gd name="T23" fmla="*/ 995 h 1345"/>
                <a:gd name="T24" fmla="*/ 1012 w 1894"/>
                <a:gd name="T25" fmla="*/ 1039 h 1345"/>
                <a:gd name="T26" fmla="*/ 1051 w 1894"/>
                <a:gd name="T27" fmla="*/ 1051 h 1345"/>
                <a:gd name="T28" fmla="*/ 1087 w 1894"/>
                <a:gd name="T29" fmla="*/ 1071 h 1345"/>
                <a:gd name="T30" fmla="*/ 1145 w 1894"/>
                <a:gd name="T31" fmla="*/ 1102 h 1345"/>
                <a:gd name="T32" fmla="*/ 1191 w 1894"/>
                <a:gd name="T33" fmla="*/ 1134 h 1345"/>
                <a:gd name="T34" fmla="*/ 1284 w 1894"/>
                <a:gd name="T35" fmla="*/ 1174 h 1345"/>
                <a:gd name="T36" fmla="*/ 1367 w 1894"/>
                <a:gd name="T37" fmla="*/ 1190 h 1345"/>
                <a:gd name="T38" fmla="*/ 1460 w 1894"/>
                <a:gd name="T39" fmla="*/ 1178 h 1345"/>
                <a:gd name="T40" fmla="*/ 1471 w 1894"/>
                <a:gd name="T41" fmla="*/ 1171 h 1345"/>
                <a:gd name="T42" fmla="*/ 1487 w 1894"/>
                <a:gd name="T43" fmla="*/ 1166 h 1345"/>
                <a:gd name="T44" fmla="*/ 1506 w 1894"/>
                <a:gd name="T45" fmla="*/ 1150 h 1345"/>
                <a:gd name="T46" fmla="*/ 1545 w 1894"/>
                <a:gd name="T47" fmla="*/ 1110 h 1345"/>
                <a:gd name="T48" fmla="*/ 1553 w 1894"/>
                <a:gd name="T49" fmla="*/ 1099 h 1345"/>
                <a:gd name="T50" fmla="*/ 1564 w 1894"/>
                <a:gd name="T51" fmla="*/ 1091 h 1345"/>
                <a:gd name="T52" fmla="*/ 1576 w 1894"/>
                <a:gd name="T53" fmla="*/ 1067 h 1345"/>
                <a:gd name="T54" fmla="*/ 1595 w 1894"/>
                <a:gd name="T55" fmla="*/ 1031 h 1345"/>
                <a:gd name="T56" fmla="*/ 1595 w 1894"/>
                <a:gd name="T57" fmla="*/ 1031 h 1345"/>
                <a:gd name="T58" fmla="*/ 1615 w 1894"/>
                <a:gd name="T59" fmla="*/ 971 h 1345"/>
                <a:gd name="T60" fmla="*/ 1626 w 1894"/>
                <a:gd name="T61" fmla="*/ 919 h 1345"/>
                <a:gd name="T62" fmla="*/ 1580 w 1894"/>
                <a:gd name="T63" fmla="*/ 565 h 1345"/>
                <a:gd name="T64" fmla="*/ 1557 w 1894"/>
                <a:gd name="T65" fmla="*/ 478 h 1345"/>
                <a:gd name="T66" fmla="*/ 1545 w 1894"/>
                <a:gd name="T67" fmla="*/ 131 h 1345"/>
                <a:gd name="T68" fmla="*/ 1499 w 1894"/>
                <a:gd name="T69" fmla="*/ 35 h 1345"/>
                <a:gd name="T70" fmla="*/ 1421 w 1894"/>
                <a:gd name="T71" fmla="*/ 0 h 1345"/>
                <a:gd name="T72" fmla="*/ 1331 w 1894"/>
                <a:gd name="T73" fmla="*/ 12 h 1345"/>
                <a:gd name="T74" fmla="*/ 1203 w 1894"/>
                <a:gd name="T75" fmla="*/ 72 h 1345"/>
                <a:gd name="T76" fmla="*/ 1168 w 1894"/>
                <a:gd name="T77" fmla="*/ 91 h 1345"/>
                <a:gd name="T78" fmla="*/ 1110 w 1894"/>
                <a:gd name="T79" fmla="*/ 127 h 1345"/>
                <a:gd name="T80" fmla="*/ 1056 w 1894"/>
                <a:gd name="T81" fmla="*/ 167 h 1345"/>
                <a:gd name="T82" fmla="*/ 1001 w 1894"/>
                <a:gd name="T83" fmla="*/ 207 h 1345"/>
                <a:gd name="T84" fmla="*/ 908 w 1894"/>
                <a:gd name="T85" fmla="*/ 274 h 1345"/>
                <a:gd name="T86" fmla="*/ 799 w 1894"/>
                <a:gd name="T87" fmla="*/ 342 h 1345"/>
                <a:gd name="T88" fmla="*/ 752 w 1894"/>
                <a:gd name="T89" fmla="*/ 366 h 1345"/>
                <a:gd name="T90" fmla="*/ 670 w 1894"/>
                <a:gd name="T91" fmla="*/ 422 h 1345"/>
                <a:gd name="T92" fmla="*/ 593 w 1894"/>
                <a:gd name="T93" fmla="*/ 470 h 1345"/>
                <a:gd name="T94" fmla="*/ 542 w 1894"/>
                <a:gd name="T95" fmla="*/ 494 h 134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894" h="1345">
                  <a:moveTo>
                    <a:pt x="628" y="558"/>
                  </a:moveTo>
                  <a:cubicBezTo>
                    <a:pt x="571" y="574"/>
                    <a:pt x="495" y="570"/>
                    <a:pt x="434" y="576"/>
                  </a:cubicBezTo>
                  <a:cubicBezTo>
                    <a:pt x="356" y="584"/>
                    <a:pt x="292" y="613"/>
                    <a:pt x="218" y="634"/>
                  </a:cubicBezTo>
                  <a:cubicBezTo>
                    <a:pt x="205" y="643"/>
                    <a:pt x="193" y="647"/>
                    <a:pt x="178" y="652"/>
                  </a:cubicBezTo>
                  <a:cubicBezTo>
                    <a:pt x="129" y="685"/>
                    <a:pt x="85" y="726"/>
                    <a:pt x="52" y="774"/>
                  </a:cubicBezTo>
                  <a:cubicBezTo>
                    <a:pt x="39" y="793"/>
                    <a:pt x="38" y="817"/>
                    <a:pt x="25" y="837"/>
                  </a:cubicBezTo>
                  <a:cubicBezTo>
                    <a:pt x="14" y="875"/>
                    <a:pt x="0" y="952"/>
                    <a:pt x="47" y="967"/>
                  </a:cubicBezTo>
                  <a:cubicBezTo>
                    <a:pt x="60" y="987"/>
                    <a:pt x="81" y="992"/>
                    <a:pt x="97" y="1008"/>
                  </a:cubicBezTo>
                  <a:cubicBezTo>
                    <a:pt x="139" y="1050"/>
                    <a:pt x="211" y="1070"/>
                    <a:pt x="268" y="1075"/>
                  </a:cubicBezTo>
                  <a:cubicBezTo>
                    <a:pt x="370" y="1072"/>
                    <a:pt x="465" y="1062"/>
                    <a:pt x="565" y="1053"/>
                  </a:cubicBezTo>
                  <a:cubicBezTo>
                    <a:pt x="691" y="1018"/>
                    <a:pt x="819" y="1072"/>
                    <a:pt x="943" y="1084"/>
                  </a:cubicBezTo>
                  <a:cubicBezTo>
                    <a:pt x="985" y="1100"/>
                    <a:pt x="1030" y="1113"/>
                    <a:pt x="1073" y="1125"/>
                  </a:cubicBezTo>
                  <a:cubicBezTo>
                    <a:pt x="1104" y="1145"/>
                    <a:pt x="1140" y="1157"/>
                    <a:pt x="1172" y="1174"/>
                  </a:cubicBezTo>
                  <a:cubicBezTo>
                    <a:pt x="1186" y="1181"/>
                    <a:pt x="1217" y="1188"/>
                    <a:pt x="1217" y="1188"/>
                  </a:cubicBezTo>
                  <a:cubicBezTo>
                    <a:pt x="1231" y="1201"/>
                    <a:pt x="1239" y="1205"/>
                    <a:pt x="1258" y="1210"/>
                  </a:cubicBezTo>
                  <a:cubicBezTo>
                    <a:pt x="1279" y="1224"/>
                    <a:pt x="1301" y="1239"/>
                    <a:pt x="1325" y="1246"/>
                  </a:cubicBezTo>
                  <a:cubicBezTo>
                    <a:pt x="1339" y="1260"/>
                    <a:pt x="1360" y="1276"/>
                    <a:pt x="1379" y="1282"/>
                  </a:cubicBezTo>
                  <a:cubicBezTo>
                    <a:pt x="1403" y="1306"/>
                    <a:pt x="1455" y="1322"/>
                    <a:pt x="1487" y="1327"/>
                  </a:cubicBezTo>
                  <a:cubicBezTo>
                    <a:pt x="1521" y="1339"/>
                    <a:pt x="1542" y="1342"/>
                    <a:pt x="1582" y="1345"/>
                  </a:cubicBezTo>
                  <a:cubicBezTo>
                    <a:pt x="1647" y="1342"/>
                    <a:pt x="1647" y="1344"/>
                    <a:pt x="1690" y="1332"/>
                  </a:cubicBezTo>
                  <a:cubicBezTo>
                    <a:pt x="1694" y="1329"/>
                    <a:pt x="1698" y="1325"/>
                    <a:pt x="1703" y="1323"/>
                  </a:cubicBezTo>
                  <a:cubicBezTo>
                    <a:pt x="1709" y="1320"/>
                    <a:pt x="1716" y="1321"/>
                    <a:pt x="1721" y="1318"/>
                  </a:cubicBezTo>
                  <a:cubicBezTo>
                    <a:pt x="1763" y="1290"/>
                    <a:pt x="1697" y="1317"/>
                    <a:pt x="1744" y="1300"/>
                  </a:cubicBezTo>
                  <a:cubicBezTo>
                    <a:pt x="1756" y="1283"/>
                    <a:pt x="1772" y="1266"/>
                    <a:pt x="1789" y="1255"/>
                  </a:cubicBezTo>
                  <a:cubicBezTo>
                    <a:pt x="1792" y="1251"/>
                    <a:pt x="1794" y="1246"/>
                    <a:pt x="1798" y="1242"/>
                  </a:cubicBezTo>
                  <a:cubicBezTo>
                    <a:pt x="1802" y="1238"/>
                    <a:pt x="1808" y="1237"/>
                    <a:pt x="1811" y="1233"/>
                  </a:cubicBezTo>
                  <a:cubicBezTo>
                    <a:pt x="1817" y="1225"/>
                    <a:pt x="1819" y="1214"/>
                    <a:pt x="1825" y="1206"/>
                  </a:cubicBezTo>
                  <a:lnTo>
                    <a:pt x="1847" y="1165"/>
                  </a:lnTo>
                  <a:cubicBezTo>
                    <a:pt x="1847" y="1165"/>
                    <a:pt x="1847" y="1165"/>
                    <a:pt x="1847" y="1165"/>
                  </a:cubicBezTo>
                  <a:cubicBezTo>
                    <a:pt x="1855" y="1143"/>
                    <a:pt x="1862" y="1120"/>
                    <a:pt x="1870" y="1098"/>
                  </a:cubicBezTo>
                  <a:cubicBezTo>
                    <a:pt x="1873" y="1077"/>
                    <a:pt x="1878" y="1059"/>
                    <a:pt x="1883" y="1039"/>
                  </a:cubicBezTo>
                  <a:cubicBezTo>
                    <a:pt x="1894" y="896"/>
                    <a:pt x="1870" y="772"/>
                    <a:pt x="1829" y="639"/>
                  </a:cubicBezTo>
                  <a:cubicBezTo>
                    <a:pt x="1819" y="606"/>
                    <a:pt x="1814" y="572"/>
                    <a:pt x="1802" y="540"/>
                  </a:cubicBezTo>
                  <a:cubicBezTo>
                    <a:pt x="1782" y="407"/>
                    <a:pt x="1793" y="293"/>
                    <a:pt x="1789" y="148"/>
                  </a:cubicBezTo>
                  <a:cubicBezTo>
                    <a:pt x="1788" y="116"/>
                    <a:pt x="1764" y="51"/>
                    <a:pt x="1735" y="40"/>
                  </a:cubicBezTo>
                  <a:cubicBezTo>
                    <a:pt x="1718" y="15"/>
                    <a:pt x="1673" y="9"/>
                    <a:pt x="1645" y="0"/>
                  </a:cubicBezTo>
                  <a:cubicBezTo>
                    <a:pt x="1584" y="3"/>
                    <a:pt x="1582" y="1"/>
                    <a:pt x="1541" y="13"/>
                  </a:cubicBezTo>
                  <a:cubicBezTo>
                    <a:pt x="1494" y="44"/>
                    <a:pt x="1446" y="61"/>
                    <a:pt x="1393" y="81"/>
                  </a:cubicBezTo>
                  <a:cubicBezTo>
                    <a:pt x="1379" y="94"/>
                    <a:pt x="1371" y="98"/>
                    <a:pt x="1352" y="103"/>
                  </a:cubicBezTo>
                  <a:cubicBezTo>
                    <a:pt x="1330" y="118"/>
                    <a:pt x="1310" y="135"/>
                    <a:pt x="1285" y="144"/>
                  </a:cubicBezTo>
                  <a:cubicBezTo>
                    <a:pt x="1273" y="161"/>
                    <a:pt x="1242" y="181"/>
                    <a:pt x="1222" y="189"/>
                  </a:cubicBezTo>
                  <a:cubicBezTo>
                    <a:pt x="1206" y="212"/>
                    <a:pt x="1182" y="218"/>
                    <a:pt x="1159" y="234"/>
                  </a:cubicBezTo>
                  <a:cubicBezTo>
                    <a:pt x="1132" y="253"/>
                    <a:pt x="1083" y="300"/>
                    <a:pt x="1051" y="310"/>
                  </a:cubicBezTo>
                  <a:cubicBezTo>
                    <a:pt x="1012" y="336"/>
                    <a:pt x="970" y="374"/>
                    <a:pt x="925" y="387"/>
                  </a:cubicBezTo>
                  <a:cubicBezTo>
                    <a:pt x="902" y="402"/>
                    <a:pt x="895" y="405"/>
                    <a:pt x="871" y="414"/>
                  </a:cubicBezTo>
                  <a:cubicBezTo>
                    <a:pt x="853" y="430"/>
                    <a:pt x="797" y="469"/>
                    <a:pt x="776" y="477"/>
                  </a:cubicBezTo>
                  <a:cubicBezTo>
                    <a:pt x="757" y="505"/>
                    <a:pt x="716" y="517"/>
                    <a:pt x="686" y="531"/>
                  </a:cubicBezTo>
                  <a:cubicBezTo>
                    <a:pt x="669" y="539"/>
                    <a:pt x="640" y="543"/>
                    <a:pt x="628" y="558"/>
                  </a:cubicBezTo>
                  <a:close/>
                </a:path>
              </a:pathLst>
            </a:custGeom>
            <a:solidFill>
              <a:srgbClr val="DD0111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7" name="Line 127"/>
            <p:cNvSpPr>
              <a:spLocks noChangeShapeType="1"/>
            </p:cNvSpPr>
            <p:nvPr/>
          </p:nvSpPr>
          <p:spPr bwMode="auto">
            <a:xfrm>
              <a:off x="4164" y="2642"/>
              <a:ext cx="288" cy="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8" name="Line 128"/>
            <p:cNvSpPr>
              <a:spLocks noChangeShapeType="1"/>
            </p:cNvSpPr>
            <p:nvPr/>
          </p:nvSpPr>
          <p:spPr bwMode="auto">
            <a:xfrm flipV="1">
              <a:off x="4682" y="2479"/>
              <a:ext cx="283" cy="120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29" name="Line 129"/>
            <p:cNvSpPr>
              <a:spLocks noChangeShapeType="1"/>
            </p:cNvSpPr>
            <p:nvPr/>
          </p:nvSpPr>
          <p:spPr bwMode="auto">
            <a:xfrm flipV="1">
              <a:off x="4012" y="3522"/>
              <a:ext cx="521" cy="115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0" name="Line 130"/>
            <p:cNvSpPr>
              <a:spLocks noChangeShapeType="1"/>
            </p:cNvSpPr>
            <p:nvPr/>
          </p:nvSpPr>
          <p:spPr bwMode="auto">
            <a:xfrm flipV="1">
              <a:off x="4728" y="3163"/>
              <a:ext cx="202" cy="212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Line 131"/>
            <p:cNvSpPr>
              <a:spLocks noChangeShapeType="1"/>
            </p:cNvSpPr>
            <p:nvPr/>
          </p:nvSpPr>
          <p:spPr bwMode="auto">
            <a:xfrm>
              <a:off x="4736" y="3553"/>
              <a:ext cx="198" cy="239"/>
            </a:xfrm>
            <a:prstGeom prst="line">
              <a:avLst/>
            </a:prstGeom>
            <a:noFill/>
            <a:ln w="76200">
              <a:solidFill>
                <a:srgbClr val="96969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2" name="Oval 132"/>
            <p:cNvSpPr>
              <a:spLocks noChangeArrowheads="1"/>
            </p:cNvSpPr>
            <p:nvPr/>
          </p:nvSpPr>
          <p:spPr bwMode="auto">
            <a:xfrm>
              <a:off x="3556" y="2947"/>
              <a:ext cx="230" cy="23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u</a:t>
              </a:r>
            </a:p>
          </p:txBody>
        </p:sp>
        <p:sp>
          <p:nvSpPr>
            <p:cNvPr id="30733" name="Oval 133"/>
            <p:cNvSpPr>
              <a:spLocks noChangeArrowheads="1"/>
            </p:cNvSpPr>
            <p:nvPr/>
          </p:nvSpPr>
          <p:spPr bwMode="auto">
            <a:xfrm>
              <a:off x="3927" y="2536"/>
              <a:ext cx="229" cy="2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0734" name="Oval 134"/>
            <p:cNvSpPr>
              <a:spLocks noChangeArrowheads="1"/>
            </p:cNvSpPr>
            <p:nvPr/>
          </p:nvSpPr>
          <p:spPr bwMode="auto">
            <a:xfrm>
              <a:off x="4455" y="2536"/>
              <a:ext cx="230" cy="2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0735" name="Oval 135"/>
            <p:cNvSpPr>
              <a:spLocks noChangeArrowheads="1"/>
            </p:cNvSpPr>
            <p:nvPr/>
          </p:nvSpPr>
          <p:spPr bwMode="auto">
            <a:xfrm>
              <a:off x="4956" y="2309"/>
              <a:ext cx="230" cy="23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0736" name="Oval 136"/>
            <p:cNvSpPr>
              <a:spLocks noChangeArrowheads="1"/>
            </p:cNvSpPr>
            <p:nvPr/>
          </p:nvSpPr>
          <p:spPr bwMode="auto">
            <a:xfrm>
              <a:off x="4876" y="2963"/>
              <a:ext cx="230" cy="23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0737" name="Oval 137"/>
            <p:cNvSpPr>
              <a:spLocks noChangeArrowheads="1"/>
            </p:cNvSpPr>
            <p:nvPr/>
          </p:nvSpPr>
          <p:spPr bwMode="auto">
            <a:xfrm>
              <a:off x="3673" y="2121"/>
              <a:ext cx="229" cy="2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0738" name="Line 138"/>
            <p:cNvSpPr>
              <a:spLocks noChangeShapeType="1"/>
            </p:cNvSpPr>
            <p:nvPr/>
          </p:nvSpPr>
          <p:spPr bwMode="auto">
            <a:xfrm>
              <a:off x="4155" y="2647"/>
              <a:ext cx="2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Line 139"/>
            <p:cNvSpPr>
              <a:spLocks noChangeShapeType="1"/>
            </p:cNvSpPr>
            <p:nvPr/>
          </p:nvSpPr>
          <p:spPr bwMode="auto">
            <a:xfrm flipV="1">
              <a:off x="3743" y="2729"/>
              <a:ext cx="225" cy="231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Line 140"/>
            <p:cNvSpPr>
              <a:spLocks noChangeShapeType="1"/>
            </p:cNvSpPr>
            <p:nvPr/>
          </p:nvSpPr>
          <p:spPr bwMode="auto">
            <a:xfrm>
              <a:off x="3836" y="2336"/>
              <a:ext cx="143" cy="215"/>
            </a:xfrm>
            <a:prstGeom prst="lin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Line 141"/>
            <p:cNvSpPr>
              <a:spLocks noChangeShapeType="1"/>
            </p:cNvSpPr>
            <p:nvPr/>
          </p:nvSpPr>
          <p:spPr bwMode="auto">
            <a:xfrm flipV="1">
              <a:off x="4680" y="2478"/>
              <a:ext cx="288" cy="1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Oval 142"/>
            <p:cNvSpPr>
              <a:spLocks noChangeArrowheads="1"/>
            </p:cNvSpPr>
            <p:nvPr/>
          </p:nvSpPr>
          <p:spPr bwMode="auto">
            <a:xfrm>
              <a:off x="4546" y="3352"/>
              <a:ext cx="229" cy="2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0743" name="Oval 143"/>
            <p:cNvSpPr>
              <a:spLocks noChangeArrowheads="1"/>
            </p:cNvSpPr>
            <p:nvPr/>
          </p:nvSpPr>
          <p:spPr bwMode="auto">
            <a:xfrm>
              <a:off x="4885" y="3774"/>
              <a:ext cx="229" cy="2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30744" name="Oval 144"/>
            <p:cNvSpPr>
              <a:spLocks noChangeArrowheads="1"/>
            </p:cNvSpPr>
            <p:nvPr/>
          </p:nvSpPr>
          <p:spPr bwMode="auto">
            <a:xfrm>
              <a:off x="3778" y="3546"/>
              <a:ext cx="230" cy="23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v</a:t>
              </a:r>
            </a:p>
          </p:txBody>
        </p:sp>
        <p:sp>
          <p:nvSpPr>
            <p:cNvPr id="30745" name="Line 145"/>
            <p:cNvSpPr>
              <a:spLocks noChangeShapeType="1"/>
            </p:cNvSpPr>
            <p:nvPr/>
          </p:nvSpPr>
          <p:spPr bwMode="auto">
            <a:xfrm>
              <a:off x="4649" y="2722"/>
              <a:ext cx="261" cy="2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6" name="Line 146"/>
            <p:cNvSpPr>
              <a:spLocks noChangeShapeType="1"/>
            </p:cNvSpPr>
            <p:nvPr/>
          </p:nvSpPr>
          <p:spPr bwMode="auto">
            <a:xfrm flipV="1">
              <a:off x="4000" y="3518"/>
              <a:ext cx="548" cy="1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Line 147"/>
            <p:cNvSpPr>
              <a:spLocks noChangeShapeType="1"/>
            </p:cNvSpPr>
            <p:nvPr/>
          </p:nvSpPr>
          <p:spPr bwMode="auto">
            <a:xfrm flipV="1">
              <a:off x="4727" y="3171"/>
              <a:ext cx="194" cy="2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Line 148"/>
            <p:cNvSpPr>
              <a:spLocks noChangeShapeType="1"/>
            </p:cNvSpPr>
            <p:nvPr/>
          </p:nvSpPr>
          <p:spPr bwMode="auto">
            <a:xfrm>
              <a:off x="4731" y="3550"/>
              <a:ext cx="205" cy="2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Text Box 149"/>
            <p:cNvSpPr txBox="1">
              <a:spLocks noChangeArrowheads="1"/>
            </p:cNvSpPr>
            <p:nvPr/>
          </p:nvSpPr>
          <p:spPr bwMode="auto">
            <a:xfrm>
              <a:off x="4199" y="2238"/>
              <a:ext cx="4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/>
                <a:t>tree1</a:t>
              </a:r>
            </a:p>
          </p:txBody>
        </p:sp>
        <p:sp>
          <p:nvSpPr>
            <p:cNvPr id="30750" name="Text Box 150"/>
            <p:cNvSpPr txBox="1">
              <a:spLocks noChangeArrowheads="1"/>
            </p:cNvSpPr>
            <p:nvPr/>
          </p:nvSpPr>
          <p:spPr bwMode="auto">
            <a:xfrm>
              <a:off x="4374" y="3713"/>
              <a:ext cx="4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/>
                <a:t>tree2</a:t>
              </a:r>
            </a:p>
          </p:txBody>
        </p:sp>
        <p:sp>
          <p:nvSpPr>
            <p:cNvPr id="30751" name="Line 151"/>
            <p:cNvSpPr>
              <a:spLocks noChangeShapeType="1"/>
            </p:cNvSpPr>
            <p:nvPr/>
          </p:nvSpPr>
          <p:spPr bwMode="auto">
            <a:xfrm flipV="1">
              <a:off x="3744" y="2734"/>
              <a:ext cx="202" cy="2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2" name="Line 152"/>
            <p:cNvSpPr>
              <a:spLocks noChangeShapeType="1"/>
            </p:cNvSpPr>
            <p:nvPr/>
          </p:nvSpPr>
          <p:spPr bwMode="auto">
            <a:xfrm>
              <a:off x="3838" y="2328"/>
              <a:ext cx="132" cy="2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3" name="Line 153"/>
            <p:cNvSpPr>
              <a:spLocks noChangeShapeType="1"/>
            </p:cNvSpPr>
            <p:nvPr/>
          </p:nvSpPr>
          <p:spPr bwMode="auto">
            <a:xfrm>
              <a:off x="3710" y="3193"/>
              <a:ext cx="137" cy="3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4" name="Freeform 154"/>
            <p:cNvSpPr>
              <a:spLocks/>
            </p:cNvSpPr>
            <p:nvPr/>
          </p:nvSpPr>
          <p:spPr bwMode="auto">
            <a:xfrm>
              <a:off x="3249" y="1900"/>
              <a:ext cx="2239" cy="1395"/>
            </a:xfrm>
            <a:custGeom>
              <a:avLst/>
              <a:gdLst>
                <a:gd name="T0" fmla="*/ 309 w 2239"/>
                <a:gd name="T1" fmla="*/ 81 h 1395"/>
                <a:gd name="T2" fmla="*/ 286 w 2239"/>
                <a:gd name="T3" fmla="*/ 103 h 1395"/>
                <a:gd name="T4" fmla="*/ 259 w 2239"/>
                <a:gd name="T5" fmla="*/ 157 h 1395"/>
                <a:gd name="T6" fmla="*/ 232 w 2239"/>
                <a:gd name="T7" fmla="*/ 211 h 1395"/>
                <a:gd name="T8" fmla="*/ 205 w 2239"/>
                <a:gd name="T9" fmla="*/ 306 h 1395"/>
                <a:gd name="T10" fmla="*/ 160 w 2239"/>
                <a:gd name="T11" fmla="*/ 580 h 1395"/>
                <a:gd name="T12" fmla="*/ 115 w 2239"/>
                <a:gd name="T13" fmla="*/ 688 h 1395"/>
                <a:gd name="T14" fmla="*/ 16 w 2239"/>
                <a:gd name="T15" fmla="*/ 967 h 1395"/>
                <a:gd name="T16" fmla="*/ 142 w 2239"/>
                <a:gd name="T17" fmla="*/ 1323 h 1395"/>
                <a:gd name="T18" fmla="*/ 525 w 2239"/>
                <a:gd name="T19" fmla="*/ 1368 h 1395"/>
                <a:gd name="T20" fmla="*/ 669 w 2239"/>
                <a:gd name="T21" fmla="*/ 1287 h 1395"/>
                <a:gd name="T22" fmla="*/ 763 w 2239"/>
                <a:gd name="T23" fmla="*/ 1224 h 1395"/>
                <a:gd name="T24" fmla="*/ 939 w 2239"/>
                <a:gd name="T25" fmla="*/ 1143 h 1395"/>
                <a:gd name="T26" fmla="*/ 988 w 2239"/>
                <a:gd name="T27" fmla="*/ 1107 h 1395"/>
                <a:gd name="T28" fmla="*/ 1083 w 2239"/>
                <a:gd name="T29" fmla="*/ 1071 h 1395"/>
                <a:gd name="T30" fmla="*/ 1231 w 2239"/>
                <a:gd name="T31" fmla="*/ 1012 h 1395"/>
                <a:gd name="T32" fmla="*/ 1416 w 2239"/>
                <a:gd name="T33" fmla="*/ 945 h 1395"/>
                <a:gd name="T34" fmla="*/ 1641 w 2239"/>
                <a:gd name="T35" fmla="*/ 891 h 1395"/>
                <a:gd name="T36" fmla="*/ 1933 w 2239"/>
                <a:gd name="T37" fmla="*/ 810 h 1395"/>
                <a:gd name="T38" fmla="*/ 1987 w 2239"/>
                <a:gd name="T39" fmla="*/ 783 h 1395"/>
                <a:gd name="T40" fmla="*/ 2032 w 2239"/>
                <a:gd name="T41" fmla="*/ 760 h 1395"/>
                <a:gd name="T42" fmla="*/ 2104 w 2239"/>
                <a:gd name="T43" fmla="*/ 711 h 1395"/>
                <a:gd name="T44" fmla="*/ 2163 w 2239"/>
                <a:gd name="T45" fmla="*/ 648 h 1395"/>
                <a:gd name="T46" fmla="*/ 2185 w 2239"/>
                <a:gd name="T47" fmla="*/ 607 h 1395"/>
                <a:gd name="T48" fmla="*/ 2212 w 2239"/>
                <a:gd name="T49" fmla="*/ 540 h 1395"/>
                <a:gd name="T50" fmla="*/ 2221 w 2239"/>
                <a:gd name="T51" fmla="*/ 373 h 1395"/>
                <a:gd name="T52" fmla="*/ 1735 w 2239"/>
                <a:gd name="T53" fmla="*/ 261 h 1395"/>
                <a:gd name="T54" fmla="*/ 1308 w 2239"/>
                <a:gd name="T55" fmla="*/ 225 h 1395"/>
                <a:gd name="T56" fmla="*/ 1114 w 2239"/>
                <a:gd name="T57" fmla="*/ 153 h 1395"/>
                <a:gd name="T58" fmla="*/ 867 w 2239"/>
                <a:gd name="T59" fmla="*/ 72 h 1395"/>
                <a:gd name="T60" fmla="*/ 520 w 2239"/>
                <a:gd name="T61" fmla="*/ 0 h 1395"/>
                <a:gd name="T62" fmla="*/ 349 w 2239"/>
                <a:gd name="T63" fmla="*/ 49 h 139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239" h="1395">
                  <a:moveTo>
                    <a:pt x="349" y="49"/>
                  </a:moveTo>
                  <a:cubicBezTo>
                    <a:pt x="335" y="59"/>
                    <a:pt x="323" y="71"/>
                    <a:pt x="309" y="81"/>
                  </a:cubicBezTo>
                  <a:cubicBezTo>
                    <a:pt x="306" y="85"/>
                    <a:pt x="304" y="90"/>
                    <a:pt x="300" y="94"/>
                  </a:cubicBezTo>
                  <a:cubicBezTo>
                    <a:pt x="296" y="98"/>
                    <a:pt x="289" y="99"/>
                    <a:pt x="286" y="103"/>
                  </a:cubicBezTo>
                  <a:cubicBezTo>
                    <a:pt x="280" y="110"/>
                    <a:pt x="282" y="122"/>
                    <a:pt x="277" y="130"/>
                  </a:cubicBezTo>
                  <a:cubicBezTo>
                    <a:pt x="272" y="139"/>
                    <a:pt x="265" y="148"/>
                    <a:pt x="259" y="157"/>
                  </a:cubicBezTo>
                  <a:cubicBezTo>
                    <a:pt x="256" y="162"/>
                    <a:pt x="250" y="171"/>
                    <a:pt x="250" y="171"/>
                  </a:cubicBezTo>
                  <a:cubicBezTo>
                    <a:pt x="245" y="186"/>
                    <a:pt x="241" y="198"/>
                    <a:pt x="232" y="211"/>
                  </a:cubicBezTo>
                  <a:cubicBezTo>
                    <a:pt x="226" y="232"/>
                    <a:pt x="221" y="253"/>
                    <a:pt x="214" y="274"/>
                  </a:cubicBezTo>
                  <a:cubicBezTo>
                    <a:pt x="211" y="285"/>
                    <a:pt x="205" y="306"/>
                    <a:pt x="205" y="306"/>
                  </a:cubicBezTo>
                  <a:cubicBezTo>
                    <a:pt x="204" y="346"/>
                    <a:pt x="204" y="387"/>
                    <a:pt x="201" y="427"/>
                  </a:cubicBezTo>
                  <a:cubicBezTo>
                    <a:pt x="198" y="479"/>
                    <a:pt x="174" y="531"/>
                    <a:pt x="160" y="580"/>
                  </a:cubicBezTo>
                  <a:cubicBezTo>
                    <a:pt x="154" y="601"/>
                    <a:pt x="150" y="620"/>
                    <a:pt x="138" y="639"/>
                  </a:cubicBezTo>
                  <a:cubicBezTo>
                    <a:pt x="133" y="658"/>
                    <a:pt x="122" y="670"/>
                    <a:pt x="115" y="688"/>
                  </a:cubicBezTo>
                  <a:cubicBezTo>
                    <a:pt x="96" y="735"/>
                    <a:pt x="80" y="783"/>
                    <a:pt x="57" y="828"/>
                  </a:cubicBezTo>
                  <a:cubicBezTo>
                    <a:pt x="36" y="868"/>
                    <a:pt x="28" y="924"/>
                    <a:pt x="16" y="967"/>
                  </a:cubicBezTo>
                  <a:cubicBezTo>
                    <a:pt x="8" y="1046"/>
                    <a:pt x="0" y="1140"/>
                    <a:pt x="48" y="1210"/>
                  </a:cubicBezTo>
                  <a:cubicBezTo>
                    <a:pt x="56" y="1248"/>
                    <a:pt x="105" y="1309"/>
                    <a:pt x="142" y="1323"/>
                  </a:cubicBezTo>
                  <a:cubicBezTo>
                    <a:pt x="199" y="1376"/>
                    <a:pt x="292" y="1387"/>
                    <a:pt x="367" y="1395"/>
                  </a:cubicBezTo>
                  <a:cubicBezTo>
                    <a:pt x="449" y="1390"/>
                    <a:pt x="460" y="1387"/>
                    <a:pt x="525" y="1368"/>
                  </a:cubicBezTo>
                  <a:cubicBezTo>
                    <a:pt x="550" y="1351"/>
                    <a:pt x="577" y="1340"/>
                    <a:pt x="606" y="1332"/>
                  </a:cubicBezTo>
                  <a:cubicBezTo>
                    <a:pt x="617" y="1315"/>
                    <a:pt x="648" y="1293"/>
                    <a:pt x="669" y="1287"/>
                  </a:cubicBezTo>
                  <a:cubicBezTo>
                    <a:pt x="685" y="1270"/>
                    <a:pt x="703" y="1265"/>
                    <a:pt x="723" y="1251"/>
                  </a:cubicBezTo>
                  <a:cubicBezTo>
                    <a:pt x="737" y="1241"/>
                    <a:pt x="746" y="1229"/>
                    <a:pt x="763" y="1224"/>
                  </a:cubicBezTo>
                  <a:cubicBezTo>
                    <a:pt x="792" y="1205"/>
                    <a:pt x="828" y="1200"/>
                    <a:pt x="858" y="1183"/>
                  </a:cubicBezTo>
                  <a:cubicBezTo>
                    <a:pt x="885" y="1168"/>
                    <a:pt x="910" y="1151"/>
                    <a:pt x="939" y="1143"/>
                  </a:cubicBezTo>
                  <a:cubicBezTo>
                    <a:pt x="953" y="1128"/>
                    <a:pt x="960" y="1127"/>
                    <a:pt x="979" y="1120"/>
                  </a:cubicBezTo>
                  <a:cubicBezTo>
                    <a:pt x="982" y="1116"/>
                    <a:pt x="984" y="1110"/>
                    <a:pt x="988" y="1107"/>
                  </a:cubicBezTo>
                  <a:cubicBezTo>
                    <a:pt x="990" y="1105"/>
                    <a:pt x="1012" y="1099"/>
                    <a:pt x="1015" y="1098"/>
                  </a:cubicBezTo>
                  <a:cubicBezTo>
                    <a:pt x="1038" y="1090"/>
                    <a:pt x="1060" y="1078"/>
                    <a:pt x="1083" y="1071"/>
                  </a:cubicBezTo>
                  <a:cubicBezTo>
                    <a:pt x="1111" y="1051"/>
                    <a:pt x="1153" y="1045"/>
                    <a:pt x="1186" y="1035"/>
                  </a:cubicBezTo>
                  <a:cubicBezTo>
                    <a:pt x="1218" y="1014"/>
                    <a:pt x="1203" y="1020"/>
                    <a:pt x="1231" y="1012"/>
                  </a:cubicBezTo>
                  <a:cubicBezTo>
                    <a:pt x="1248" y="1001"/>
                    <a:pt x="1266" y="996"/>
                    <a:pt x="1285" y="990"/>
                  </a:cubicBezTo>
                  <a:cubicBezTo>
                    <a:pt x="1325" y="963"/>
                    <a:pt x="1370" y="958"/>
                    <a:pt x="1416" y="945"/>
                  </a:cubicBezTo>
                  <a:cubicBezTo>
                    <a:pt x="1464" y="932"/>
                    <a:pt x="1511" y="914"/>
                    <a:pt x="1560" y="909"/>
                  </a:cubicBezTo>
                  <a:cubicBezTo>
                    <a:pt x="1586" y="899"/>
                    <a:pt x="1614" y="899"/>
                    <a:pt x="1641" y="891"/>
                  </a:cubicBezTo>
                  <a:cubicBezTo>
                    <a:pt x="1698" y="874"/>
                    <a:pt x="1757" y="853"/>
                    <a:pt x="1816" y="846"/>
                  </a:cubicBezTo>
                  <a:cubicBezTo>
                    <a:pt x="1854" y="832"/>
                    <a:pt x="1894" y="822"/>
                    <a:pt x="1933" y="810"/>
                  </a:cubicBezTo>
                  <a:cubicBezTo>
                    <a:pt x="1947" y="801"/>
                    <a:pt x="1958" y="797"/>
                    <a:pt x="1974" y="792"/>
                  </a:cubicBezTo>
                  <a:cubicBezTo>
                    <a:pt x="1978" y="789"/>
                    <a:pt x="1982" y="785"/>
                    <a:pt x="1987" y="783"/>
                  </a:cubicBezTo>
                  <a:cubicBezTo>
                    <a:pt x="1993" y="780"/>
                    <a:pt x="2000" y="781"/>
                    <a:pt x="2005" y="778"/>
                  </a:cubicBezTo>
                  <a:cubicBezTo>
                    <a:pt x="2058" y="748"/>
                    <a:pt x="1987" y="777"/>
                    <a:pt x="2032" y="760"/>
                  </a:cubicBezTo>
                  <a:cubicBezTo>
                    <a:pt x="2047" y="746"/>
                    <a:pt x="2060" y="739"/>
                    <a:pt x="2077" y="729"/>
                  </a:cubicBezTo>
                  <a:cubicBezTo>
                    <a:pt x="2086" y="723"/>
                    <a:pt x="2104" y="711"/>
                    <a:pt x="2104" y="711"/>
                  </a:cubicBezTo>
                  <a:cubicBezTo>
                    <a:pt x="2114" y="695"/>
                    <a:pt x="2125" y="686"/>
                    <a:pt x="2140" y="675"/>
                  </a:cubicBezTo>
                  <a:cubicBezTo>
                    <a:pt x="2169" y="630"/>
                    <a:pt x="2126" y="694"/>
                    <a:pt x="2163" y="648"/>
                  </a:cubicBezTo>
                  <a:cubicBezTo>
                    <a:pt x="2170" y="640"/>
                    <a:pt x="2181" y="621"/>
                    <a:pt x="2181" y="621"/>
                  </a:cubicBezTo>
                  <a:cubicBezTo>
                    <a:pt x="2182" y="616"/>
                    <a:pt x="2182" y="611"/>
                    <a:pt x="2185" y="607"/>
                  </a:cubicBezTo>
                  <a:cubicBezTo>
                    <a:pt x="2189" y="602"/>
                    <a:pt x="2196" y="600"/>
                    <a:pt x="2199" y="594"/>
                  </a:cubicBezTo>
                  <a:cubicBezTo>
                    <a:pt x="2208" y="577"/>
                    <a:pt x="2207" y="558"/>
                    <a:pt x="2212" y="540"/>
                  </a:cubicBezTo>
                  <a:cubicBezTo>
                    <a:pt x="2217" y="522"/>
                    <a:pt x="2224" y="504"/>
                    <a:pt x="2230" y="486"/>
                  </a:cubicBezTo>
                  <a:cubicBezTo>
                    <a:pt x="2228" y="448"/>
                    <a:pt x="2239" y="406"/>
                    <a:pt x="2221" y="373"/>
                  </a:cubicBezTo>
                  <a:cubicBezTo>
                    <a:pt x="2181" y="301"/>
                    <a:pt x="2054" y="267"/>
                    <a:pt x="1978" y="265"/>
                  </a:cubicBezTo>
                  <a:cubicBezTo>
                    <a:pt x="1897" y="263"/>
                    <a:pt x="1816" y="262"/>
                    <a:pt x="1735" y="261"/>
                  </a:cubicBezTo>
                  <a:cubicBezTo>
                    <a:pt x="1631" y="252"/>
                    <a:pt x="1531" y="250"/>
                    <a:pt x="1425" y="247"/>
                  </a:cubicBezTo>
                  <a:cubicBezTo>
                    <a:pt x="1388" y="237"/>
                    <a:pt x="1346" y="231"/>
                    <a:pt x="1308" y="225"/>
                  </a:cubicBezTo>
                  <a:cubicBezTo>
                    <a:pt x="1280" y="215"/>
                    <a:pt x="1251" y="204"/>
                    <a:pt x="1222" y="198"/>
                  </a:cubicBezTo>
                  <a:cubicBezTo>
                    <a:pt x="1200" y="183"/>
                    <a:pt x="1139" y="157"/>
                    <a:pt x="1114" y="153"/>
                  </a:cubicBezTo>
                  <a:cubicBezTo>
                    <a:pt x="1097" y="141"/>
                    <a:pt x="1078" y="139"/>
                    <a:pt x="1060" y="130"/>
                  </a:cubicBezTo>
                  <a:cubicBezTo>
                    <a:pt x="1002" y="100"/>
                    <a:pt x="931" y="86"/>
                    <a:pt x="867" y="72"/>
                  </a:cubicBezTo>
                  <a:cubicBezTo>
                    <a:pt x="821" y="62"/>
                    <a:pt x="778" y="42"/>
                    <a:pt x="732" y="31"/>
                  </a:cubicBezTo>
                  <a:cubicBezTo>
                    <a:pt x="663" y="14"/>
                    <a:pt x="591" y="8"/>
                    <a:pt x="520" y="0"/>
                  </a:cubicBezTo>
                  <a:cubicBezTo>
                    <a:pt x="456" y="3"/>
                    <a:pt x="427" y="5"/>
                    <a:pt x="372" y="22"/>
                  </a:cubicBezTo>
                  <a:cubicBezTo>
                    <a:pt x="366" y="28"/>
                    <a:pt x="342" y="42"/>
                    <a:pt x="349" y="49"/>
                  </a:cubicBez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183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81" name="Group 12"/>
          <p:cNvGrpSpPr>
            <a:grpSpLocks/>
          </p:cNvGrpSpPr>
          <p:nvPr/>
        </p:nvGrpSpPr>
        <p:grpSpPr bwMode="auto">
          <a:xfrm>
            <a:off x="382588" y="1508126"/>
            <a:ext cx="3721100" cy="2255838"/>
            <a:chOff x="3303" y="2273"/>
            <a:chExt cx="2344" cy="1421"/>
          </a:xfrm>
        </p:grpSpPr>
        <p:sp>
          <p:nvSpPr>
            <p:cNvPr id="32786" name="Oval 13"/>
            <p:cNvSpPr>
              <a:spLocks noChangeArrowheads="1"/>
            </p:cNvSpPr>
            <p:nvPr/>
          </p:nvSpPr>
          <p:spPr bwMode="auto">
            <a:xfrm>
              <a:off x="3303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32787" name="Oval 14"/>
            <p:cNvSpPr>
              <a:spLocks noChangeArrowheads="1"/>
            </p:cNvSpPr>
            <p:nvPr/>
          </p:nvSpPr>
          <p:spPr bwMode="auto">
            <a:xfrm>
              <a:off x="3732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32788" name="Oval 15"/>
            <p:cNvSpPr>
              <a:spLocks noChangeArrowheads="1"/>
            </p:cNvSpPr>
            <p:nvPr/>
          </p:nvSpPr>
          <p:spPr bwMode="auto">
            <a:xfrm>
              <a:off x="4344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</a:p>
          </p:txBody>
        </p:sp>
        <p:sp>
          <p:nvSpPr>
            <p:cNvPr id="32789" name="Oval 16"/>
            <p:cNvSpPr>
              <a:spLocks noChangeArrowheads="1"/>
            </p:cNvSpPr>
            <p:nvPr/>
          </p:nvSpPr>
          <p:spPr bwMode="auto">
            <a:xfrm>
              <a:off x="4956" y="2347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</a:t>
              </a:r>
            </a:p>
          </p:txBody>
        </p:sp>
        <p:sp>
          <p:nvSpPr>
            <p:cNvPr id="32790" name="Oval 17"/>
            <p:cNvSpPr>
              <a:spLocks noChangeArrowheads="1"/>
            </p:cNvSpPr>
            <p:nvPr/>
          </p:nvSpPr>
          <p:spPr bwMode="auto">
            <a:xfrm>
              <a:off x="5381" y="2812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</a:t>
              </a:r>
            </a:p>
          </p:txBody>
        </p:sp>
        <p:sp>
          <p:nvSpPr>
            <p:cNvPr id="32791" name="Oval 18"/>
            <p:cNvSpPr>
              <a:spLocks noChangeArrowheads="1"/>
            </p:cNvSpPr>
            <p:nvPr/>
          </p:nvSpPr>
          <p:spPr bwMode="auto">
            <a:xfrm>
              <a:off x="3732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</a:t>
              </a:r>
            </a:p>
          </p:txBody>
        </p:sp>
        <p:sp>
          <p:nvSpPr>
            <p:cNvPr id="32792" name="Oval 19"/>
            <p:cNvSpPr>
              <a:spLocks noChangeArrowheads="1"/>
            </p:cNvSpPr>
            <p:nvPr/>
          </p:nvSpPr>
          <p:spPr bwMode="auto">
            <a:xfrm>
              <a:off x="4344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g</a:t>
              </a:r>
            </a:p>
          </p:txBody>
        </p:sp>
        <p:sp>
          <p:nvSpPr>
            <p:cNvPr id="32793" name="Oval 20"/>
            <p:cNvSpPr>
              <a:spLocks noChangeArrowheads="1"/>
            </p:cNvSpPr>
            <p:nvPr/>
          </p:nvSpPr>
          <p:spPr bwMode="auto">
            <a:xfrm>
              <a:off x="4956" y="3278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</a:t>
              </a:r>
            </a:p>
          </p:txBody>
        </p:sp>
        <p:sp>
          <p:nvSpPr>
            <p:cNvPr id="32794" name="Oval 21"/>
            <p:cNvSpPr>
              <a:spLocks noChangeArrowheads="1"/>
            </p:cNvSpPr>
            <p:nvPr/>
          </p:nvSpPr>
          <p:spPr bwMode="auto">
            <a:xfrm>
              <a:off x="4038" y="2814"/>
              <a:ext cx="266" cy="26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</a:t>
              </a:r>
            </a:p>
          </p:txBody>
        </p:sp>
        <p:sp>
          <p:nvSpPr>
            <p:cNvPr id="32795" name="Line 22"/>
            <p:cNvSpPr>
              <a:spLocks noChangeShapeType="1"/>
            </p:cNvSpPr>
            <p:nvPr/>
          </p:nvSpPr>
          <p:spPr bwMode="auto">
            <a:xfrm>
              <a:off x="3857" y="2615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796" name="Line 23"/>
            <p:cNvSpPr>
              <a:spLocks noChangeShapeType="1"/>
            </p:cNvSpPr>
            <p:nvPr/>
          </p:nvSpPr>
          <p:spPr bwMode="auto">
            <a:xfrm>
              <a:off x="5092" y="2616"/>
              <a:ext cx="0" cy="6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797" name="Line 24"/>
            <p:cNvSpPr>
              <a:spLocks noChangeShapeType="1"/>
            </p:cNvSpPr>
            <p:nvPr/>
          </p:nvSpPr>
          <p:spPr bwMode="auto">
            <a:xfrm>
              <a:off x="3996" y="2472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798" name="Line 25"/>
            <p:cNvSpPr>
              <a:spLocks noChangeShapeType="1"/>
            </p:cNvSpPr>
            <p:nvPr/>
          </p:nvSpPr>
          <p:spPr bwMode="auto">
            <a:xfrm>
              <a:off x="4607" y="247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799" name="Line 26"/>
            <p:cNvSpPr>
              <a:spLocks noChangeShapeType="1"/>
            </p:cNvSpPr>
            <p:nvPr/>
          </p:nvSpPr>
          <p:spPr bwMode="auto">
            <a:xfrm>
              <a:off x="3996" y="3414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0" name="Line 27"/>
            <p:cNvSpPr>
              <a:spLocks noChangeShapeType="1"/>
            </p:cNvSpPr>
            <p:nvPr/>
          </p:nvSpPr>
          <p:spPr bwMode="auto">
            <a:xfrm>
              <a:off x="4614" y="3418"/>
              <a:ext cx="3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1" name="Line 28"/>
            <p:cNvSpPr>
              <a:spLocks noChangeShapeType="1"/>
            </p:cNvSpPr>
            <p:nvPr/>
          </p:nvSpPr>
          <p:spPr bwMode="auto">
            <a:xfrm flipV="1">
              <a:off x="3510" y="2574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2" name="Line 29"/>
            <p:cNvSpPr>
              <a:spLocks noChangeShapeType="1"/>
            </p:cNvSpPr>
            <p:nvPr/>
          </p:nvSpPr>
          <p:spPr bwMode="auto">
            <a:xfrm flipV="1">
              <a:off x="5190" y="3057"/>
              <a:ext cx="261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3" name="Line 30"/>
            <p:cNvSpPr>
              <a:spLocks noChangeShapeType="1"/>
            </p:cNvSpPr>
            <p:nvPr/>
          </p:nvSpPr>
          <p:spPr bwMode="auto">
            <a:xfrm>
              <a:off x="5189" y="2565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4" name="Line 31"/>
            <p:cNvSpPr>
              <a:spLocks noChangeShapeType="1"/>
            </p:cNvSpPr>
            <p:nvPr/>
          </p:nvSpPr>
          <p:spPr bwMode="auto">
            <a:xfrm>
              <a:off x="3511" y="3042"/>
              <a:ext cx="256" cy="27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5" name="Line 32"/>
            <p:cNvSpPr>
              <a:spLocks noChangeShapeType="1"/>
            </p:cNvSpPr>
            <p:nvPr/>
          </p:nvSpPr>
          <p:spPr bwMode="auto">
            <a:xfrm>
              <a:off x="4554" y="2583"/>
              <a:ext cx="455" cy="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6" name="Line 33"/>
            <p:cNvSpPr>
              <a:spLocks noChangeShapeType="1"/>
            </p:cNvSpPr>
            <p:nvPr/>
          </p:nvSpPr>
          <p:spPr bwMode="auto">
            <a:xfrm>
              <a:off x="4244" y="3056"/>
              <a:ext cx="166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7" name="Line 34"/>
            <p:cNvSpPr>
              <a:spLocks noChangeShapeType="1"/>
            </p:cNvSpPr>
            <p:nvPr/>
          </p:nvSpPr>
          <p:spPr bwMode="auto">
            <a:xfrm flipV="1">
              <a:off x="3960" y="3065"/>
              <a:ext cx="153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8" name="Line 35"/>
            <p:cNvSpPr>
              <a:spLocks noChangeShapeType="1"/>
            </p:cNvSpPr>
            <p:nvPr/>
          </p:nvSpPr>
          <p:spPr bwMode="auto">
            <a:xfrm flipV="1">
              <a:off x="4244" y="2583"/>
              <a:ext cx="157" cy="2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809" name="Text Box 36"/>
            <p:cNvSpPr txBox="1">
              <a:spLocks noChangeArrowheads="1"/>
            </p:cNvSpPr>
            <p:nvPr/>
          </p:nvSpPr>
          <p:spPr bwMode="auto">
            <a:xfrm>
              <a:off x="3446" y="2475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  <p:sp>
          <p:nvSpPr>
            <p:cNvPr id="32810" name="Text Box 37"/>
            <p:cNvSpPr txBox="1">
              <a:spLocks noChangeArrowheads="1"/>
            </p:cNvSpPr>
            <p:nvPr/>
          </p:nvSpPr>
          <p:spPr bwMode="auto">
            <a:xfrm>
              <a:off x="4089" y="2273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</a:p>
          </p:txBody>
        </p:sp>
        <p:sp>
          <p:nvSpPr>
            <p:cNvPr id="32811" name="Text Box 38"/>
            <p:cNvSpPr txBox="1">
              <a:spLocks noChangeArrowheads="1"/>
            </p:cNvSpPr>
            <p:nvPr/>
          </p:nvSpPr>
          <p:spPr bwMode="auto">
            <a:xfrm>
              <a:off x="4696" y="2286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</a:p>
          </p:txBody>
        </p:sp>
        <p:sp>
          <p:nvSpPr>
            <p:cNvPr id="32812" name="Text Box 39"/>
            <p:cNvSpPr txBox="1">
              <a:spLocks noChangeArrowheads="1"/>
            </p:cNvSpPr>
            <p:nvPr/>
          </p:nvSpPr>
          <p:spPr bwMode="auto">
            <a:xfrm>
              <a:off x="3500" y="3183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8</a:t>
              </a:r>
            </a:p>
          </p:txBody>
        </p:sp>
        <p:sp>
          <p:nvSpPr>
            <p:cNvPr id="32813" name="Text Box 40"/>
            <p:cNvSpPr txBox="1">
              <a:spLocks noChangeArrowheads="1"/>
            </p:cNvSpPr>
            <p:nvPr/>
          </p:nvSpPr>
          <p:spPr bwMode="auto">
            <a:xfrm>
              <a:off x="3636" y="2816"/>
              <a:ext cx="30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11</a:t>
              </a:r>
            </a:p>
          </p:txBody>
        </p:sp>
        <p:sp>
          <p:nvSpPr>
            <p:cNvPr id="32814" name="Text Box 41"/>
            <p:cNvSpPr txBox="1">
              <a:spLocks noChangeArrowheads="1"/>
            </p:cNvSpPr>
            <p:nvPr/>
          </p:nvSpPr>
          <p:spPr bwMode="auto">
            <a:xfrm>
              <a:off x="4095" y="3389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  <p:sp>
          <p:nvSpPr>
            <p:cNvPr id="32815" name="Text Box 42"/>
            <p:cNvSpPr txBox="1">
              <a:spLocks noChangeArrowheads="1"/>
            </p:cNvSpPr>
            <p:nvPr/>
          </p:nvSpPr>
          <p:spPr bwMode="auto">
            <a:xfrm>
              <a:off x="4690" y="3423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  <p:sp>
          <p:nvSpPr>
            <p:cNvPr id="32816" name="Text Box 43"/>
            <p:cNvSpPr txBox="1">
              <a:spLocks noChangeArrowheads="1"/>
            </p:cNvSpPr>
            <p:nvPr/>
          </p:nvSpPr>
          <p:spPr bwMode="auto">
            <a:xfrm>
              <a:off x="3889" y="3039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7</a:t>
              </a:r>
            </a:p>
          </p:txBody>
        </p:sp>
        <p:sp>
          <p:nvSpPr>
            <p:cNvPr id="32817" name="Text Box 44"/>
            <p:cNvSpPr txBox="1">
              <a:spLocks noChangeArrowheads="1"/>
            </p:cNvSpPr>
            <p:nvPr/>
          </p:nvSpPr>
          <p:spPr bwMode="auto">
            <a:xfrm>
              <a:off x="4280" y="2643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</a:p>
          </p:txBody>
        </p:sp>
        <p:sp>
          <p:nvSpPr>
            <p:cNvPr id="32818" name="Text Box 45"/>
            <p:cNvSpPr txBox="1">
              <a:spLocks noChangeArrowheads="1"/>
            </p:cNvSpPr>
            <p:nvPr/>
          </p:nvSpPr>
          <p:spPr bwMode="auto">
            <a:xfrm>
              <a:off x="4598" y="2872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</a:p>
          </p:txBody>
        </p:sp>
        <p:sp>
          <p:nvSpPr>
            <p:cNvPr id="32819" name="Text Box 46"/>
            <p:cNvSpPr txBox="1">
              <a:spLocks noChangeArrowheads="1"/>
            </p:cNvSpPr>
            <p:nvPr/>
          </p:nvSpPr>
          <p:spPr bwMode="auto">
            <a:xfrm>
              <a:off x="5063" y="2832"/>
              <a:ext cx="31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14</a:t>
              </a:r>
            </a:p>
          </p:txBody>
        </p:sp>
        <p:sp>
          <p:nvSpPr>
            <p:cNvPr id="32820" name="Text Box 47"/>
            <p:cNvSpPr txBox="1">
              <a:spLocks noChangeArrowheads="1"/>
            </p:cNvSpPr>
            <p:nvPr/>
          </p:nvSpPr>
          <p:spPr bwMode="auto">
            <a:xfrm>
              <a:off x="5288" y="2475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9</a:t>
              </a:r>
            </a:p>
          </p:txBody>
        </p:sp>
        <p:sp>
          <p:nvSpPr>
            <p:cNvPr id="32821" name="Text Box 48"/>
            <p:cNvSpPr txBox="1">
              <a:spLocks noChangeArrowheads="1"/>
            </p:cNvSpPr>
            <p:nvPr/>
          </p:nvSpPr>
          <p:spPr bwMode="auto">
            <a:xfrm>
              <a:off x="5270" y="3133"/>
              <a:ext cx="31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10</a:t>
              </a:r>
            </a:p>
          </p:txBody>
        </p:sp>
        <p:sp>
          <p:nvSpPr>
            <p:cNvPr id="32822" name="Text Box 49"/>
            <p:cNvSpPr txBox="1">
              <a:spLocks noChangeArrowheads="1"/>
            </p:cNvSpPr>
            <p:nvPr/>
          </p:nvSpPr>
          <p:spPr bwMode="auto">
            <a:xfrm>
              <a:off x="4289" y="3025"/>
              <a:ext cx="21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22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</a:p>
          </p:txBody>
        </p:sp>
      </p:grpSp>
      <p:sp>
        <p:nvSpPr>
          <p:cNvPr id="327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32782" name="Rectangle 50"/>
          <p:cNvSpPr>
            <a:spLocks noChangeArrowheads="1"/>
          </p:cNvSpPr>
          <p:nvPr/>
        </p:nvSpPr>
        <p:spPr bwMode="auto">
          <a:xfrm>
            <a:off x="260350" y="3802063"/>
            <a:ext cx="2166938" cy="229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1: (h, g)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2: (c, i), (g, f)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4: (a, b), (c, f)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6: (i, g)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7: (c, d), (i, h)</a:t>
            </a:r>
          </a:p>
        </p:txBody>
      </p:sp>
      <p:sp>
        <p:nvSpPr>
          <p:cNvPr id="32783" name="Rectangle 51"/>
          <p:cNvSpPr>
            <a:spLocks noChangeArrowheads="1"/>
          </p:cNvSpPr>
          <p:nvPr/>
        </p:nvSpPr>
        <p:spPr bwMode="auto">
          <a:xfrm>
            <a:off x="1938338" y="3802063"/>
            <a:ext cx="2166937" cy="229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8: (a, h), (b, c) 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9: (d, e)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10: (e, f)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11: (b, h)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000" dirty="0">
                <a:solidFill>
                  <a:srgbClr val="C00000"/>
                </a:solidFill>
              </a:rPr>
              <a:t>14: (d, f)</a:t>
            </a:r>
          </a:p>
        </p:txBody>
      </p:sp>
      <p:sp>
        <p:nvSpPr>
          <p:cNvPr id="32785" name="Rectangle 53"/>
          <p:cNvSpPr>
            <a:spLocks noChangeArrowheads="1"/>
          </p:cNvSpPr>
          <p:nvPr/>
        </p:nvSpPr>
        <p:spPr bwMode="auto">
          <a:xfrm>
            <a:off x="134938" y="5767388"/>
            <a:ext cx="3345403" cy="414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dirty="0">
                <a:solidFill>
                  <a:srgbClr val="002060"/>
                </a:solidFill>
              </a:rPr>
              <a:t>{a}, {b}, {c}, {d}, {e}, {f}, {g}, {h},</a:t>
            </a:r>
            <a:r>
              <a:rPr lang="en-US" i="1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002060"/>
                </a:solidFill>
              </a:rPr>
              <a:t>{i}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91000" y="1143000"/>
            <a:ext cx="4953000" cy="4800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en-US" sz="2400" dirty="0">
                <a:solidFill>
                  <a:schemeClr val="tx1"/>
                </a:solidFill>
              </a:rPr>
              <a:t>Initially we have 9 set of vertices: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{a}, {b}, {c}, {d}, {e}, {f}, {g}, {h},</a:t>
            </a:r>
            <a:r>
              <a:rPr lang="en-US" sz="2400" b="1" i="1" dirty="0">
                <a:solidFill>
                  <a:srgbClr val="002060"/>
                </a:solidFill>
              </a:rPr>
              <a:t> </a:t>
            </a:r>
            <a:r>
              <a:rPr lang="en-US" sz="2400" b="1" dirty="0">
                <a:solidFill>
                  <a:srgbClr val="002060"/>
                </a:solidFill>
              </a:rPr>
              <a:t>{</a:t>
            </a:r>
            <a:r>
              <a:rPr lang="en-US" sz="2400" b="1" dirty="0" err="1">
                <a:solidFill>
                  <a:srgbClr val="002060"/>
                </a:solidFill>
              </a:rPr>
              <a:t>i</a:t>
            </a:r>
            <a:r>
              <a:rPr lang="en-US" sz="2400" b="1" dirty="0">
                <a:solidFill>
                  <a:srgbClr val="002060"/>
                </a:solidFill>
              </a:rPr>
              <a:t>}</a:t>
            </a:r>
          </a:p>
          <a:p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Edges arranged in decreasing order according to their weights: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solidFill>
                  <a:srgbClr val="C00000"/>
                </a:solidFill>
              </a:rPr>
              <a:t>1: (h, g)	    2: (c, </a:t>
            </a:r>
            <a:r>
              <a:rPr lang="en-US" sz="2400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), (g, f)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solidFill>
                  <a:srgbClr val="C00000"/>
                </a:solidFill>
              </a:rPr>
              <a:t>4: (a, b), (c, f)     6: (</a:t>
            </a:r>
            <a:r>
              <a:rPr lang="en-US" sz="2400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, g)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solidFill>
                  <a:srgbClr val="C00000"/>
                </a:solidFill>
              </a:rPr>
              <a:t>7: (c, d), (</a:t>
            </a:r>
            <a:r>
              <a:rPr lang="en-US" sz="2400" dirty="0" err="1">
                <a:solidFill>
                  <a:srgbClr val="C00000"/>
                </a:solidFill>
              </a:rPr>
              <a:t>i</a:t>
            </a:r>
            <a:r>
              <a:rPr lang="en-US" sz="2400" dirty="0">
                <a:solidFill>
                  <a:srgbClr val="C00000"/>
                </a:solidFill>
              </a:rPr>
              <a:t>, h)     8: (a, h), (b, c) 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solidFill>
                  <a:srgbClr val="C00000"/>
                </a:solidFill>
              </a:rPr>
              <a:t>9: (d, e)             10: (e, f)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400" dirty="0">
                <a:solidFill>
                  <a:srgbClr val="C00000"/>
                </a:solidFill>
              </a:rPr>
              <a:t>11: (b, h)           14: (d, f)</a:t>
            </a:r>
            <a:endParaRPr lang="ar-EG" sz="2400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28600" y="3810000"/>
            <a:ext cx="3505200" cy="266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57" name="Text Placeholder 56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9824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6" name="Oval 13"/>
          <p:cNvSpPr>
            <a:spLocks noChangeArrowheads="1"/>
          </p:cNvSpPr>
          <p:nvPr/>
        </p:nvSpPr>
        <p:spPr bwMode="auto">
          <a:xfrm>
            <a:off x="382588" y="2363789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</a:p>
        </p:txBody>
      </p:sp>
      <p:sp>
        <p:nvSpPr>
          <p:cNvPr id="32787" name="Oval 14"/>
          <p:cNvSpPr>
            <a:spLocks noChangeArrowheads="1"/>
          </p:cNvSpPr>
          <p:nvPr/>
        </p:nvSpPr>
        <p:spPr bwMode="auto">
          <a:xfrm>
            <a:off x="1063626" y="1625601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</a:p>
        </p:txBody>
      </p:sp>
      <p:sp>
        <p:nvSpPr>
          <p:cNvPr id="32788" name="Oval 15"/>
          <p:cNvSpPr>
            <a:spLocks noChangeArrowheads="1"/>
          </p:cNvSpPr>
          <p:nvPr/>
        </p:nvSpPr>
        <p:spPr bwMode="auto">
          <a:xfrm>
            <a:off x="2035176" y="1625601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</p:txBody>
      </p:sp>
      <p:sp>
        <p:nvSpPr>
          <p:cNvPr id="32789" name="Oval 16"/>
          <p:cNvSpPr>
            <a:spLocks noChangeArrowheads="1"/>
          </p:cNvSpPr>
          <p:nvPr/>
        </p:nvSpPr>
        <p:spPr bwMode="auto">
          <a:xfrm>
            <a:off x="3006726" y="1625601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</a:p>
        </p:txBody>
      </p:sp>
      <p:sp>
        <p:nvSpPr>
          <p:cNvPr id="32790" name="Oval 17"/>
          <p:cNvSpPr>
            <a:spLocks noChangeArrowheads="1"/>
          </p:cNvSpPr>
          <p:nvPr/>
        </p:nvSpPr>
        <p:spPr bwMode="auto">
          <a:xfrm>
            <a:off x="3681413" y="2363789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</a:p>
        </p:txBody>
      </p:sp>
      <p:sp>
        <p:nvSpPr>
          <p:cNvPr id="32791" name="Oval 18"/>
          <p:cNvSpPr>
            <a:spLocks noChangeArrowheads="1"/>
          </p:cNvSpPr>
          <p:nvPr/>
        </p:nvSpPr>
        <p:spPr bwMode="auto">
          <a:xfrm>
            <a:off x="1063626" y="3103564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</a:t>
            </a:r>
          </a:p>
        </p:txBody>
      </p:sp>
      <p:sp>
        <p:nvSpPr>
          <p:cNvPr id="32792" name="Oval 19"/>
          <p:cNvSpPr>
            <a:spLocks noChangeArrowheads="1"/>
          </p:cNvSpPr>
          <p:nvPr/>
        </p:nvSpPr>
        <p:spPr bwMode="auto">
          <a:xfrm>
            <a:off x="2035176" y="3103564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</a:t>
            </a:r>
          </a:p>
        </p:txBody>
      </p:sp>
      <p:sp>
        <p:nvSpPr>
          <p:cNvPr id="32793" name="Oval 20"/>
          <p:cNvSpPr>
            <a:spLocks noChangeArrowheads="1"/>
          </p:cNvSpPr>
          <p:nvPr/>
        </p:nvSpPr>
        <p:spPr bwMode="auto">
          <a:xfrm>
            <a:off x="3006726" y="3103564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</a:p>
        </p:txBody>
      </p:sp>
      <p:sp>
        <p:nvSpPr>
          <p:cNvPr id="32794" name="Oval 21"/>
          <p:cNvSpPr>
            <a:spLocks noChangeArrowheads="1"/>
          </p:cNvSpPr>
          <p:nvPr/>
        </p:nvSpPr>
        <p:spPr bwMode="auto">
          <a:xfrm>
            <a:off x="1549401" y="2366964"/>
            <a:ext cx="422275" cy="4206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</a:p>
        </p:txBody>
      </p:sp>
      <p:sp>
        <p:nvSpPr>
          <p:cNvPr id="32795" name="Line 22"/>
          <p:cNvSpPr>
            <a:spLocks noChangeShapeType="1"/>
          </p:cNvSpPr>
          <p:nvPr/>
        </p:nvSpPr>
        <p:spPr bwMode="auto">
          <a:xfrm>
            <a:off x="1262063" y="2051051"/>
            <a:ext cx="0" cy="1065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96" name="Line 23"/>
          <p:cNvSpPr>
            <a:spLocks noChangeShapeType="1"/>
          </p:cNvSpPr>
          <p:nvPr/>
        </p:nvSpPr>
        <p:spPr bwMode="auto">
          <a:xfrm>
            <a:off x="3222626" y="2052639"/>
            <a:ext cx="0" cy="106521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97" name="Line 24"/>
          <p:cNvSpPr>
            <a:spLocks noChangeShapeType="1"/>
          </p:cNvSpPr>
          <p:nvPr/>
        </p:nvSpPr>
        <p:spPr bwMode="auto">
          <a:xfrm>
            <a:off x="1482726" y="1824039"/>
            <a:ext cx="550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98" name="Line 25"/>
          <p:cNvSpPr>
            <a:spLocks noChangeShapeType="1"/>
          </p:cNvSpPr>
          <p:nvPr/>
        </p:nvSpPr>
        <p:spPr bwMode="auto">
          <a:xfrm>
            <a:off x="2452688" y="1827214"/>
            <a:ext cx="550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99" name="Line 26"/>
          <p:cNvSpPr>
            <a:spLocks noChangeShapeType="1"/>
          </p:cNvSpPr>
          <p:nvPr/>
        </p:nvSpPr>
        <p:spPr bwMode="auto">
          <a:xfrm>
            <a:off x="1482726" y="3319464"/>
            <a:ext cx="550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0" name="Line 27"/>
          <p:cNvSpPr>
            <a:spLocks noChangeShapeType="1"/>
          </p:cNvSpPr>
          <p:nvPr/>
        </p:nvSpPr>
        <p:spPr bwMode="auto">
          <a:xfrm>
            <a:off x="2463801" y="3325814"/>
            <a:ext cx="5508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1" name="Line 28"/>
          <p:cNvSpPr>
            <a:spLocks noChangeShapeType="1"/>
          </p:cNvSpPr>
          <p:nvPr/>
        </p:nvSpPr>
        <p:spPr bwMode="auto">
          <a:xfrm flipV="1">
            <a:off x="711201" y="1985964"/>
            <a:ext cx="414338" cy="414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2" name="Line 29"/>
          <p:cNvSpPr>
            <a:spLocks noChangeShapeType="1"/>
          </p:cNvSpPr>
          <p:nvPr/>
        </p:nvSpPr>
        <p:spPr bwMode="auto">
          <a:xfrm flipV="1">
            <a:off x="3378201" y="2752726"/>
            <a:ext cx="414338" cy="4143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3" name="Line 30"/>
          <p:cNvSpPr>
            <a:spLocks noChangeShapeType="1"/>
          </p:cNvSpPr>
          <p:nvPr/>
        </p:nvSpPr>
        <p:spPr bwMode="auto">
          <a:xfrm>
            <a:off x="3376613" y="1971676"/>
            <a:ext cx="40640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4" name="Line 31"/>
          <p:cNvSpPr>
            <a:spLocks noChangeShapeType="1"/>
          </p:cNvSpPr>
          <p:nvPr/>
        </p:nvSpPr>
        <p:spPr bwMode="auto">
          <a:xfrm>
            <a:off x="712788" y="2728914"/>
            <a:ext cx="406400" cy="428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5" name="Line 32"/>
          <p:cNvSpPr>
            <a:spLocks noChangeShapeType="1"/>
          </p:cNvSpPr>
          <p:nvPr/>
        </p:nvSpPr>
        <p:spPr bwMode="auto">
          <a:xfrm>
            <a:off x="2368551" y="2000251"/>
            <a:ext cx="722313" cy="11509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6" name="Line 33"/>
          <p:cNvSpPr>
            <a:spLocks noChangeShapeType="1"/>
          </p:cNvSpPr>
          <p:nvPr/>
        </p:nvSpPr>
        <p:spPr bwMode="auto">
          <a:xfrm>
            <a:off x="1876426" y="2751139"/>
            <a:ext cx="263525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7" name="Line 34"/>
          <p:cNvSpPr>
            <a:spLocks noChangeShapeType="1"/>
          </p:cNvSpPr>
          <p:nvPr/>
        </p:nvSpPr>
        <p:spPr bwMode="auto">
          <a:xfrm flipV="1">
            <a:off x="1425576" y="2765426"/>
            <a:ext cx="242888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8" name="Line 35"/>
          <p:cNvSpPr>
            <a:spLocks noChangeShapeType="1"/>
          </p:cNvSpPr>
          <p:nvPr/>
        </p:nvSpPr>
        <p:spPr bwMode="auto">
          <a:xfrm flipV="1">
            <a:off x="1876426" y="2000251"/>
            <a:ext cx="249238" cy="385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809" name="Text Box 36"/>
          <p:cNvSpPr txBox="1">
            <a:spLocks noChangeArrowheads="1"/>
          </p:cNvSpPr>
          <p:nvPr/>
        </p:nvSpPr>
        <p:spPr bwMode="auto">
          <a:xfrm>
            <a:off x="609601" y="1828801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32810" name="Text Box 37"/>
          <p:cNvSpPr txBox="1">
            <a:spLocks noChangeArrowheads="1"/>
          </p:cNvSpPr>
          <p:nvPr/>
        </p:nvSpPr>
        <p:spPr bwMode="auto">
          <a:xfrm>
            <a:off x="1630363" y="1508126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  <p:sp>
        <p:nvSpPr>
          <p:cNvPr id="32811" name="Text Box 38"/>
          <p:cNvSpPr txBox="1">
            <a:spLocks noChangeArrowheads="1"/>
          </p:cNvSpPr>
          <p:nvPr/>
        </p:nvSpPr>
        <p:spPr bwMode="auto">
          <a:xfrm>
            <a:off x="2593976" y="1528764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</p:txBody>
      </p:sp>
      <p:sp>
        <p:nvSpPr>
          <p:cNvPr id="32812" name="Text Box 39"/>
          <p:cNvSpPr txBox="1">
            <a:spLocks noChangeArrowheads="1"/>
          </p:cNvSpPr>
          <p:nvPr/>
        </p:nvSpPr>
        <p:spPr bwMode="auto">
          <a:xfrm>
            <a:off x="695326" y="2952751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</a:p>
        </p:txBody>
      </p:sp>
      <p:sp>
        <p:nvSpPr>
          <p:cNvPr id="32813" name="Text Box 40"/>
          <p:cNvSpPr txBox="1">
            <a:spLocks noChangeArrowheads="1"/>
          </p:cNvSpPr>
          <p:nvPr/>
        </p:nvSpPr>
        <p:spPr bwMode="auto">
          <a:xfrm>
            <a:off x="911226" y="2370139"/>
            <a:ext cx="482600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</p:txBody>
      </p:sp>
      <p:sp>
        <p:nvSpPr>
          <p:cNvPr id="32814" name="Text Box 41"/>
          <p:cNvSpPr txBox="1">
            <a:spLocks noChangeArrowheads="1"/>
          </p:cNvSpPr>
          <p:nvPr/>
        </p:nvSpPr>
        <p:spPr bwMode="auto">
          <a:xfrm>
            <a:off x="1639888" y="3279776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32815" name="Text Box 42"/>
          <p:cNvSpPr txBox="1">
            <a:spLocks noChangeArrowheads="1"/>
          </p:cNvSpPr>
          <p:nvPr/>
        </p:nvSpPr>
        <p:spPr bwMode="auto">
          <a:xfrm>
            <a:off x="2584451" y="3333751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32816" name="Text Box 43"/>
          <p:cNvSpPr txBox="1">
            <a:spLocks noChangeArrowheads="1"/>
          </p:cNvSpPr>
          <p:nvPr/>
        </p:nvSpPr>
        <p:spPr bwMode="auto">
          <a:xfrm>
            <a:off x="1312863" y="2590800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</a:p>
        </p:txBody>
      </p:sp>
      <p:sp>
        <p:nvSpPr>
          <p:cNvPr id="32817" name="Text Box 44"/>
          <p:cNvSpPr txBox="1">
            <a:spLocks noChangeArrowheads="1"/>
          </p:cNvSpPr>
          <p:nvPr/>
        </p:nvSpPr>
        <p:spPr bwMode="auto">
          <a:xfrm>
            <a:off x="1933576" y="2095501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32818" name="Text Box 45"/>
          <p:cNvSpPr txBox="1">
            <a:spLocks noChangeArrowheads="1"/>
          </p:cNvSpPr>
          <p:nvPr/>
        </p:nvSpPr>
        <p:spPr bwMode="auto">
          <a:xfrm>
            <a:off x="2438401" y="2459039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32819" name="Text Box 46"/>
          <p:cNvSpPr txBox="1">
            <a:spLocks noChangeArrowheads="1"/>
          </p:cNvSpPr>
          <p:nvPr/>
        </p:nvSpPr>
        <p:spPr bwMode="auto">
          <a:xfrm>
            <a:off x="3176588" y="2395539"/>
            <a:ext cx="498475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</p:txBody>
      </p:sp>
      <p:sp>
        <p:nvSpPr>
          <p:cNvPr id="32820" name="Text Box 47"/>
          <p:cNvSpPr txBox="1">
            <a:spLocks noChangeArrowheads="1"/>
          </p:cNvSpPr>
          <p:nvPr/>
        </p:nvSpPr>
        <p:spPr bwMode="auto">
          <a:xfrm>
            <a:off x="3533776" y="1828801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</a:p>
        </p:txBody>
      </p:sp>
      <p:sp>
        <p:nvSpPr>
          <p:cNvPr id="32821" name="Text Box 48"/>
          <p:cNvSpPr txBox="1">
            <a:spLocks noChangeArrowheads="1"/>
          </p:cNvSpPr>
          <p:nvPr/>
        </p:nvSpPr>
        <p:spPr bwMode="auto">
          <a:xfrm>
            <a:off x="3505201" y="2873376"/>
            <a:ext cx="498475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</p:txBody>
      </p:sp>
      <p:sp>
        <p:nvSpPr>
          <p:cNvPr id="32822" name="Text Box 49"/>
          <p:cNvSpPr txBox="1">
            <a:spLocks noChangeArrowheads="1"/>
          </p:cNvSpPr>
          <p:nvPr/>
        </p:nvSpPr>
        <p:spPr bwMode="auto">
          <a:xfrm>
            <a:off x="1947863" y="2617787"/>
            <a:ext cx="341313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90829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454774" y="0"/>
            <a:ext cx="2689226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Add (h, g)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Add (c, i)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Add (g, f)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Add (a, b)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Add (c, f)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Ignore (i, g)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Add (c, d)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Ignore (i, h)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Add (a, h)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Ignore (b, c)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Add (d, e)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Ignore (e, f)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Ignore (b, h)</a:t>
            </a:r>
          </a:p>
          <a:p>
            <a:pPr marL="457200" indent="-457200" eaLnBrk="1" hangingPunct="1">
              <a:buFontTx/>
              <a:buAutoNum type="arabicPeriod"/>
            </a:pPr>
            <a:r>
              <a:rPr lang="en-US" sz="2300" b="1" dirty="0">
                <a:solidFill>
                  <a:srgbClr val="00206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Ignore (d, f)</a:t>
            </a:r>
          </a:p>
        </p:txBody>
      </p:sp>
      <p:sp>
        <p:nvSpPr>
          <p:cNvPr id="908290" name="Line 2"/>
          <p:cNvSpPr>
            <a:spLocks noChangeShapeType="1"/>
          </p:cNvSpPr>
          <p:nvPr/>
        </p:nvSpPr>
        <p:spPr bwMode="auto">
          <a:xfrm>
            <a:off x="727075" y="2740025"/>
            <a:ext cx="406400" cy="434975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293" name="Line 5"/>
          <p:cNvSpPr>
            <a:spLocks noChangeShapeType="1"/>
          </p:cNvSpPr>
          <p:nvPr/>
        </p:nvSpPr>
        <p:spPr bwMode="auto">
          <a:xfrm flipV="1">
            <a:off x="685800" y="1987550"/>
            <a:ext cx="407988" cy="400050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294" name="Line 6"/>
          <p:cNvSpPr>
            <a:spLocks noChangeShapeType="1"/>
          </p:cNvSpPr>
          <p:nvPr/>
        </p:nvSpPr>
        <p:spPr bwMode="auto">
          <a:xfrm flipV="1">
            <a:off x="2478088" y="1825625"/>
            <a:ext cx="550862" cy="0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295" name="Line 7"/>
          <p:cNvSpPr>
            <a:spLocks noChangeShapeType="1"/>
          </p:cNvSpPr>
          <p:nvPr/>
        </p:nvSpPr>
        <p:spPr bwMode="auto">
          <a:xfrm flipV="1">
            <a:off x="1498600" y="3311525"/>
            <a:ext cx="550863" cy="0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296" name="Line 8"/>
          <p:cNvSpPr>
            <a:spLocks noChangeShapeType="1"/>
          </p:cNvSpPr>
          <p:nvPr/>
        </p:nvSpPr>
        <p:spPr bwMode="auto">
          <a:xfrm flipV="1">
            <a:off x="2462213" y="3325813"/>
            <a:ext cx="550862" cy="0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297" name="Line 9"/>
          <p:cNvSpPr>
            <a:spLocks noChangeShapeType="1"/>
          </p:cNvSpPr>
          <p:nvPr/>
        </p:nvSpPr>
        <p:spPr bwMode="auto">
          <a:xfrm flipH="1">
            <a:off x="1874838" y="2001838"/>
            <a:ext cx="242887" cy="385762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298" name="Line 10"/>
          <p:cNvSpPr>
            <a:spLocks noChangeShapeType="1"/>
          </p:cNvSpPr>
          <p:nvPr/>
        </p:nvSpPr>
        <p:spPr bwMode="auto">
          <a:xfrm>
            <a:off x="2368550" y="1993900"/>
            <a:ext cx="728663" cy="1157288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08299" name="Line 11"/>
          <p:cNvSpPr>
            <a:spLocks noChangeShapeType="1"/>
          </p:cNvSpPr>
          <p:nvPr/>
        </p:nvSpPr>
        <p:spPr bwMode="auto">
          <a:xfrm>
            <a:off x="3375025" y="1966913"/>
            <a:ext cx="406400" cy="434975"/>
          </a:xfrm>
          <a:prstGeom prst="line">
            <a:avLst/>
          </a:prstGeom>
          <a:noFill/>
          <a:ln w="76200">
            <a:solidFill>
              <a:srgbClr val="007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Rectangle 50"/>
          <p:cNvSpPr>
            <a:spLocks noChangeArrowheads="1"/>
          </p:cNvSpPr>
          <p:nvPr/>
        </p:nvSpPr>
        <p:spPr bwMode="auto">
          <a:xfrm>
            <a:off x="42862" y="3802063"/>
            <a:ext cx="2624138" cy="229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1: (h, g)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2: (c, i), (g, f)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4: (a, b), (c, f)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6: (i, g)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7: (c, d), (i, h)</a:t>
            </a:r>
          </a:p>
        </p:txBody>
      </p:sp>
      <p:sp>
        <p:nvSpPr>
          <p:cNvPr id="32783" name="Rectangle 51"/>
          <p:cNvSpPr>
            <a:spLocks noChangeArrowheads="1"/>
          </p:cNvSpPr>
          <p:nvPr/>
        </p:nvSpPr>
        <p:spPr bwMode="auto">
          <a:xfrm>
            <a:off x="2405063" y="3802063"/>
            <a:ext cx="2624137" cy="2290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8: (a, h), (b, c) </a:t>
            </a:r>
          </a:p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9: (d, e)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10: (e, f)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11: (b, h)</a:t>
            </a:r>
          </a:p>
          <a:p>
            <a:pPr marL="457200" indent="-457200">
              <a:spcBef>
                <a:spcPct val="20000"/>
              </a:spcBef>
            </a:pPr>
            <a:r>
              <a:rPr lang="en-US" sz="2600" b="1" dirty="0">
                <a:solidFill>
                  <a:srgbClr val="C00000"/>
                </a:solidFill>
              </a:rPr>
              <a:t>14: (d, f)</a:t>
            </a:r>
          </a:p>
        </p:txBody>
      </p:sp>
      <p:sp>
        <p:nvSpPr>
          <p:cNvPr id="32785" name="Rectangle 53"/>
          <p:cNvSpPr>
            <a:spLocks noChangeArrowheads="1"/>
          </p:cNvSpPr>
          <p:nvPr/>
        </p:nvSpPr>
        <p:spPr bwMode="auto">
          <a:xfrm>
            <a:off x="0" y="6205514"/>
            <a:ext cx="5867400" cy="6524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2060"/>
                </a:solidFill>
              </a:rPr>
              <a:t>{a}, {b}, {c}, {d}, {e}, {f}, {g}, {h},</a:t>
            </a:r>
            <a:r>
              <a:rPr lang="en-US" sz="2800" b="1" i="1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{i}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152400" y="4267200"/>
            <a:ext cx="1143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3"/>
          <p:cNvSpPr>
            <a:spLocks noChangeArrowheads="1"/>
          </p:cNvSpPr>
          <p:nvPr/>
        </p:nvSpPr>
        <p:spPr bwMode="auto">
          <a:xfrm>
            <a:off x="0" y="6205514"/>
            <a:ext cx="5791200" cy="6524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2060"/>
                </a:solidFill>
              </a:rPr>
              <a:t>{a}, {b}, {c}, {d}, {e}, {f}, {g, h},</a:t>
            </a:r>
            <a:r>
              <a:rPr lang="en-US" sz="2800" b="1" i="1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{i}</a:t>
            </a:r>
          </a:p>
        </p:txBody>
      </p:sp>
      <p:cxnSp>
        <p:nvCxnSpPr>
          <p:cNvPr id="60" name="Straight Connector 59"/>
          <p:cNvCxnSpPr/>
          <p:nvPr/>
        </p:nvCxnSpPr>
        <p:spPr>
          <a:xfrm>
            <a:off x="228600" y="4724400"/>
            <a:ext cx="18288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53"/>
          <p:cNvSpPr>
            <a:spLocks noChangeArrowheads="1"/>
          </p:cNvSpPr>
          <p:nvPr/>
        </p:nvSpPr>
        <p:spPr bwMode="auto">
          <a:xfrm>
            <a:off x="0" y="6205514"/>
            <a:ext cx="5791200" cy="593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2060"/>
                </a:solidFill>
              </a:rPr>
              <a:t>{a}, {b}, {c, </a:t>
            </a:r>
            <a:r>
              <a:rPr lang="en-US" sz="2800" b="1" dirty="0" err="1">
                <a:solidFill>
                  <a:srgbClr val="002060"/>
                </a:solidFill>
              </a:rPr>
              <a:t>i</a:t>
            </a:r>
            <a:r>
              <a:rPr lang="en-US" sz="2800" b="1" dirty="0">
                <a:solidFill>
                  <a:srgbClr val="002060"/>
                </a:solidFill>
              </a:rPr>
              <a:t>}, {d}, {e}, {f, g, h}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152400" y="5240334"/>
            <a:ext cx="1981200" cy="174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53"/>
          <p:cNvSpPr>
            <a:spLocks noChangeArrowheads="1"/>
          </p:cNvSpPr>
          <p:nvPr/>
        </p:nvSpPr>
        <p:spPr bwMode="auto">
          <a:xfrm>
            <a:off x="0" y="6264248"/>
            <a:ext cx="5791200" cy="593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2060"/>
                </a:solidFill>
              </a:rPr>
              <a:t>{a, b}, {c, </a:t>
            </a:r>
            <a:r>
              <a:rPr lang="en-US" sz="2800" b="1" dirty="0" err="1">
                <a:solidFill>
                  <a:srgbClr val="002060"/>
                </a:solidFill>
              </a:rPr>
              <a:t>i</a:t>
            </a:r>
            <a:r>
              <a:rPr lang="en-US" sz="2800" b="1" dirty="0">
                <a:solidFill>
                  <a:srgbClr val="002060"/>
                </a:solidFill>
              </a:rPr>
              <a:t>, f, g, h}, {d}, {e}</a:t>
            </a:r>
          </a:p>
        </p:txBody>
      </p:sp>
      <p:cxnSp>
        <p:nvCxnSpPr>
          <p:cNvPr id="66" name="Straight Connector 65"/>
          <p:cNvCxnSpPr/>
          <p:nvPr/>
        </p:nvCxnSpPr>
        <p:spPr>
          <a:xfrm>
            <a:off x="152400" y="5715000"/>
            <a:ext cx="1143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152400" y="6154734"/>
            <a:ext cx="1981200" cy="174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53"/>
          <p:cNvSpPr>
            <a:spLocks noChangeArrowheads="1"/>
          </p:cNvSpPr>
          <p:nvPr/>
        </p:nvSpPr>
        <p:spPr bwMode="auto">
          <a:xfrm>
            <a:off x="0" y="6248400"/>
            <a:ext cx="5791200" cy="593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2060"/>
                </a:solidFill>
              </a:rPr>
              <a:t>{a, b}, {c, </a:t>
            </a:r>
            <a:r>
              <a:rPr lang="en-US" sz="2800" b="1" dirty="0" err="1">
                <a:solidFill>
                  <a:srgbClr val="002060"/>
                </a:solidFill>
              </a:rPr>
              <a:t>i</a:t>
            </a:r>
            <a:r>
              <a:rPr lang="en-US" sz="2800" b="1" dirty="0">
                <a:solidFill>
                  <a:srgbClr val="002060"/>
                </a:solidFill>
              </a:rPr>
              <a:t>, f, g, h, d}, {e}</a:t>
            </a:r>
          </a:p>
        </p:txBody>
      </p:sp>
      <p:cxnSp>
        <p:nvCxnSpPr>
          <p:cNvPr id="69" name="Straight Connector 68"/>
          <p:cNvCxnSpPr/>
          <p:nvPr/>
        </p:nvCxnSpPr>
        <p:spPr>
          <a:xfrm>
            <a:off x="2514600" y="4267200"/>
            <a:ext cx="21336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53"/>
          <p:cNvSpPr>
            <a:spLocks noChangeArrowheads="1"/>
          </p:cNvSpPr>
          <p:nvPr/>
        </p:nvSpPr>
        <p:spPr bwMode="auto">
          <a:xfrm>
            <a:off x="0" y="6264248"/>
            <a:ext cx="5791200" cy="593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2060"/>
                </a:solidFill>
              </a:rPr>
              <a:t>{a, b, c, </a:t>
            </a:r>
            <a:r>
              <a:rPr lang="en-US" sz="2800" b="1" dirty="0" err="1">
                <a:solidFill>
                  <a:srgbClr val="002060"/>
                </a:solidFill>
              </a:rPr>
              <a:t>i</a:t>
            </a:r>
            <a:r>
              <a:rPr lang="en-US" sz="2800" b="1" dirty="0">
                <a:solidFill>
                  <a:srgbClr val="002060"/>
                </a:solidFill>
              </a:rPr>
              <a:t>, f, g, h, d}, {e}</a:t>
            </a:r>
          </a:p>
        </p:txBody>
      </p:sp>
      <p:cxnSp>
        <p:nvCxnSpPr>
          <p:cNvPr id="72" name="Straight Connector 71"/>
          <p:cNvCxnSpPr/>
          <p:nvPr/>
        </p:nvCxnSpPr>
        <p:spPr>
          <a:xfrm>
            <a:off x="2514600" y="4724400"/>
            <a:ext cx="114300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53"/>
          <p:cNvSpPr>
            <a:spLocks noChangeArrowheads="1"/>
          </p:cNvSpPr>
          <p:nvPr/>
        </p:nvSpPr>
        <p:spPr bwMode="auto">
          <a:xfrm>
            <a:off x="0" y="6248400"/>
            <a:ext cx="5791200" cy="593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20000"/>
              </a:spcBef>
            </a:pPr>
            <a:r>
              <a:rPr lang="en-US" sz="2800" b="1" dirty="0">
                <a:solidFill>
                  <a:srgbClr val="002060"/>
                </a:solidFill>
              </a:rPr>
              <a:t>{a, b, c, </a:t>
            </a:r>
            <a:r>
              <a:rPr lang="en-US" sz="2800" b="1" dirty="0" err="1">
                <a:solidFill>
                  <a:srgbClr val="002060"/>
                </a:solidFill>
              </a:rPr>
              <a:t>i</a:t>
            </a:r>
            <a:r>
              <a:rPr lang="en-US" sz="2800" b="1" dirty="0">
                <a:solidFill>
                  <a:srgbClr val="002060"/>
                </a:solidFill>
              </a:rPr>
              <a:t>, f, g, h, d, e}</a:t>
            </a:r>
          </a:p>
        </p:txBody>
      </p:sp>
    </p:spTree>
    <p:extLst>
      <p:ext uri="{BB962C8B-B14F-4D97-AF65-F5344CB8AC3E}">
        <p14:creationId xmlns:p14="http://schemas.microsoft.com/office/powerpoint/2010/main" val="89824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500" fill="hold"/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  <p:set>
                                      <p:cBhvr>
                                        <p:cTn id="113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500" fill="hold"/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  <p:set>
                                      <p:cBhvr>
                                        <p:cTn id="142" dur="500" fill="hold"/>
                                        <p:tgtEl>
                                          <p:spTgt spid="328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500" fill="hold"/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5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  <p:set>
                                      <p:cBhvr>
                                        <p:cTn id="148" dur="5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0" grpId="0" animBg="1"/>
      <p:bldP spid="908293" grpId="0" animBg="1"/>
      <p:bldP spid="908294" grpId="0" animBg="1"/>
      <p:bldP spid="908295" grpId="0" animBg="1"/>
      <p:bldP spid="908296" grpId="0" animBg="1"/>
      <p:bldP spid="908297" grpId="0" animBg="1"/>
      <p:bldP spid="908298" grpId="0" animBg="1"/>
      <p:bldP spid="908299" grpId="0" animBg="1"/>
      <p:bldP spid="59" grpId="0" animBg="1"/>
      <p:bldP spid="61" grpId="0" animBg="1"/>
      <p:bldP spid="64" grpId="0" animBg="1"/>
      <p:bldP spid="68" grpId="0" animBg="1"/>
      <p:bldP spid="70" grpId="0" animBg="1"/>
      <p:bldP spid="7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43" y="228600"/>
            <a:ext cx="7345757" cy="6191793"/>
          </a:xfrm>
        </p:spPr>
      </p:pic>
    </p:spTree>
    <p:extLst>
      <p:ext uri="{BB962C8B-B14F-4D97-AF65-F5344CB8AC3E}">
        <p14:creationId xmlns:p14="http://schemas.microsoft.com/office/powerpoint/2010/main" val="38523699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/>
              <a:t>Implementation of Kruskal’s Algorithm</a:t>
            </a:r>
          </a:p>
        </p:txBody>
      </p:sp>
      <p:sp>
        <p:nvSpPr>
          <p:cNvPr id="33799" name="Rectangle 51"/>
          <p:cNvSpPr>
            <a:spLocks noChangeArrowheads="1"/>
          </p:cNvSpPr>
          <p:nvPr/>
        </p:nvSpPr>
        <p:spPr bwMode="auto">
          <a:xfrm>
            <a:off x="0" y="1143000"/>
            <a:ext cx="8382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>
                <a:sym typeface="Symbol" pitchFamily="18" charset="2"/>
              </a:rPr>
              <a:t>Uses a </a:t>
            </a:r>
            <a:r>
              <a:rPr lang="en-US" sz="2800" dirty="0">
                <a:solidFill>
                  <a:srgbClr val="C00000"/>
                </a:solidFill>
                <a:sym typeface="Symbol" pitchFamily="18" charset="2"/>
              </a:rPr>
              <a:t>disjoint-set data structure </a:t>
            </a:r>
            <a:r>
              <a:rPr lang="en-US" sz="2800" dirty="0">
                <a:sym typeface="Symbol" pitchFamily="18" charset="2"/>
              </a:rPr>
              <a:t>to determine whether an edge connects vertices in different components.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/>
              <a:t>Disjoint-set: is a data structure that tracks a set of elements partitioned into a number of </a:t>
            </a:r>
            <a:r>
              <a:rPr lang="en-US" sz="2800" dirty="0">
                <a:solidFill>
                  <a:srgbClr val="C00000"/>
                </a:solidFill>
              </a:rPr>
              <a:t>disjoint (non-overlapping) subsets</a:t>
            </a:r>
            <a:r>
              <a:rPr lang="en-US" sz="2800" dirty="0"/>
              <a:t>. </a:t>
            </a: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/>
              <a:t>A disjoint-set forest consists of a number of elements each of which stores </a:t>
            </a:r>
            <a:r>
              <a:rPr lang="en-US" sz="2800" dirty="0">
                <a:solidFill>
                  <a:srgbClr val="0070C0"/>
                </a:solidFill>
              </a:rPr>
              <a:t>a parent pointer. </a:t>
            </a:r>
          </a:p>
        </p:txBody>
      </p:sp>
    </p:spTree>
    <p:extLst>
      <p:ext uri="{BB962C8B-B14F-4D97-AF65-F5344CB8AC3E}">
        <p14:creationId xmlns:p14="http://schemas.microsoft.com/office/powerpoint/2010/main" val="90441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37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4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600"/>
              <a:t>Implementation of Kruskal’s Algorithm</a:t>
            </a:r>
          </a:p>
        </p:txBody>
      </p:sp>
      <p:sp>
        <p:nvSpPr>
          <p:cNvPr id="33799" name="Rectangle 51"/>
          <p:cNvSpPr>
            <a:spLocks noChangeArrowheads="1"/>
          </p:cNvSpPr>
          <p:nvPr/>
        </p:nvSpPr>
        <p:spPr bwMode="auto">
          <a:xfrm>
            <a:off x="0" y="1295400"/>
            <a:ext cx="8382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/>
              <a:t>If an element's parent pointer points to no other element, then the element is the root of a tree and is the </a:t>
            </a:r>
            <a:r>
              <a:rPr lang="en-US" sz="2800" dirty="0">
                <a:solidFill>
                  <a:srgbClr val="C00000"/>
                </a:solidFill>
              </a:rPr>
              <a:t>representative member </a:t>
            </a:r>
            <a:r>
              <a:rPr lang="en-US" sz="2800" dirty="0"/>
              <a:t>of its set.</a:t>
            </a:r>
          </a:p>
          <a:p>
            <a:pPr marL="342900" lvl="1" indent="-342900">
              <a:lnSpc>
                <a:spcPct val="110000"/>
              </a:lnSpc>
              <a:spcBef>
                <a:spcPct val="20000"/>
              </a:spcBef>
              <a:buFontTx/>
              <a:buChar char="•"/>
            </a:pPr>
            <a:r>
              <a:rPr lang="en-US" sz="2800" dirty="0"/>
              <a:t>Each element in the set that has a particular property </a:t>
            </a:r>
            <a:r>
              <a:rPr lang="en-US" sz="2800" dirty="0">
                <a:solidFill>
                  <a:srgbClr val="C00000"/>
                </a:solidFill>
              </a:rPr>
              <a:t>representative member. </a:t>
            </a:r>
            <a:endParaRPr lang="el-GR" sz="28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41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838200"/>
          </a:xfrm>
        </p:spPr>
        <p:txBody>
          <a:bodyPr/>
          <a:lstStyle/>
          <a:p>
            <a:pPr eaLnBrk="1" hangingPunct="1"/>
            <a:r>
              <a:rPr lang="en-US" dirty="0"/>
              <a:t>Operations on Disjoint Data Sets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7188" y="1136650"/>
            <a:ext cx="8580437" cy="5399088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MAKE-SET(u)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– creates a new set whose only member is u</a:t>
            </a:r>
          </a:p>
          <a:p>
            <a:pPr eaLnBrk="1" hangingPunct="1">
              <a:lnSpc>
                <a:spcPct val="120000"/>
              </a:lnSpc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FIND-SET(u)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– returns a </a:t>
            </a:r>
            <a:r>
              <a:rPr lang="en-US" sz="2400" dirty="0">
                <a:solidFill>
                  <a:srgbClr val="0070C0"/>
                </a:solidFill>
                <a:latin typeface="+mn-lt"/>
              </a:rPr>
              <a:t>representative element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from the set that contains u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E.g.: S</a:t>
            </a:r>
            <a:r>
              <a:rPr lang="en-US" sz="2400" baseline="-25000" dirty="0">
                <a:solidFill>
                  <a:schemeClr val="tx1"/>
                </a:solidFill>
                <a:latin typeface="+mn-lt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= {r, s, t, u}</a:t>
            </a: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  FIND-SET(u) = r         FIND-SET(s) = 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FIND-SET has to return the same value for the elements of the same set</a:t>
            </a:r>
          </a:p>
        </p:txBody>
      </p:sp>
    </p:spTree>
    <p:extLst>
      <p:ext uri="{BB962C8B-B14F-4D97-AF65-F5344CB8AC3E}">
        <p14:creationId xmlns:p14="http://schemas.microsoft.com/office/powerpoint/2010/main" val="7818991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077200" cy="1143000"/>
          </a:xfrm>
        </p:spPr>
        <p:txBody>
          <a:bodyPr/>
          <a:lstStyle/>
          <a:p>
            <a:pPr eaLnBrk="1" hangingPunct="1"/>
            <a:r>
              <a:rPr lang="en-US" dirty="0"/>
              <a:t>Operations on Disjoint Data Sets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57188" y="1136650"/>
            <a:ext cx="8229600" cy="5399088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UNION(u, v) 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– unites the dynamic sets that contain u and v, say S</a:t>
            </a:r>
            <a:r>
              <a:rPr lang="en-US" sz="2400" baseline="-25000" dirty="0">
                <a:solidFill>
                  <a:schemeClr val="tx1"/>
                </a:solidFill>
                <a:latin typeface="+mn-lt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and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S</a:t>
            </a:r>
            <a:r>
              <a:rPr lang="en-US" sz="2400" baseline="-25000" dirty="0" err="1">
                <a:solidFill>
                  <a:schemeClr val="tx1"/>
                </a:solidFill>
                <a:latin typeface="+mn-lt"/>
              </a:rPr>
              <a:t>v</a:t>
            </a:r>
            <a:endParaRPr lang="en-US" sz="2400" baseline="-25000" dirty="0">
              <a:solidFill>
                <a:schemeClr val="tx1"/>
              </a:solidFill>
              <a:latin typeface="+mn-lt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E.g.: S</a:t>
            </a:r>
            <a:r>
              <a:rPr lang="en-US" sz="2400" baseline="-25000" dirty="0">
                <a:solidFill>
                  <a:schemeClr val="tx1"/>
                </a:solidFill>
                <a:latin typeface="+mn-lt"/>
              </a:rPr>
              <a:t>u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=  {r, s, t, u},  </a:t>
            </a:r>
            <a:r>
              <a:rPr lang="en-US" sz="2400" dirty="0" err="1">
                <a:solidFill>
                  <a:schemeClr val="tx1"/>
                </a:solidFill>
                <a:latin typeface="+mn-lt"/>
              </a:rPr>
              <a:t>S</a:t>
            </a:r>
            <a:r>
              <a:rPr lang="en-US" sz="2400" baseline="-25000" dirty="0" err="1">
                <a:solidFill>
                  <a:schemeClr val="tx1"/>
                </a:solidFill>
                <a:latin typeface="+mn-lt"/>
              </a:rPr>
              <a:t>v</a:t>
            </a:r>
            <a:r>
              <a:rPr lang="en-US" sz="2400" dirty="0">
                <a:solidFill>
                  <a:schemeClr val="tx1"/>
                </a:solidFill>
                <a:latin typeface="+mn-lt"/>
              </a:rPr>
              <a:t> = {v, x, y} </a:t>
            </a: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	UNION (u, v) = {r, s, t, u, v, x, y}</a:t>
            </a:r>
          </a:p>
          <a:p>
            <a:pPr eaLnBrk="1" hangingPunct="1"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Running time for FIND-SET and UNION depends on implementation. Can be </a:t>
            </a:r>
            <a:r>
              <a:rPr lang="en-US" sz="2800" b="1" dirty="0">
                <a:solidFill>
                  <a:srgbClr val="0070C0"/>
                </a:solidFill>
                <a:latin typeface="+mn-lt"/>
                <a:cs typeface="Arial" charset="0"/>
              </a:rPr>
              <a:t>O(</a:t>
            </a:r>
            <a:r>
              <a:rPr lang="en-US" sz="2800" b="1" dirty="0" err="1">
                <a:solidFill>
                  <a:srgbClr val="0070C0"/>
                </a:solidFill>
                <a:latin typeface="+mn-lt"/>
                <a:cs typeface="Arial" charset="0"/>
              </a:rPr>
              <a:t>lg</a:t>
            </a:r>
            <a:r>
              <a:rPr lang="en-US" sz="2800" b="1" dirty="0">
                <a:solidFill>
                  <a:srgbClr val="0070C0"/>
                </a:solidFill>
                <a:latin typeface="+mn-lt"/>
                <a:cs typeface="Arial" charset="0"/>
              </a:rPr>
              <a:t> n)</a:t>
            </a:r>
            <a:r>
              <a:rPr lang="en-US" sz="2800" dirty="0">
                <a:solidFill>
                  <a:schemeClr val="tx1"/>
                </a:solidFill>
                <a:latin typeface="+mn-lt"/>
                <a:cs typeface="Arial" charset="0"/>
              </a:rPr>
              <a:t>.</a:t>
            </a:r>
            <a:endParaRPr lang="el-GR" sz="2800" dirty="0">
              <a:solidFill>
                <a:schemeClr val="tx1"/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083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/>
              <a:t>KRUSKAL(</a:t>
            </a:r>
            <a:r>
              <a:rPr lang="en-US" dirty="0">
                <a:latin typeface="Comic Sans MS" pitchFamily="66" charset="0"/>
              </a:rPr>
              <a:t>V, E, w</a:t>
            </a:r>
            <a:r>
              <a:rPr lang="en-US" dirty="0"/>
              <a:t>)</a:t>
            </a:r>
          </a:p>
        </p:txBody>
      </p:sp>
      <p:sp>
        <p:nvSpPr>
          <p:cNvPr id="92467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81000" y="1089025"/>
            <a:ext cx="8229600" cy="5516563"/>
          </a:xfrm>
        </p:spPr>
        <p:txBody>
          <a:bodyPr>
            <a:normAutofit/>
          </a:bodyPr>
          <a:lstStyle/>
          <a:p>
            <a:pPr marL="533400" indent="-533400" eaLnBrk="1" hangingPunct="1">
              <a:buFontTx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A ←  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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b="1" dirty="0">
                <a:solidFill>
                  <a:schemeClr val="tx1"/>
                </a:solidFill>
                <a:latin typeface="+mn-lt"/>
              </a:rPr>
              <a:t>for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each vertex v 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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V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b="1" dirty="0">
                <a:solidFill>
                  <a:schemeClr val="tx1"/>
                </a:solidFill>
                <a:latin typeface="+mn-lt"/>
              </a:rPr>
              <a:t>         do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MAKE-SET(v)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sort E into non-decreasing order by w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b="1" dirty="0">
                <a:solidFill>
                  <a:schemeClr val="tx1"/>
                </a:solidFill>
                <a:latin typeface="+mn-lt"/>
              </a:rPr>
              <a:t>for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each (u, v) taken from the sorted list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b="1" dirty="0">
                <a:solidFill>
                  <a:schemeClr val="tx1"/>
                </a:solidFill>
                <a:latin typeface="+mn-lt"/>
              </a:rPr>
              <a:t>      do if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FIND-SET(u) 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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FIND-SET(v)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b="1" dirty="0">
                <a:solidFill>
                  <a:schemeClr val="tx1"/>
                </a:solidFill>
                <a:latin typeface="+mn-lt"/>
              </a:rPr>
              <a:t>               then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A ← A </a:t>
            </a:r>
            <a:r>
              <a:rPr lang="en-US" sz="2800" dirty="0">
                <a:solidFill>
                  <a:schemeClr val="tx1"/>
                </a:solidFill>
                <a:latin typeface="+mn-lt"/>
                <a:sym typeface="Symbol" pitchFamily="18" charset="2"/>
              </a:rPr>
              <a:t>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{(u, v)}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+mn-lt"/>
              </a:rPr>
              <a:t>                       UNION(u, 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sz="2800" b="1" dirty="0">
                <a:solidFill>
                  <a:schemeClr val="tx1"/>
                </a:solidFill>
                <a:latin typeface="+mn-lt"/>
              </a:rPr>
              <a:t>return 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5240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4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4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4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4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24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24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24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24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24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7467600" cy="1143000"/>
          </a:xfrm>
        </p:spPr>
        <p:txBody>
          <a:bodyPr/>
          <a:lstStyle/>
          <a:p>
            <a:pPr eaLnBrk="1" hangingPunct="1"/>
            <a:r>
              <a:rPr lang="en-US" dirty="0"/>
              <a:t>KRUSKAL(</a:t>
            </a:r>
            <a:r>
              <a:rPr lang="en-US" dirty="0">
                <a:latin typeface="Comic Sans MS" pitchFamily="66" charset="0"/>
              </a:rPr>
              <a:t>V, E, w</a:t>
            </a:r>
            <a:r>
              <a:rPr lang="en-US" dirty="0"/>
              <a:t>)</a:t>
            </a:r>
          </a:p>
        </p:txBody>
      </p:sp>
      <p:sp>
        <p:nvSpPr>
          <p:cNvPr id="92467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50838" y="1089025"/>
            <a:ext cx="8229600" cy="5768975"/>
          </a:xfrm>
        </p:spPr>
        <p:txBody>
          <a:bodyPr>
            <a:normAutofit/>
          </a:bodyPr>
          <a:lstStyle/>
          <a:p>
            <a:pPr marL="533400" indent="-533400" eaLnBrk="1" hangingPunct="1">
              <a:buFontTx/>
              <a:buAutoNum type="arabicPeriod"/>
            </a:pPr>
            <a:r>
              <a:rPr lang="en-US" dirty="0">
                <a:solidFill>
                  <a:schemeClr val="tx1"/>
                </a:solidFill>
                <a:latin typeface="+mn-lt"/>
              </a:rPr>
              <a:t>A ←  </a:t>
            </a:r>
            <a:r>
              <a:rPr lang="en-US" dirty="0">
                <a:solidFill>
                  <a:schemeClr val="tx1"/>
                </a:solidFill>
                <a:latin typeface="+mn-lt"/>
                <a:sym typeface="Symbol" pitchFamily="18" charset="2"/>
              </a:rPr>
              <a:t>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for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each vertex v </a:t>
            </a:r>
            <a:r>
              <a:rPr lang="en-US" dirty="0">
                <a:solidFill>
                  <a:schemeClr val="tx1"/>
                </a:solidFill>
                <a:latin typeface="+mn-lt"/>
                <a:sym typeface="Symbol" pitchFamily="18" charset="2"/>
              </a:rPr>
              <a:t>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V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         do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MAKE-SET(v)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dirty="0">
                <a:solidFill>
                  <a:schemeClr val="tx1"/>
                </a:solidFill>
                <a:latin typeface="+mn-lt"/>
              </a:rPr>
              <a:t>sort E into non-decreasing order by w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for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each (u, v) taken from the sorted list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      do if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FIND-SET(u) </a:t>
            </a:r>
            <a:r>
              <a:rPr lang="en-US" dirty="0">
                <a:solidFill>
                  <a:schemeClr val="tx1"/>
                </a:solidFill>
                <a:latin typeface="+mn-lt"/>
                <a:sym typeface="Symbol" pitchFamily="18" charset="2"/>
              </a:rPr>
              <a:t>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FIND-SET(v)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               then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A ← A </a:t>
            </a:r>
            <a:r>
              <a:rPr lang="en-US" dirty="0">
                <a:solidFill>
                  <a:schemeClr val="tx1"/>
                </a:solidFill>
                <a:latin typeface="+mn-lt"/>
                <a:sym typeface="Symbol" pitchFamily="18" charset="2"/>
              </a:rPr>
              <a:t>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{(u, v)} 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dirty="0">
                <a:solidFill>
                  <a:schemeClr val="tx1"/>
                </a:solidFill>
                <a:latin typeface="+mn-lt"/>
              </a:rPr>
              <a:t>                       UNION(u, v)</a:t>
            </a:r>
          </a:p>
          <a:p>
            <a:pPr marL="533400" indent="-533400" eaLnBrk="1" hangingPunct="1">
              <a:buFontTx/>
              <a:buAutoNum type="arabicPeriod"/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return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A</a:t>
            </a:r>
          </a:p>
          <a:p>
            <a:pPr marL="533400" indent="-533400" eaLnBrk="1" hangingPunct="1">
              <a:buFontTx/>
              <a:buAutoNum type="arabicPeriod"/>
            </a:pPr>
            <a:endParaRPr lang="en-US" dirty="0">
              <a:solidFill>
                <a:srgbClr val="C00000"/>
              </a:solidFill>
              <a:latin typeface="+mn-lt"/>
            </a:endParaRPr>
          </a:p>
          <a:p>
            <a:pPr eaLnBrk="1" hangingPunct="1">
              <a:buFontTx/>
              <a:buNone/>
            </a:pPr>
            <a:r>
              <a:rPr lang="en-US" sz="2800" b="1" dirty="0">
                <a:solidFill>
                  <a:srgbClr val="C00000"/>
                </a:solidFill>
                <a:latin typeface="+mn-lt"/>
              </a:rPr>
              <a:t>Running time:</a:t>
            </a:r>
            <a:r>
              <a:rPr lang="en-US" sz="2800" b="1" dirty="0">
                <a:solidFill>
                  <a:srgbClr val="0070C0"/>
                </a:solidFill>
                <a:latin typeface="+mn-lt"/>
              </a:rPr>
              <a:t> O(</a:t>
            </a:r>
            <a:r>
              <a:rPr lang="en-US" sz="2800" b="1" dirty="0" err="1">
                <a:solidFill>
                  <a:srgbClr val="0070C0"/>
                </a:solidFill>
                <a:latin typeface="+mn-lt"/>
              </a:rPr>
              <a:t>V+ElgE+ElgV</a:t>
            </a:r>
            <a:r>
              <a:rPr lang="en-US" sz="2800" b="1" dirty="0">
                <a:solidFill>
                  <a:srgbClr val="0070C0"/>
                </a:solidFill>
                <a:latin typeface="+mn-lt"/>
              </a:rPr>
              <a:t>)</a:t>
            </a:r>
          </a:p>
        </p:txBody>
      </p:sp>
      <p:sp>
        <p:nvSpPr>
          <p:cNvPr id="924676" name="AutoShape 4"/>
          <p:cNvSpPr>
            <a:spLocks/>
          </p:cNvSpPr>
          <p:nvPr/>
        </p:nvSpPr>
        <p:spPr bwMode="auto">
          <a:xfrm>
            <a:off x="3733800" y="1676400"/>
            <a:ext cx="88900" cy="771525"/>
          </a:xfrm>
          <a:prstGeom prst="rightBrace">
            <a:avLst>
              <a:gd name="adj1" fmla="val 72321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800">
              <a:solidFill>
                <a:srgbClr val="C00000"/>
              </a:solidFill>
            </a:endParaRPr>
          </a:p>
        </p:txBody>
      </p:sp>
      <p:sp>
        <p:nvSpPr>
          <p:cNvPr id="924678" name="AutoShape 6"/>
          <p:cNvSpPr>
            <a:spLocks/>
          </p:cNvSpPr>
          <p:nvPr/>
        </p:nvSpPr>
        <p:spPr bwMode="auto">
          <a:xfrm>
            <a:off x="5334000" y="3581400"/>
            <a:ext cx="407988" cy="1447800"/>
          </a:xfrm>
          <a:prstGeom prst="rightBrace">
            <a:avLst>
              <a:gd name="adj1" fmla="val 4126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679" name="Text Box 7"/>
          <p:cNvSpPr txBox="1">
            <a:spLocks noChangeArrowheads="1"/>
          </p:cNvSpPr>
          <p:nvPr/>
        </p:nvSpPr>
        <p:spPr bwMode="auto">
          <a:xfrm>
            <a:off x="3871913" y="1784350"/>
            <a:ext cx="9428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>
                <a:solidFill>
                  <a:srgbClr val="C00000"/>
                </a:solidFill>
              </a:rPr>
              <a:t>O(V)</a:t>
            </a:r>
          </a:p>
        </p:txBody>
      </p:sp>
      <p:sp>
        <p:nvSpPr>
          <p:cNvPr id="924680" name="Text Box 8"/>
          <p:cNvSpPr txBox="1">
            <a:spLocks noChangeArrowheads="1"/>
          </p:cNvSpPr>
          <p:nvPr/>
        </p:nvSpPr>
        <p:spPr bwMode="auto">
          <a:xfrm>
            <a:off x="7086600" y="2514600"/>
            <a:ext cx="15007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solidFill>
                  <a:srgbClr val="C00000"/>
                </a:solidFill>
              </a:rPr>
              <a:t>O(</a:t>
            </a:r>
            <a:r>
              <a:rPr lang="en-US" sz="2800" b="1" dirty="0" err="1">
                <a:solidFill>
                  <a:srgbClr val="C00000"/>
                </a:solidFill>
              </a:rPr>
              <a:t>ElgE</a:t>
            </a:r>
            <a:r>
              <a:rPr lang="en-US" sz="28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924681" name="Line 9"/>
          <p:cNvSpPr>
            <a:spLocks noChangeShapeType="1"/>
          </p:cNvSpPr>
          <p:nvPr/>
        </p:nvSpPr>
        <p:spPr bwMode="auto">
          <a:xfrm flipH="1">
            <a:off x="5943600" y="320040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682" name="Text Box 10"/>
          <p:cNvSpPr txBox="1">
            <a:spLocks noChangeArrowheads="1"/>
          </p:cNvSpPr>
          <p:nvPr/>
        </p:nvSpPr>
        <p:spPr bwMode="auto">
          <a:xfrm>
            <a:off x="6477000" y="2971800"/>
            <a:ext cx="9428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>
                <a:solidFill>
                  <a:srgbClr val="C00000"/>
                </a:solidFill>
              </a:rPr>
              <a:t>O(E)</a:t>
            </a:r>
          </a:p>
        </p:txBody>
      </p:sp>
      <p:sp>
        <p:nvSpPr>
          <p:cNvPr id="924683" name="Text Box 11"/>
          <p:cNvSpPr txBox="1">
            <a:spLocks noChangeArrowheads="1"/>
          </p:cNvSpPr>
          <p:nvPr/>
        </p:nvSpPr>
        <p:spPr bwMode="auto">
          <a:xfrm>
            <a:off x="6356350" y="4038600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solidFill>
                  <a:srgbClr val="C00000"/>
                </a:solidFill>
              </a:rPr>
              <a:t>O(</a:t>
            </a:r>
            <a:r>
              <a:rPr lang="en-US" sz="2800" b="1" dirty="0" err="1">
                <a:solidFill>
                  <a:srgbClr val="C00000"/>
                </a:solidFill>
              </a:rPr>
              <a:t>lgV</a:t>
            </a:r>
            <a:r>
              <a:rPr lang="en-US" sz="2800" b="1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924684" name="Line 12"/>
          <p:cNvSpPr>
            <a:spLocks noChangeShapeType="1"/>
          </p:cNvSpPr>
          <p:nvPr/>
        </p:nvSpPr>
        <p:spPr bwMode="auto">
          <a:xfrm flipH="1">
            <a:off x="5867400" y="4343400"/>
            <a:ext cx="457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>
            <a:off x="5715000" y="2743200"/>
            <a:ext cx="1219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AutoShape 6"/>
          <p:cNvSpPr>
            <a:spLocks/>
          </p:cNvSpPr>
          <p:nvPr/>
        </p:nvSpPr>
        <p:spPr bwMode="auto">
          <a:xfrm>
            <a:off x="7315200" y="3124200"/>
            <a:ext cx="407988" cy="2133600"/>
          </a:xfrm>
          <a:prstGeom prst="rightBrace">
            <a:avLst>
              <a:gd name="adj1" fmla="val 41268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7719468" y="3886200"/>
            <a:ext cx="150073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solidFill>
                  <a:srgbClr val="C00000"/>
                </a:solidFill>
              </a:rPr>
              <a:t>O(</a:t>
            </a:r>
            <a:r>
              <a:rPr lang="en-US" sz="2800" b="1" dirty="0" err="1">
                <a:solidFill>
                  <a:srgbClr val="C00000"/>
                </a:solidFill>
              </a:rPr>
              <a:t>ElgV</a:t>
            </a:r>
            <a:r>
              <a:rPr lang="en-US" sz="2800" b="1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240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2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92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2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2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92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2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924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24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676" grpId="0" animBg="1"/>
      <p:bldP spid="924678" grpId="0" animBg="1"/>
      <p:bldP spid="924679" grpId="0"/>
      <p:bldP spid="924680" grpId="0"/>
      <p:bldP spid="924681" grpId="0" animBg="1"/>
      <p:bldP spid="924682" grpId="0"/>
      <p:bldP spid="924683" grpId="0"/>
      <p:bldP spid="924684" grpId="0" animBg="1"/>
      <p:bldP spid="13" grpId="0" animBg="1"/>
      <p:bldP spid="14" grpId="0" animBg="1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77200" cy="4373563"/>
          </a:xfrm>
        </p:spPr>
        <p:txBody>
          <a:bodyPr>
            <a:normAutofit/>
          </a:bodyPr>
          <a:lstStyle/>
          <a:p>
            <a:pPr marL="533400" indent="-533400">
              <a:buFontTx/>
              <a:buChar char="-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Running time: O(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V+ElgE+ElgV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pPr marL="533400" indent="-533400">
              <a:buFontTx/>
              <a:buChar char="-"/>
            </a:pP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Since E= O(V</a:t>
            </a:r>
            <a:r>
              <a:rPr lang="en-US" sz="2800" baseline="300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), </a:t>
            </a:r>
          </a:p>
          <a:p>
            <a:pPr marL="533400" indent="-533400"/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	we have 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lgE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=O(2lgV)=O(</a:t>
            </a:r>
            <a:r>
              <a:rPr lang="en-US" sz="2800" dirty="0" err="1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lgV</a:t>
            </a:r>
            <a:r>
              <a:rPr lang="en-US" sz="28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</a:p>
          <a:p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total time for </a:t>
            </a:r>
            <a:r>
              <a:rPr lang="en-US"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Kruskal's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algorithm is  </a:t>
            </a:r>
            <a:r>
              <a:rPr lang="en-US" sz="2800" b="1" i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(</a:t>
            </a:r>
            <a:r>
              <a:rPr lang="en-US" sz="2800" b="1" i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b="1" dirty="0" err="1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lg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</a:t>
            </a:r>
            <a:r>
              <a:rPr lang="en-US" sz="2800" b="1" i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V</a:t>
            </a: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)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, which is asymptotically the same as of Prim's algorithm.</a:t>
            </a:r>
          </a:p>
        </p:txBody>
      </p:sp>
    </p:spTree>
    <p:extLst>
      <p:ext uri="{BB962C8B-B14F-4D97-AF65-F5344CB8AC3E}">
        <p14:creationId xmlns:p14="http://schemas.microsoft.com/office/powerpoint/2010/main" val="281746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Kruskal’s</a:t>
            </a:r>
            <a:r>
              <a:rPr lang="en-US" dirty="0"/>
              <a:t> Algorithm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sz="2400" dirty="0" err="1">
                <a:solidFill>
                  <a:schemeClr val="tx1"/>
                </a:solidFill>
              </a:rPr>
              <a:t>Kruskal’s</a:t>
            </a:r>
            <a:r>
              <a:rPr lang="en-US" sz="2400" dirty="0">
                <a:solidFill>
                  <a:schemeClr val="tx1"/>
                </a:solidFill>
              </a:rPr>
              <a:t> algorithm is a </a:t>
            </a:r>
            <a:r>
              <a:rPr lang="en-US" sz="2400" b="1" dirty="0">
                <a:solidFill>
                  <a:srgbClr val="C00000"/>
                </a:solidFill>
              </a:rPr>
              <a:t>“greedy”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algorithm</a:t>
            </a:r>
          </a:p>
          <a:p>
            <a:pPr eaLnBrk="1" hangingPunct="1">
              <a:lnSpc>
                <a:spcPct val="140000"/>
              </a:lnSpc>
            </a:pPr>
            <a:r>
              <a:rPr lang="en-US" sz="2400" dirty="0" err="1">
                <a:solidFill>
                  <a:schemeClr val="tx1"/>
                </a:solidFill>
              </a:rPr>
              <a:t>Kruskal’s</a:t>
            </a:r>
            <a:r>
              <a:rPr lang="en-US" sz="2400" dirty="0">
                <a:solidFill>
                  <a:schemeClr val="tx1"/>
                </a:solidFill>
              </a:rPr>
              <a:t> greedy strategy produces a globally optimum solution</a:t>
            </a:r>
          </a:p>
          <a:p>
            <a:pPr lvl="1" eaLnBrk="1" hangingPunct="1">
              <a:lnSpc>
                <a:spcPct val="140000"/>
              </a:lnSpc>
              <a:buFontTx/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eaLnBrk="1" hangingPunct="1"/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38917" name="Group 36"/>
          <p:cNvGrpSpPr>
            <a:grpSpLocks/>
          </p:cNvGrpSpPr>
          <p:nvPr/>
        </p:nvGrpSpPr>
        <p:grpSpPr bwMode="auto">
          <a:xfrm>
            <a:off x="4903788" y="2781300"/>
            <a:ext cx="3554412" cy="3690938"/>
            <a:chOff x="2909" y="1680"/>
            <a:chExt cx="2239" cy="2325"/>
          </a:xfrm>
        </p:grpSpPr>
        <p:sp>
          <p:nvSpPr>
            <p:cNvPr id="38918" name="Freeform 6"/>
            <p:cNvSpPr>
              <a:spLocks/>
            </p:cNvSpPr>
            <p:nvPr/>
          </p:nvSpPr>
          <p:spPr bwMode="auto">
            <a:xfrm>
              <a:off x="3195" y="2660"/>
              <a:ext cx="1894" cy="1345"/>
            </a:xfrm>
            <a:custGeom>
              <a:avLst/>
              <a:gdLst>
                <a:gd name="T0" fmla="*/ 628 w 1894"/>
                <a:gd name="T1" fmla="*/ 558 h 1345"/>
                <a:gd name="T2" fmla="*/ 434 w 1894"/>
                <a:gd name="T3" fmla="*/ 576 h 1345"/>
                <a:gd name="T4" fmla="*/ 218 w 1894"/>
                <a:gd name="T5" fmla="*/ 634 h 1345"/>
                <a:gd name="T6" fmla="*/ 178 w 1894"/>
                <a:gd name="T7" fmla="*/ 652 h 1345"/>
                <a:gd name="T8" fmla="*/ 52 w 1894"/>
                <a:gd name="T9" fmla="*/ 774 h 1345"/>
                <a:gd name="T10" fmla="*/ 25 w 1894"/>
                <a:gd name="T11" fmla="*/ 837 h 1345"/>
                <a:gd name="T12" fmla="*/ 47 w 1894"/>
                <a:gd name="T13" fmla="*/ 967 h 1345"/>
                <a:gd name="T14" fmla="*/ 97 w 1894"/>
                <a:gd name="T15" fmla="*/ 1008 h 1345"/>
                <a:gd name="T16" fmla="*/ 268 w 1894"/>
                <a:gd name="T17" fmla="*/ 1075 h 1345"/>
                <a:gd name="T18" fmla="*/ 565 w 1894"/>
                <a:gd name="T19" fmla="*/ 1053 h 1345"/>
                <a:gd name="T20" fmla="*/ 943 w 1894"/>
                <a:gd name="T21" fmla="*/ 1084 h 1345"/>
                <a:gd name="T22" fmla="*/ 1073 w 1894"/>
                <a:gd name="T23" fmla="*/ 1125 h 1345"/>
                <a:gd name="T24" fmla="*/ 1172 w 1894"/>
                <a:gd name="T25" fmla="*/ 1174 h 1345"/>
                <a:gd name="T26" fmla="*/ 1217 w 1894"/>
                <a:gd name="T27" fmla="*/ 1188 h 1345"/>
                <a:gd name="T28" fmla="*/ 1258 w 1894"/>
                <a:gd name="T29" fmla="*/ 1210 h 1345"/>
                <a:gd name="T30" fmla="*/ 1325 w 1894"/>
                <a:gd name="T31" fmla="*/ 1246 h 1345"/>
                <a:gd name="T32" fmla="*/ 1379 w 1894"/>
                <a:gd name="T33" fmla="*/ 1282 h 1345"/>
                <a:gd name="T34" fmla="*/ 1487 w 1894"/>
                <a:gd name="T35" fmla="*/ 1327 h 1345"/>
                <a:gd name="T36" fmla="*/ 1582 w 1894"/>
                <a:gd name="T37" fmla="*/ 1345 h 1345"/>
                <a:gd name="T38" fmla="*/ 1690 w 1894"/>
                <a:gd name="T39" fmla="*/ 1332 h 1345"/>
                <a:gd name="T40" fmla="*/ 1703 w 1894"/>
                <a:gd name="T41" fmla="*/ 1323 h 1345"/>
                <a:gd name="T42" fmla="*/ 1721 w 1894"/>
                <a:gd name="T43" fmla="*/ 1318 h 1345"/>
                <a:gd name="T44" fmla="*/ 1744 w 1894"/>
                <a:gd name="T45" fmla="*/ 1300 h 1345"/>
                <a:gd name="T46" fmla="*/ 1789 w 1894"/>
                <a:gd name="T47" fmla="*/ 1255 h 1345"/>
                <a:gd name="T48" fmla="*/ 1798 w 1894"/>
                <a:gd name="T49" fmla="*/ 1242 h 1345"/>
                <a:gd name="T50" fmla="*/ 1811 w 1894"/>
                <a:gd name="T51" fmla="*/ 1233 h 1345"/>
                <a:gd name="T52" fmla="*/ 1825 w 1894"/>
                <a:gd name="T53" fmla="*/ 1206 h 1345"/>
                <a:gd name="T54" fmla="*/ 1847 w 1894"/>
                <a:gd name="T55" fmla="*/ 1165 h 1345"/>
                <a:gd name="T56" fmla="*/ 1847 w 1894"/>
                <a:gd name="T57" fmla="*/ 1165 h 1345"/>
                <a:gd name="T58" fmla="*/ 1870 w 1894"/>
                <a:gd name="T59" fmla="*/ 1098 h 1345"/>
                <a:gd name="T60" fmla="*/ 1883 w 1894"/>
                <a:gd name="T61" fmla="*/ 1039 h 1345"/>
                <a:gd name="T62" fmla="*/ 1829 w 1894"/>
                <a:gd name="T63" fmla="*/ 639 h 1345"/>
                <a:gd name="T64" fmla="*/ 1802 w 1894"/>
                <a:gd name="T65" fmla="*/ 540 h 1345"/>
                <a:gd name="T66" fmla="*/ 1789 w 1894"/>
                <a:gd name="T67" fmla="*/ 148 h 1345"/>
                <a:gd name="T68" fmla="*/ 1735 w 1894"/>
                <a:gd name="T69" fmla="*/ 40 h 1345"/>
                <a:gd name="T70" fmla="*/ 1645 w 1894"/>
                <a:gd name="T71" fmla="*/ 0 h 1345"/>
                <a:gd name="T72" fmla="*/ 1541 w 1894"/>
                <a:gd name="T73" fmla="*/ 13 h 1345"/>
                <a:gd name="T74" fmla="*/ 1393 w 1894"/>
                <a:gd name="T75" fmla="*/ 81 h 1345"/>
                <a:gd name="T76" fmla="*/ 1352 w 1894"/>
                <a:gd name="T77" fmla="*/ 103 h 1345"/>
                <a:gd name="T78" fmla="*/ 1285 w 1894"/>
                <a:gd name="T79" fmla="*/ 144 h 1345"/>
                <a:gd name="T80" fmla="*/ 1222 w 1894"/>
                <a:gd name="T81" fmla="*/ 189 h 1345"/>
                <a:gd name="T82" fmla="*/ 1159 w 1894"/>
                <a:gd name="T83" fmla="*/ 234 h 1345"/>
                <a:gd name="T84" fmla="*/ 1051 w 1894"/>
                <a:gd name="T85" fmla="*/ 310 h 1345"/>
                <a:gd name="T86" fmla="*/ 925 w 1894"/>
                <a:gd name="T87" fmla="*/ 387 h 1345"/>
                <a:gd name="T88" fmla="*/ 871 w 1894"/>
                <a:gd name="T89" fmla="*/ 414 h 1345"/>
                <a:gd name="T90" fmla="*/ 776 w 1894"/>
                <a:gd name="T91" fmla="*/ 477 h 1345"/>
                <a:gd name="T92" fmla="*/ 686 w 1894"/>
                <a:gd name="T93" fmla="*/ 531 h 1345"/>
                <a:gd name="T94" fmla="*/ 628 w 1894"/>
                <a:gd name="T95" fmla="*/ 558 h 134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894" h="1345">
                  <a:moveTo>
                    <a:pt x="628" y="558"/>
                  </a:moveTo>
                  <a:cubicBezTo>
                    <a:pt x="571" y="574"/>
                    <a:pt x="495" y="570"/>
                    <a:pt x="434" y="576"/>
                  </a:cubicBezTo>
                  <a:cubicBezTo>
                    <a:pt x="356" y="584"/>
                    <a:pt x="292" y="613"/>
                    <a:pt x="218" y="634"/>
                  </a:cubicBezTo>
                  <a:cubicBezTo>
                    <a:pt x="205" y="643"/>
                    <a:pt x="193" y="647"/>
                    <a:pt x="178" y="652"/>
                  </a:cubicBezTo>
                  <a:cubicBezTo>
                    <a:pt x="129" y="685"/>
                    <a:pt x="85" y="726"/>
                    <a:pt x="52" y="774"/>
                  </a:cubicBezTo>
                  <a:cubicBezTo>
                    <a:pt x="39" y="793"/>
                    <a:pt x="38" y="817"/>
                    <a:pt x="25" y="837"/>
                  </a:cubicBezTo>
                  <a:cubicBezTo>
                    <a:pt x="14" y="875"/>
                    <a:pt x="0" y="952"/>
                    <a:pt x="47" y="967"/>
                  </a:cubicBezTo>
                  <a:cubicBezTo>
                    <a:pt x="60" y="987"/>
                    <a:pt x="81" y="992"/>
                    <a:pt x="97" y="1008"/>
                  </a:cubicBezTo>
                  <a:cubicBezTo>
                    <a:pt x="139" y="1050"/>
                    <a:pt x="211" y="1070"/>
                    <a:pt x="268" y="1075"/>
                  </a:cubicBezTo>
                  <a:cubicBezTo>
                    <a:pt x="370" y="1072"/>
                    <a:pt x="465" y="1062"/>
                    <a:pt x="565" y="1053"/>
                  </a:cubicBezTo>
                  <a:cubicBezTo>
                    <a:pt x="691" y="1018"/>
                    <a:pt x="819" y="1072"/>
                    <a:pt x="943" y="1084"/>
                  </a:cubicBezTo>
                  <a:cubicBezTo>
                    <a:pt x="985" y="1100"/>
                    <a:pt x="1030" y="1113"/>
                    <a:pt x="1073" y="1125"/>
                  </a:cubicBezTo>
                  <a:cubicBezTo>
                    <a:pt x="1104" y="1145"/>
                    <a:pt x="1140" y="1157"/>
                    <a:pt x="1172" y="1174"/>
                  </a:cubicBezTo>
                  <a:cubicBezTo>
                    <a:pt x="1186" y="1181"/>
                    <a:pt x="1217" y="1188"/>
                    <a:pt x="1217" y="1188"/>
                  </a:cubicBezTo>
                  <a:cubicBezTo>
                    <a:pt x="1231" y="1201"/>
                    <a:pt x="1239" y="1205"/>
                    <a:pt x="1258" y="1210"/>
                  </a:cubicBezTo>
                  <a:cubicBezTo>
                    <a:pt x="1279" y="1224"/>
                    <a:pt x="1301" y="1239"/>
                    <a:pt x="1325" y="1246"/>
                  </a:cubicBezTo>
                  <a:cubicBezTo>
                    <a:pt x="1339" y="1260"/>
                    <a:pt x="1360" y="1276"/>
                    <a:pt x="1379" y="1282"/>
                  </a:cubicBezTo>
                  <a:cubicBezTo>
                    <a:pt x="1403" y="1306"/>
                    <a:pt x="1455" y="1322"/>
                    <a:pt x="1487" y="1327"/>
                  </a:cubicBezTo>
                  <a:cubicBezTo>
                    <a:pt x="1521" y="1339"/>
                    <a:pt x="1542" y="1342"/>
                    <a:pt x="1582" y="1345"/>
                  </a:cubicBezTo>
                  <a:cubicBezTo>
                    <a:pt x="1647" y="1342"/>
                    <a:pt x="1647" y="1344"/>
                    <a:pt x="1690" y="1332"/>
                  </a:cubicBezTo>
                  <a:cubicBezTo>
                    <a:pt x="1694" y="1329"/>
                    <a:pt x="1698" y="1325"/>
                    <a:pt x="1703" y="1323"/>
                  </a:cubicBezTo>
                  <a:cubicBezTo>
                    <a:pt x="1709" y="1320"/>
                    <a:pt x="1716" y="1321"/>
                    <a:pt x="1721" y="1318"/>
                  </a:cubicBezTo>
                  <a:cubicBezTo>
                    <a:pt x="1763" y="1290"/>
                    <a:pt x="1697" y="1317"/>
                    <a:pt x="1744" y="1300"/>
                  </a:cubicBezTo>
                  <a:cubicBezTo>
                    <a:pt x="1756" y="1283"/>
                    <a:pt x="1772" y="1266"/>
                    <a:pt x="1789" y="1255"/>
                  </a:cubicBezTo>
                  <a:cubicBezTo>
                    <a:pt x="1792" y="1251"/>
                    <a:pt x="1794" y="1246"/>
                    <a:pt x="1798" y="1242"/>
                  </a:cubicBezTo>
                  <a:cubicBezTo>
                    <a:pt x="1802" y="1238"/>
                    <a:pt x="1808" y="1237"/>
                    <a:pt x="1811" y="1233"/>
                  </a:cubicBezTo>
                  <a:cubicBezTo>
                    <a:pt x="1817" y="1225"/>
                    <a:pt x="1819" y="1214"/>
                    <a:pt x="1825" y="1206"/>
                  </a:cubicBezTo>
                  <a:lnTo>
                    <a:pt x="1847" y="1165"/>
                  </a:lnTo>
                  <a:cubicBezTo>
                    <a:pt x="1847" y="1165"/>
                    <a:pt x="1847" y="1165"/>
                    <a:pt x="1847" y="1165"/>
                  </a:cubicBezTo>
                  <a:cubicBezTo>
                    <a:pt x="1855" y="1143"/>
                    <a:pt x="1862" y="1120"/>
                    <a:pt x="1870" y="1098"/>
                  </a:cubicBezTo>
                  <a:cubicBezTo>
                    <a:pt x="1873" y="1077"/>
                    <a:pt x="1878" y="1059"/>
                    <a:pt x="1883" y="1039"/>
                  </a:cubicBezTo>
                  <a:cubicBezTo>
                    <a:pt x="1894" y="896"/>
                    <a:pt x="1870" y="772"/>
                    <a:pt x="1829" y="639"/>
                  </a:cubicBezTo>
                  <a:cubicBezTo>
                    <a:pt x="1819" y="606"/>
                    <a:pt x="1814" y="572"/>
                    <a:pt x="1802" y="540"/>
                  </a:cubicBezTo>
                  <a:cubicBezTo>
                    <a:pt x="1782" y="407"/>
                    <a:pt x="1793" y="293"/>
                    <a:pt x="1789" y="148"/>
                  </a:cubicBezTo>
                  <a:cubicBezTo>
                    <a:pt x="1788" y="116"/>
                    <a:pt x="1764" y="51"/>
                    <a:pt x="1735" y="40"/>
                  </a:cubicBezTo>
                  <a:cubicBezTo>
                    <a:pt x="1718" y="15"/>
                    <a:pt x="1673" y="9"/>
                    <a:pt x="1645" y="0"/>
                  </a:cubicBezTo>
                  <a:cubicBezTo>
                    <a:pt x="1584" y="3"/>
                    <a:pt x="1582" y="1"/>
                    <a:pt x="1541" y="13"/>
                  </a:cubicBezTo>
                  <a:cubicBezTo>
                    <a:pt x="1494" y="44"/>
                    <a:pt x="1446" y="61"/>
                    <a:pt x="1393" y="81"/>
                  </a:cubicBezTo>
                  <a:cubicBezTo>
                    <a:pt x="1379" y="94"/>
                    <a:pt x="1371" y="98"/>
                    <a:pt x="1352" y="103"/>
                  </a:cubicBezTo>
                  <a:cubicBezTo>
                    <a:pt x="1330" y="118"/>
                    <a:pt x="1310" y="135"/>
                    <a:pt x="1285" y="144"/>
                  </a:cubicBezTo>
                  <a:cubicBezTo>
                    <a:pt x="1273" y="161"/>
                    <a:pt x="1242" y="181"/>
                    <a:pt x="1222" y="189"/>
                  </a:cubicBezTo>
                  <a:cubicBezTo>
                    <a:pt x="1206" y="212"/>
                    <a:pt x="1182" y="218"/>
                    <a:pt x="1159" y="234"/>
                  </a:cubicBezTo>
                  <a:cubicBezTo>
                    <a:pt x="1132" y="253"/>
                    <a:pt x="1083" y="300"/>
                    <a:pt x="1051" y="310"/>
                  </a:cubicBezTo>
                  <a:cubicBezTo>
                    <a:pt x="1012" y="336"/>
                    <a:pt x="970" y="374"/>
                    <a:pt x="925" y="387"/>
                  </a:cubicBezTo>
                  <a:cubicBezTo>
                    <a:pt x="902" y="402"/>
                    <a:pt x="895" y="405"/>
                    <a:pt x="871" y="414"/>
                  </a:cubicBezTo>
                  <a:cubicBezTo>
                    <a:pt x="853" y="430"/>
                    <a:pt x="797" y="469"/>
                    <a:pt x="776" y="477"/>
                  </a:cubicBezTo>
                  <a:cubicBezTo>
                    <a:pt x="757" y="505"/>
                    <a:pt x="716" y="517"/>
                    <a:pt x="686" y="531"/>
                  </a:cubicBezTo>
                  <a:cubicBezTo>
                    <a:pt x="669" y="539"/>
                    <a:pt x="640" y="543"/>
                    <a:pt x="628" y="558"/>
                  </a:cubicBezTo>
                  <a:close/>
                </a:path>
              </a:pathLst>
            </a:custGeom>
            <a:solidFill>
              <a:srgbClr val="DD0111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19" name="Freeform 9"/>
            <p:cNvSpPr>
              <a:spLocks/>
            </p:cNvSpPr>
            <p:nvPr/>
          </p:nvSpPr>
          <p:spPr bwMode="auto">
            <a:xfrm>
              <a:off x="2909" y="1680"/>
              <a:ext cx="2239" cy="1395"/>
            </a:xfrm>
            <a:custGeom>
              <a:avLst/>
              <a:gdLst>
                <a:gd name="T0" fmla="*/ 309 w 2239"/>
                <a:gd name="T1" fmla="*/ 81 h 1395"/>
                <a:gd name="T2" fmla="*/ 286 w 2239"/>
                <a:gd name="T3" fmla="*/ 103 h 1395"/>
                <a:gd name="T4" fmla="*/ 259 w 2239"/>
                <a:gd name="T5" fmla="*/ 157 h 1395"/>
                <a:gd name="T6" fmla="*/ 232 w 2239"/>
                <a:gd name="T7" fmla="*/ 211 h 1395"/>
                <a:gd name="T8" fmla="*/ 205 w 2239"/>
                <a:gd name="T9" fmla="*/ 306 h 1395"/>
                <a:gd name="T10" fmla="*/ 160 w 2239"/>
                <a:gd name="T11" fmla="*/ 580 h 1395"/>
                <a:gd name="T12" fmla="*/ 115 w 2239"/>
                <a:gd name="T13" fmla="*/ 688 h 1395"/>
                <a:gd name="T14" fmla="*/ 16 w 2239"/>
                <a:gd name="T15" fmla="*/ 967 h 1395"/>
                <a:gd name="T16" fmla="*/ 142 w 2239"/>
                <a:gd name="T17" fmla="*/ 1323 h 1395"/>
                <a:gd name="T18" fmla="*/ 525 w 2239"/>
                <a:gd name="T19" fmla="*/ 1368 h 1395"/>
                <a:gd name="T20" fmla="*/ 669 w 2239"/>
                <a:gd name="T21" fmla="*/ 1287 h 1395"/>
                <a:gd name="T22" fmla="*/ 763 w 2239"/>
                <a:gd name="T23" fmla="*/ 1224 h 1395"/>
                <a:gd name="T24" fmla="*/ 939 w 2239"/>
                <a:gd name="T25" fmla="*/ 1143 h 1395"/>
                <a:gd name="T26" fmla="*/ 988 w 2239"/>
                <a:gd name="T27" fmla="*/ 1107 h 1395"/>
                <a:gd name="T28" fmla="*/ 1083 w 2239"/>
                <a:gd name="T29" fmla="*/ 1071 h 1395"/>
                <a:gd name="T30" fmla="*/ 1231 w 2239"/>
                <a:gd name="T31" fmla="*/ 1012 h 1395"/>
                <a:gd name="T32" fmla="*/ 1416 w 2239"/>
                <a:gd name="T33" fmla="*/ 945 h 1395"/>
                <a:gd name="T34" fmla="*/ 1641 w 2239"/>
                <a:gd name="T35" fmla="*/ 891 h 1395"/>
                <a:gd name="T36" fmla="*/ 1933 w 2239"/>
                <a:gd name="T37" fmla="*/ 810 h 1395"/>
                <a:gd name="T38" fmla="*/ 1987 w 2239"/>
                <a:gd name="T39" fmla="*/ 783 h 1395"/>
                <a:gd name="T40" fmla="*/ 2032 w 2239"/>
                <a:gd name="T41" fmla="*/ 760 h 1395"/>
                <a:gd name="T42" fmla="*/ 2104 w 2239"/>
                <a:gd name="T43" fmla="*/ 711 h 1395"/>
                <a:gd name="T44" fmla="*/ 2163 w 2239"/>
                <a:gd name="T45" fmla="*/ 648 h 1395"/>
                <a:gd name="T46" fmla="*/ 2185 w 2239"/>
                <a:gd name="T47" fmla="*/ 607 h 1395"/>
                <a:gd name="T48" fmla="*/ 2212 w 2239"/>
                <a:gd name="T49" fmla="*/ 540 h 1395"/>
                <a:gd name="T50" fmla="*/ 2221 w 2239"/>
                <a:gd name="T51" fmla="*/ 373 h 1395"/>
                <a:gd name="T52" fmla="*/ 1735 w 2239"/>
                <a:gd name="T53" fmla="*/ 261 h 1395"/>
                <a:gd name="T54" fmla="*/ 1308 w 2239"/>
                <a:gd name="T55" fmla="*/ 225 h 1395"/>
                <a:gd name="T56" fmla="*/ 1114 w 2239"/>
                <a:gd name="T57" fmla="*/ 153 h 1395"/>
                <a:gd name="T58" fmla="*/ 867 w 2239"/>
                <a:gd name="T59" fmla="*/ 72 h 1395"/>
                <a:gd name="T60" fmla="*/ 520 w 2239"/>
                <a:gd name="T61" fmla="*/ 0 h 1395"/>
                <a:gd name="T62" fmla="*/ 349 w 2239"/>
                <a:gd name="T63" fmla="*/ 49 h 139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239" h="1395">
                  <a:moveTo>
                    <a:pt x="349" y="49"/>
                  </a:moveTo>
                  <a:cubicBezTo>
                    <a:pt x="335" y="59"/>
                    <a:pt x="323" y="71"/>
                    <a:pt x="309" y="81"/>
                  </a:cubicBezTo>
                  <a:cubicBezTo>
                    <a:pt x="306" y="85"/>
                    <a:pt x="304" y="90"/>
                    <a:pt x="300" y="94"/>
                  </a:cubicBezTo>
                  <a:cubicBezTo>
                    <a:pt x="296" y="98"/>
                    <a:pt x="289" y="99"/>
                    <a:pt x="286" y="103"/>
                  </a:cubicBezTo>
                  <a:cubicBezTo>
                    <a:pt x="280" y="110"/>
                    <a:pt x="282" y="122"/>
                    <a:pt x="277" y="130"/>
                  </a:cubicBezTo>
                  <a:cubicBezTo>
                    <a:pt x="272" y="139"/>
                    <a:pt x="265" y="148"/>
                    <a:pt x="259" y="157"/>
                  </a:cubicBezTo>
                  <a:cubicBezTo>
                    <a:pt x="256" y="162"/>
                    <a:pt x="250" y="171"/>
                    <a:pt x="250" y="171"/>
                  </a:cubicBezTo>
                  <a:cubicBezTo>
                    <a:pt x="245" y="186"/>
                    <a:pt x="241" y="198"/>
                    <a:pt x="232" y="211"/>
                  </a:cubicBezTo>
                  <a:cubicBezTo>
                    <a:pt x="226" y="232"/>
                    <a:pt x="221" y="253"/>
                    <a:pt x="214" y="274"/>
                  </a:cubicBezTo>
                  <a:cubicBezTo>
                    <a:pt x="211" y="285"/>
                    <a:pt x="205" y="306"/>
                    <a:pt x="205" y="306"/>
                  </a:cubicBezTo>
                  <a:cubicBezTo>
                    <a:pt x="204" y="346"/>
                    <a:pt x="204" y="387"/>
                    <a:pt x="201" y="427"/>
                  </a:cubicBezTo>
                  <a:cubicBezTo>
                    <a:pt x="198" y="479"/>
                    <a:pt x="174" y="531"/>
                    <a:pt x="160" y="580"/>
                  </a:cubicBezTo>
                  <a:cubicBezTo>
                    <a:pt x="154" y="601"/>
                    <a:pt x="150" y="620"/>
                    <a:pt x="138" y="639"/>
                  </a:cubicBezTo>
                  <a:cubicBezTo>
                    <a:pt x="133" y="658"/>
                    <a:pt x="122" y="670"/>
                    <a:pt x="115" y="688"/>
                  </a:cubicBezTo>
                  <a:cubicBezTo>
                    <a:pt x="96" y="735"/>
                    <a:pt x="80" y="783"/>
                    <a:pt x="57" y="828"/>
                  </a:cubicBezTo>
                  <a:cubicBezTo>
                    <a:pt x="36" y="868"/>
                    <a:pt x="28" y="924"/>
                    <a:pt x="16" y="967"/>
                  </a:cubicBezTo>
                  <a:cubicBezTo>
                    <a:pt x="8" y="1046"/>
                    <a:pt x="0" y="1140"/>
                    <a:pt x="48" y="1210"/>
                  </a:cubicBezTo>
                  <a:cubicBezTo>
                    <a:pt x="56" y="1248"/>
                    <a:pt x="105" y="1309"/>
                    <a:pt x="142" y="1323"/>
                  </a:cubicBezTo>
                  <a:cubicBezTo>
                    <a:pt x="199" y="1376"/>
                    <a:pt x="292" y="1387"/>
                    <a:pt x="367" y="1395"/>
                  </a:cubicBezTo>
                  <a:cubicBezTo>
                    <a:pt x="449" y="1390"/>
                    <a:pt x="460" y="1387"/>
                    <a:pt x="525" y="1368"/>
                  </a:cubicBezTo>
                  <a:cubicBezTo>
                    <a:pt x="550" y="1351"/>
                    <a:pt x="577" y="1340"/>
                    <a:pt x="606" y="1332"/>
                  </a:cubicBezTo>
                  <a:cubicBezTo>
                    <a:pt x="617" y="1315"/>
                    <a:pt x="648" y="1293"/>
                    <a:pt x="669" y="1287"/>
                  </a:cubicBezTo>
                  <a:cubicBezTo>
                    <a:pt x="685" y="1270"/>
                    <a:pt x="703" y="1265"/>
                    <a:pt x="723" y="1251"/>
                  </a:cubicBezTo>
                  <a:cubicBezTo>
                    <a:pt x="737" y="1241"/>
                    <a:pt x="746" y="1229"/>
                    <a:pt x="763" y="1224"/>
                  </a:cubicBezTo>
                  <a:cubicBezTo>
                    <a:pt x="792" y="1205"/>
                    <a:pt x="828" y="1200"/>
                    <a:pt x="858" y="1183"/>
                  </a:cubicBezTo>
                  <a:cubicBezTo>
                    <a:pt x="885" y="1168"/>
                    <a:pt x="910" y="1151"/>
                    <a:pt x="939" y="1143"/>
                  </a:cubicBezTo>
                  <a:cubicBezTo>
                    <a:pt x="953" y="1128"/>
                    <a:pt x="960" y="1127"/>
                    <a:pt x="979" y="1120"/>
                  </a:cubicBezTo>
                  <a:cubicBezTo>
                    <a:pt x="982" y="1116"/>
                    <a:pt x="984" y="1110"/>
                    <a:pt x="988" y="1107"/>
                  </a:cubicBezTo>
                  <a:cubicBezTo>
                    <a:pt x="990" y="1105"/>
                    <a:pt x="1012" y="1099"/>
                    <a:pt x="1015" y="1098"/>
                  </a:cubicBezTo>
                  <a:cubicBezTo>
                    <a:pt x="1038" y="1090"/>
                    <a:pt x="1060" y="1078"/>
                    <a:pt x="1083" y="1071"/>
                  </a:cubicBezTo>
                  <a:cubicBezTo>
                    <a:pt x="1111" y="1051"/>
                    <a:pt x="1153" y="1045"/>
                    <a:pt x="1186" y="1035"/>
                  </a:cubicBezTo>
                  <a:cubicBezTo>
                    <a:pt x="1218" y="1014"/>
                    <a:pt x="1203" y="1020"/>
                    <a:pt x="1231" y="1012"/>
                  </a:cubicBezTo>
                  <a:cubicBezTo>
                    <a:pt x="1248" y="1001"/>
                    <a:pt x="1266" y="996"/>
                    <a:pt x="1285" y="990"/>
                  </a:cubicBezTo>
                  <a:cubicBezTo>
                    <a:pt x="1325" y="963"/>
                    <a:pt x="1370" y="958"/>
                    <a:pt x="1416" y="945"/>
                  </a:cubicBezTo>
                  <a:cubicBezTo>
                    <a:pt x="1464" y="932"/>
                    <a:pt x="1511" y="914"/>
                    <a:pt x="1560" y="909"/>
                  </a:cubicBezTo>
                  <a:cubicBezTo>
                    <a:pt x="1586" y="899"/>
                    <a:pt x="1614" y="899"/>
                    <a:pt x="1641" y="891"/>
                  </a:cubicBezTo>
                  <a:cubicBezTo>
                    <a:pt x="1698" y="874"/>
                    <a:pt x="1757" y="853"/>
                    <a:pt x="1816" y="846"/>
                  </a:cubicBezTo>
                  <a:cubicBezTo>
                    <a:pt x="1854" y="832"/>
                    <a:pt x="1894" y="822"/>
                    <a:pt x="1933" y="810"/>
                  </a:cubicBezTo>
                  <a:cubicBezTo>
                    <a:pt x="1947" y="801"/>
                    <a:pt x="1958" y="797"/>
                    <a:pt x="1974" y="792"/>
                  </a:cubicBezTo>
                  <a:cubicBezTo>
                    <a:pt x="1978" y="789"/>
                    <a:pt x="1982" y="785"/>
                    <a:pt x="1987" y="783"/>
                  </a:cubicBezTo>
                  <a:cubicBezTo>
                    <a:pt x="1993" y="780"/>
                    <a:pt x="2000" y="781"/>
                    <a:pt x="2005" y="778"/>
                  </a:cubicBezTo>
                  <a:cubicBezTo>
                    <a:pt x="2058" y="748"/>
                    <a:pt x="1987" y="777"/>
                    <a:pt x="2032" y="760"/>
                  </a:cubicBezTo>
                  <a:cubicBezTo>
                    <a:pt x="2047" y="746"/>
                    <a:pt x="2060" y="739"/>
                    <a:pt x="2077" y="729"/>
                  </a:cubicBezTo>
                  <a:cubicBezTo>
                    <a:pt x="2086" y="723"/>
                    <a:pt x="2104" y="711"/>
                    <a:pt x="2104" y="711"/>
                  </a:cubicBezTo>
                  <a:cubicBezTo>
                    <a:pt x="2114" y="695"/>
                    <a:pt x="2125" y="686"/>
                    <a:pt x="2140" y="675"/>
                  </a:cubicBezTo>
                  <a:cubicBezTo>
                    <a:pt x="2169" y="630"/>
                    <a:pt x="2126" y="694"/>
                    <a:pt x="2163" y="648"/>
                  </a:cubicBezTo>
                  <a:cubicBezTo>
                    <a:pt x="2170" y="640"/>
                    <a:pt x="2181" y="621"/>
                    <a:pt x="2181" y="621"/>
                  </a:cubicBezTo>
                  <a:cubicBezTo>
                    <a:pt x="2182" y="616"/>
                    <a:pt x="2182" y="611"/>
                    <a:pt x="2185" y="607"/>
                  </a:cubicBezTo>
                  <a:cubicBezTo>
                    <a:pt x="2189" y="602"/>
                    <a:pt x="2196" y="600"/>
                    <a:pt x="2199" y="594"/>
                  </a:cubicBezTo>
                  <a:cubicBezTo>
                    <a:pt x="2208" y="577"/>
                    <a:pt x="2207" y="558"/>
                    <a:pt x="2212" y="540"/>
                  </a:cubicBezTo>
                  <a:cubicBezTo>
                    <a:pt x="2217" y="522"/>
                    <a:pt x="2224" y="504"/>
                    <a:pt x="2230" y="486"/>
                  </a:cubicBezTo>
                  <a:cubicBezTo>
                    <a:pt x="2228" y="448"/>
                    <a:pt x="2239" y="406"/>
                    <a:pt x="2221" y="373"/>
                  </a:cubicBezTo>
                  <a:cubicBezTo>
                    <a:pt x="2181" y="301"/>
                    <a:pt x="2054" y="267"/>
                    <a:pt x="1978" y="265"/>
                  </a:cubicBezTo>
                  <a:cubicBezTo>
                    <a:pt x="1897" y="263"/>
                    <a:pt x="1816" y="262"/>
                    <a:pt x="1735" y="261"/>
                  </a:cubicBezTo>
                  <a:cubicBezTo>
                    <a:pt x="1631" y="252"/>
                    <a:pt x="1531" y="250"/>
                    <a:pt x="1425" y="247"/>
                  </a:cubicBezTo>
                  <a:cubicBezTo>
                    <a:pt x="1388" y="237"/>
                    <a:pt x="1346" y="231"/>
                    <a:pt x="1308" y="225"/>
                  </a:cubicBezTo>
                  <a:cubicBezTo>
                    <a:pt x="1280" y="215"/>
                    <a:pt x="1251" y="204"/>
                    <a:pt x="1222" y="198"/>
                  </a:cubicBezTo>
                  <a:cubicBezTo>
                    <a:pt x="1200" y="183"/>
                    <a:pt x="1139" y="157"/>
                    <a:pt x="1114" y="153"/>
                  </a:cubicBezTo>
                  <a:cubicBezTo>
                    <a:pt x="1097" y="141"/>
                    <a:pt x="1078" y="139"/>
                    <a:pt x="1060" y="130"/>
                  </a:cubicBezTo>
                  <a:cubicBezTo>
                    <a:pt x="1002" y="100"/>
                    <a:pt x="931" y="86"/>
                    <a:pt x="867" y="72"/>
                  </a:cubicBezTo>
                  <a:cubicBezTo>
                    <a:pt x="821" y="62"/>
                    <a:pt x="778" y="42"/>
                    <a:pt x="732" y="31"/>
                  </a:cubicBezTo>
                  <a:cubicBezTo>
                    <a:pt x="663" y="14"/>
                    <a:pt x="591" y="8"/>
                    <a:pt x="520" y="0"/>
                  </a:cubicBezTo>
                  <a:cubicBezTo>
                    <a:pt x="456" y="3"/>
                    <a:pt x="427" y="5"/>
                    <a:pt x="372" y="22"/>
                  </a:cubicBezTo>
                  <a:cubicBezTo>
                    <a:pt x="366" y="28"/>
                    <a:pt x="342" y="42"/>
                    <a:pt x="349" y="49"/>
                  </a:cubicBezTo>
                  <a:close/>
                </a:path>
              </a:pathLst>
            </a:custGeom>
            <a:solidFill>
              <a:schemeClr val="accent1">
                <a:alpha val="30196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0" name="Oval 20"/>
            <p:cNvSpPr>
              <a:spLocks noChangeArrowheads="1"/>
            </p:cNvSpPr>
            <p:nvPr/>
          </p:nvSpPr>
          <p:spPr bwMode="auto">
            <a:xfrm>
              <a:off x="4622" y="3669"/>
              <a:ext cx="266" cy="26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grpSp>
          <p:nvGrpSpPr>
            <p:cNvPr id="38921" name="Group 35"/>
            <p:cNvGrpSpPr>
              <a:grpSpLocks/>
            </p:cNvGrpSpPr>
            <p:nvPr/>
          </p:nvGrpSpPr>
          <p:grpSpPr bwMode="auto">
            <a:xfrm>
              <a:off x="3084" y="1801"/>
              <a:ext cx="1887" cy="2030"/>
              <a:chOff x="3084" y="1801"/>
              <a:chExt cx="1887" cy="2030"/>
            </a:xfrm>
          </p:grpSpPr>
          <p:sp>
            <p:nvSpPr>
              <p:cNvPr id="38922" name="Line 7"/>
              <p:cNvSpPr>
                <a:spLocks noChangeShapeType="1"/>
              </p:cNvSpPr>
              <p:nvPr/>
            </p:nvSpPr>
            <p:spPr bwMode="auto">
              <a:xfrm>
                <a:off x="3788" y="2390"/>
                <a:ext cx="333" cy="0"/>
              </a:xfrm>
              <a:prstGeom prst="line">
                <a:avLst/>
              </a:prstGeom>
              <a:noFill/>
              <a:ln w="7620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3" name="Line 8"/>
              <p:cNvSpPr>
                <a:spLocks noChangeShapeType="1"/>
              </p:cNvSpPr>
              <p:nvPr/>
            </p:nvSpPr>
            <p:spPr bwMode="auto">
              <a:xfrm flipV="1">
                <a:off x="4387" y="2206"/>
                <a:ext cx="328" cy="135"/>
              </a:xfrm>
              <a:prstGeom prst="line">
                <a:avLst/>
              </a:prstGeom>
              <a:noFill/>
              <a:ln w="76200">
                <a:solidFill>
                  <a:srgbClr val="96969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4" name="Oval 10"/>
              <p:cNvSpPr>
                <a:spLocks noChangeArrowheads="1"/>
              </p:cNvSpPr>
              <p:nvPr/>
            </p:nvSpPr>
            <p:spPr bwMode="auto">
              <a:xfrm>
                <a:off x="3084" y="2735"/>
                <a:ext cx="266" cy="26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u</a:t>
                </a:r>
              </a:p>
            </p:txBody>
          </p:sp>
          <p:sp>
            <p:nvSpPr>
              <p:cNvPr id="38925" name="Oval 11"/>
              <p:cNvSpPr>
                <a:spLocks noChangeArrowheads="1"/>
              </p:cNvSpPr>
              <p:nvPr/>
            </p:nvSpPr>
            <p:spPr bwMode="auto">
              <a:xfrm>
                <a:off x="3513" y="2270"/>
                <a:ext cx="266" cy="26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38926" name="Oval 12"/>
              <p:cNvSpPr>
                <a:spLocks noChangeArrowheads="1"/>
              </p:cNvSpPr>
              <p:nvPr/>
            </p:nvSpPr>
            <p:spPr bwMode="auto">
              <a:xfrm>
                <a:off x="4125" y="2270"/>
                <a:ext cx="266" cy="26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38927" name="Oval 13"/>
              <p:cNvSpPr>
                <a:spLocks noChangeArrowheads="1"/>
              </p:cNvSpPr>
              <p:nvPr/>
            </p:nvSpPr>
            <p:spPr bwMode="auto">
              <a:xfrm>
                <a:off x="4705" y="2014"/>
                <a:ext cx="266" cy="26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38928" name="Oval 14"/>
              <p:cNvSpPr>
                <a:spLocks noChangeArrowheads="1"/>
              </p:cNvSpPr>
              <p:nvPr/>
            </p:nvSpPr>
            <p:spPr bwMode="auto">
              <a:xfrm>
                <a:off x="4612" y="2753"/>
                <a:ext cx="266" cy="26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38929" name="Oval 15"/>
              <p:cNvSpPr>
                <a:spLocks noChangeArrowheads="1"/>
              </p:cNvSpPr>
              <p:nvPr/>
            </p:nvSpPr>
            <p:spPr bwMode="auto">
              <a:xfrm>
                <a:off x="3219" y="1801"/>
                <a:ext cx="266" cy="26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38930" name="Line 16"/>
              <p:cNvSpPr>
                <a:spLocks noChangeShapeType="1"/>
              </p:cNvSpPr>
              <p:nvPr/>
            </p:nvSpPr>
            <p:spPr bwMode="auto">
              <a:xfrm>
                <a:off x="3777" y="2395"/>
                <a:ext cx="34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1" name="Line 17"/>
              <p:cNvSpPr>
                <a:spLocks noChangeShapeType="1"/>
              </p:cNvSpPr>
              <p:nvPr/>
            </p:nvSpPr>
            <p:spPr bwMode="auto">
              <a:xfrm>
                <a:off x="3417" y="2053"/>
                <a:ext cx="166" cy="2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2" name="Line 18"/>
              <p:cNvSpPr>
                <a:spLocks noChangeShapeType="1"/>
              </p:cNvSpPr>
              <p:nvPr/>
            </p:nvSpPr>
            <p:spPr bwMode="auto">
              <a:xfrm flipV="1">
                <a:off x="4385" y="2205"/>
                <a:ext cx="333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3" name="Oval 19"/>
              <p:cNvSpPr>
                <a:spLocks noChangeArrowheads="1"/>
              </p:cNvSpPr>
              <p:nvPr/>
            </p:nvSpPr>
            <p:spPr bwMode="auto">
              <a:xfrm>
                <a:off x="4218" y="3192"/>
                <a:ext cx="266" cy="26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sp>
            <p:nvSpPr>
              <p:cNvPr id="38934" name="Oval 21"/>
              <p:cNvSpPr>
                <a:spLocks noChangeArrowheads="1"/>
              </p:cNvSpPr>
              <p:nvPr/>
            </p:nvSpPr>
            <p:spPr bwMode="auto">
              <a:xfrm>
                <a:off x="3341" y="3412"/>
                <a:ext cx="266" cy="265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/>
                  <a:t>v</a:t>
                </a:r>
              </a:p>
            </p:txBody>
          </p:sp>
          <p:sp>
            <p:nvSpPr>
              <p:cNvPr id="38935" name="Line 22"/>
              <p:cNvSpPr>
                <a:spLocks noChangeShapeType="1"/>
              </p:cNvSpPr>
              <p:nvPr/>
            </p:nvSpPr>
            <p:spPr bwMode="auto">
              <a:xfrm>
                <a:off x="4358" y="2498"/>
                <a:ext cx="302" cy="3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6" name="Line 23"/>
              <p:cNvSpPr>
                <a:spLocks noChangeShapeType="1"/>
              </p:cNvSpPr>
              <p:nvPr/>
            </p:nvSpPr>
            <p:spPr bwMode="auto">
              <a:xfrm flipV="1">
                <a:off x="3598" y="3362"/>
                <a:ext cx="634" cy="139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7" name="Line 24"/>
              <p:cNvSpPr>
                <a:spLocks noChangeShapeType="1"/>
              </p:cNvSpPr>
              <p:nvPr/>
            </p:nvSpPr>
            <p:spPr bwMode="auto">
              <a:xfrm flipV="1">
                <a:off x="4439" y="2970"/>
                <a:ext cx="225" cy="234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8" name="Line 25"/>
              <p:cNvSpPr>
                <a:spLocks noChangeShapeType="1"/>
              </p:cNvSpPr>
              <p:nvPr/>
            </p:nvSpPr>
            <p:spPr bwMode="auto">
              <a:xfrm>
                <a:off x="4417" y="3425"/>
                <a:ext cx="238" cy="27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39" name="Text Box 26"/>
              <p:cNvSpPr txBox="1">
                <a:spLocks noChangeArrowheads="1"/>
              </p:cNvSpPr>
              <p:nvPr/>
            </p:nvSpPr>
            <p:spPr bwMode="auto">
              <a:xfrm>
                <a:off x="3828" y="1933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/>
                  <a:t>S</a:t>
                </a:r>
              </a:p>
            </p:txBody>
          </p:sp>
          <p:sp>
            <p:nvSpPr>
              <p:cNvPr id="38940" name="Text Box 27"/>
              <p:cNvSpPr txBox="1">
                <a:spLocks noChangeArrowheads="1"/>
              </p:cNvSpPr>
              <p:nvPr/>
            </p:nvSpPr>
            <p:spPr bwMode="auto">
              <a:xfrm>
                <a:off x="4031" y="3600"/>
                <a:ext cx="4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/>
                  <a:t>V - S</a:t>
                </a:r>
              </a:p>
            </p:txBody>
          </p:sp>
          <p:sp>
            <p:nvSpPr>
              <p:cNvPr id="38941" name="Line 28"/>
              <p:cNvSpPr>
                <a:spLocks noChangeShapeType="1"/>
              </p:cNvSpPr>
              <p:nvPr/>
            </p:nvSpPr>
            <p:spPr bwMode="auto">
              <a:xfrm>
                <a:off x="3233" y="2988"/>
                <a:ext cx="180" cy="4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2" name="Line 29"/>
              <p:cNvSpPr>
                <a:spLocks noChangeShapeType="1"/>
              </p:cNvSpPr>
              <p:nvPr/>
            </p:nvSpPr>
            <p:spPr bwMode="auto">
              <a:xfrm flipH="1">
                <a:off x="3266" y="2502"/>
                <a:ext cx="261" cy="243"/>
              </a:xfrm>
              <a:prstGeom prst="line">
                <a:avLst/>
              </a:prstGeom>
              <a:noFill/>
              <a:ln w="571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3" name="Line 30"/>
              <p:cNvSpPr>
                <a:spLocks noChangeShapeType="1"/>
              </p:cNvSpPr>
              <p:nvPr/>
            </p:nvSpPr>
            <p:spPr bwMode="auto">
              <a:xfrm flipV="1">
                <a:off x="3266" y="2520"/>
                <a:ext cx="252" cy="2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4" name="Text Box 31"/>
              <p:cNvSpPr txBox="1">
                <a:spLocks noChangeArrowheads="1"/>
              </p:cNvSpPr>
              <p:nvPr/>
            </p:nvSpPr>
            <p:spPr bwMode="auto">
              <a:xfrm>
                <a:off x="4154" y="2261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/>
                  <a:t>x</a:t>
                </a:r>
              </a:p>
            </p:txBody>
          </p:sp>
          <p:sp>
            <p:nvSpPr>
              <p:cNvPr id="38945" name="Text Box 32"/>
              <p:cNvSpPr txBox="1">
                <a:spLocks noChangeArrowheads="1"/>
              </p:cNvSpPr>
              <p:nvPr/>
            </p:nvSpPr>
            <p:spPr bwMode="auto">
              <a:xfrm>
                <a:off x="4655" y="2780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/>
                  <a:t>y</a:t>
                </a:r>
              </a:p>
            </p:txBody>
          </p:sp>
          <p:sp>
            <p:nvSpPr>
              <p:cNvPr id="38946" name="Line 33"/>
              <p:cNvSpPr>
                <a:spLocks noChangeShapeType="1"/>
              </p:cNvSpPr>
              <p:nvPr/>
            </p:nvSpPr>
            <p:spPr bwMode="auto">
              <a:xfrm flipV="1">
                <a:off x="3600" y="3366"/>
                <a:ext cx="648" cy="13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7" name="Line 34"/>
              <p:cNvSpPr>
                <a:spLocks noChangeShapeType="1"/>
              </p:cNvSpPr>
              <p:nvPr/>
            </p:nvSpPr>
            <p:spPr bwMode="auto">
              <a:xfrm flipH="1">
                <a:off x="4401" y="2970"/>
                <a:ext cx="252" cy="2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05499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References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 to Algorithms, Second Edition by Thomas H. </a:t>
            </a:r>
            <a:r>
              <a:rPr lang="en-US" dirty="0" err="1">
                <a:solidFill>
                  <a:schemeClr val="tx1"/>
                </a:solidFill>
              </a:rPr>
              <a:t>Cormen</a:t>
            </a:r>
            <a:r>
              <a:rPr lang="en-US" dirty="0">
                <a:solidFill>
                  <a:schemeClr val="tx1"/>
                </a:solidFill>
              </a:rPr>
              <a:t>, Charles E. </a:t>
            </a:r>
            <a:r>
              <a:rPr lang="en-US" dirty="0" err="1">
                <a:solidFill>
                  <a:schemeClr val="tx1"/>
                </a:solidFill>
              </a:rPr>
              <a:t>Leiserson</a:t>
            </a:r>
            <a:r>
              <a:rPr lang="en-US" dirty="0">
                <a:solidFill>
                  <a:schemeClr val="tx1"/>
                </a:solidFill>
              </a:rPr>
              <a:t>, Ronald L. </a:t>
            </a:r>
            <a:r>
              <a:rPr lang="en-US" dirty="0" err="1">
                <a:solidFill>
                  <a:schemeClr val="tx1"/>
                </a:solidFill>
              </a:rPr>
              <a:t>Rivest</a:t>
            </a:r>
            <a:r>
              <a:rPr lang="en-US" dirty="0">
                <a:solidFill>
                  <a:schemeClr val="tx1"/>
                </a:solidFill>
              </a:rPr>
              <a:t> and Clifford Stein, The MIT Press © 2001 </a:t>
            </a:r>
          </a:p>
          <a:p>
            <a:r>
              <a:rPr lang="en-US" dirty="0">
                <a:solidFill>
                  <a:schemeClr val="tx1"/>
                </a:solidFill>
              </a:rPr>
              <a:t>Chapter 23.2</a:t>
            </a:r>
          </a:p>
        </p:txBody>
      </p:sp>
    </p:spTree>
    <p:extLst>
      <p:ext uri="{BB962C8B-B14F-4D97-AF65-F5344CB8AC3E}">
        <p14:creationId xmlns:p14="http://schemas.microsoft.com/office/powerpoint/2010/main" val="35839227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egooo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0B7603DA286A41973ED08A6E95DDF1" ma:contentTypeVersion="14" ma:contentTypeDescription="Create a new document." ma:contentTypeScope="" ma:versionID="9dbda6c21f670f81b314fde63e299b67">
  <xsd:schema xmlns:xsd="http://www.w3.org/2001/XMLSchema" xmlns:xs="http://www.w3.org/2001/XMLSchema" xmlns:p="http://schemas.microsoft.com/office/2006/metadata/properties" xmlns:ns2="b59073bf-3226-4cc2-a862-685e8fd0a4b2" xmlns:ns3="77f424dc-c8a0-4eac-a0a6-0f28ce03e3e3" targetNamespace="http://schemas.microsoft.com/office/2006/metadata/properties" ma:root="true" ma:fieldsID="3c2f63c7967b26ca995ad52a8d891f55" ns2:_="" ns3:_="">
    <xsd:import namespace="b59073bf-3226-4cc2-a862-685e8fd0a4b2"/>
    <xsd:import namespace="77f424dc-c8a0-4eac-a0a6-0f28ce03e3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073bf-3226-4cc2-a862-685e8fd0a4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4f14da48-c7bd-4fbb-b3d0-c28c7c6f1fa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f424dc-c8a0-4eac-a0a6-0f28ce03e3e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6a6a460-902d-4d5c-a475-b7e5fe6fe2a9}" ma:internalName="TaxCatchAll" ma:showField="CatchAllData" ma:web="77f424dc-c8a0-4eac-a0a6-0f28ce03e3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073bf-3226-4cc2-a862-685e8fd0a4b2">
      <Terms xmlns="http://schemas.microsoft.com/office/infopath/2007/PartnerControls"/>
    </lcf76f155ced4ddcb4097134ff3c332f>
    <TaxCatchAll xmlns="77f424dc-c8a0-4eac-a0a6-0f28ce03e3e3" xsi:nil="true"/>
  </documentManagement>
</p:properties>
</file>

<file path=customXml/itemProps1.xml><?xml version="1.0" encoding="utf-8"?>
<ds:datastoreItem xmlns:ds="http://schemas.openxmlformats.org/officeDocument/2006/customXml" ds:itemID="{E6EA4ED5-0A22-4088-A15C-6B32F5706671}"/>
</file>

<file path=customXml/itemProps2.xml><?xml version="1.0" encoding="utf-8"?>
<ds:datastoreItem xmlns:ds="http://schemas.openxmlformats.org/officeDocument/2006/customXml" ds:itemID="{A37DA601-AE4D-4029-B472-9DBB7879A46A}"/>
</file>

<file path=customXml/itemProps3.xml><?xml version="1.0" encoding="utf-8"?>
<ds:datastoreItem xmlns:ds="http://schemas.openxmlformats.org/officeDocument/2006/customXml" ds:itemID="{12475D1D-E989-474F-999B-85ACAAE8059C}"/>
</file>

<file path=docProps/app.xml><?xml version="1.0" encoding="utf-8"?>
<Properties xmlns="http://schemas.openxmlformats.org/officeDocument/2006/extended-properties" xmlns:vt="http://schemas.openxmlformats.org/officeDocument/2006/docPropsVTypes">
  <Template>TS102129550</Template>
  <TotalTime>7453</TotalTime>
  <Words>4024</Words>
  <Application>Microsoft Office PowerPoint</Application>
  <PresentationFormat>On-screen Show (4:3)</PresentationFormat>
  <Paragraphs>1057</Paragraphs>
  <Slides>46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PMingLiU</vt:lpstr>
      <vt:lpstr>SimSun</vt:lpstr>
      <vt:lpstr>Arial</vt:lpstr>
      <vt:lpstr>Calibri</vt:lpstr>
      <vt:lpstr>Comic Sans MS</vt:lpstr>
      <vt:lpstr>Segoe</vt:lpstr>
      <vt:lpstr>Segoe UI</vt:lpstr>
      <vt:lpstr>Segoe UI Light</vt:lpstr>
      <vt:lpstr>Symbol</vt:lpstr>
      <vt:lpstr>Wingdings</vt:lpstr>
      <vt:lpstr>Essential</vt:lpstr>
      <vt:lpstr>Cs 316: Algorithms  Lecture 8: Minimum Spanning Tree (MST)</vt:lpstr>
      <vt:lpstr>Problem: Laying Telephone Wire</vt:lpstr>
      <vt:lpstr>Wiring: Naïve Approach</vt:lpstr>
      <vt:lpstr>Wiring: Better Approach</vt:lpstr>
      <vt:lpstr>Problem</vt:lpstr>
      <vt:lpstr>Problem</vt:lpstr>
      <vt:lpstr>Minimum Spanning Trees</vt:lpstr>
      <vt:lpstr>Minimum Spanning Trees</vt:lpstr>
      <vt:lpstr>Minimum spanning tree (MST)</vt:lpstr>
      <vt:lpstr>Minimum spanning tree (MST)</vt:lpstr>
      <vt:lpstr>Minimum spanning tree (MST)</vt:lpstr>
      <vt:lpstr>Minimum spanning tree (MST)</vt:lpstr>
      <vt:lpstr>Minimum spanning tree (MST)</vt:lpstr>
      <vt:lpstr>Applications of MST</vt:lpstr>
      <vt:lpstr>Growing a MST(Generic Algorithm)</vt:lpstr>
      <vt:lpstr>PowerPoint Presentation</vt:lpstr>
      <vt:lpstr>PowerPoint Presentation</vt:lpstr>
      <vt:lpstr>The algorithms of MST</vt:lpstr>
      <vt:lpstr>Prim  Algorithm</vt:lpstr>
      <vt:lpstr>Prim’s Algorithm</vt:lpstr>
      <vt:lpstr>How to Find Light Edges Quickly?</vt:lpstr>
      <vt:lpstr>How to Find Light Edges Quickly?</vt:lpstr>
      <vt:lpstr>Example</vt:lpstr>
      <vt:lpstr>Example</vt:lpstr>
      <vt:lpstr>Example</vt:lpstr>
      <vt:lpstr>Example</vt:lpstr>
      <vt:lpstr>Example</vt:lpstr>
      <vt:lpstr>PowerPoint Presentation</vt:lpstr>
      <vt:lpstr>PRIM(V, E, w, r)</vt:lpstr>
      <vt:lpstr>Running Time Analysis</vt:lpstr>
      <vt:lpstr>PRIM(V, E, w, r)</vt:lpstr>
      <vt:lpstr>Prim’s Algorithm </vt:lpstr>
      <vt:lpstr>Kruskal’s Algorithm</vt:lpstr>
      <vt:lpstr>Kruskal’s Algorithm</vt:lpstr>
      <vt:lpstr>Example</vt:lpstr>
      <vt:lpstr>Example</vt:lpstr>
      <vt:lpstr>PowerPoint Presentation</vt:lpstr>
      <vt:lpstr>Implementation of Kruskal’s Algorithm</vt:lpstr>
      <vt:lpstr>Implementation of Kruskal’s Algorithm</vt:lpstr>
      <vt:lpstr>Operations on Disjoint Data Sets</vt:lpstr>
      <vt:lpstr>Operations on Disjoint Data Sets</vt:lpstr>
      <vt:lpstr>KRUSKAL(V, E, w)</vt:lpstr>
      <vt:lpstr>KRUSKAL(V, E, w)</vt:lpstr>
      <vt:lpstr>Running Time</vt:lpstr>
      <vt:lpstr>Kruskal’s Algorithm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316: Algorithms  Lecture 3: Analysis Of Recursive Algorithms</dc:title>
  <dc:creator>EHM</dc:creator>
  <cp:lastModifiedBy>Mohammed El-Said</cp:lastModifiedBy>
  <cp:revision>154</cp:revision>
  <cp:lastPrinted>2014-04-23T08:43:04Z</cp:lastPrinted>
  <dcterms:created xsi:type="dcterms:W3CDTF">2014-03-25T07:04:50Z</dcterms:created>
  <dcterms:modified xsi:type="dcterms:W3CDTF">2024-04-14T12:18:45Z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0x010100350B7603DA286A41973ED08A6E95DDF1</vt:lpwstr>
  </property>
</Properties>
</file>